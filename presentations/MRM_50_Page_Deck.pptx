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Prepared from the supplied handoff, eight-page proposal, 29-slide presentation and screenshots.zip. Audience expanded to all Muslims per the current user request. No project pricing or fabricated operational outcomes. Screenshots show provided demo/capture states, not verified production behaviour.</a:t>
            </a:r>
          </a:p>
          <a:p/>
          <a:p>
            <a:r>
              <a:t>Evidence: mobile/09_loaded_alt.png, mobile/03_services.png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supplied proposal excludes zakat collection and disbursement. These existing template donation and payment-method screens are included for completeness, not as a new commitment to enable general donation processing. Teacher subscriptions use applicable verified billing flows. Informational zakat calculator sources and rules require approval.</a:t>
            </a:r>
          </a:p>
          <a:p/>
          <a:p>
            <a:r>
              <a:t>Evidence: backend/08_donations.png, backend/09_payment_methods.png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reflects proposal language, not evidence of a signed contract. The proposal includes a 30-day post-acceptance stabilisation period; confirm it in the commercial agreement. Apple account charge recorded in supplied proposal: USD 99/year; Google Play USD 25 one-time, subject to current policy. No project price has been included. User requested all-Muslim positioning. No marketplace and no member/volunteer subscription paywall.</a:t>
            </a:r>
          </a:p>
          <a:p/>
          <a:p>
            <a:r>
              <a:t>Evidence: Native diagram / proposed capability, based on supplied scope documents.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Native diagram / proposed capability, based on supplied scope documents.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Native diagram / proposed capability, based on supplied scope documents.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Native diagram / proposed capability, based on supplied scope documents.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Native diagram / proposed capability, based on supplied scope documents.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Native diagram / proposed capability, based on supplied scope documents.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Native diagram / proposed capability, based on supplied scope documents.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mobile/01_login.png, mobile/02_home.png, backend/01_login.png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mobile/09_loaded_alt.png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mobile/03_services.png, mobile/06_help_requests.png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mobile/04_activity.png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mobile/05_account.png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Native diagram / proposed capability, based on supplied scope documents.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Native diagram / proposed capability, based on supplied scope documents.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mrm-admin-final/04_volunteer_verification.png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Native diagram / proposed capability, based on supplied scope documents.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mrm-admin-final/03_volunteers_assignments.png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mrm-admin-final/02_cases_safeguarding.png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Native diagram / proposed capability, based on supplied scope documents.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mrm-admin-final/06_zakat_referrals.png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Native diagram / proposed capability, based on supplied scope documents.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Native diagram / proposed capability, based on supplied scope documents.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mrm-admin-final/08_notifications.png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Native diagram / proposed capability, based on supplied scope documents.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Native diagram / proposed capability, based on supplied scope documents.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Native diagram / proposed capability, based on supplied scope documents.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Native diagram / proposed capability, based on supplied scope documents.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Native diagram / proposed capability, based on supplied scope documents.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mrm-admin-final/05_learning_events.png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mrm-admin-final/07_sponsors.png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Native diagram / proposed capability, based on supplied scope documents.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Native diagram / proposed capability, based on supplied scope documents.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backend/10_prayer_times.png, backend/11_prayer_time_import.png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Native diagram / proposed capability, based on supplied scope documents.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backend/13_audio_reciters.png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backend/04_dua.png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backend/05_dhikr.png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backend/06_sifat_names.png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Native diagram / proposed capability, based on supplied scope documents.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backend/03_categories.png, backend/07_haram_codes.png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mrm-admin-final/01_mrm_dashboard.png, backend/02_dashboard.png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backend/14_roles.png, backend/15_users.png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backend/16_settings.png, backend/17_profile.png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backend/18_support.png, backend/19_privacy_policy.png, backend/20_terms.png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mrm-admin-final/09_reports.png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Native diagram / proposed capability, based on supplied scope documents.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Native diagram / proposed capability, based on supplied scope documents.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Evidence: mobile/07_volunteer.png, mobile/08_assignments_or_learning.png, backend/12_reciters.png</a:t>
            </a:r>
          </a:p>
          <a:p>
            <a:r>
              <a:t>Screenshots are provided interface/demo evidence. No running application or production data was validated. Diagrams specify proposed journeys; they do not certify implementation. Audience is all Muslims, with specialised MRM revert support. Marketplace excluded; subscriptions apply only to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Relationship Id="rId8" Type="http://schemas.openxmlformats.org/officeDocument/2006/relationships/slide" Target="slide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slide" Target="slide4.xml"/><Relationship Id="rId9" Type="http://schemas.openxmlformats.org/officeDocument/2006/relationships/slide" Target="slide32.xml"/><Relationship Id="rId10" Type="http://schemas.openxmlformats.org/officeDocument/2006/relationships/slide" Target="slide24.xml"/><Relationship Id="rId11" Type="http://schemas.openxmlformats.org/officeDocument/2006/relationships/slide" Target="slide13.xml"/><Relationship Id="rId12" Type="http://schemas.openxmlformats.org/officeDocument/2006/relationships/notesSlide" Target="../notesSlides/notesSlide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7.png"/><Relationship Id="rId10" Type="http://schemas.openxmlformats.org/officeDocument/2006/relationships/image" Target="../media/image11.png"/><Relationship Id="rId11" Type="http://schemas.openxmlformats.org/officeDocument/2006/relationships/slide" Target="slide4.xml"/><Relationship Id="rId12" Type="http://schemas.openxmlformats.org/officeDocument/2006/relationships/slide" Target="slide32.xml"/><Relationship Id="rId13" Type="http://schemas.openxmlformats.org/officeDocument/2006/relationships/slide" Target="slide13.xml"/><Relationship Id="rId14" Type="http://schemas.openxmlformats.org/officeDocument/2006/relationships/slide" Target="slide15.xml"/><Relationship Id="rId15" Type="http://schemas.openxmlformats.org/officeDocument/2006/relationships/slide" Target="slide17.xml"/><Relationship Id="rId16" Type="http://schemas.openxmlformats.org/officeDocument/2006/relationships/slide" Target="slide25.xml"/><Relationship Id="rId17" Type="http://schemas.openxmlformats.org/officeDocument/2006/relationships/slide" Target="slide42.xml"/><Relationship Id="rId18" Type="http://schemas.openxmlformats.org/officeDocument/2006/relationships/notesSlide" Target="../notesSlides/notesSlide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7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slide" Target="slide4.xml"/><Relationship Id="rId12" Type="http://schemas.openxmlformats.org/officeDocument/2006/relationships/slide" Target="slide5.xml"/><Relationship Id="rId13" Type="http://schemas.openxmlformats.org/officeDocument/2006/relationships/slide" Target="slide13.xml"/><Relationship Id="rId14" Type="http://schemas.openxmlformats.org/officeDocument/2006/relationships/slide" Target="slide24.xml"/><Relationship Id="rId15" Type="http://schemas.openxmlformats.org/officeDocument/2006/relationships/slide" Target="slide32.xml"/><Relationship Id="rId16" Type="http://schemas.openxmlformats.org/officeDocument/2006/relationships/slide" Target="slide42.xml"/><Relationship Id="rId17" Type="http://schemas.openxmlformats.org/officeDocument/2006/relationships/slide" Target="slide48.xml"/><Relationship Id="rId18" Type="http://schemas.openxmlformats.org/officeDocument/2006/relationships/notesSlide" Target="../notesSlides/notesSlide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4.xml"/><Relationship Id="rId6" Type="http://schemas.openxmlformats.org/officeDocument/2006/relationships/slide" Target="slide32.xml"/><Relationship Id="rId7" Type="http://schemas.openxmlformats.org/officeDocument/2006/relationships/slide" Target="slide24.xml"/><Relationship Id="rId8" Type="http://schemas.openxmlformats.org/officeDocument/2006/relationships/slide" Target="slide13.xml"/><Relationship Id="rId9" Type="http://schemas.openxmlformats.org/officeDocument/2006/relationships/slide" Target="slide42.xml"/><Relationship Id="rId10" Type="http://schemas.openxmlformats.org/officeDocument/2006/relationships/slide" Target="slide31.xml"/><Relationship Id="rId11" Type="http://schemas.openxmlformats.org/officeDocument/2006/relationships/slide" Target="slide27.xml"/><Relationship Id="rId12" Type="http://schemas.openxmlformats.org/officeDocument/2006/relationships/notesSlide" Target="../notesSlides/notesSlide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image" Target="../media/image8.png"/><Relationship Id="rId7" Type="http://schemas.openxmlformats.org/officeDocument/2006/relationships/image" Target="../media/image7.png"/><Relationship Id="rId8" Type="http://schemas.openxmlformats.org/officeDocument/2006/relationships/image" Target="../media/image11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slide" Target="slide4.xml"/><Relationship Id="rId12" Type="http://schemas.openxmlformats.org/officeDocument/2006/relationships/slide" Target="slide32.xml"/><Relationship Id="rId13" Type="http://schemas.openxmlformats.org/officeDocument/2006/relationships/slide" Target="slide13.xml"/><Relationship Id="rId14" Type="http://schemas.openxmlformats.org/officeDocument/2006/relationships/slide" Target="slide24.xml"/><Relationship Id="rId15" Type="http://schemas.openxmlformats.org/officeDocument/2006/relationships/slide" Target="slide18.xml"/><Relationship Id="rId16" Type="http://schemas.openxmlformats.org/officeDocument/2006/relationships/slide" Target="slide30.xml"/><Relationship Id="rId17" Type="http://schemas.openxmlformats.org/officeDocument/2006/relationships/slide" Target="slide41.xml"/><Relationship Id="rId18" Type="http://schemas.openxmlformats.org/officeDocument/2006/relationships/notesSlide" Target="../notesSlides/notesSlide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12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slide" Target="slide4.xml"/><Relationship Id="rId10" Type="http://schemas.openxmlformats.org/officeDocument/2006/relationships/slide" Target="slide9.xml"/><Relationship Id="rId11" Type="http://schemas.openxmlformats.org/officeDocument/2006/relationships/slide" Target="slide10.xml"/><Relationship Id="rId12" Type="http://schemas.openxmlformats.org/officeDocument/2006/relationships/slide" Target="slide12.xml"/><Relationship Id="rId13" Type="http://schemas.openxmlformats.org/officeDocument/2006/relationships/notesSlide" Target="../notesSlides/notesSlide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slide" Target="slide4.xml"/><Relationship Id="rId9" Type="http://schemas.openxmlformats.org/officeDocument/2006/relationships/slide" Target="slide12.xml"/><Relationship Id="rId10" Type="http://schemas.openxmlformats.org/officeDocument/2006/relationships/notesSlide" Target="../notesSlides/notesSlide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23.png"/><Relationship Id="rId8" Type="http://schemas.openxmlformats.org/officeDocument/2006/relationships/image" Target="../media/image9.png"/><Relationship Id="rId9" Type="http://schemas.openxmlformats.org/officeDocument/2006/relationships/slide" Target="slide4.xml"/><Relationship Id="rId10" Type="http://schemas.openxmlformats.org/officeDocument/2006/relationships/slide" Target="slide32.xml"/><Relationship Id="rId11" Type="http://schemas.openxmlformats.org/officeDocument/2006/relationships/slide" Target="slide13.xml"/><Relationship Id="rId12" Type="http://schemas.openxmlformats.org/officeDocument/2006/relationships/slide" Target="slide15.xml"/><Relationship Id="rId13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24.png"/><Relationship Id="rId7" Type="http://schemas.openxmlformats.org/officeDocument/2006/relationships/image" Target="../media/image12.png"/><Relationship Id="rId8" Type="http://schemas.openxmlformats.org/officeDocument/2006/relationships/slide" Target="slide4.xml"/><Relationship Id="rId9" Type="http://schemas.openxmlformats.org/officeDocument/2006/relationships/slide" Target="slide13.xml"/><Relationship Id="rId10" Type="http://schemas.openxmlformats.org/officeDocument/2006/relationships/slide" Target="slide15.xml"/><Relationship Id="rId11" Type="http://schemas.openxmlformats.org/officeDocument/2006/relationships/slide" Target="slide24.xml"/><Relationship Id="rId1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5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7.png"/><Relationship Id="rId9" Type="http://schemas.openxmlformats.org/officeDocument/2006/relationships/image" Target="../media/image26.png"/><Relationship Id="rId10" Type="http://schemas.openxmlformats.org/officeDocument/2006/relationships/slide" Target="slide4.xml"/><Relationship Id="rId11" Type="http://schemas.openxmlformats.org/officeDocument/2006/relationships/slide" Target="slide13.xml"/><Relationship Id="rId12" Type="http://schemas.openxmlformats.org/officeDocument/2006/relationships/slide" Target="slide15.xml"/><Relationship Id="rId13" Type="http://schemas.openxmlformats.org/officeDocument/2006/relationships/slide" Target="slide24.xml"/><Relationship Id="rId14" Type="http://schemas.openxmlformats.org/officeDocument/2006/relationships/slide" Target="slide23.xml"/><Relationship Id="rId15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7.png"/><Relationship Id="rId6" Type="http://schemas.openxmlformats.org/officeDocument/2006/relationships/image" Target="../media/image9.png"/><Relationship Id="rId7" Type="http://schemas.openxmlformats.org/officeDocument/2006/relationships/image" Target="../media/image18.png"/><Relationship Id="rId8" Type="http://schemas.openxmlformats.org/officeDocument/2006/relationships/image" Target="../media/image11.png"/><Relationship Id="rId9" Type="http://schemas.openxmlformats.org/officeDocument/2006/relationships/slide" Target="slide4.xml"/><Relationship Id="rId10" Type="http://schemas.openxmlformats.org/officeDocument/2006/relationships/slide" Target="slide13.xml"/><Relationship Id="rId11" Type="http://schemas.openxmlformats.org/officeDocument/2006/relationships/slide" Target="slide16.xml"/><Relationship Id="rId12" Type="http://schemas.openxmlformats.org/officeDocument/2006/relationships/slide" Target="slide43.xml"/><Relationship Id="rId13" Type="http://schemas.openxmlformats.org/officeDocument/2006/relationships/notesSlide" Target="../notesSlides/notesSlide1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3.png"/><Relationship Id="rId6" Type="http://schemas.openxmlformats.org/officeDocument/2006/relationships/image" Target="../media/image11.png"/><Relationship Id="rId7" Type="http://schemas.openxmlformats.org/officeDocument/2006/relationships/image" Target="../media/image28.png"/><Relationship Id="rId8" Type="http://schemas.openxmlformats.org/officeDocument/2006/relationships/image" Target="../media/image9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31.png"/><Relationship Id="rId12" Type="http://schemas.openxmlformats.org/officeDocument/2006/relationships/slide" Target="slide4.xml"/><Relationship Id="rId13" Type="http://schemas.openxmlformats.org/officeDocument/2006/relationships/slide" Target="slide19.xml"/><Relationship Id="rId14" Type="http://schemas.openxmlformats.org/officeDocument/2006/relationships/slide" Target="slide18.xml"/><Relationship Id="rId15" Type="http://schemas.openxmlformats.org/officeDocument/2006/relationships/notesSlide" Target="../notesSlides/notesSlide1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4.xml"/><Relationship Id="rId6" Type="http://schemas.openxmlformats.org/officeDocument/2006/relationships/slide" Target="slide23.xml"/><Relationship Id="rId7" Type="http://schemas.openxmlformats.org/officeDocument/2006/relationships/slide" Target="slide17.xml"/><Relationship Id="rId8" Type="http://schemas.openxmlformats.org/officeDocument/2006/relationships/notesSlide" Target="../notesSlides/notesSlide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2.png"/><Relationship Id="rId6" Type="http://schemas.openxmlformats.org/officeDocument/2006/relationships/slide" Target="slide4.xml"/><Relationship Id="rId7" Type="http://schemas.openxmlformats.org/officeDocument/2006/relationships/slide" Target="slide17.xml"/><Relationship Id="rId8" Type="http://schemas.openxmlformats.org/officeDocument/2006/relationships/notesSlide" Target="../notesSlides/notesSlide1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3.png"/><Relationship Id="rId6" Type="http://schemas.openxmlformats.org/officeDocument/2006/relationships/image" Target="../media/image11.png"/><Relationship Id="rId7" Type="http://schemas.openxmlformats.org/officeDocument/2006/relationships/image" Target="../media/image9.png"/><Relationship Id="rId8" Type="http://schemas.openxmlformats.org/officeDocument/2006/relationships/image" Target="../media/image23.png"/><Relationship Id="rId9" Type="http://schemas.openxmlformats.org/officeDocument/2006/relationships/image" Target="../media/image18.png"/><Relationship Id="rId10" Type="http://schemas.openxmlformats.org/officeDocument/2006/relationships/image" Target="../media/image34.png"/><Relationship Id="rId11" Type="http://schemas.openxmlformats.org/officeDocument/2006/relationships/slide" Target="slide4.xml"/><Relationship Id="rId12" Type="http://schemas.openxmlformats.org/officeDocument/2006/relationships/slide" Target="slide43.xml"/><Relationship Id="rId13" Type="http://schemas.openxmlformats.org/officeDocument/2006/relationships/slide" Target="slide47.xml"/><Relationship Id="rId14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5.png"/><Relationship Id="rId6" Type="http://schemas.openxmlformats.org/officeDocument/2006/relationships/slide" Target="slide4.xml"/><Relationship Id="rId7" Type="http://schemas.openxmlformats.org/officeDocument/2006/relationships/slide" Target="slide21.xml"/><Relationship Id="rId8" Type="http://schemas.openxmlformats.org/officeDocument/2006/relationships/notesSlide" Target="../notesSlides/notes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6.png"/><Relationship Id="rId6" Type="http://schemas.openxmlformats.org/officeDocument/2006/relationships/slide" Target="slide4.xml"/><Relationship Id="rId7" Type="http://schemas.openxmlformats.org/officeDocument/2006/relationships/slide" Target="slide19.xml"/><Relationship Id="rId8" Type="http://schemas.openxmlformats.org/officeDocument/2006/relationships/notesSlide" Target="../notesSlides/notes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4.png"/><Relationship Id="rId6" Type="http://schemas.openxmlformats.org/officeDocument/2006/relationships/image" Target="../media/image18.png"/><Relationship Id="rId7" Type="http://schemas.openxmlformats.org/officeDocument/2006/relationships/slide" Target="slide4.xml"/><Relationship Id="rId8" Type="http://schemas.openxmlformats.org/officeDocument/2006/relationships/slide" Target="slide18.xml"/><Relationship Id="rId9" Type="http://schemas.openxmlformats.org/officeDocument/2006/relationships/slide" Target="slide13.xml"/><Relationship Id="rId10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7.png"/><Relationship Id="rId6" Type="http://schemas.openxmlformats.org/officeDocument/2006/relationships/slide" Target="slide4.xml"/><Relationship Id="rId7" Type="http://schemas.openxmlformats.org/officeDocument/2006/relationships/slide" Target="slide40.xml"/><Relationship Id="rId8" Type="http://schemas.openxmlformats.org/officeDocument/2006/relationships/notesSlide" Target="../notesSlides/notesSlide2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8.png"/><Relationship Id="rId6" Type="http://schemas.openxmlformats.org/officeDocument/2006/relationships/image" Target="../media/image34.png"/><Relationship Id="rId7" Type="http://schemas.openxmlformats.org/officeDocument/2006/relationships/image" Target="../media/image39.png"/><Relationship Id="rId8" Type="http://schemas.openxmlformats.org/officeDocument/2006/relationships/image" Target="../media/image10.png"/><Relationship Id="rId9" Type="http://schemas.openxmlformats.org/officeDocument/2006/relationships/image" Target="../media/image29.png"/><Relationship Id="rId10" Type="http://schemas.openxmlformats.org/officeDocument/2006/relationships/image" Target="../media/image40.png"/><Relationship Id="rId11" Type="http://schemas.openxmlformats.org/officeDocument/2006/relationships/slide" Target="slide4.xml"/><Relationship Id="rId12" Type="http://schemas.openxmlformats.org/officeDocument/2006/relationships/slide" Target="slide46.xml"/><Relationship Id="rId13" Type="http://schemas.openxmlformats.org/officeDocument/2006/relationships/slide" Target="slide18.xml"/><Relationship Id="rId14" Type="http://schemas.openxmlformats.org/officeDocument/2006/relationships/notesSlide" Target="../notesSlides/notesSlide2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1.png"/><Relationship Id="rId6" Type="http://schemas.openxmlformats.org/officeDocument/2006/relationships/image" Target="../media/image23.png"/><Relationship Id="rId7" Type="http://schemas.openxmlformats.org/officeDocument/2006/relationships/image" Target="../media/image11.png"/><Relationship Id="rId8" Type="http://schemas.openxmlformats.org/officeDocument/2006/relationships/image" Target="../media/image42.png"/><Relationship Id="rId9" Type="http://schemas.openxmlformats.org/officeDocument/2006/relationships/slide" Target="slide4.xml"/><Relationship Id="rId10" Type="http://schemas.openxmlformats.org/officeDocument/2006/relationships/slide" Target="slide15.xml"/><Relationship Id="rId11" Type="http://schemas.openxmlformats.org/officeDocument/2006/relationships/slide" Target="slide17.xml"/><Relationship Id="rId12" Type="http://schemas.openxmlformats.org/officeDocument/2006/relationships/slide" Target="slide19.xml"/><Relationship Id="rId13" Type="http://schemas.openxmlformats.org/officeDocument/2006/relationships/slide" Target="slide21.xml"/><Relationship Id="rId14" Type="http://schemas.openxmlformats.org/officeDocument/2006/relationships/notesSlide" Target="../notesSlides/notesSlide2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3.png"/><Relationship Id="rId6" Type="http://schemas.openxmlformats.org/officeDocument/2006/relationships/slide" Target="slide4.xml"/><Relationship Id="rId7" Type="http://schemas.openxmlformats.org/officeDocument/2006/relationships/slide" Target="slide11.xml"/><Relationship Id="rId8" Type="http://schemas.openxmlformats.org/officeDocument/2006/relationships/notesSlide" Target="../notesSlides/notesSlide2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image" Target="../media/image11.png"/><Relationship Id="rId10" Type="http://schemas.openxmlformats.org/officeDocument/2006/relationships/image" Target="../media/image13.png"/><Relationship Id="rId11" Type="http://schemas.openxmlformats.org/officeDocument/2006/relationships/slide" Target="slide4.xml"/><Relationship Id="rId12" Type="http://schemas.openxmlformats.org/officeDocument/2006/relationships/slide" Target="slide25.xml"/><Relationship Id="rId13" Type="http://schemas.openxmlformats.org/officeDocument/2006/relationships/slide" Target="slide32.xml"/><Relationship Id="rId14" Type="http://schemas.openxmlformats.org/officeDocument/2006/relationships/notesSlide" Target="../notesSlides/notesSlide2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5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7.png"/><Relationship Id="rId10" Type="http://schemas.openxmlformats.org/officeDocument/2006/relationships/image" Target="../media/image9.png"/><Relationship Id="rId11" Type="http://schemas.openxmlformats.org/officeDocument/2006/relationships/image" Target="../media/image50.png"/><Relationship Id="rId12" Type="http://schemas.openxmlformats.org/officeDocument/2006/relationships/slide" Target="slide4.xml"/><Relationship Id="rId13" Type="http://schemas.openxmlformats.org/officeDocument/2006/relationships/slide" Target="slide26.xml"/><Relationship Id="rId14" Type="http://schemas.openxmlformats.org/officeDocument/2006/relationships/slide" Target="slide47.xml"/><Relationship Id="rId15" Type="http://schemas.openxmlformats.org/officeDocument/2006/relationships/notesSlide" Target="../notesSlides/notesSlide2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51.png"/><Relationship Id="rId8" Type="http://schemas.openxmlformats.org/officeDocument/2006/relationships/image" Target="../media/image40.png"/><Relationship Id="rId9" Type="http://schemas.openxmlformats.org/officeDocument/2006/relationships/slide" Target="slide4.xml"/><Relationship Id="rId10" Type="http://schemas.openxmlformats.org/officeDocument/2006/relationships/slide" Target="slide24.xml"/><Relationship Id="rId11" Type="http://schemas.openxmlformats.org/officeDocument/2006/relationships/slide" Target="slide27.xml"/><Relationship Id="rId12" Type="http://schemas.openxmlformats.org/officeDocument/2006/relationships/slide" Target="slide29.xml"/><Relationship Id="rId13" Type="http://schemas.openxmlformats.org/officeDocument/2006/relationships/slide" Target="slide41.xml"/><Relationship Id="rId14" Type="http://schemas.openxmlformats.org/officeDocument/2006/relationships/notesSlide" Target="../notesSlides/notesSlide2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4.xml"/><Relationship Id="rId6" Type="http://schemas.openxmlformats.org/officeDocument/2006/relationships/slide" Target="slide25.xml"/><Relationship Id="rId7" Type="http://schemas.openxmlformats.org/officeDocument/2006/relationships/slide" Target="slide26.xml"/><Relationship Id="rId8" Type="http://schemas.openxmlformats.org/officeDocument/2006/relationships/notesSlide" Target="../notesSlides/notesSlide2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9.png"/><Relationship Id="rId6" Type="http://schemas.openxmlformats.org/officeDocument/2006/relationships/image" Target="../media/image44.png"/><Relationship Id="rId7" Type="http://schemas.openxmlformats.org/officeDocument/2006/relationships/image" Target="../media/image47.png"/><Relationship Id="rId8" Type="http://schemas.openxmlformats.org/officeDocument/2006/relationships/image" Target="../media/image52.png"/><Relationship Id="rId9" Type="http://schemas.openxmlformats.org/officeDocument/2006/relationships/image" Target="../media/image12.png"/><Relationship Id="rId10" Type="http://schemas.openxmlformats.org/officeDocument/2006/relationships/image" Target="../media/image53.png"/><Relationship Id="rId11" Type="http://schemas.openxmlformats.org/officeDocument/2006/relationships/slide" Target="slide4.xml"/><Relationship Id="rId12" Type="http://schemas.openxmlformats.org/officeDocument/2006/relationships/slide" Target="slide27.xml"/><Relationship Id="rId13" Type="http://schemas.openxmlformats.org/officeDocument/2006/relationships/slide" Target="slide50.xml"/><Relationship Id="rId14" Type="http://schemas.openxmlformats.org/officeDocument/2006/relationships/notesSlide" Target="../notesSlides/notesSlide3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4.png"/><Relationship Id="rId6" Type="http://schemas.openxmlformats.org/officeDocument/2006/relationships/slide" Target="slide4.xml"/><Relationship Id="rId7" Type="http://schemas.openxmlformats.org/officeDocument/2006/relationships/slide" Target="slide24.xml"/><Relationship Id="rId8" Type="http://schemas.openxmlformats.org/officeDocument/2006/relationships/notesSlide" Target="../notesSlides/notesSlide3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5.png"/><Relationship Id="rId6" Type="http://schemas.openxmlformats.org/officeDocument/2006/relationships/slide" Target="slide4.xml"/><Relationship Id="rId7" Type="http://schemas.openxmlformats.org/officeDocument/2006/relationships/slide" Target="slide46.xml"/><Relationship Id="rId8" Type="http://schemas.openxmlformats.org/officeDocument/2006/relationships/notesSlide" Target="../notesSlides/notesSlide3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6.png"/><Relationship Id="rId6" Type="http://schemas.openxmlformats.org/officeDocument/2006/relationships/image" Target="../media/image56.png"/><Relationship Id="rId7" Type="http://schemas.openxmlformats.org/officeDocument/2006/relationships/image" Target="../media/image7.png"/><Relationship Id="rId8" Type="http://schemas.openxmlformats.org/officeDocument/2006/relationships/image" Target="../media/image34.png"/><Relationship Id="rId9" Type="http://schemas.openxmlformats.org/officeDocument/2006/relationships/slide" Target="slide4.xml"/><Relationship Id="rId10" Type="http://schemas.openxmlformats.org/officeDocument/2006/relationships/slide" Target="slide2.xml"/><Relationship Id="rId11" Type="http://schemas.openxmlformats.org/officeDocument/2006/relationships/slide" Target="slide13.xml"/><Relationship Id="rId12" Type="http://schemas.openxmlformats.org/officeDocument/2006/relationships/slide" Target="slide24.xml"/><Relationship Id="rId13" Type="http://schemas.openxmlformats.org/officeDocument/2006/relationships/slide" Target="slide45.xml"/><Relationship Id="rId14" Type="http://schemas.openxmlformats.org/officeDocument/2006/relationships/notesSlide" Target="../notesSlides/notesSlide3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3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13.png"/><Relationship Id="rId9" Type="http://schemas.openxmlformats.org/officeDocument/2006/relationships/slide" Target="slide4.xml"/><Relationship Id="rId10" Type="http://schemas.openxmlformats.org/officeDocument/2006/relationships/slide" Target="slide33.xml"/><Relationship Id="rId11" Type="http://schemas.openxmlformats.org/officeDocument/2006/relationships/slide" Target="slide35.xml"/><Relationship Id="rId12" Type="http://schemas.openxmlformats.org/officeDocument/2006/relationships/slide" Target="slide36.xml"/><Relationship Id="rId13" Type="http://schemas.openxmlformats.org/officeDocument/2006/relationships/slide" Target="slide39.xml"/><Relationship Id="rId14" Type="http://schemas.openxmlformats.org/officeDocument/2006/relationships/notesSlide" Target="../notesSlides/notesSlide3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slide" Target="slide4.xml"/><Relationship Id="rId8" Type="http://schemas.openxmlformats.org/officeDocument/2006/relationships/notesSlide" Target="../notesSlides/notesSlide3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3.png"/><Relationship Id="rId6" Type="http://schemas.openxmlformats.org/officeDocument/2006/relationships/image" Target="../media/image6.png"/><Relationship Id="rId7" Type="http://schemas.openxmlformats.org/officeDocument/2006/relationships/image" Target="../media/image16.png"/><Relationship Id="rId8" Type="http://schemas.openxmlformats.org/officeDocument/2006/relationships/image" Target="../media/image41.png"/><Relationship Id="rId9" Type="http://schemas.openxmlformats.org/officeDocument/2006/relationships/image" Target="../media/image14.png"/><Relationship Id="rId10" Type="http://schemas.openxmlformats.org/officeDocument/2006/relationships/image" Target="../media/image34.png"/><Relationship Id="rId11" Type="http://schemas.openxmlformats.org/officeDocument/2006/relationships/slide" Target="slide4.xml"/><Relationship Id="rId12" Type="http://schemas.openxmlformats.org/officeDocument/2006/relationships/slide" Target="slide47.xml"/><Relationship Id="rId13" Type="http://schemas.openxmlformats.org/officeDocument/2006/relationships/slide" Target="slide50.xml"/><Relationship Id="rId14" Type="http://schemas.openxmlformats.org/officeDocument/2006/relationships/notesSlide" Target="../notesSlides/notesSlide3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9.png"/><Relationship Id="rId6" Type="http://schemas.openxmlformats.org/officeDocument/2006/relationships/slide" Target="slide4.xml"/><Relationship Id="rId7" Type="http://schemas.openxmlformats.org/officeDocument/2006/relationships/slide" Target="slide24.xml"/><Relationship Id="rId8" Type="http://schemas.openxmlformats.org/officeDocument/2006/relationships/notesSlide" Target="../notesSlides/notesSlide3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0.png"/><Relationship Id="rId6" Type="http://schemas.openxmlformats.org/officeDocument/2006/relationships/slide" Target="slide4.xml"/><Relationship Id="rId7" Type="http://schemas.openxmlformats.org/officeDocument/2006/relationships/slide" Target="slide41.xml"/><Relationship Id="rId8" Type="http://schemas.openxmlformats.org/officeDocument/2006/relationships/notesSlide" Target="../notesSlides/notesSlide3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1.png"/><Relationship Id="rId6" Type="http://schemas.openxmlformats.org/officeDocument/2006/relationships/slide" Target="slide4.xml"/><Relationship Id="rId7" Type="http://schemas.openxmlformats.org/officeDocument/2006/relationships/slide" Target="slide41.xml"/><Relationship Id="rId8" Type="http://schemas.openxmlformats.org/officeDocument/2006/relationships/notesSlide" Target="../notesSlides/notesSlide3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2.png"/><Relationship Id="rId6" Type="http://schemas.openxmlformats.org/officeDocument/2006/relationships/slide" Target="slide4.xml"/><Relationship Id="rId7" Type="http://schemas.openxmlformats.org/officeDocument/2006/relationships/slide" Target="slide32.xml"/><Relationship Id="rId8" Type="http://schemas.openxmlformats.org/officeDocument/2006/relationships/notesSlide" Target="../notesSlides/notesSlide4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9.png"/><Relationship Id="rId6" Type="http://schemas.openxmlformats.org/officeDocument/2006/relationships/image" Target="../media/image13.png"/><Relationship Id="rId7" Type="http://schemas.openxmlformats.org/officeDocument/2006/relationships/image" Target="../media/image51.png"/><Relationship Id="rId8" Type="http://schemas.openxmlformats.org/officeDocument/2006/relationships/image" Target="../media/image38.png"/><Relationship Id="rId9" Type="http://schemas.openxmlformats.org/officeDocument/2006/relationships/image" Target="../media/image11.png"/><Relationship Id="rId10" Type="http://schemas.openxmlformats.org/officeDocument/2006/relationships/image" Target="../media/image7.png"/><Relationship Id="rId11" Type="http://schemas.openxmlformats.org/officeDocument/2006/relationships/slide" Target="slide4.xml"/><Relationship Id="rId12" Type="http://schemas.openxmlformats.org/officeDocument/2006/relationships/slide" Target="slide33.xml"/><Relationship Id="rId13" Type="http://schemas.openxmlformats.org/officeDocument/2006/relationships/slide" Target="slide29.xml"/><Relationship Id="rId14" Type="http://schemas.openxmlformats.org/officeDocument/2006/relationships/notesSlide" Target="../notesSlides/notesSlide4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notesSlide" Target="../notesSlides/notesSlide2.xml"/><Relationship Id="rId8" Type="http://schemas.openxmlformats.org/officeDocument/2006/relationships/slide" Target="slide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slide" Target="slide4.xml"/><Relationship Id="rId8" Type="http://schemas.openxmlformats.org/officeDocument/2006/relationships/notesSlide" Target="../notesSlides/notesSlide4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slide" Target="slide4.xml"/><Relationship Id="rId8" Type="http://schemas.openxmlformats.org/officeDocument/2006/relationships/slide" Target="slide46.xml"/><Relationship Id="rId9" Type="http://schemas.openxmlformats.org/officeDocument/2006/relationships/notesSlide" Target="../notesSlides/notesSlide4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Relationship Id="rId7" Type="http://schemas.openxmlformats.org/officeDocument/2006/relationships/slide" Target="slide4.xml"/><Relationship Id="rId8" Type="http://schemas.openxmlformats.org/officeDocument/2006/relationships/notesSlide" Target="../notesSlides/notesSlide4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slide" Target="slide4.xml"/><Relationship Id="rId8" Type="http://schemas.openxmlformats.org/officeDocument/2006/relationships/notesSlide" Target="../notesSlides/notesSlide4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Relationship Id="rId8" Type="http://schemas.openxmlformats.org/officeDocument/2006/relationships/slide" Target="slide4.xml"/><Relationship Id="rId9" Type="http://schemas.openxmlformats.org/officeDocument/2006/relationships/notesSlide" Target="../notesSlides/notesSlide4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6.png"/><Relationship Id="rId6" Type="http://schemas.openxmlformats.org/officeDocument/2006/relationships/slide" Target="slide4.xml"/><Relationship Id="rId7" Type="http://schemas.openxmlformats.org/officeDocument/2006/relationships/slide" Target="slide47.xml"/><Relationship Id="rId8" Type="http://schemas.openxmlformats.org/officeDocument/2006/relationships/notesSlide" Target="../notesSlides/notesSlide4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8.png"/><Relationship Id="rId6" Type="http://schemas.openxmlformats.org/officeDocument/2006/relationships/image" Target="../media/image11.png"/><Relationship Id="rId7" Type="http://schemas.openxmlformats.org/officeDocument/2006/relationships/image" Target="../media/image23.png"/><Relationship Id="rId8" Type="http://schemas.openxmlformats.org/officeDocument/2006/relationships/image" Target="../media/image31.png"/><Relationship Id="rId9" Type="http://schemas.openxmlformats.org/officeDocument/2006/relationships/image" Target="../media/image77.png"/><Relationship Id="rId10" Type="http://schemas.openxmlformats.org/officeDocument/2006/relationships/slide" Target="slide4.xml"/><Relationship Id="rId11" Type="http://schemas.openxmlformats.org/officeDocument/2006/relationships/slide" Target="slide18.xml"/><Relationship Id="rId12" Type="http://schemas.openxmlformats.org/officeDocument/2006/relationships/slide" Target="slide50.xml"/><Relationship Id="rId13" Type="http://schemas.openxmlformats.org/officeDocument/2006/relationships/notesSlide" Target="../notesSlides/notesSlide4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7.png"/><Relationship Id="rId7" Type="http://schemas.openxmlformats.org/officeDocument/2006/relationships/image" Target="../media/image46.png"/><Relationship Id="rId8" Type="http://schemas.openxmlformats.org/officeDocument/2006/relationships/image" Target="../media/image78.png"/><Relationship Id="rId9" Type="http://schemas.openxmlformats.org/officeDocument/2006/relationships/image" Target="../media/image48.png"/><Relationship Id="rId10" Type="http://schemas.openxmlformats.org/officeDocument/2006/relationships/image" Target="../media/image9.png"/><Relationship Id="rId11" Type="http://schemas.openxmlformats.org/officeDocument/2006/relationships/image" Target="../media/image34.png"/><Relationship Id="rId12" Type="http://schemas.openxmlformats.org/officeDocument/2006/relationships/slide" Target="slide4.xml"/><Relationship Id="rId13" Type="http://schemas.openxmlformats.org/officeDocument/2006/relationships/slide" Target="slide50.xml"/><Relationship Id="rId14" Type="http://schemas.openxmlformats.org/officeDocument/2006/relationships/notesSlide" Target="../notesSlides/notesSlide4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7.png"/><Relationship Id="rId7" Type="http://schemas.openxmlformats.org/officeDocument/2006/relationships/image" Target="../media/image40.png"/><Relationship Id="rId8" Type="http://schemas.openxmlformats.org/officeDocument/2006/relationships/image" Target="../media/image79.png"/><Relationship Id="rId9" Type="http://schemas.openxmlformats.org/officeDocument/2006/relationships/image" Target="../media/image80.png"/><Relationship Id="rId10" Type="http://schemas.openxmlformats.org/officeDocument/2006/relationships/image" Target="../media/image81.png"/><Relationship Id="rId11" Type="http://schemas.openxmlformats.org/officeDocument/2006/relationships/slide" Target="slide4.xml"/><Relationship Id="rId12" Type="http://schemas.openxmlformats.org/officeDocument/2006/relationships/slide" Target="slide9.xml"/><Relationship Id="rId13" Type="http://schemas.openxmlformats.org/officeDocument/2006/relationships/slide" Target="slide33.xml"/><Relationship Id="rId14" Type="http://schemas.openxmlformats.org/officeDocument/2006/relationships/slide" Target="slide42.xml"/><Relationship Id="rId15" Type="http://schemas.openxmlformats.org/officeDocument/2006/relationships/notesSlide" Target="../notesSlides/notesSlide50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1.png"/><Relationship Id="rId6" Type="http://schemas.openxmlformats.org/officeDocument/2006/relationships/image" Target="../media/image77.png"/><Relationship Id="rId7" Type="http://schemas.openxmlformats.org/officeDocument/2006/relationships/image" Target="../media/image45.png"/><Relationship Id="rId8" Type="http://schemas.openxmlformats.org/officeDocument/2006/relationships/image" Target="../media/image34.png"/><Relationship Id="rId9" Type="http://schemas.openxmlformats.org/officeDocument/2006/relationships/notesSlide" Target="../notesSlides/notesSlide3.xml"/><Relationship Id="rId10" Type="http://schemas.openxmlformats.org/officeDocument/2006/relationships/slide" Target="slide4.xml"/><Relationship Id="rId11" Type="http://schemas.openxmlformats.org/officeDocument/2006/relationships/slide" Target="slide6.xml"/><Relationship Id="rId12" Type="http://schemas.openxmlformats.org/officeDocument/2006/relationships/slide" Target="slide47.xml"/><Relationship Id="rId13" Type="http://schemas.openxmlformats.org/officeDocument/2006/relationships/slide" Target="slide4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INTRODUCTION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MRM Digital Community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Faith, learning and community care for all Muslims.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8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PRODUCT VISION  /  PROPOSED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 / 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04872"/>
            <a:ext cx="7406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E8C578"/>
                </a:solidFill>
                <a:latin typeface="DejaVu Sans"/>
              </a:defRPr>
            </a:pPr>
            <a:r>
              <a:t>Bismillahirrahmanirrahim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944"/>
            <a:ext cx="78638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800" b="1">
                <a:solidFill>
                  <a:srgbClr val="F7F9FF"/>
                </a:solidFill>
                <a:latin typeface="DejaVu Sans"/>
              </a:defRPr>
            </a:pPr>
            <a:r>
              <a:t>One community.</a:t>
            </a:r>
          </a:p>
          <a:p>
            <a:pPr>
              <a:spcAft>
                <a:spcPts val="700"/>
              </a:spcAft>
              <a:defRPr sz="3800" b="1">
                <a:solidFill>
                  <a:srgbClr val="F7F9FF"/>
                </a:solidFill>
                <a:latin typeface="DejaVu Sans"/>
              </a:defRPr>
            </a:pPr>
            <a:r>
              <a:t>Connected through care.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809744"/>
            <a:ext cx="708660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BBC8DF"/>
                </a:solidFill>
                <a:latin typeface="DejaVu Sans"/>
              </a:defRPr>
            </a:pPr>
            <a:r>
              <a:t>Daily Islamic tools, trusted learning and coordinated assistance, with dedicated support for reverts and people who need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6236208"/>
            <a:ext cx="1691640" cy="31089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6281928"/>
            <a:ext cx="1472184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ANDROID + iOS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06040" y="6236208"/>
            <a:ext cx="1874519" cy="31089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15768" y="6281928"/>
            <a:ext cx="1655063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C2A3FF"/>
                </a:solidFill>
                <a:latin typeface="DejaVu Sans"/>
              </a:defRPr>
            </a:pPr>
            <a:r>
              <a:t>PUBLIC WEBSITE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60" y="6236208"/>
            <a:ext cx="2057400" cy="31089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18888" y="6281928"/>
            <a:ext cx="1837943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E8C578"/>
                </a:solidFill>
                <a:latin typeface="DejaVu Sans"/>
              </a:defRPr>
            </a:pPr>
            <a:r>
              <a:t>MRM OPERATIONS</a:t>
            </a:r>
          </a:p>
        </p:txBody>
      </p:sp>
      <p:pic>
        <p:nvPicPr>
          <p:cNvPr id="23" name="Picture 22" descr="09_loaded_a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2313432"/>
            <a:ext cx="2219415" cy="4526280"/>
          </a:xfrm>
          <a:prstGeom prst="rect">
            <a:avLst/>
          </a:prstGeom>
        </p:spPr>
      </p:pic>
      <p:pic>
        <p:nvPicPr>
          <p:cNvPr id="24" name="Picture 23" descr="03_servic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21440" y="2907792"/>
            <a:ext cx="1945911" cy="39684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VISION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Built for the wider Muslim community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Universal daily value, with focused services where additional support is needed.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8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PROPOSED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 / 50</a:t>
            </a:r>
          </a:p>
        </p:txBody>
      </p:sp>
      <p:sp>
        <p:nvSpPr>
          <p:cNvPr id="14" name="Rounded Rectangle 13">
            <a:hlinkClick action="ppaction://hlinksldjump" r:id="rId9"/>
          </p:cNvPr>
          <p:cNvSpPr/>
          <p:nvPr/>
        </p:nvSpPr>
        <p:spPr>
          <a:xfrm>
            <a:off x="640080" y="2423160"/>
            <a:ext cx="4315968" cy="315468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_moon_62DA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7" y="2606040"/>
            <a:ext cx="384048" cy="384048"/>
          </a:xfrm>
          <a:prstGeom prst="rect">
            <a:avLst/>
          </a:prstGeom>
        </p:spPr>
      </p:pic>
      <p:sp>
        <p:nvSpPr>
          <p:cNvPr id="16" name="TextBox 15">
            <a:hlinkClick action="ppaction://hlinksldjump" r:id="rId9"/>
          </p:cNvPr>
          <p:cNvSpPr txBox="1"/>
          <p:nvPr/>
        </p:nvSpPr>
        <p:spPr>
          <a:xfrm>
            <a:off x="1353312" y="2606040"/>
            <a:ext cx="34290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Everyday faith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255264"/>
            <a:ext cx="3877056" cy="2203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Prayer, Quran, Qibla and remembrance give Muslims a reason to return throughout the week.</a:t>
            </a:r>
          </a:p>
        </p:txBody>
      </p:sp>
      <p:sp>
        <p:nvSpPr>
          <p:cNvPr id="18" name="Rounded Rectangle 17">
            <a:hlinkClick action="ppaction://hlinksldjump" r:id="rId10"/>
          </p:cNvPr>
          <p:cNvSpPr/>
          <p:nvPr/>
        </p:nvSpPr>
        <p:spPr>
          <a:xfrm>
            <a:off x="5157216" y="2423160"/>
            <a:ext cx="4315968" cy="315468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_book_C2A3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8383" y="2606040"/>
            <a:ext cx="384048" cy="384048"/>
          </a:xfrm>
          <a:prstGeom prst="rect">
            <a:avLst/>
          </a:prstGeom>
        </p:spPr>
      </p:pic>
      <p:sp>
        <p:nvSpPr>
          <p:cNvPr id="20" name="TextBox 19">
            <a:hlinkClick action="ppaction://hlinksldjump" r:id="rId10"/>
          </p:cNvPr>
          <p:cNvSpPr txBox="1"/>
          <p:nvPr/>
        </p:nvSpPr>
        <p:spPr>
          <a:xfrm>
            <a:off x="5870448" y="2606040"/>
            <a:ext cx="34290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Lifelong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672" y="3255264"/>
            <a:ext cx="3877056" cy="2203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Approved teachers, live classes and recorded resources connect learners with trusted content.</a:t>
            </a:r>
          </a:p>
        </p:txBody>
      </p:sp>
      <p:sp>
        <p:nvSpPr>
          <p:cNvPr id="22" name="Rounded Rectangle 21">
            <a:hlinkClick action="ppaction://hlinksldjump" r:id="rId11"/>
          </p:cNvPr>
          <p:cNvSpPr/>
          <p:nvPr/>
        </p:nvSpPr>
        <p:spPr>
          <a:xfrm>
            <a:off x="9674351" y="2423160"/>
            <a:ext cx="4315968" cy="315468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heart_8DD8B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5519" y="2606040"/>
            <a:ext cx="384048" cy="384048"/>
          </a:xfrm>
          <a:prstGeom prst="rect">
            <a:avLst/>
          </a:prstGeom>
        </p:spPr>
      </p:pic>
      <p:sp>
        <p:nvSpPr>
          <p:cNvPr id="24" name="TextBox 23">
            <a:hlinkClick action="ppaction://hlinksldjump" r:id="rId11"/>
          </p:cNvPr>
          <p:cNvSpPr txBox="1"/>
          <p:nvPr/>
        </p:nvSpPr>
        <p:spPr>
          <a:xfrm>
            <a:off x="10387583" y="2606040"/>
            <a:ext cx="34290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Community care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93807" y="3255264"/>
            <a:ext cx="3877056" cy="2203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Members seek help, volunteers contribute and MRM coordinates safe follow-up.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5998464"/>
            <a:ext cx="12801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7F9FF"/>
                </a:solidFill>
                <a:latin typeface="DejaVu Sans"/>
              </a:defRPr>
            </a:pPr>
            <a:r>
              <a:t>Revert support remains a core MRM service. It sits within a platform that welcomes all Muslims.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Audience → daily use → learning → participation → coordinated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VISION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One platform, clearly defined roles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An account can hold more than one authorised role; access follows the role and the individual record.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11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PROPOSED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 / 50</a:t>
            </a:r>
          </a:p>
        </p:txBody>
      </p:sp>
      <p:sp>
        <p:nvSpPr>
          <p:cNvPr id="14" name="Rounded Rectangle 13">
            <a:hlinkClick action="ppaction://hlinksldjump" r:id="rId12"/>
          </p:cNvPr>
          <p:cNvSpPr/>
          <p:nvPr/>
        </p:nvSpPr>
        <p:spPr>
          <a:xfrm>
            <a:off x="640080" y="2423160"/>
            <a:ext cx="4315968" cy="209397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_moon_62DA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7" y="2606040"/>
            <a:ext cx="384048" cy="384048"/>
          </a:xfrm>
          <a:prstGeom prst="rect">
            <a:avLst/>
          </a:prstGeom>
        </p:spPr>
      </p:pic>
      <p:sp>
        <p:nvSpPr>
          <p:cNvPr id="16" name="TextBox 15">
            <a:hlinkClick action="ppaction://hlinksldjump" r:id="rId12"/>
          </p:cNvPr>
          <p:cNvSpPr txBox="1"/>
          <p:nvPr/>
        </p:nvSpPr>
        <p:spPr>
          <a:xfrm>
            <a:off x="1353312" y="2606040"/>
            <a:ext cx="34290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Muslim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255264"/>
            <a:ext cx="387705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Use daily tools and approved learning; register where a personal service requires an account.</a:t>
            </a:r>
          </a:p>
        </p:txBody>
      </p:sp>
      <p:sp>
        <p:nvSpPr>
          <p:cNvPr id="18" name="Rounded Rectangle 17">
            <a:hlinkClick action="ppaction://hlinksldjump" r:id="rId13"/>
          </p:cNvPr>
          <p:cNvSpPr/>
          <p:nvPr/>
        </p:nvSpPr>
        <p:spPr>
          <a:xfrm>
            <a:off x="5157216" y="2423160"/>
            <a:ext cx="4315968" cy="209397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_heart_8DD8B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8383" y="2606040"/>
            <a:ext cx="384048" cy="384048"/>
          </a:xfrm>
          <a:prstGeom prst="rect">
            <a:avLst/>
          </a:prstGeom>
        </p:spPr>
      </p:pic>
      <p:sp>
        <p:nvSpPr>
          <p:cNvPr id="20" name="TextBox 19">
            <a:hlinkClick action="ppaction://hlinksldjump" r:id="rId13"/>
          </p:cNvPr>
          <p:cNvSpPr txBox="1"/>
          <p:nvPr/>
        </p:nvSpPr>
        <p:spPr>
          <a:xfrm>
            <a:off x="5870448" y="2606040"/>
            <a:ext cx="34290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Members / support seekers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672" y="3255264"/>
            <a:ext cx="387705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Submit requests, choose safe contact preferences and follow their own case updates.</a:t>
            </a:r>
          </a:p>
        </p:txBody>
      </p:sp>
      <p:sp>
        <p:nvSpPr>
          <p:cNvPr id="22" name="Rounded Rectangle 21">
            <a:hlinkClick action="ppaction://hlinksldjump" r:id="rId14"/>
          </p:cNvPr>
          <p:cNvSpPr/>
          <p:nvPr/>
        </p:nvSpPr>
        <p:spPr>
          <a:xfrm>
            <a:off x="9674351" y="2423160"/>
            <a:ext cx="4315968" cy="209397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people_62DAE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5519" y="2606040"/>
            <a:ext cx="384048" cy="384048"/>
          </a:xfrm>
          <a:prstGeom prst="rect">
            <a:avLst/>
          </a:prstGeom>
        </p:spPr>
      </p:pic>
      <p:sp>
        <p:nvSpPr>
          <p:cNvPr id="24" name="TextBox 23">
            <a:hlinkClick action="ppaction://hlinksldjump" r:id="rId14"/>
          </p:cNvPr>
          <p:cNvSpPr txBox="1"/>
          <p:nvPr/>
        </p:nvSpPr>
        <p:spPr>
          <a:xfrm>
            <a:off x="10387583" y="2606040"/>
            <a:ext cx="34290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Volunteer applicants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93807" y="3255264"/>
            <a:ext cx="387705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Apply, supply evidence and attend an interview before restricted service access.</a:t>
            </a:r>
          </a:p>
        </p:txBody>
      </p:sp>
      <p:sp>
        <p:nvSpPr>
          <p:cNvPr id="26" name="Rounded Rectangle 25">
            <a:hlinkClick action="ppaction://hlinksldjump" r:id="rId15"/>
          </p:cNvPr>
          <p:cNvSpPr/>
          <p:nvPr/>
        </p:nvSpPr>
        <p:spPr>
          <a:xfrm>
            <a:off x="640080" y="4718304"/>
            <a:ext cx="4315968" cy="209397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_star_E8C57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7" y="4901184"/>
            <a:ext cx="384048" cy="384048"/>
          </a:xfrm>
          <a:prstGeom prst="rect">
            <a:avLst/>
          </a:prstGeom>
        </p:spPr>
      </p:pic>
      <p:sp>
        <p:nvSpPr>
          <p:cNvPr id="28" name="TextBox 27">
            <a:hlinkClick action="ppaction://hlinksldjump" r:id="rId15"/>
          </p:cNvPr>
          <p:cNvSpPr txBox="1"/>
          <p:nvPr/>
        </p:nvSpPr>
        <p:spPr>
          <a:xfrm>
            <a:off x="1353312" y="4901184"/>
            <a:ext cx="34290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volunteers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550408"/>
            <a:ext cx="387705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Receive eligible work, manage assigned service and view verified recognition.</a:t>
            </a:r>
          </a:p>
        </p:txBody>
      </p:sp>
      <p:sp>
        <p:nvSpPr>
          <p:cNvPr id="30" name="Rounded Rectangle 29">
            <a:hlinkClick action="ppaction://hlinksldjump" r:id="rId16"/>
          </p:cNvPr>
          <p:cNvSpPr/>
          <p:nvPr/>
        </p:nvSpPr>
        <p:spPr>
          <a:xfrm>
            <a:off x="5157216" y="4718304"/>
            <a:ext cx="4315968" cy="209397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on_book_C2A3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58383" y="4901184"/>
            <a:ext cx="384048" cy="384048"/>
          </a:xfrm>
          <a:prstGeom prst="rect">
            <a:avLst/>
          </a:prstGeom>
        </p:spPr>
      </p:pic>
      <p:sp>
        <p:nvSpPr>
          <p:cNvPr id="32" name="TextBox 31">
            <a:hlinkClick action="ppaction://hlinksldjump" r:id="rId16"/>
          </p:cNvPr>
          <p:cNvSpPr txBox="1"/>
          <p:nvPr/>
        </p:nvSpPr>
        <p:spPr>
          <a:xfrm>
            <a:off x="5870448" y="4901184"/>
            <a:ext cx="34290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teachers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76672" y="5550408"/>
            <a:ext cx="387705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Submit learning and advertisements; subscriptions govern designated publishing privileges.</a:t>
            </a:r>
          </a:p>
        </p:txBody>
      </p:sp>
      <p:sp>
        <p:nvSpPr>
          <p:cNvPr id="34" name="Rounded Rectangle 33">
            <a:hlinkClick action="ppaction://hlinksldjump" r:id="rId17"/>
          </p:cNvPr>
          <p:cNvSpPr/>
          <p:nvPr/>
        </p:nvSpPr>
        <p:spPr>
          <a:xfrm>
            <a:off x="9674351" y="4718304"/>
            <a:ext cx="4315968" cy="209397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con_shield_62DAE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75519" y="4901184"/>
            <a:ext cx="384048" cy="384048"/>
          </a:xfrm>
          <a:prstGeom prst="rect">
            <a:avLst/>
          </a:prstGeom>
        </p:spPr>
      </p:pic>
      <p:sp>
        <p:nvSpPr>
          <p:cNvPr id="36" name="TextBox 35">
            <a:hlinkClick action="ppaction://hlinksldjump" r:id="rId17"/>
          </p:cNvPr>
          <p:cNvSpPr txBox="1"/>
          <p:nvPr/>
        </p:nvSpPr>
        <p:spPr>
          <a:xfrm>
            <a:off x="10387583" y="4901184"/>
            <a:ext cx="34290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MRM staff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93807" y="5550408"/>
            <a:ext cx="387705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Verify, triage, safeguard, moderate and administer within duty-based permissions.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Discover freely  •  Authenticate for personal records  •  Approve before privileged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CONTENTS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Explore the complete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Click a section card in PowerPoint or the PDF to jump to its opening page.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11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INTERACTIVE CONTENTS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 / 50</a:t>
            </a:r>
          </a:p>
        </p:txBody>
      </p:sp>
      <p:sp>
        <p:nvSpPr>
          <p:cNvPr id="14" name="Rounded Rectangle 13">
            <a:hlinkClick action="ppaction://hlinksldjump" r:id="rId12"/>
          </p:cNvPr>
          <p:cNvSpPr/>
          <p:nvPr/>
        </p:nvSpPr>
        <p:spPr>
          <a:xfrm>
            <a:off x="640080" y="2423160"/>
            <a:ext cx="4315968" cy="209397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_route_62DA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7" y="2606040"/>
            <a:ext cx="384048" cy="384048"/>
          </a:xfrm>
          <a:prstGeom prst="rect">
            <a:avLst/>
          </a:prstGeom>
        </p:spPr>
      </p:pic>
      <p:sp>
        <p:nvSpPr>
          <p:cNvPr id="16" name="TextBox 15">
            <a:hlinkClick action="ppaction://hlinksldjump" r:id="rId12"/>
          </p:cNvPr>
          <p:cNvSpPr txBox="1"/>
          <p:nvPr/>
        </p:nvSpPr>
        <p:spPr>
          <a:xfrm>
            <a:off x="1353312" y="2606040"/>
            <a:ext cx="34290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01  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255264"/>
            <a:ext cx="387705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Pages 05–12</a:t>
            </a:r>
          </a:p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Ecosystem, features, app navigation and current mobile screens.</a:t>
            </a:r>
          </a:p>
        </p:txBody>
      </p:sp>
      <p:sp>
        <p:nvSpPr>
          <p:cNvPr id="18" name="Rounded Rectangle 17">
            <a:hlinkClick action="ppaction://hlinksldjump" r:id="rId13"/>
          </p:cNvPr>
          <p:cNvSpPr/>
          <p:nvPr/>
        </p:nvSpPr>
        <p:spPr>
          <a:xfrm>
            <a:off x="5157216" y="2423160"/>
            <a:ext cx="4315968" cy="209397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_heart_8DD8B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8383" y="2606040"/>
            <a:ext cx="384048" cy="384048"/>
          </a:xfrm>
          <a:prstGeom prst="rect">
            <a:avLst/>
          </a:prstGeom>
        </p:spPr>
      </p:pic>
      <p:sp>
        <p:nvSpPr>
          <p:cNvPr id="20" name="TextBox 19">
            <a:hlinkClick action="ppaction://hlinksldjump" r:id="rId13"/>
          </p:cNvPr>
          <p:cNvSpPr txBox="1"/>
          <p:nvPr/>
        </p:nvSpPr>
        <p:spPr>
          <a:xfrm>
            <a:off x="5870448" y="2606040"/>
            <a:ext cx="34290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02  Care &amp; volunteering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672" y="3255264"/>
            <a:ext cx="387705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Pages 13–23</a:t>
            </a:r>
          </a:p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Assistance, verification, safe discovery, private cases and zakat referrals.</a:t>
            </a:r>
          </a:p>
        </p:txBody>
      </p:sp>
      <p:sp>
        <p:nvSpPr>
          <p:cNvPr id="22" name="Rounded Rectangle 21">
            <a:hlinkClick action="ppaction://hlinksldjump" r:id="rId14"/>
          </p:cNvPr>
          <p:cNvSpPr/>
          <p:nvPr/>
        </p:nvSpPr>
        <p:spPr>
          <a:xfrm>
            <a:off x="9674351" y="2423160"/>
            <a:ext cx="4315968" cy="209397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book_C2A3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5519" y="2606040"/>
            <a:ext cx="384048" cy="384048"/>
          </a:xfrm>
          <a:prstGeom prst="rect">
            <a:avLst/>
          </a:prstGeom>
        </p:spPr>
      </p:pic>
      <p:sp>
        <p:nvSpPr>
          <p:cNvPr id="24" name="TextBox 23">
            <a:hlinkClick action="ppaction://hlinksldjump" r:id="rId14"/>
          </p:cNvPr>
          <p:cNvSpPr txBox="1"/>
          <p:nvPr/>
        </p:nvSpPr>
        <p:spPr>
          <a:xfrm>
            <a:off x="10387583" y="2606040"/>
            <a:ext cx="34290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03  Learning &amp; revenue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93807" y="3255264"/>
            <a:ext cx="387705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Pages 24–31</a:t>
            </a:r>
          </a:p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Teachers, subscription flows, classes, sponsors and website journeys.</a:t>
            </a:r>
          </a:p>
        </p:txBody>
      </p:sp>
      <p:sp>
        <p:nvSpPr>
          <p:cNvPr id="26" name="Rounded Rectangle 25">
            <a:hlinkClick action="ppaction://hlinksldjump" r:id="rId15"/>
          </p:cNvPr>
          <p:cNvSpPr/>
          <p:nvPr/>
        </p:nvSpPr>
        <p:spPr>
          <a:xfrm>
            <a:off x="640080" y="4718304"/>
            <a:ext cx="4315968" cy="209397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_moon_E8C57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7" y="4901184"/>
            <a:ext cx="384048" cy="384048"/>
          </a:xfrm>
          <a:prstGeom prst="rect">
            <a:avLst/>
          </a:prstGeom>
        </p:spPr>
      </p:pic>
      <p:sp>
        <p:nvSpPr>
          <p:cNvPr id="28" name="TextBox 27">
            <a:hlinkClick action="ppaction://hlinksldjump" r:id="rId15"/>
          </p:cNvPr>
          <p:cNvSpPr txBox="1"/>
          <p:nvPr/>
        </p:nvSpPr>
        <p:spPr>
          <a:xfrm>
            <a:off x="1353312" y="4901184"/>
            <a:ext cx="34290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04  Islamic utilities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550408"/>
            <a:ext cx="387705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Pages 32–41</a:t>
            </a:r>
          </a:p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Prayer, Qibla, Quran, remembrance, calendar and content administration.</a:t>
            </a:r>
          </a:p>
        </p:txBody>
      </p:sp>
      <p:sp>
        <p:nvSpPr>
          <p:cNvPr id="30" name="Rounded Rectangle 29">
            <a:hlinkClick action="ppaction://hlinksldjump" r:id="rId16"/>
          </p:cNvPr>
          <p:cNvSpPr/>
          <p:nvPr/>
        </p:nvSpPr>
        <p:spPr>
          <a:xfrm>
            <a:off x="5157216" y="4718304"/>
            <a:ext cx="4315968" cy="209397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on_gear_62DAE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58383" y="4901184"/>
            <a:ext cx="384048" cy="384048"/>
          </a:xfrm>
          <a:prstGeom prst="rect">
            <a:avLst/>
          </a:prstGeom>
        </p:spPr>
      </p:pic>
      <p:sp>
        <p:nvSpPr>
          <p:cNvPr id="32" name="TextBox 31">
            <a:hlinkClick action="ppaction://hlinksldjump" r:id="rId16"/>
          </p:cNvPr>
          <p:cNvSpPr txBox="1"/>
          <p:nvPr/>
        </p:nvSpPr>
        <p:spPr>
          <a:xfrm>
            <a:off x="5870448" y="4901184"/>
            <a:ext cx="34290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05  MRM operations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76672" y="5550408"/>
            <a:ext cx="387705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Pages 42–47</a:t>
            </a:r>
          </a:p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Dashboard, accounts, configuration, policies, reports and security.</a:t>
            </a:r>
          </a:p>
        </p:txBody>
      </p:sp>
      <p:sp>
        <p:nvSpPr>
          <p:cNvPr id="34" name="Rounded Rectangle 33">
            <a:hlinkClick action="ppaction://hlinksldjump" r:id="rId17"/>
          </p:cNvPr>
          <p:cNvSpPr/>
          <p:nvPr/>
        </p:nvSpPr>
        <p:spPr>
          <a:xfrm>
            <a:off x="9674351" y="4718304"/>
            <a:ext cx="4315968" cy="209397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con_chart_C2A3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75519" y="4901184"/>
            <a:ext cx="384048" cy="384048"/>
          </a:xfrm>
          <a:prstGeom prst="rect">
            <a:avLst/>
          </a:prstGeom>
        </p:spPr>
      </p:pic>
      <p:sp>
        <p:nvSpPr>
          <p:cNvPr id="36" name="TextBox 35">
            <a:hlinkClick action="ppaction://hlinksldjump" r:id="rId17"/>
          </p:cNvPr>
          <p:cNvSpPr txBox="1"/>
          <p:nvPr/>
        </p:nvSpPr>
        <p:spPr>
          <a:xfrm>
            <a:off x="10387583" y="4901184"/>
            <a:ext cx="34290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06  Delivery &amp;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93807" y="5550408"/>
            <a:ext cx="387705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Pages 48–50</a:t>
            </a:r>
          </a:p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Milestones, screen coverage and acceptance responsibilities.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Every page footer returns to this contents page. Feature chips link related journeys.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EXPERIENCE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How every feature connects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Shared identity, content and permissions connect public discovery, daily use and community service.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5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PROPOSED FEATURE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05 /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657600"/>
            <a:ext cx="4023360" cy="132588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9824" y="3803904"/>
            <a:ext cx="373075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MRM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68112" y="4370832"/>
            <a:ext cx="36941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Shared identity • permissions • content</a:t>
            </a:r>
          </a:p>
        </p:txBody>
      </p:sp>
      <p:sp>
        <p:nvSpPr>
          <p:cNvPr id="17" name="Rounded Rectangle 16">
            <a:hlinkClick action="ppaction://hlinksldjump" r:id="rId6"/>
          </p:cNvPr>
          <p:cNvSpPr/>
          <p:nvPr/>
        </p:nvSpPr>
        <p:spPr>
          <a:xfrm>
            <a:off x="640080" y="2423160"/>
            <a:ext cx="3657600" cy="1170432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E8C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6"/>
          </p:cNvPr>
          <p:cNvSpPr txBox="1"/>
          <p:nvPr/>
        </p:nvSpPr>
        <p:spPr>
          <a:xfrm>
            <a:off x="786384" y="2569464"/>
            <a:ext cx="336499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Islamic utilities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136391"/>
            <a:ext cx="3328416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Prayer • Quran • Qibla • remembrance</a:t>
            </a:r>
          </a:p>
        </p:txBody>
      </p:sp>
      <p:sp>
        <p:nvSpPr>
          <p:cNvPr id="20" name="Rounded Rectangle 19">
            <a:hlinkClick action="ppaction://hlinksldjump" r:id="rId7"/>
          </p:cNvPr>
          <p:cNvSpPr/>
          <p:nvPr/>
        </p:nvSpPr>
        <p:spPr>
          <a:xfrm>
            <a:off x="10332720" y="2423160"/>
            <a:ext cx="3657600" cy="1170432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C2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>
            <a:hlinkClick action="ppaction://hlinksldjump" r:id="rId7"/>
          </p:cNvPr>
          <p:cNvSpPr txBox="1"/>
          <p:nvPr/>
        </p:nvSpPr>
        <p:spPr>
          <a:xfrm>
            <a:off x="10479024" y="2569464"/>
            <a:ext cx="336499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97312" y="3136391"/>
            <a:ext cx="3328416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Teachers • classes • recordings</a:t>
            </a:r>
          </a:p>
        </p:txBody>
      </p:sp>
      <p:sp>
        <p:nvSpPr>
          <p:cNvPr id="23" name="Rounded Rectangle 22">
            <a:hlinkClick action="ppaction://hlinksldjump" r:id="rId8"/>
          </p:cNvPr>
          <p:cNvSpPr/>
          <p:nvPr/>
        </p:nvSpPr>
        <p:spPr>
          <a:xfrm>
            <a:off x="640080" y="5321808"/>
            <a:ext cx="3657600" cy="1170432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8DD8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786384" y="5468112"/>
            <a:ext cx="336499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Community care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" y="6035040"/>
            <a:ext cx="3328416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Requests • volunteers • zakat</a:t>
            </a:r>
          </a:p>
        </p:txBody>
      </p:sp>
      <p:sp>
        <p:nvSpPr>
          <p:cNvPr id="26" name="Rounded Rectangle 25">
            <a:hlinkClick action="ppaction://hlinksldjump" r:id="rId9"/>
          </p:cNvPr>
          <p:cNvSpPr/>
          <p:nvPr/>
        </p:nvSpPr>
        <p:spPr>
          <a:xfrm>
            <a:off x="10332720" y="5321808"/>
            <a:ext cx="3657600" cy="1170432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>
            <a:hlinkClick action="ppaction://hlinksldjump" r:id="rId9"/>
          </p:cNvPr>
          <p:cNvSpPr txBox="1"/>
          <p:nvPr/>
        </p:nvSpPr>
        <p:spPr>
          <a:xfrm>
            <a:off x="10479024" y="5468112"/>
            <a:ext cx="336499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MRM operations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97312" y="6035040"/>
            <a:ext cx="3328416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Moderation • cases • reports</a:t>
            </a:r>
          </a:p>
        </p:txBody>
      </p:sp>
      <p:sp>
        <p:nvSpPr>
          <p:cNvPr id="29" name="Rounded Rectangle 28">
            <a:hlinkClick action="ppaction://hlinksldjump" r:id="rId10"/>
          </p:cNvPr>
          <p:cNvSpPr/>
          <p:nvPr/>
        </p:nvSpPr>
        <p:spPr>
          <a:xfrm>
            <a:off x="5303520" y="2395728"/>
            <a:ext cx="4023360" cy="1170432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5449824" y="2542032"/>
            <a:ext cx="373075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Public website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68112" y="3108960"/>
            <a:ext cx="3694176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Discover • participate • download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03520" y="5559552"/>
            <a:ext cx="4023360" cy="1170432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C2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>
            <a:hlinkClick action="ppaction://hlinksldjump" r:id="rId11"/>
          </p:cNvPr>
          <p:cNvSpPr txBox="1"/>
          <p:nvPr/>
        </p:nvSpPr>
        <p:spPr>
          <a:xfrm>
            <a:off x="5449824" y="5705856"/>
            <a:ext cx="373075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Sustainable support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68112" y="6272784"/>
            <a:ext cx="3694176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Teacher subscriptions • sponsors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297680" y="3108960"/>
            <a:ext cx="1005840" cy="822960"/>
          </a:xfrm>
          <a:prstGeom prst="line">
            <a:avLst/>
          </a:prstGeom>
          <a:ln w="20320">
            <a:solidFill>
              <a:srgbClr val="E8C5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9326880" y="3108960"/>
            <a:ext cx="1005840" cy="822960"/>
          </a:xfrm>
          <a:prstGeom prst="line">
            <a:avLst/>
          </a:prstGeom>
          <a:ln w="20320">
            <a:solidFill>
              <a:srgbClr val="C2A3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297680" y="4663440"/>
            <a:ext cx="1005840" cy="1097280"/>
          </a:xfrm>
          <a:prstGeom prst="line">
            <a:avLst/>
          </a:prstGeom>
          <a:ln w="20320">
            <a:solidFill>
              <a:srgbClr val="8DD8B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9326880" y="4663440"/>
            <a:ext cx="1005840" cy="1097280"/>
          </a:xfrm>
          <a:prstGeom prst="line">
            <a:avLst/>
          </a:prstGeom>
          <a:ln w="20320">
            <a:solidFill>
              <a:srgbClr val="62DA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315200" y="3566160"/>
            <a:ext cx="0" cy="91440"/>
          </a:xfrm>
          <a:prstGeom prst="line">
            <a:avLst/>
          </a:prstGeom>
          <a:ln w="20320">
            <a:solidFill>
              <a:srgbClr val="62DA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315200" y="4983480"/>
            <a:ext cx="0" cy="576072"/>
          </a:xfrm>
          <a:prstGeom prst="line">
            <a:avLst/>
          </a:prstGeom>
          <a:ln w="20320">
            <a:solidFill>
              <a:srgbClr val="C2A3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Public information supports discovery; private records remain within authorised service journeys.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EXPERIENCE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Complete feature landscape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The proposed service scope and the supplied template functions are shown with their distinct purposes.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11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PROPOSED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06 / 50</a:t>
            </a:r>
          </a:p>
        </p:txBody>
      </p:sp>
      <p:sp>
        <p:nvSpPr>
          <p:cNvPr id="14" name="Rounded Rectangle 13">
            <a:hlinkClick action="ppaction://hlinksldjump" r:id="rId12"/>
          </p:cNvPr>
          <p:cNvSpPr/>
          <p:nvPr/>
        </p:nvSpPr>
        <p:spPr>
          <a:xfrm>
            <a:off x="640080" y="2423160"/>
            <a:ext cx="4315968" cy="211683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_moon_E8C57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7" y="2606040"/>
            <a:ext cx="384048" cy="384048"/>
          </a:xfrm>
          <a:prstGeom prst="rect">
            <a:avLst/>
          </a:prstGeom>
        </p:spPr>
      </p:pic>
      <p:sp>
        <p:nvSpPr>
          <p:cNvPr id="16" name="TextBox 15">
            <a:hlinkClick action="ppaction://hlinksldjump" r:id="rId12"/>
          </p:cNvPr>
          <p:cNvSpPr txBox="1"/>
          <p:nvPr/>
        </p:nvSpPr>
        <p:spPr>
          <a:xfrm>
            <a:off x="1353312" y="2606040"/>
            <a:ext cx="34290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Daily Islamic practice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255264"/>
            <a:ext cx="3877056" cy="11658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Prayer times • Qibla • Quran • dua • dhikr</a:t>
            </a:r>
          </a:p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Hadith • Hijri/Ramadan • nearby mosques</a:t>
            </a:r>
          </a:p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Informational zakat estimate</a:t>
            </a:r>
          </a:p>
        </p:txBody>
      </p:sp>
      <p:sp>
        <p:nvSpPr>
          <p:cNvPr id="18" name="Rounded Rectangle 17">
            <a:hlinkClick action="ppaction://hlinksldjump" r:id="rId13"/>
          </p:cNvPr>
          <p:cNvSpPr/>
          <p:nvPr/>
        </p:nvSpPr>
        <p:spPr>
          <a:xfrm>
            <a:off x="5157216" y="2423160"/>
            <a:ext cx="4315968" cy="211683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_heart_8DD8B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8383" y="2606040"/>
            <a:ext cx="384048" cy="384048"/>
          </a:xfrm>
          <a:prstGeom prst="rect">
            <a:avLst/>
          </a:prstGeom>
        </p:spPr>
      </p:pic>
      <p:sp>
        <p:nvSpPr>
          <p:cNvPr id="20" name="TextBox 19">
            <a:hlinkClick action="ppaction://hlinksldjump" r:id="rId13"/>
          </p:cNvPr>
          <p:cNvSpPr txBox="1"/>
          <p:nvPr/>
        </p:nvSpPr>
        <p:spPr>
          <a:xfrm>
            <a:off x="5870448" y="2606040"/>
            <a:ext cx="34290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Assistance &amp; volunteering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672" y="3255264"/>
            <a:ext cx="3877056" cy="11658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Requests • alerts • assignment • case tracking</a:t>
            </a:r>
          </a:p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Evidence review • online interview • discovery</a:t>
            </a:r>
          </a:p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Gender access • ranks • safeguarding</a:t>
            </a:r>
          </a:p>
        </p:txBody>
      </p:sp>
      <p:sp>
        <p:nvSpPr>
          <p:cNvPr id="22" name="Rounded Rectangle 21">
            <a:hlinkClick action="ppaction://hlinksldjump" r:id="rId14"/>
          </p:cNvPr>
          <p:cNvSpPr/>
          <p:nvPr/>
        </p:nvSpPr>
        <p:spPr>
          <a:xfrm>
            <a:off x="9674351" y="2423160"/>
            <a:ext cx="4315968" cy="211683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book_C2A3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5519" y="2606040"/>
            <a:ext cx="384048" cy="384048"/>
          </a:xfrm>
          <a:prstGeom prst="rect">
            <a:avLst/>
          </a:prstGeom>
        </p:spPr>
      </p:pic>
      <p:sp>
        <p:nvSpPr>
          <p:cNvPr id="24" name="TextBox 23">
            <a:hlinkClick action="ppaction://hlinksldjump" r:id="rId14"/>
          </p:cNvPr>
          <p:cNvSpPr txBox="1"/>
          <p:nvPr/>
        </p:nvSpPr>
        <p:spPr>
          <a:xfrm>
            <a:off x="10387583" y="2606040"/>
            <a:ext cx="34290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Teachers &amp; learning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93807" y="3255264"/>
            <a:ext cx="3877056" cy="11658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Teacher approval • posts • teaching ads</a:t>
            </a:r>
          </a:p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Teacher-only plans • verified entitlements</a:t>
            </a:r>
          </a:p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Live sessions • recordings • classes/events</a:t>
            </a:r>
          </a:p>
        </p:txBody>
      </p:sp>
      <p:sp>
        <p:nvSpPr>
          <p:cNvPr id="26" name="Rounded Rectangle 25">
            <a:hlinkClick action="ppaction://hlinksldjump" r:id="rId15"/>
          </p:cNvPr>
          <p:cNvSpPr/>
          <p:nvPr/>
        </p:nvSpPr>
        <p:spPr>
          <a:xfrm>
            <a:off x="640080" y="4741164"/>
            <a:ext cx="4315968" cy="211683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_shield_62DAE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7" y="4924044"/>
            <a:ext cx="384048" cy="384048"/>
          </a:xfrm>
          <a:prstGeom prst="rect">
            <a:avLst/>
          </a:prstGeom>
        </p:spPr>
      </p:pic>
      <p:sp>
        <p:nvSpPr>
          <p:cNvPr id="28" name="TextBox 27">
            <a:hlinkClick action="ppaction://hlinksldjump" r:id="rId15"/>
          </p:cNvPr>
          <p:cNvSpPr txBox="1"/>
          <p:nvPr/>
        </p:nvSpPr>
        <p:spPr>
          <a:xfrm>
            <a:off x="1353312" y="4924044"/>
            <a:ext cx="34290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Zakat &amp; confidential 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573268"/>
            <a:ext cx="3877056" cy="11658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Private faith/family intake • restricted staff</a:t>
            </a:r>
          </a:p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Consent • review • referral • follow-up</a:t>
            </a:r>
          </a:p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Authority-controlled eligibility/disbursement</a:t>
            </a:r>
          </a:p>
        </p:txBody>
      </p:sp>
      <p:sp>
        <p:nvSpPr>
          <p:cNvPr id="30" name="Rounded Rectangle 29">
            <a:hlinkClick action="ppaction://hlinksldjump" r:id="rId16"/>
          </p:cNvPr>
          <p:cNvSpPr/>
          <p:nvPr/>
        </p:nvSpPr>
        <p:spPr>
          <a:xfrm>
            <a:off x="5157216" y="4741164"/>
            <a:ext cx="4315968" cy="211683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on_globe_62DAE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58383" y="4924044"/>
            <a:ext cx="384048" cy="384048"/>
          </a:xfrm>
          <a:prstGeom prst="rect">
            <a:avLst/>
          </a:prstGeom>
        </p:spPr>
      </p:pic>
      <p:sp>
        <p:nvSpPr>
          <p:cNvPr id="32" name="TextBox 31">
            <a:hlinkClick action="ppaction://hlinksldjump" r:id="rId16"/>
          </p:cNvPr>
          <p:cNvSpPr txBox="1"/>
          <p:nvPr/>
        </p:nvSpPr>
        <p:spPr>
          <a:xfrm>
            <a:off x="5870448" y="4924044"/>
            <a:ext cx="34290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Public engagement &amp; sponsors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76672" y="5573268"/>
            <a:ext cx="3877056" cy="11658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Website • participation routes • content</a:t>
            </a:r>
          </a:p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Sponsor profiles • scheduled placements</a:t>
            </a:r>
          </a:p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Recognition • aggregate performance</a:t>
            </a:r>
          </a:p>
        </p:txBody>
      </p:sp>
      <p:sp>
        <p:nvSpPr>
          <p:cNvPr id="34" name="Rounded Rectangle 33">
            <a:hlinkClick action="ppaction://hlinksldjump" r:id="rId17"/>
          </p:cNvPr>
          <p:cNvSpPr/>
          <p:nvPr/>
        </p:nvSpPr>
        <p:spPr>
          <a:xfrm>
            <a:off x="9674351" y="4741164"/>
            <a:ext cx="4315968" cy="211683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con_gear_C2A3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75519" y="4924044"/>
            <a:ext cx="384048" cy="384048"/>
          </a:xfrm>
          <a:prstGeom prst="rect">
            <a:avLst/>
          </a:prstGeom>
        </p:spPr>
      </p:pic>
      <p:sp>
        <p:nvSpPr>
          <p:cNvPr id="36" name="TextBox 35">
            <a:hlinkClick action="ppaction://hlinksldjump" r:id="rId17"/>
          </p:cNvPr>
          <p:cNvSpPr txBox="1"/>
          <p:nvPr/>
        </p:nvSpPr>
        <p:spPr>
          <a:xfrm>
            <a:off x="10387583" y="4924044"/>
            <a:ext cx="34290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Operations &amp; template library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93807" y="5573268"/>
            <a:ext cx="3877056" cy="11658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Accounts • permissions • audit • reports</a:t>
            </a:r>
          </a:p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Categories • Sifat Names • Haram Codes</a:t>
            </a:r>
          </a:p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Existing donation/payment configuration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Marketplace excluded  •  Core participation stays free  •  Template-only functions are labelled on pages 40–41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EXPERIENCE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A connected app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Navigation keeps daily use, personal service and role-specific work within one coherent experience.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9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PROPOSED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07 /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514600"/>
            <a:ext cx="3076956" cy="233172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271576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pic>
        <p:nvPicPr>
          <p:cNvPr id="16" name="Picture 15" descr="icon_moon_62DA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7227" y="2688336"/>
            <a:ext cx="438912" cy="4389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9536" y="3346704"/>
            <a:ext cx="263804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Open the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023360"/>
            <a:ext cx="2638044" cy="7040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Daily tools and approved public resources.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53611" y="3680460"/>
            <a:ext cx="274320" cy="0"/>
          </a:xfrm>
          <a:prstGeom prst="line">
            <a:avLst/>
          </a:prstGeom>
          <a:ln w="20320">
            <a:solidFill>
              <a:srgbClr val="62DA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064507" y="2514600"/>
            <a:ext cx="3076956" cy="233172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83964" y="271576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pic>
        <p:nvPicPr>
          <p:cNvPr id="22" name="Picture 21" descr="icon_route_62DAE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655" y="2688336"/>
            <a:ext cx="438912" cy="43891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283964" y="3346704"/>
            <a:ext cx="263804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Choose a 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83964" y="4023360"/>
            <a:ext cx="2638044" cy="7040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Learn, seek support or contribute.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78039" y="3680460"/>
            <a:ext cx="274321" cy="0"/>
          </a:xfrm>
          <a:prstGeom prst="line">
            <a:avLst/>
          </a:prstGeom>
          <a:ln w="20320">
            <a:solidFill>
              <a:srgbClr val="62DA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488936" y="2514600"/>
            <a:ext cx="3076956" cy="233172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08392" y="271576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pic>
        <p:nvPicPr>
          <p:cNvPr id="28" name="Picture 27" descr="icon_lock_62DAE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6084" y="2688336"/>
            <a:ext cx="438912" cy="43891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708392" y="3346704"/>
            <a:ext cx="263804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Use the right access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08392" y="4023360"/>
            <a:ext cx="2638044" cy="7040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Sign in; verified roles unlock relevant work.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602467" y="3680460"/>
            <a:ext cx="274321" cy="0"/>
          </a:xfrm>
          <a:prstGeom prst="line">
            <a:avLst/>
          </a:prstGeom>
          <a:ln w="20320">
            <a:solidFill>
              <a:srgbClr val="62DA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913363" y="2514600"/>
            <a:ext cx="3076956" cy="233172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32819" y="271576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pic>
        <p:nvPicPr>
          <p:cNvPr id="34" name="Picture 33" descr="icon_clock_62DAE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40511" y="2688336"/>
            <a:ext cx="438912" cy="43891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1132819" y="3346704"/>
            <a:ext cx="263804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Follow progress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32819" y="4023360"/>
            <a:ext cx="2638044" cy="7040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Requests, applications and learning updates.</a:t>
            </a:r>
          </a:p>
        </p:txBody>
      </p:sp>
      <p:sp>
        <p:nvSpPr>
          <p:cNvPr id="37" name="Rounded Rectangle 36">
            <a:hlinkClick action="ppaction://hlinksldjump" r:id="rId10"/>
          </p:cNvPr>
          <p:cNvSpPr/>
          <p:nvPr/>
        </p:nvSpPr>
        <p:spPr>
          <a:xfrm>
            <a:off x="640080" y="5266944"/>
            <a:ext cx="4270248" cy="146304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con_route_62DAE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7" y="5449824"/>
            <a:ext cx="329184" cy="329184"/>
          </a:xfrm>
          <a:prstGeom prst="rect">
            <a:avLst/>
          </a:prstGeom>
        </p:spPr>
      </p:pic>
      <p:sp>
        <p:nvSpPr>
          <p:cNvPr id="39" name="TextBox 38">
            <a:hlinkClick action="ppaction://hlinksldjump" r:id="rId10"/>
          </p:cNvPr>
          <p:cNvSpPr txBox="1"/>
          <p:nvPr/>
        </p:nvSpPr>
        <p:spPr>
          <a:xfrm>
            <a:off x="1353312" y="5449824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Home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5907024"/>
            <a:ext cx="3831335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Daily value and service entry points</a:t>
            </a:r>
          </a:p>
        </p:txBody>
      </p:sp>
      <p:sp>
        <p:nvSpPr>
          <p:cNvPr id="41" name="Rounded Rectangle 40">
            <a:hlinkClick action="ppaction://hlinksldjump" r:id="rId11"/>
          </p:cNvPr>
          <p:cNvSpPr/>
          <p:nvPr/>
        </p:nvSpPr>
        <p:spPr>
          <a:xfrm>
            <a:off x="5175504" y="5266944"/>
            <a:ext cx="4270248" cy="146304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con_route_62DAE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6672" y="5449824"/>
            <a:ext cx="329184" cy="329184"/>
          </a:xfrm>
          <a:prstGeom prst="rect">
            <a:avLst/>
          </a:prstGeom>
        </p:spPr>
      </p:pic>
      <p:sp>
        <p:nvSpPr>
          <p:cNvPr id="43" name="TextBox 42">
            <a:hlinkClick action="ppaction://hlinksldjump" r:id="rId11"/>
          </p:cNvPr>
          <p:cNvSpPr txBox="1"/>
          <p:nvPr/>
        </p:nvSpPr>
        <p:spPr>
          <a:xfrm>
            <a:off x="5888736" y="5449824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Services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4960" y="5907024"/>
            <a:ext cx="3831335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Assistance, volunteering and learning</a:t>
            </a:r>
          </a:p>
        </p:txBody>
      </p:sp>
      <p:sp>
        <p:nvSpPr>
          <p:cNvPr id="45" name="Rounded Rectangle 44">
            <a:hlinkClick action="ppaction://hlinksldjump" r:id="rId12"/>
          </p:cNvPr>
          <p:cNvSpPr/>
          <p:nvPr/>
        </p:nvSpPr>
        <p:spPr>
          <a:xfrm>
            <a:off x="9720072" y="5266944"/>
            <a:ext cx="4270248" cy="146304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con_route_62DAE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240" y="5449824"/>
            <a:ext cx="329184" cy="329184"/>
          </a:xfrm>
          <a:prstGeom prst="rect">
            <a:avLst/>
          </a:prstGeom>
        </p:spPr>
      </p:pic>
      <p:sp>
        <p:nvSpPr>
          <p:cNvPr id="47" name="TextBox 46">
            <a:hlinkClick action="ppaction://hlinksldjump" r:id="rId12"/>
          </p:cNvPr>
          <p:cNvSpPr txBox="1"/>
          <p:nvPr/>
        </p:nvSpPr>
        <p:spPr>
          <a:xfrm>
            <a:off x="10433304" y="5449824"/>
            <a:ext cx="33832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My account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39528" y="5907024"/>
            <a:ext cx="3831335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Preferences and authorised role journeys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Daily tools ↔ learning  •  Services ↔ personal activity  •  Role changes ↔ authorised access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EXPERIENCE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Entry, identity and session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Brand introduction and authentication are separate stages in the user journey.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8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PROVIDED SCREENS + PROPOSED ACCOUNT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08 / 50</a:t>
            </a:r>
          </a:p>
        </p:txBody>
      </p:sp>
      <p:pic>
        <p:nvPicPr>
          <p:cNvPr id="14" name="Picture 13" descr="01_log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423160"/>
            <a:ext cx="2026617" cy="413308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94359" y="6629400"/>
            <a:ext cx="239237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Capture 01 · logo / splash</a:t>
            </a:r>
          </a:p>
        </p:txBody>
      </p:sp>
      <p:pic>
        <p:nvPicPr>
          <p:cNvPr id="16" name="Picture 15" descr="02_hom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3240" y="2423160"/>
            <a:ext cx="2026617" cy="413308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880360" y="6629400"/>
            <a:ext cx="239237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Capture 02 · loading state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2450592"/>
            <a:ext cx="4023360" cy="3364992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60720" y="2450592"/>
            <a:ext cx="4023360" cy="274320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70448" y="2551176"/>
            <a:ext cx="64008" cy="64008"/>
          </a:xfrm>
          <a:prstGeom prst="ellipse">
            <a:avLst/>
          </a:prstGeom>
          <a:solidFill>
            <a:srgbClr val="F3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89320" y="2551176"/>
            <a:ext cx="64008" cy="64008"/>
          </a:xfrm>
          <a:prstGeom prst="ellipse">
            <a:avLst/>
          </a:prstGeom>
          <a:solidFill>
            <a:srgbClr val="E6C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108192" y="2551176"/>
            <a:ext cx="64008" cy="64008"/>
          </a:xfrm>
          <a:prstGeom prst="ellipse">
            <a:avLst/>
          </a:prstGeom>
          <a:solidFill>
            <a:srgbClr val="85C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519172"/>
            <a:ext cx="2880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800" b="0">
                <a:solidFill>
                  <a:srgbClr val="53617A"/>
                </a:solidFill>
                <a:latin typeface="DejaVu Sans"/>
              </a:defRPr>
            </a:pPr>
            <a:r>
              <a:t>MRM  /  BACKEND</a:t>
            </a:r>
          </a:p>
        </p:txBody>
      </p:sp>
      <p:pic>
        <p:nvPicPr>
          <p:cNvPr id="24" name="Picture 23" descr="01_login.png"/>
          <p:cNvPicPr>
            <a:picLocks noChangeAspect="1"/>
          </p:cNvPicPr>
          <p:nvPr/>
        </p:nvPicPr>
        <p:blipFill>
          <a:blip r:embed="rId7"/>
          <a:srcRect b="1273"/>
          <a:stretch>
            <a:fillRect/>
          </a:stretch>
        </p:blipFill>
        <p:spPr>
          <a:xfrm>
            <a:off x="5760720" y="2734056"/>
            <a:ext cx="4023360" cy="30815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760720" y="5888736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Provided administration sign-in screen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2560320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F7F9FF"/>
                </a:solidFill>
                <a:latin typeface="DejaVu Sans"/>
              </a:defRPr>
            </a:pPr>
            <a:r>
              <a:t>Personal 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3154680"/>
            <a:ext cx="3749039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BBC8DF"/>
                </a:solidFill>
                <a:latin typeface="DejaVu Sans"/>
              </a:defRPr>
            </a:pPr>
            <a:r>
              <a:t>Contact verification and recovery support personal records. Consent, location and notification choices remain explicit.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5330952"/>
            <a:ext cx="37490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8C578"/>
                </a:solidFill>
                <a:latin typeface="DejaVu Sans"/>
              </a:defRPr>
            </a:pPr>
            <a:r>
              <a:t>These mobile captures show entry states, not a completed sign-in form.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Identity → account → role eligibility → permitted records</a:t>
            </a:r>
          </a:p>
        </p:txBody>
      </p:sp>
      <p:sp>
        <p:nvSpPr>
          <p:cNvPr id="31" name="Rounded Rectangle 30">
            <a:hlinkClick action="ppaction://hlinksldjump" r:id="rId9"/>
          </p:cNvPr>
          <p:cNvSpPr/>
          <p:nvPr/>
        </p:nvSpPr>
        <p:spPr>
          <a:xfrm>
            <a:off x="685800" y="2084831"/>
            <a:ext cx="1237183" cy="31089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9"/>
          </p:cNvPr>
          <p:cNvSpPr txBox="1"/>
          <p:nvPr/>
        </p:nvSpPr>
        <p:spPr>
          <a:xfrm>
            <a:off x="795528" y="2130551"/>
            <a:ext cx="101772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Account  ›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EXPERIENCE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Home: a clear route to participate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The loaded home capture combines a welcome, help entry point, volunteer participation and recent activity.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9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PROVIDED MOBILE SCREEN + PROPOSED CONNECTIONS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09 / 50</a:t>
            </a:r>
          </a:p>
        </p:txBody>
      </p:sp>
      <p:pic>
        <p:nvPicPr>
          <p:cNvPr id="14" name="Picture 13" descr="09_loaded_a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2331720"/>
            <a:ext cx="2161127" cy="44074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4400" y="6812280"/>
            <a:ext cx="252688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Provided loaded home screen</a:t>
            </a:r>
          </a:p>
        </p:txBody>
      </p:sp>
      <p:sp>
        <p:nvSpPr>
          <p:cNvPr id="16" name="Rounded Rectangle 15">
            <a:hlinkClick action="ppaction://hlinksldjump" r:id="rId10"/>
          </p:cNvPr>
          <p:cNvSpPr/>
          <p:nvPr/>
        </p:nvSpPr>
        <p:spPr>
          <a:xfrm>
            <a:off x="4160520" y="2423160"/>
            <a:ext cx="9829800" cy="1298448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_moon_62DAE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1688" y="2606040"/>
            <a:ext cx="329184" cy="329184"/>
          </a:xfrm>
          <a:prstGeom prst="rect">
            <a:avLst/>
          </a:prstGeom>
        </p:spPr>
      </p:pic>
      <p:sp>
        <p:nvSpPr>
          <p:cNvPr id="18" name="TextBox 17">
            <a:hlinkClick action="ppaction://hlinksldjump" r:id="rId10"/>
          </p:cNvPr>
          <p:cNvSpPr txBox="1"/>
          <p:nvPr/>
        </p:nvSpPr>
        <p:spPr>
          <a:xfrm>
            <a:off x="4873752" y="2606040"/>
            <a:ext cx="894283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Daily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9976" y="3063239"/>
            <a:ext cx="9390888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Connect Islamic tools and learning to recurring use.</a:t>
            </a:r>
          </a:p>
        </p:txBody>
      </p:sp>
      <p:sp>
        <p:nvSpPr>
          <p:cNvPr id="20" name="Rounded Rectangle 19">
            <a:hlinkClick action="ppaction://hlinksldjump" r:id="rId11"/>
          </p:cNvPr>
          <p:cNvSpPr/>
          <p:nvPr/>
        </p:nvSpPr>
        <p:spPr>
          <a:xfrm>
            <a:off x="4160520" y="3895344"/>
            <a:ext cx="9829800" cy="1298448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on_heart_62DAE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1688" y="4078224"/>
            <a:ext cx="329184" cy="329184"/>
          </a:xfrm>
          <a:prstGeom prst="rect">
            <a:avLst/>
          </a:prstGeom>
        </p:spPr>
      </p:pic>
      <p:sp>
        <p:nvSpPr>
          <p:cNvPr id="22" name="TextBox 21">
            <a:hlinkClick action="ppaction://hlinksldjump" r:id="rId11"/>
          </p:cNvPr>
          <p:cNvSpPr txBox="1"/>
          <p:nvPr/>
        </p:nvSpPr>
        <p:spPr>
          <a:xfrm>
            <a:off x="4873752" y="4078224"/>
            <a:ext cx="894283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Request assistance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9976" y="4535424"/>
            <a:ext cx="9390888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Open a safe intake route and follow your own case.</a:t>
            </a:r>
          </a:p>
        </p:txBody>
      </p:sp>
      <p:sp>
        <p:nvSpPr>
          <p:cNvPr id="24" name="Rounded Rectangle 23">
            <a:hlinkClick action="ppaction://hlinksldjump" r:id="rId12"/>
          </p:cNvPr>
          <p:cNvSpPr/>
          <p:nvPr/>
        </p:nvSpPr>
        <p:spPr>
          <a:xfrm>
            <a:off x="4160520" y="5367528"/>
            <a:ext cx="9829800" cy="1298448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_people_62DAE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61688" y="5550408"/>
            <a:ext cx="329184" cy="329184"/>
          </a:xfrm>
          <a:prstGeom prst="rect">
            <a:avLst/>
          </a:prstGeom>
        </p:spPr>
      </p:pic>
      <p:sp>
        <p:nvSpPr>
          <p:cNvPr id="26" name="TextBox 25">
            <a:hlinkClick action="ppaction://hlinksldjump" r:id="rId12"/>
          </p:cNvPr>
          <p:cNvSpPr txBox="1"/>
          <p:nvPr/>
        </p:nvSpPr>
        <p:spPr>
          <a:xfrm>
            <a:off x="4873752" y="5550408"/>
            <a:ext cx="894283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Volunteer with MRM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9976" y="6007608"/>
            <a:ext cx="9390888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Apply, verify and contribute to suitable service.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Home → daily tools [32]  •  Home → requests [13]  •  Home → volunteer onboarding [15]</a:t>
            </a:r>
          </a:p>
        </p:txBody>
      </p:sp>
      <p:sp>
        <p:nvSpPr>
          <p:cNvPr id="30" name="Rounded Rectangle 29">
            <a:hlinkClick action="ppaction://hlinksldjump" r:id="rId11"/>
          </p:cNvPr>
          <p:cNvSpPr/>
          <p:nvPr/>
        </p:nvSpPr>
        <p:spPr>
          <a:xfrm>
            <a:off x="685800" y="2084831"/>
            <a:ext cx="1459382" cy="31089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>
            <a:hlinkClick action="ppaction://hlinksldjump" r:id="rId11"/>
          </p:cNvPr>
          <p:cNvSpPr txBox="1"/>
          <p:nvPr/>
        </p:nvSpPr>
        <p:spPr>
          <a:xfrm>
            <a:off x="795528" y="2130551"/>
            <a:ext cx="123992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Assistance  › 13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2291486" y="2084831"/>
            <a:ext cx="1533448" cy="31089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>
            <a:hlinkClick action="ppaction://hlinksldjump" r:id="rId10"/>
          </p:cNvPr>
          <p:cNvSpPr txBox="1"/>
          <p:nvPr/>
        </p:nvSpPr>
        <p:spPr>
          <a:xfrm>
            <a:off x="2401214" y="2130551"/>
            <a:ext cx="1313992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Daily tools  › 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EXPERIENCE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Services: clear paths into community 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The supplied service captures show help, volunteering, assignments and learning entry points.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8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PROVIDED MOBILE SCREENS + PROPOSED 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10 / 50</a:t>
            </a:r>
          </a:p>
        </p:txBody>
      </p:sp>
      <p:pic>
        <p:nvPicPr>
          <p:cNvPr id="14" name="Picture 13" descr="03_servi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423160"/>
            <a:ext cx="2040068" cy="4160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" y="6656831"/>
            <a:ext cx="24058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Capture 03 · service hub</a:t>
            </a:r>
          </a:p>
        </p:txBody>
      </p:sp>
      <p:pic>
        <p:nvPicPr>
          <p:cNvPr id="16" name="Picture 15" descr="06_help_reques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8960" y="2423160"/>
            <a:ext cx="2040068" cy="41605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926079" y="6656831"/>
            <a:ext cx="24058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Capture 06 · same hub state</a:t>
            </a:r>
          </a:p>
        </p:txBody>
      </p:sp>
      <p:sp>
        <p:nvSpPr>
          <p:cNvPr id="18" name="Rounded Rectangle 17">
            <a:hlinkClick action="ppaction://hlinksldjump" r:id="rId9"/>
          </p:cNvPr>
          <p:cNvSpPr/>
          <p:nvPr/>
        </p:nvSpPr>
        <p:spPr>
          <a:xfrm>
            <a:off x="5943600" y="2468880"/>
            <a:ext cx="8046720" cy="128016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_route_62DAE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4768" y="2651760"/>
            <a:ext cx="329184" cy="329184"/>
          </a:xfrm>
          <a:prstGeom prst="rect">
            <a:avLst/>
          </a:prstGeom>
        </p:spPr>
      </p:pic>
      <p:sp>
        <p:nvSpPr>
          <p:cNvPr id="20" name="TextBox 19">
            <a:hlinkClick action="ppaction://hlinksldjump" r:id="rId9"/>
          </p:cNvPr>
          <p:cNvSpPr txBox="1"/>
          <p:nvPr/>
        </p:nvSpPr>
        <p:spPr>
          <a:xfrm>
            <a:off x="6656832" y="2651760"/>
            <a:ext cx="715975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Help &amp;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3056" y="3108960"/>
            <a:ext cx="760780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Private intake with triage and controlled follow-up.</a:t>
            </a:r>
          </a:p>
        </p:txBody>
      </p:sp>
      <p:sp>
        <p:nvSpPr>
          <p:cNvPr id="22" name="Rounded Rectangle 21">
            <a:hlinkClick action="ppaction://hlinksldjump" r:id="rId10"/>
          </p:cNvPr>
          <p:cNvSpPr/>
          <p:nvPr/>
        </p:nvSpPr>
        <p:spPr>
          <a:xfrm>
            <a:off x="5943600" y="3922776"/>
            <a:ext cx="8046720" cy="128016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route_62DAE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4768" y="4105656"/>
            <a:ext cx="329184" cy="329184"/>
          </a:xfrm>
          <a:prstGeom prst="rect">
            <a:avLst/>
          </a:prstGeom>
        </p:spPr>
      </p:pic>
      <p:sp>
        <p:nvSpPr>
          <p:cNvPr id="24" name="TextBox 23">
            <a:hlinkClick action="ppaction://hlinksldjump" r:id="rId10"/>
          </p:cNvPr>
          <p:cNvSpPr txBox="1"/>
          <p:nvPr/>
        </p:nvSpPr>
        <p:spPr>
          <a:xfrm>
            <a:off x="6656832" y="4105656"/>
            <a:ext cx="715975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Volunteer &amp; assignments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63056" y="4562856"/>
            <a:ext cx="760780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Verification precedes eligible work and assigned access.</a:t>
            </a:r>
          </a:p>
        </p:txBody>
      </p:sp>
      <p:sp>
        <p:nvSpPr>
          <p:cNvPr id="26" name="Rounded Rectangle 25">
            <a:hlinkClick action="ppaction://hlinksldjump" r:id="rId11"/>
          </p:cNvPr>
          <p:cNvSpPr/>
          <p:nvPr/>
        </p:nvSpPr>
        <p:spPr>
          <a:xfrm>
            <a:off x="5943600" y="5376672"/>
            <a:ext cx="8046720" cy="128016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_route_62DAE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4768" y="5559552"/>
            <a:ext cx="329184" cy="329184"/>
          </a:xfrm>
          <a:prstGeom prst="rect">
            <a:avLst/>
          </a:prstGeom>
        </p:spPr>
      </p:pic>
      <p:sp>
        <p:nvSpPr>
          <p:cNvPr id="28" name="TextBox 27">
            <a:hlinkClick action="ppaction://hlinksldjump" r:id="rId11"/>
          </p:cNvPr>
          <p:cNvSpPr txBox="1"/>
          <p:nvPr/>
        </p:nvSpPr>
        <p:spPr>
          <a:xfrm>
            <a:off x="6656832" y="5559552"/>
            <a:ext cx="715975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Learning &amp; events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63056" y="6016752"/>
            <a:ext cx="760780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Discover approved programmes and participation details.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A service-menu capture does not demonstrate the request form, assignment detail or learning flow.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685800" y="2084831"/>
            <a:ext cx="1385316" cy="31089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>
            <a:hlinkClick action="ppaction://hlinksldjump" r:id="rId10"/>
          </p:cNvPr>
          <p:cNvSpPr txBox="1"/>
          <p:nvPr/>
        </p:nvSpPr>
        <p:spPr>
          <a:xfrm>
            <a:off x="795528" y="2130551"/>
            <a:ext cx="11658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Volunteer  › 15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2217420" y="2084831"/>
            <a:ext cx="1311249" cy="31089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>
            <a:hlinkClick action="ppaction://hlinksldjump" r:id="rId11"/>
          </p:cNvPr>
          <p:cNvSpPr txBox="1"/>
          <p:nvPr/>
        </p:nvSpPr>
        <p:spPr>
          <a:xfrm>
            <a:off x="2327148" y="2130551"/>
            <a:ext cx="1091793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Learning  ›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EXPERIENCE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Activity: a personal service timeline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The current capture is an empty state; the proposed journey connects it to meaningful updates.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10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PROVIDED EMPTY STATE + PROPOSED STATUS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11 / 50</a:t>
            </a:r>
          </a:p>
        </p:txBody>
      </p:sp>
      <p:pic>
        <p:nvPicPr>
          <p:cNvPr id="14" name="Picture 13" descr="04_activ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2377440"/>
            <a:ext cx="2116291" cy="43159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4400" y="6766560"/>
            <a:ext cx="248205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Provided activity screen · empty state</a:t>
            </a:r>
          </a:p>
        </p:txBody>
      </p:sp>
      <p:sp>
        <p:nvSpPr>
          <p:cNvPr id="16" name="Rounded Rectangle 15">
            <a:hlinkClick action="ppaction://hlinksldjump" r:id="rId11"/>
          </p:cNvPr>
          <p:cNvSpPr/>
          <p:nvPr/>
        </p:nvSpPr>
        <p:spPr>
          <a:xfrm>
            <a:off x="4206240" y="2468880"/>
            <a:ext cx="4727448" cy="182880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_heart_8DD8B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7407" y="2651760"/>
            <a:ext cx="384048" cy="384048"/>
          </a:xfrm>
          <a:prstGeom prst="rect">
            <a:avLst/>
          </a:prstGeom>
        </p:spPr>
      </p:pic>
      <p:sp>
        <p:nvSpPr>
          <p:cNvPr id="18" name="TextBox 17">
            <a:hlinkClick action="ppaction://hlinksldjump" r:id="rId11"/>
          </p:cNvPr>
          <p:cNvSpPr txBox="1"/>
          <p:nvPr/>
        </p:nvSpPr>
        <p:spPr>
          <a:xfrm>
            <a:off x="4919472" y="2651760"/>
            <a:ext cx="38404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Requests &amp; referrals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3300984"/>
            <a:ext cx="4288536" cy="8778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Acknowledgement, assignment changes and referral progress visible to the person concerned.</a:t>
            </a:r>
          </a:p>
        </p:txBody>
      </p:sp>
      <p:sp>
        <p:nvSpPr>
          <p:cNvPr id="20" name="Rounded Rectangle 19">
            <a:hlinkClick action="ppaction://hlinksldjump" r:id="rId12"/>
          </p:cNvPr>
          <p:cNvSpPr/>
          <p:nvPr/>
        </p:nvSpPr>
        <p:spPr>
          <a:xfrm>
            <a:off x="9162288" y="2468880"/>
            <a:ext cx="4828032" cy="182880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on_people_62DAE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3456" y="2651760"/>
            <a:ext cx="384048" cy="384048"/>
          </a:xfrm>
          <a:prstGeom prst="rect">
            <a:avLst/>
          </a:prstGeom>
        </p:spPr>
      </p:pic>
      <p:sp>
        <p:nvSpPr>
          <p:cNvPr id="22" name="TextBox 21">
            <a:hlinkClick action="ppaction://hlinksldjump" r:id="rId12"/>
          </p:cNvPr>
          <p:cNvSpPr txBox="1"/>
          <p:nvPr/>
        </p:nvSpPr>
        <p:spPr>
          <a:xfrm>
            <a:off x="9875519" y="2651760"/>
            <a:ext cx="394106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Applications &amp;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81744" y="3300984"/>
            <a:ext cx="4389120" cy="8778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Verification outcomes and authorised assignment updates with a clear next action.</a:t>
            </a:r>
          </a:p>
        </p:txBody>
      </p:sp>
      <p:sp>
        <p:nvSpPr>
          <p:cNvPr id="24" name="Rounded Rectangle 23">
            <a:hlinkClick action="ppaction://hlinksldjump" r:id="rId13"/>
          </p:cNvPr>
          <p:cNvSpPr/>
          <p:nvPr/>
        </p:nvSpPr>
        <p:spPr>
          <a:xfrm>
            <a:off x="4206240" y="4572000"/>
            <a:ext cx="4727448" cy="182880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_book_C2A3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07407" y="4754880"/>
            <a:ext cx="384048" cy="384048"/>
          </a:xfrm>
          <a:prstGeom prst="rect">
            <a:avLst/>
          </a:prstGeom>
        </p:spPr>
      </p:pic>
      <p:sp>
        <p:nvSpPr>
          <p:cNvPr id="26" name="TextBox 25">
            <a:hlinkClick action="ppaction://hlinksldjump" r:id="rId13"/>
          </p:cNvPr>
          <p:cNvSpPr txBox="1"/>
          <p:nvPr/>
        </p:nvSpPr>
        <p:spPr>
          <a:xfrm>
            <a:off x="4919472" y="4754880"/>
            <a:ext cx="38404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Learning updates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25696" y="5404104"/>
            <a:ext cx="4288536" cy="8778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Class reminders and relevant publication updates link to approved content.</a:t>
            </a:r>
          </a:p>
        </p:txBody>
      </p:sp>
      <p:sp>
        <p:nvSpPr>
          <p:cNvPr id="28" name="Rounded Rectangle 27">
            <a:hlinkClick action="ppaction://hlinksldjump" r:id="rId14"/>
          </p:cNvPr>
          <p:cNvSpPr/>
          <p:nvPr/>
        </p:nvSpPr>
        <p:spPr>
          <a:xfrm>
            <a:off x="9162288" y="4572000"/>
            <a:ext cx="4828032" cy="182880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_bell_E8C57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63456" y="4754880"/>
            <a:ext cx="384048" cy="384048"/>
          </a:xfrm>
          <a:prstGeom prst="rect">
            <a:avLst/>
          </a:prstGeom>
        </p:spPr>
      </p:pic>
      <p:sp>
        <p:nvSpPr>
          <p:cNvPr id="30" name="TextBox 29">
            <a:hlinkClick action="ppaction://hlinksldjump" r:id="rId14"/>
          </p:cNvPr>
          <p:cNvSpPr txBox="1"/>
          <p:nvPr/>
        </p:nvSpPr>
        <p:spPr>
          <a:xfrm>
            <a:off x="9875519" y="4754880"/>
            <a:ext cx="394106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Controlled notifications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81744" y="5404104"/>
            <a:ext cx="4389120" cy="8778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Open the app for details; sensitive descriptions stay out of lock-screen alerts.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Event → authorised recipient → notification → relevant detail → updated personal timeline</a:t>
            </a:r>
          </a:p>
        </p:txBody>
      </p:sp>
      <p:sp>
        <p:nvSpPr>
          <p:cNvPr id="34" name="Rounded Rectangle 33">
            <a:hlinkClick action="ppaction://hlinksldjump" r:id="rId14"/>
          </p:cNvPr>
          <p:cNvSpPr/>
          <p:nvPr/>
        </p:nvSpPr>
        <p:spPr>
          <a:xfrm>
            <a:off x="685800" y="2084831"/>
            <a:ext cx="1163116" cy="31089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>
            <a:hlinkClick action="ppaction://hlinksldjump" r:id="rId14"/>
          </p:cNvPr>
          <p:cNvSpPr txBox="1"/>
          <p:nvPr/>
        </p:nvSpPr>
        <p:spPr>
          <a:xfrm>
            <a:off x="795528" y="2130551"/>
            <a:ext cx="9436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Alerts  ›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EXPERIENCE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Account: identity, preferences and permissions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Account settings support safe participation without conflating membership, approval and paid entitlement.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9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PROVIDED ACCOUNT SCREEN + PROPOSED ACCESS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12 / 50</a:t>
            </a:r>
          </a:p>
        </p:txBody>
      </p:sp>
      <p:pic>
        <p:nvPicPr>
          <p:cNvPr id="14" name="Picture 13" descr="05_accou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2377440"/>
            <a:ext cx="2116291" cy="43159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4400" y="6766560"/>
            <a:ext cx="248205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BBC8DF"/>
                </a:solidFill>
                <a:latin typeface="DejaVu Sans"/>
              </a:defRPr>
            </a:pPr>
            <a:r>
              <a:t>Provided demo account screen</a:t>
            </a:r>
          </a:p>
        </p:txBody>
      </p:sp>
      <p:sp>
        <p:nvSpPr>
          <p:cNvPr id="16" name="Rounded Rectangle 15">
            <a:hlinkClick action="ppaction://hlinksldjump" r:id="rId10"/>
          </p:cNvPr>
          <p:cNvSpPr/>
          <p:nvPr/>
        </p:nvSpPr>
        <p:spPr>
          <a:xfrm>
            <a:off x="4206240" y="2468880"/>
            <a:ext cx="9784080" cy="128016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_people_62DAE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7407" y="2651760"/>
            <a:ext cx="329184" cy="329184"/>
          </a:xfrm>
          <a:prstGeom prst="rect">
            <a:avLst/>
          </a:prstGeom>
        </p:spPr>
      </p:pic>
      <p:sp>
        <p:nvSpPr>
          <p:cNvPr id="18" name="TextBox 17">
            <a:hlinkClick action="ppaction://hlinksldjump" r:id="rId10"/>
          </p:cNvPr>
          <p:cNvSpPr txBox="1"/>
          <p:nvPr/>
        </p:nvSpPr>
        <p:spPr>
          <a:xfrm>
            <a:off x="4919472" y="2651760"/>
            <a:ext cx="889711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Member preferences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3108960"/>
            <a:ext cx="9345167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Service area, language and safe contact preferences inform support.</a:t>
            </a:r>
          </a:p>
        </p:txBody>
      </p:sp>
      <p:sp>
        <p:nvSpPr>
          <p:cNvPr id="20" name="Rounded Rectangle 19">
            <a:hlinkClick action="ppaction://hlinksldjump" r:id="rId11"/>
          </p:cNvPr>
          <p:cNvSpPr/>
          <p:nvPr/>
        </p:nvSpPr>
        <p:spPr>
          <a:xfrm>
            <a:off x="4206240" y="3904488"/>
            <a:ext cx="9784080" cy="128016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on_lock_62DAE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7407" y="4087368"/>
            <a:ext cx="329184" cy="329184"/>
          </a:xfrm>
          <a:prstGeom prst="rect">
            <a:avLst/>
          </a:prstGeom>
        </p:spPr>
      </p:pic>
      <p:sp>
        <p:nvSpPr>
          <p:cNvPr id="22" name="TextBox 21">
            <a:hlinkClick action="ppaction://hlinksldjump" r:id="rId11"/>
          </p:cNvPr>
          <p:cNvSpPr txBox="1"/>
          <p:nvPr/>
        </p:nvSpPr>
        <p:spPr>
          <a:xfrm>
            <a:off x="4919472" y="4087368"/>
            <a:ext cx="889711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Consent &amp; permissions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5696" y="4544568"/>
            <a:ext cx="9345167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Location and notifications are separate choices; allow manual area selection.</a:t>
            </a:r>
          </a:p>
        </p:txBody>
      </p:sp>
      <p:sp>
        <p:nvSpPr>
          <p:cNvPr id="24" name="Rounded Rectangle 23">
            <a:hlinkClick action="ppaction://hlinksldjump" r:id="rId12"/>
          </p:cNvPr>
          <p:cNvSpPr/>
          <p:nvPr/>
        </p:nvSpPr>
        <p:spPr>
          <a:xfrm>
            <a:off x="4206240" y="5340096"/>
            <a:ext cx="9784080" cy="128016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_shield_62DAE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07407" y="5522976"/>
            <a:ext cx="329184" cy="329184"/>
          </a:xfrm>
          <a:prstGeom prst="rect">
            <a:avLst/>
          </a:prstGeom>
        </p:spPr>
      </p:pic>
      <p:sp>
        <p:nvSpPr>
          <p:cNvPr id="26" name="TextBox 25">
            <a:hlinkClick action="ppaction://hlinksldjump" r:id="rId12"/>
          </p:cNvPr>
          <p:cNvSpPr txBox="1"/>
          <p:nvPr/>
        </p:nvSpPr>
        <p:spPr>
          <a:xfrm>
            <a:off x="4919472" y="5522976"/>
            <a:ext cx="889711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Authorised roles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25696" y="5980176"/>
            <a:ext cx="9345167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MRM approves roles. Subscription entitlement never grants staff access.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Account identity ≠ volunteer approval ≠ teacher approval ≠ subscription entitlement</a:t>
            </a:r>
          </a:p>
        </p:txBody>
      </p:sp>
      <p:sp>
        <p:nvSpPr>
          <p:cNvPr id="30" name="Rounded Rectangle 29">
            <a:hlinkClick action="ppaction://hlinksldjump" r:id="rId12"/>
          </p:cNvPr>
          <p:cNvSpPr/>
          <p:nvPr/>
        </p:nvSpPr>
        <p:spPr>
          <a:xfrm>
            <a:off x="685800" y="2084831"/>
            <a:ext cx="1089050" cy="31089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>
            <a:hlinkClick action="ppaction://hlinksldjump" r:id="rId12"/>
          </p:cNvPr>
          <p:cNvSpPr txBox="1"/>
          <p:nvPr/>
        </p:nvSpPr>
        <p:spPr>
          <a:xfrm>
            <a:off x="795528" y="2130551"/>
            <a:ext cx="869594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Roles  › 43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CARE &amp; VOLUNTEERING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Assistance: from request to resolution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The service is coordinated by MRM, with limited alerts and private details shared only when authorised.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12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PROPOSED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13 /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514600"/>
            <a:ext cx="2392070" cy="260604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271576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pic>
        <p:nvPicPr>
          <p:cNvPr id="16" name="Picture 15" descr="icon_heart_62DA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2342" y="2688336"/>
            <a:ext cx="438912" cy="4389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9536" y="3346704"/>
            <a:ext cx="195315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Submit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023360"/>
            <a:ext cx="1953158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Category, safe description, urgency and approximate area.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068726" y="3817620"/>
            <a:ext cx="274320" cy="0"/>
          </a:xfrm>
          <a:prstGeom prst="line">
            <a:avLst/>
          </a:prstGeom>
          <a:ln w="20320">
            <a:solidFill>
              <a:srgbClr val="62DA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379622" y="2514600"/>
            <a:ext cx="2392070" cy="260604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99078" y="271576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pic>
        <p:nvPicPr>
          <p:cNvPr id="22" name="Picture 21" descr="icon_shield_62DAE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1884" y="2688336"/>
            <a:ext cx="438912" cy="43891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599078" y="3346704"/>
            <a:ext cx="195315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Triage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99078" y="4023360"/>
            <a:ext cx="1953158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MRM reviews need, sensitivity and eligibility.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808268" y="3817620"/>
            <a:ext cx="274320" cy="0"/>
          </a:xfrm>
          <a:prstGeom prst="line">
            <a:avLst/>
          </a:prstGeom>
          <a:ln w="20320">
            <a:solidFill>
              <a:srgbClr val="62DA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119164" y="2514600"/>
            <a:ext cx="2392070" cy="260604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8620" y="271576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pic>
        <p:nvPicPr>
          <p:cNvPr id="28" name="Picture 27" descr="icon_bell_62DAE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1427" y="2688336"/>
            <a:ext cx="438912" cy="43891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338620" y="3346704"/>
            <a:ext cx="195315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Offer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8620" y="4023360"/>
            <a:ext cx="1953158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Suitable approved volunteers receive limited alerts.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47811" y="3817620"/>
            <a:ext cx="274320" cy="0"/>
          </a:xfrm>
          <a:prstGeom prst="line">
            <a:avLst/>
          </a:prstGeom>
          <a:ln w="20320">
            <a:solidFill>
              <a:srgbClr val="62DA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858707" y="2514600"/>
            <a:ext cx="2392070" cy="260604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78163" y="271576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pic>
        <p:nvPicPr>
          <p:cNvPr id="34" name="Picture 33" descr="icon_people_62DAE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0969" y="2688336"/>
            <a:ext cx="438912" cy="43891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078163" y="3346704"/>
            <a:ext cx="195315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Assign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78163" y="4023360"/>
            <a:ext cx="1953158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Seeker or coordinator confirms the assignment.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1287353" y="3817620"/>
            <a:ext cx="274320" cy="0"/>
          </a:xfrm>
          <a:prstGeom prst="line">
            <a:avLst/>
          </a:prstGeom>
          <a:ln w="20320">
            <a:solidFill>
              <a:srgbClr val="62DA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1598249" y="2514600"/>
            <a:ext cx="2392070" cy="260604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817705" y="271576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62DAE8"/>
                </a:solidFill>
                <a:latin typeface="DejaVu Sans"/>
              </a:defRPr>
            </a:pPr>
            <a:r>
              <a:t>05</a:t>
            </a:r>
          </a:p>
        </p:txBody>
      </p:sp>
      <p:pic>
        <p:nvPicPr>
          <p:cNvPr id="40" name="Picture 39" descr="icon_check_62DAE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40511" y="2688336"/>
            <a:ext cx="438912" cy="43891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1817705" y="3346704"/>
            <a:ext cx="195315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Resolve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17705" y="4023360"/>
            <a:ext cx="1953158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Progress, feedback, follow-up and closure.</a:t>
            </a:r>
          </a:p>
        </p:txBody>
      </p:sp>
      <p:sp>
        <p:nvSpPr>
          <p:cNvPr id="43" name="Rounded Rectangle 42">
            <a:hlinkClick action="ppaction://hlinksldjump" r:id="rId13"/>
          </p:cNvPr>
          <p:cNvSpPr/>
          <p:nvPr/>
        </p:nvSpPr>
        <p:spPr>
          <a:xfrm>
            <a:off x="640080" y="5449824"/>
            <a:ext cx="6583680" cy="128016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con_lock_8DD8B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1247" y="5632704"/>
            <a:ext cx="329184" cy="329184"/>
          </a:xfrm>
          <a:prstGeom prst="rect">
            <a:avLst/>
          </a:prstGeom>
        </p:spPr>
      </p:pic>
      <p:sp>
        <p:nvSpPr>
          <p:cNvPr id="45" name="TextBox 44">
            <a:hlinkClick action="ppaction://hlinksldjump" r:id="rId13"/>
          </p:cNvPr>
          <p:cNvSpPr txBox="1"/>
          <p:nvPr/>
        </p:nvSpPr>
        <p:spPr>
          <a:xfrm>
            <a:off x="1353312" y="5632704"/>
            <a:ext cx="56967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Member control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" y="6089904"/>
            <a:ext cx="61447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Stop contact, request reassignment or report a concern.</a:t>
            </a:r>
          </a:p>
        </p:txBody>
      </p:sp>
      <p:sp>
        <p:nvSpPr>
          <p:cNvPr id="47" name="Rounded Rectangle 46">
            <a:hlinkClick action="ppaction://hlinksldjump" r:id="rId14"/>
          </p:cNvPr>
          <p:cNvSpPr/>
          <p:nvPr/>
        </p:nvSpPr>
        <p:spPr>
          <a:xfrm>
            <a:off x="7406640" y="5449824"/>
            <a:ext cx="6583680" cy="128016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con_chart_62DAE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07808" y="5632704"/>
            <a:ext cx="329184" cy="329184"/>
          </a:xfrm>
          <a:prstGeom prst="rect">
            <a:avLst/>
          </a:prstGeom>
        </p:spPr>
      </p:pic>
      <p:sp>
        <p:nvSpPr>
          <p:cNvPr id="49" name="TextBox 48">
            <a:hlinkClick action="ppaction://hlinksldjump" r:id="rId14"/>
          </p:cNvPr>
          <p:cNvSpPr txBox="1"/>
          <p:nvPr/>
        </p:nvSpPr>
        <p:spPr>
          <a:xfrm>
            <a:off x="8119871" y="5632704"/>
            <a:ext cx="56967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Coordinator control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26096" y="6089904"/>
            <a:ext cx="61447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Review unanswered work and record accountable decisions.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Request → eligible match → confirmed assignment → progress → closure → verified recognition [21]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CARE &amp; VOLUNTEERING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Matching: eligibility before assignment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Category, service area, language, availability and access rules determine who can receive an offer.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5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PROPOSED MATCHING FLOWCHART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14 /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71800"/>
            <a:ext cx="2468880" cy="150876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8DD8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118104"/>
            <a:ext cx="217627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Reviewed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685032"/>
            <a:ext cx="2139696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Routine request cleared for matching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971800"/>
            <a:ext cx="2834640" cy="150876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9624" y="3118104"/>
            <a:ext cx="254203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Eligibility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67911" y="3685032"/>
            <a:ext cx="2505456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Approved + active + suitable + permitted</a:t>
            </a:r>
          </a:p>
        </p:txBody>
      </p:sp>
      <p:sp>
        <p:nvSpPr>
          <p:cNvPr id="20" name="Rounded Rectangle 19">
            <a:hlinkClick action="ppaction://hlinksldjump" r:id="rId6"/>
          </p:cNvPr>
          <p:cNvSpPr/>
          <p:nvPr/>
        </p:nvSpPr>
        <p:spPr>
          <a:xfrm>
            <a:off x="7132320" y="2971800"/>
            <a:ext cx="2834640" cy="150876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>
            <a:hlinkClick action="ppaction://hlinksldjump" r:id="rId6"/>
          </p:cNvPr>
          <p:cNvSpPr txBox="1"/>
          <p:nvPr/>
        </p:nvSpPr>
        <p:spPr>
          <a:xfrm>
            <a:off x="7278624" y="3118104"/>
            <a:ext cx="254203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Limited alert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96912" y="3685032"/>
            <a:ext cx="2505456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Approximate area and safe summary</a:t>
            </a:r>
          </a:p>
        </p:txBody>
      </p:sp>
      <p:sp>
        <p:nvSpPr>
          <p:cNvPr id="23" name="Rounded Rectangle 22">
            <a:hlinkClick action="ppaction://hlinksldjump" r:id="rId7"/>
          </p:cNvPr>
          <p:cNvSpPr/>
          <p:nvPr/>
        </p:nvSpPr>
        <p:spPr>
          <a:xfrm>
            <a:off x="10561320" y="2971800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C2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7"/>
          </p:cNvPr>
          <p:cNvSpPr txBox="1"/>
          <p:nvPr/>
        </p:nvSpPr>
        <p:spPr>
          <a:xfrm>
            <a:off x="10707624" y="3118104"/>
            <a:ext cx="313639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Confirmed assignment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5912" y="3685032"/>
            <a:ext cx="3099816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Volunteer offers; authorised party confirms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108960" y="3730752"/>
            <a:ext cx="594360" cy="0"/>
          </a:xfrm>
          <a:prstGeom prst="line">
            <a:avLst/>
          </a:prstGeom>
          <a:ln w="20320">
            <a:solidFill>
              <a:srgbClr val="62DA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537960" y="3730752"/>
            <a:ext cx="594360" cy="0"/>
          </a:xfrm>
          <a:prstGeom prst="line">
            <a:avLst/>
          </a:prstGeom>
          <a:ln w="20320">
            <a:solidFill>
              <a:srgbClr val="62DA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966960" y="3730752"/>
            <a:ext cx="594360" cy="0"/>
          </a:xfrm>
          <a:prstGeom prst="line">
            <a:avLst/>
          </a:prstGeom>
          <a:ln w="20320">
            <a:solidFill>
              <a:srgbClr val="62DA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703320" y="5321808"/>
            <a:ext cx="6263640" cy="1078992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E8C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9624" y="5468112"/>
            <a:ext cx="5971031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No eligible response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67911" y="6035040"/>
            <a:ext cx="5934455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Return to coordinator queue for follow-up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120640" y="4480560"/>
            <a:ext cx="0" cy="841248"/>
          </a:xfrm>
          <a:prstGeom prst="line">
            <a:avLst/>
          </a:prstGeom>
          <a:ln w="20320">
            <a:solidFill>
              <a:srgbClr val="E8C5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0080" y="2423160"/>
            <a:ext cx="1325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Access is checked before a notification or case record is disclosed.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Sensitive cases use the restricted staff route [18], rather than routine volunteer matching.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CARE &amp; VOLUNTEERING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Volunteer approval is a complete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Application, evidence review and online interview precede approval for service.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PROVIDED ADMINISTRATION SCREEN + PROPOSED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15 /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395728"/>
            <a:ext cx="8229600" cy="443484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395728"/>
            <a:ext cx="8229600" cy="274320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2496312"/>
            <a:ext cx="64008" cy="64008"/>
          </a:xfrm>
          <a:prstGeom prst="ellipse">
            <a:avLst/>
          </a:prstGeom>
          <a:solidFill>
            <a:srgbClr val="F3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2496312"/>
            <a:ext cx="64008" cy="64008"/>
          </a:xfrm>
          <a:prstGeom prst="ellipse">
            <a:avLst/>
          </a:prstGeom>
          <a:solidFill>
            <a:srgbClr val="E6C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7552" y="2496312"/>
            <a:ext cx="64008" cy="64008"/>
          </a:xfrm>
          <a:prstGeom prst="ellipse">
            <a:avLst/>
          </a:prstGeom>
          <a:solidFill>
            <a:srgbClr val="85C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2464308"/>
            <a:ext cx="7086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800" b="0">
                <a:solidFill>
                  <a:srgbClr val="53617A"/>
                </a:solidFill>
                <a:latin typeface="DejaVu Sans"/>
              </a:defRPr>
            </a:pPr>
            <a:r>
              <a:t>MRM  /  MRM ADMIN FINAL</a:t>
            </a:r>
          </a:p>
        </p:txBody>
      </p:sp>
      <p:pic>
        <p:nvPicPr>
          <p:cNvPr id="20" name="Picture 19" descr="04_volunteer_verification.png"/>
          <p:cNvPicPr>
            <a:picLocks noChangeAspect="1"/>
          </p:cNvPicPr>
          <p:nvPr/>
        </p:nvPicPr>
        <p:blipFill>
          <a:blip r:embed="rId5"/>
          <a:srcRect b="40097"/>
          <a:stretch>
            <a:fillRect/>
          </a:stretch>
        </p:blipFill>
        <p:spPr>
          <a:xfrm>
            <a:off x="640080" y="2679192"/>
            <a:ext cx="8229600" cy="41513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" y="69037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Provided demo capture · top viewport; full capture in screenbook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45059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Apply &amp; provide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926080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Skills, languages, service area, availability and MRM-required documents.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3858768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Review &amp; interview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4334256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Staff examine documents and record an online interview; request clarification when needed.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5266944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Approve, decline or suspend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5742432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Only approved active volunteers receive eligible new work. Decisions retain a reason and history.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Applicant → document review → online interview → MRM decision → eligible service [17]</a:t>
            </a:r>
          </a:p>
        </p:txBody>
      </p:sp>
      <p:sp>
        <p:nvSpPr>
          <p:cNvPr id="30" name="Rounded Rectangle 29">
            <a:hlinkClick action="ppaction://hlinksldjump" r:id="rId7"/>
          </p:cNvPr>
          <p:cNvSpPr/>
          <p:nvPr/>
        </p:nvSpPr>
        <p:spPr>
          <a:xfrm>
            <a:off x="685800" y="2084831"/>
            <a:ext cx="1533448" cy="31089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>
            <a:hlinkClick action="ppaction://hlinksldjump" r:id="rId7"/>
          </p:cNvPr>
          <p:cNvSpPr txBox="1"/>
          <p:nvPr/>
        </p:nvSpPr>
        <p:spPr>
          <a:xfrm>
            <a:off x="795528" y="2130551"/>
            <a:ext cx="1313992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Assignments  ›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CARE &amp; VOLUNTEERING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Nearby discovery, with privacy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Approved volunteer discovery uses approximate areas and server-enforced visibility rules.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11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PROPOSED DISCOVERY FLOWCHART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16 /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560320"/>
            <a:ext cx="3076956" cy="256032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276148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pic>
        <p:nvPicPr>
          <p:cNvPr id="16" name="Picture 15" descr="icon_pin_62DA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7227" y="2734056"/>
            <a:ext cx="438912" cy="4389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9536" y="3392424"/>
            <a:ext cx="263804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Choose an area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069079"/>
            <a:ext cx="2638044" cy="9326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Location permission or manual service-area selection.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53611" y="3840479"/>
            <a:ext cx="274320" cy="0"/>
          </a:xfrm>
          <a:prstGeom prst="line">
            <a:avLst/>
          </a:prstGeom>
          <a:ln w="20320">
            <a:solidFill>
              <a:srgbClr val="62DA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064507" y="2560320"/>
            <a:ext cx="3076956" cy="256032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83964" y="276148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pic>
        <p:nvPicPr>
          <p:cNvPr id="22" name="Picture 21" descr="icon_shield_62DAE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655" y="2734056"/>
            <a:ext cx="438912" cy="43891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283964" y="3392424"/>
            <a:ext cx="263804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Filter eligible profiles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83964" y="4069079"/>
            <a:ext cx="2638044" cy="9326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Approved, active and permitted under MRM gender rules.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78039" y="3840479"/>
            <a:ext cx="274321" cy="0"/>
          </a:xfrm>
          <a:prstGeom prst="line">
            <a:avLst/>
          </a:prstGeom>
          <a:ln w="20320">
            <a:solidFill>
              <a:srgbClr val="62DA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488936" y="2560320"/>
            <a:ext cx="3076956" cy="256032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08392" y="276148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pic>
        <p:nvPicPr>
          <p:cNvPr id="28" name="Picture 27" descr="icon_people_62DAE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6084" y="2734056"/>
            <a:ext cx="438912" cy="43891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708392" y="3392424"/>
            <a:ext cx="263804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View permitted detail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08392" y="4069079"/>
            <a:ext cx="2638044" cy="9326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General area, skills and approved profile fields.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602467" y="3840479"/>
            <a:ext cx="274321" cy="0"/>
          </a:xfrm>
          <a:prstGeom prst="line">
            <a:avLst/>
          </a:prstGeom>
          <a:ln w="20320">
            <a:solidFill>
              <a:srgbClr val="62DA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913363" y="2560320"/>
            <a:ext cx="3076956" cy="256032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32819" y="276148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pic>
        <p:nvPicPr>
          <p:cNvPr id="34" name="Picture 33" descr="icon_heart_62DAE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40511" y="2734056"/>
            <a:ext cx="438912" cy="43891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1132819" y="3392424"/>
            <a:ext cx="263804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Take a safe 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32819" y="4069079"/>
            <a:ext cx="2638044" cy="9326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Permitted contact or a coordinated service request.</a:t>
            </a:r>
          </a:p>
        </p:txBody>
      </p:sp>
      <p:sp>
        <p:nvSpPr>
          <p:cNvPr id="37" name="Rounded Rectangle 36">
            <a:hlinkClick action="ppaction://hlinksldjump" r:id="rId12"/>
          </p:cNvPr>
          <p:cNvSpPr/>
          <p:nvPr/>
        </p:nvSpPr>
        <p:spPr>
          <a:xfrm>
            <a:off x="640080" y="5468112"/>
            <a:ext cx="6583680" cy="128016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con_lock_62DAE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247" y="5650992"/>
            <a:ext cx="329184" cy="329184"/>
          </a:xfrm>
          <a:prstGeom prst="rect">
            <a:avLst/>
          </a:prstGeom>
        </p:spPr>
      </p:pic>
      <p:sp>
        <p:nvSpPr>
          <p:cNvPr id="39" name="TextBox 38">
            <a:hlinkClick action="ppaction://hlinksldjump" r:id="rId12"/>
          </p:cNvPr>
          <p:cNvSpPr txBox="1"/>
          <p:nvPr/>
        </p:nvSpPr>
        <p:spPr>
          <a:xfrm>
            <a:off x="1353312" y="5650992"/>
            <a:ext cx="56967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Gender visibility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6108192"/>
            <a:ext cx="61447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Male and female profiles remain separated in the agreed discovery/contact scope.</a:t>
            </a:r>
          </a:p>
        </p:txBody>
      </p:sp>
      <p:sp>
        <p:nvSpPr>
          <p:cNvPr id="41" name="Rounded Rectangle 40">
            <a:hlinkClick action="ppaction://hlinksldjump" r:id="rId13"/>
          </p:cNvPr>
          <p:cNvSpPr/>
          <p:nvPr/>
        </p:nvSpPr>
        <p:spPr>
          <a:xfrm>
            <a:off x="7406640" y="5468112"/>
            <a:ext cx="6583680" cy="128016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con_shield_E8C57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07808" y="5650992"/>
            <a:ext cx="329184" cy="329184"/>
          </a:xfrm>
          <a:prstGeom prst="rect">
            <a:avLst/>
          </a:prstGeom>
        </p:spPr>
      </p:pic>
      <p:sp>
        <p:nvSpPr>
          <p:cNvPr id="43" name="TextBox 42">
            <a:hlinkClick action="ppaction://hlinksldjump" r:id="rId13"/>
          </p:cNvPr>
          <p:cNvSpPr txBox="1"/>
          <p:nvPr/>
        </p:nvSpPr>
        <p:spPr>
          <a:xfrm>
            <a:off x="8119871" y="5650992"/>
            <a:ext cx="56967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Controlled exceptions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26096" y="6108192"/>
            <a:ext cx="61447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MRM defines staff/teacher exceptions before enabling them.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Apply rules to search, map markers, detail routes, notifications and direct API requests.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CARE &amp; VOLUNTEERING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Assignments: controlled service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Offers and assignments connect verified volunteers to suitable requests and accountable progress.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PROVIDED DEMO ADMINISTRATION + PROPOSED SERVICE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17 /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395728"/>
            <a:ext cx="8229600" cy="443484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395728"/>
            <a:ext cx="8229600" cy="274320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2496312"/>
            <a:ext cx="64008" cy="64008"/>
          </a:xfrm>
          <a:prstGeom prst="ellipse">
            <a:avLst/>
          </a:prstGeom>
          <a:solidFill>
            <a:srgbClr val="F3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2496312"/>
            <a:ext cx="64008" cy="64008"/>
          </a:xfrm>
          <a:prstGeom prst="ellipse">
            <a:avLst/>
          </a:prstGeom>
          <a:solidFill>
            <a:srgbClr val="E6C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7552" y="2496312"/>
            <a:ext cx="64008" cy="64008"/>
          </a:xfrm>
          <a:prstGeom prst="ellipse">
            <a:avLst/>
          </a:prstGeom>
          <a:solidFill>
            <a:srgbClr val="85C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2464308"/>
            <a:ext cx="7086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800" b="0">
                <a:solidFill>
                  <a:srgbClr val="53617A"/>
                </a:solidFill>
                <a:latin typeface="DejaVu Sans"/>
              </a:defRPr>
            </a:pPr>
            <a:r>
              <a:t>MRM  /  MRM ADMIN FINAL</a:t>
            </a:r>
          </a:p>
        </p:txBody>
      </p:sp>
      <p:pic>
        <p:nvPicPr>
          <p:cNvPr id="20" name="Picture 19" descr="03_volunteers_assignments.png"/>
          <p:cNvPicPr>
            <a:picLocks noChangeAspect="1"/>
          </p:cNvPicPr>
          <p:nvPr/>
        </p:nvPicPr>
        <p:blipFill>
          <a:blip r:embed="rId5"/>
          <a:srcRect b="61662"/>
          <a:stretch>
            <a:fillRect/>
          </a:stretch>
        </p:blipFill>
        <p:spPr>
          <a:xfrm>
            <a:off x="640080" y="2679192"/>
            <a:ext cx="8229600" cy="41513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" y="69037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Provided demo capture · top viewport; full capture in screenbook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45059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Offer is not assignment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926080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 volunteer response becomes service access only after confirmation.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3858768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Assigned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4334256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Permitted case details support contact, progress updates and completion.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5266944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Changes stay accountable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5742432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Reassignment, cancellation and suspension return affected work to staff review.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Verified volunteer [15] → eligible offer [14] → assignment → outcome → service credit [21]</a:t>
            </a:r>
          </a:p>
        </p:txBody>
      </p:sp>
      <p:sp>
        <p:nvSpPr>
          <p:cNvPr id="30" name="Rounded Rectangle 29">
            <a:hlinkClick action="ppaction://hlinksldjump" r:id="rId7"/>
          </p:cNvPr>
          <p:cNvSpPr/>
          <p:nvPr/>
        </p:nvSpPr>
        <p:spPr>
          <a:xfrm>
            <a:off x="685800" y="2084831"/>
            <a:ext cx="1533448" cy="31089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>
            <a:hlinkClick action="ppaction://hlinksldjump" r:id="rId7"/>
          </p:cNvPr>
          <p:cNvSpPr txBox="1"/>
          <p:nvPr/>
        </p:nvSpPr>
        <p:spPr>
          <a:xfrm>
            <a:off x="795528" y="2130551"/>
            <a:ext cx="1313992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Recognition  ›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CARE &amp; VOLUNTEERING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Private cases require a restricted route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Confidential faith and family concerns are handled by designated MRM personnel.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PROVIDED DEMO CASE SCREEN + PROPOSED SAFEGUARDING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18 /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395728"/>
            <a:ext cx="8229600" cy="443484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395728"/>
            <a:ext cx="8229600" cy="274320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2496312"/>
            <a:ext cx="64008" cy="64008"/>
          </a:xfrm>
          <a:prstGeom prst="ellipse">
            <a:avLst/>
          </a:prstGeom>
          <a:solidFill>
            <a:srgbClr val="F3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2496312"/>
            <a:ext cx="64008" cy="64008"/>
          </a:xfrm>
          <a:prstGeom prst="ellipse">
            <a:avLst/>
          </a:prstGeom>
          <a:solidFill>
            <a:srgbClr val="E6C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7552" y="2496312"/>
            <a:ext cx="64008" cy="64008"/>
          </a:xfrm>
          <a:prstGeom prst="ellipse">
            <a:avLst/>
          </a:prstGeom>
          <a:solidFill>
            <a:srgbClr val="85C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2464308"/>
            <a:ext cx="7086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800" b="0">
                <a:solidFill>
                  <a:srgbClr val="53617A"/>
                </a:solidFill>
                <a:latin typeface="DejaVu Sans"/>
              </a:defRPr>
            </a:pPr>
            <a:r>
              <a:t>MRM  /  MRM ADMIN FINAL</a:t>
            </a:r>
          </a:p>
        </p:txBody>
      </p:sp>
      <p:pic>
        <p:nvPicPr>
          <p:cNvPr id="20" name="Picture 19" descr="02_cases_safeguarding.png"/>
          <p:cNvPicPr>
            <a:picLocks noChangeAspect="1"/>
          </p:cNvPicPr>
          <p:nvPr/>
        </p:nvPicPr>
        <p:blipFill>
          <a:blip r:embed="rId5"/>
          <a:srcRect b="82459"/>
          <a:stretch>
            <a:fillRect/>
          </a:stretch>
        </p:blipFill>
        <p:spPr>
          <a:xfrm>
            <a:off x="640080" y="2679192"/>
            <a:ext cx="8229600" cy="41513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" y="69037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Provided demo capture · top viewport; full capture in screenbook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45059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Confidential intake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926080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The person chooses safe contact details and submits the concern privately.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3858768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Designated staff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4334256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Restricted queues, adviser assignment and controlled follow-up protect case information.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5266944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Responsible closure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5742432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Record outcome or referral under MRM policy; no automated religious judgement.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Private intake → designated staff → authorised follow-up → controlled closure / referral</a:t>
            </a:r>
          </a:p>
        </p:txBody>
      </p:sp>
      <p:sp>
        <p:nvSpPr>
          <p:cNvPr id="30" name="Rounded Rectangle 29">
            <a:hlinkClick action="ppaction://hlinksldjump" r:id="rId7"/>
          </p:cNvPr>
          <p:cNvSpPr/>
          <p:nvPr/>
        </p:nvSpPr>
        <p:spPr>
          <a:xfrm>
            <a:off x="685800" y="2084831"/>
            <a:ext cx="1607515" cy="31089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>
            <a:hlinkClick action="ppaction://hlinksldjump" r:id="rId7"/>
          </p:cNvPr>
          <p:cNvSpPr txBox="1"/>
          <p:nvPr/>
        </p:nvSpPr>
        <p:spPr>
          <a:xfrm>
            <a:off x="795528" y="2130551"/>
            <a:ext cx="1388059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Safeguarding  ›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CARE &amp; VOLUNTEERING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Safeguarding: clear escalation and user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The platform supports coordination while MRM defines coverage, response procedures and escalation contacts.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PROPOSED SAFEGUARDING FLOWCHART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19 /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743200"/>
            <a:ext cx="3017520" cy="137160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E8C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2889504"/>
            <a:ext cx="272491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Concern reported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456432"/>
            <a:ext cx="268833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Danger, misconduct or contact concern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2743200"/>
            <a:ext cx="3977639" cy="137160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06824" y="2889504"/>
            <a:ext cx="3685031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Assess and restrict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3456432"/>
            <a:ext cx="364845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Designated staff review; protect records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2743200"/>
            <a:ext cx="5257800" cy="137160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8DD8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78824" y="2889504"/>
            <a:ext cx="496519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Follow up and record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7112" y="3456432"/>
            <a:ext cx="492861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Escalation, account restriction or case reassignment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57600" y="3429000"/>
            <a:ext cx="502920" cy="0"/>
          </a:xfrm>
          <a:prstGeom prst="line">
            <a:avLst/>
          </a:prstGeom>
          <a:ln w="20320">
            <a:solidFill>
              <a:srgbClr val="62DA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138160" y="3429000"/>
            <a:ext cx="594360" cy="0"/>
          </a:xfrm>
          <a:prstGeom prst="line">
            <a:avLst/>
          </a:prstGeom>
          <a:ln w="20320">
            <a:solidFill>
              <a:srgbClr val="62DA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>
            <a:hlinkClick action="ppaction://hlinksldjump" r:id="rId8"/>
          </p:cNvPr>
          <p:cNvSpPr/>
          <p:nvPr/>
        </p:nvSpPr>
        <p:spPr>
          <a:xfrm>
            <a:off x="640080" y="4663440"/>
            <a:ext cx="6583680" cy="1901952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con_shield_E8C57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7" y="4846320"/>
            <a:ext cx="384048" cy="384048"/>
          </a:xfrm>
          <a:prstGeom prst="rect">
            <a:avLst/>
          </a:prstGeom>
        </p:spPr>
      </p:pic>
      <p:sp>
        <p:nvSpPr>
          <p:cNvPr id="27" name="TextBox 26">
            <a:hlinkClick action="ppaction://hlinksldjump" r:id="rId8"/>
          </p:cNvPr>
          <p:cNvSpPr txBox="1"/>
          <p:nvPr/>
        </p:nvSpPr>
        <p:spPr>
          <a:xfrm>
            <a:off x="1353312" y="4846320"/>
            <a:ext cx="56967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Immediate danger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5495544"/>
            <a:ext cx="6144768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Show clear emergency contact guidance. The application does not guarantee emergency response.</a:t>
            </a:r>
          </a:p>
        </p:txBody>
      </p:sp>
      <p:sp>
        <p:nvSpPr>
          <p:cNvPr id="29" name="Rounded Rectangle 28">
            <a:hlinkClick action="ppaction://hlinksldjump" r:id="rId9"/>
          </p:cNvPr>
          <p:cNvSpPr/>
          <p:nvPr/>
        </p:nvSpPr>
        <p:spPr>
          <a:xfrm>
            <a:off x="7406640" y="4663440"/>
            <a:ext cx="6583680" cy="1901952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con_lock_62DAE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7808" y="4846320"/>
            <a:ext cx="384048" cy="384048"/>
          </a:xfrm>
          <a:prstGeom prst="rect">
            <a:avLst/>
          </a:prstGeom>
        </p:spPr>
      </p:pic>
      <p:sp>
        <p:nvSpPr>
          <p:cNvPr id="31" name="TextBox 30">
            <a:hlinkClick action="ppaction://hlinksldjump" r:id="rId9"/>
          </p:cNvPr>
          <p:cNvSpPr txBox="1"/>
          <p:nvPr/>
        </p:nvSpPr>
        <p:spPr>
          <a:xfrm>
            <a:off x="8119871" y="4846320"/>
            <a:ext cx="56967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Personal 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6096" y="5495544"/>
            <a:ext cx="6144768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 member can stop contact, report behaviour or request reassignment without public exposure.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MRM supplies incident classifications, response hours, authorised staff and escalation contacts.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CARE &amp; VOLUNTEERING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Zakat assistance: referral, not an eligibility 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Consent, review and institutional handoff connect members to the relevant zakat authority.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PROVIDED DEMO REFERRAL SCREEN + PROPOSED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20 /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395728"/>
            <a:ext cx="8229600" cy="443484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395728"/>
            <a:ext cx="8229600" cy="274320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2496312"/>
            <a:ext cx="64008" cy="64008"/>
          </a:xfrm>
          <a:prstGeom prst="ellipse">
            <a:avLst/>
          </a:prstGeom>
          <a:solidFill>
            <a:srgbClr val="F3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2496312"/>
            <a:ext cx="64008" cy="64008"/>
          </a:xfrm>
          <a:prstGeom prst="ellipse">
            <a:avLst/>
          </a:prstGeom>
          <a:solidFill>
            <a:srgbClr val="E6C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7552" y="2496312"/>
            <a:ext cx="64008" cy="64008"/>
          </a:xfrm>
          <a:prstGeom prst="ellipse">
            <a:avLst/>
          </a:prstGeom>
          <a:solidFill>
            <a:srgbClr val="85C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2464308"/>
            <a:ext cx="7086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800" b="0">
                <a:solidFill>
                  <a:srgbClr val="53617A"/>
                </a:solidFill>
                <a:latin typeface="DejaVu Sans"/>
              </a:defRPr>
            </a:pPr>
            <a:r>
              <a:t>MRM  /  MRM ADMIN FINAL</a:t>
            </a:r>
          </a:p>
        </p:txBody>
      </p:sp>
      <p:pic>
        <p:nvPicPr>
          <p:cNvPr id="20" name="Picture 19" descr="06_zakat_referrals.png"/>
          <p:cNvPicPr>
            <a:picLocks noChangeAspect="1"/>
          </p:cNvPicPr>
          <p:nvPr/>
        </p:nvPicPr>
        <p:blipFill>
          <a:blip r:embed="rId5"/>
          <a:srcRect b="59157"/>
          <a:stretch>
            <a:fillRect/>
          </a:stretch>
        </p:blipFill>
        <p:spPr>
          <a:xfrm>
            <a:off x="640080" y="2679192"/>
            <a:ext cx="8229600" cy="41513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" y="69037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Provided demo capture · top viewport; full capture in screenbook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45059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Submit with consent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926080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Need, region and safe contact preference enter the MRM review queue.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3858768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Coordinate referral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4334256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Record recipient, reference, authorised sharing and partner follow-up.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5266944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Authority decision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5742432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Eligibility, approval and disbursement remain with the zakat authority. API access is conditional.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Enquiry → review → referral → partner response → closure  •  No zakat collection/disbursement included</a:t>
            </a:r>
          </a:p>
        </p:txBody>
      </p:sp>
      <p:sp>
        <p:nvSpPr>
          <p:cNvPr id="30" name="Rounded Rectangle 29">
            <a:hlinkClick action="ppaction://hlinksldjump" r:id="rId7"/>
          </p:cNvPr>
          <p:cNvSpPr/>
          <p:nvPr/>
        </p:nvSpPr>
        <p:spPr>
          <a:xfrm>
            <a:off x="685800" y="2084831"/>
            <a:ext cx="1755648" cy="31089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>
            <a:hlinkClick action="ppaction://hlinksldjump" r:id="rId7"/>
          </p:cNvPr>
          <p:cNvSpPr txBox="1"/>
          <p:nvPr/>
        </p:nvSpPr>
        <p:spPr>
          <a:xfrm>
            <a:off x="795528" y="2130551"/>
            <a:ext cx="1536192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Zakat estimate  › 40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CARE &amp; VOLUNTEERING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Recognition follows verified contribution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Badges and ranks acknowledge service without overriding safeguarding or access permissions.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11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PROPOSED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21 /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606040"/>
            <a:ext cx="3076956" cy="242316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280720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E8C578"/>
                </a:solidFill>
                <a:latin typeface="DejaVu Sans"/>
              </a:defRPr>
            </a:pPr>
            <a:r>
              <a:t>01</a:t>
            </a:r>
          </a:p>
        </p:txBody>
      </p:sp>
      <p:pic>
        <p:nvPicPr>
          <p:cNvPr id="16" name="Picture 15" descr="icon_people_E8C57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7227" y="2779776"/>
            <a:ext cx="438912" cy="4389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9536" y="3438144"/>
            <a:ext cx="263804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Record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114800"/>
            <a:ext cx="2638044" cy="7955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Assignment outcome, approved event or training.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53611" y="3817620"/>
            <a:ext cx="274320" cy="0"/>
          </a:xfrm>
          <a:prstGeom prst="line">
            <a:avLst/>
          </a:prstGeom>
          <a:ln w="20320">
            <a:solidFill>
              <a:srgbClr val="E8C5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064507" y="2606040"/>
            <a:ext cx="3076956" cy="242316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83964" y="280720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E8C578"/>
                </a:solidFill>
                <a:latin typeface="DejaVu Sans"/>
              </a:defRPr>
            </a:pPr>
            <a:r>
              <a:t>02</a:t>
            </a:r>
          </a:p>
        </p:txBody>
      </p:sp>
      <p:pic>
        <p:nvPicPr>
          <p:cNvPr id="22" name="Picture 21" descr="icon_shield_E8C57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655" y="2779776"/>
            <a:ext cx="438912" cy="43891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283964" y="3438144"/>
            <a:ext cx="263804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Verify contribution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83964" y="4114800"/>
            <a:ext cx="2638044" cy="7955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Coordinator or permitted confirming party validates credit.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78039" y="3817620"/>
            <a:ext cx="274321" cy="0"/>
          </a:xfrm>
          <a:prstGeom prst="line">
            <a:avLst/>
          </a:prstGeom>
          <a:ln w="20320">
            <a:solidFill>
              <a:srgbClr val="E8C5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488936" y="2606040"/>
            <a:ext cx="3076956" cy="242316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08392" y="280720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E8C578"/>
                </a:solidFill>
                <a:latin typeface="DejaVu Sans"/>
              </a:defRPr>
            </a:pPr>
            <a:r>
              <a:t>03</a:t>
            </a:r>
          </a:p>
        </p:txBody>
      </p:sp>
      <p:pic>
        <p:nvPicPr>
          <p:cNvPr id="28" name="Picture 27" descr="icon_gear_E8C57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6084" y="2779776"/>
            <a:ext cx="438912" cy="43891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708392" y="3438144"/>
            <a:ext cx="263804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Apply MRM criteria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08392" y="4114800"/>
            <a:ext cx="2638044" cy="7955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Configured thresholds, award basis and eligibility.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602467" y="3817620"/>
            <a:ext cx="274321" cy="0"/>
          </a:xfrm>
          <a:prstGeom prst="line">
            <a:avLst/>
          </a:prstGeom>
          <a:ln w="20320">
            <a:solidFill>
              <a:srgbClr val="E8C5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913363" y="2606040"/>
            <a:ext cx="3076956" cy="242316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32819" y="280720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E8C578"/>
                </a:solidFill>
                <a:latin typeface="DejaVu Sans"/>
              </a:defRPr>
            </a:pPr>
            <a:r>
              <a:t>04</a:t>
            </a:r>
          </a:p>
        </p:txBody>
      </p:sp>
      <p:pic>
        <p:nvPicPr>
          <p:cNvPr id="34" name="Picture 33" descr="icon_star_E8C57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40511" y="2779776"/>
            <a:ext cx="438912" cy="43891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1132819" y="3438144"/>
            <a:ext cx="263804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Recognise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32819" y="4114800"/>
            <a:ext cx="2638044" cy="7955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Show badges and service summary without beneficiary details.</a:t>
            </a:r>
          </a:p>
        </p:txBody>
      </p:sp>
      <p:sp>
        <p:nvSpPr>
          <p:cNvPr id="37" name="Rounded Rectangle 36">
            <a:hlinkClick action="ppaction://hlinksldjump" r:id="rId12"/>
          </p:cNvPr>
          <p:cNvSpPr/>
          <p:nvPr/>
        </p:nvSpPr>
        <p:spPr>
          <a:xfrm>
            <a:off x="640080" y="5394960"/>
            <a:ext cx="6583680" cy="137160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con_check_62DAE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247" y="5577840"/>
            <a:ext cx="329184" cy="329184"/>
          </a:xfrm>
          <a:prstGeom prst="rect">
            <a:avLst/>
          </a:prstGeom>
        </p:spPr>
      </p:pic>
      <p:sp>
        <p:nvSpPr>
          <p:cNvPr id="39" name="TextBox 38">
            <a:hlinkClick action="ppaction://hlinksldjump" r:id="rId12"/>
          </p:cNvPr>
          <p:cNvSpPr txBox="1"/>
          <p:nvPr/>
        </p:nvSpPr>
        <p:spPr>
          <a:xfrm>
            <a:off x="1353312" y="5577840"/>
            <a:ext cx="56967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Correction &amp; appeal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6035040"/>
            <a:ext cx="6144768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Staff can correct or revoke credit and retain the reason.</a:t>
            </a:r>
          </a:p>
        </p:txBody>
      </p:sp>
      <p:sp>
        <p:nvSpPr>
          <p:cNvPr id="41" name="Rounded Rectangle 40">
            <a:hlinkClick action="ppaction://hlinksldjump" r:id="rId13"/>
          </p:cNvPr>
          <p:cNvSpPr/>
          <p:nvPr/>
        </p:nvSpPr>
        <p:spPr>
          <a:xfrm>
            <a:off x="7406640" y="5394960"/>
            <a:ext cx="6583680" cy="137160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con_shield_8DD8B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07808" y="5577840"/>
            <a:ext cx="329184" cy="329184"/>
          </a:xfrm>
          <a:prstGeom prst="rect">
            <a:avLst/>
          </a:prstGeom>
        </p:spPr>
      </p:pic>
      <p:sp>
        <p:nvSpPr>
          <p:cNvPr id="43" name="TextBox 42">
            <a:hlinkClick action="ppaction://hlinksldjump" r:id="rId13"/>
          </p:cNvPr>
          <p:cNvSpPr txBox="1"/>
          <p:nvPr/>
        </p:nvSpPr>
        <p:spPr>
          <a:xfrm>
            <a:off x="8119871" y="5577840"/>
            <a:ext cx="56967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Safe incentives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26096" y="6035040"/>
            <a:ext cx="6144768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No sensitive-case priority from rank; no reward for risk or speed alone.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Assignments [17] + verified participation [29] → contribution history → recognition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CARE &amp; VOLUNTEERING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The volunteer participation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A sustainable service connects preparation, suitable work, support and recognition.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9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PROPOSED PARTICIPATION FLOWCHART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22 / 50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640080" y="2514600"/>
            <a:ext cx="4297680" cy="169164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_book_62DA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7" y="2697480"/>
            <a:ext cx="329184" cy="329184"/>
          </a:xfrm>
          <a:prstGeom prst="rect">
            <a:avLst/>
          </a:prstGeom>
        </p:spPr>
      </p:pic>
      <p:sp>
        <p:nvSpPr>
          <p:cNvPr id="16" name="TextBox 15">
            <a:hlinkClick action="ppaction://hlinksldjump" r:id="rId10"/>
          </p:cNvPr>
          <p:cNvSpPr txBox="1"/>
          <p:nvPr/>
        </p:nvSpPr>
        <p:spPr>
          <a:xfrm>
            <a:off x="1353312" y="2697480"/>
            <a:ext cx="34107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Prepare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154680"/>
            <a:ext cx="3858768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Apply, verify and learn MRM conduct rules</a:t>
            </a:r>
          </a:p>
        </p:txBody>
      </p:sp>
      <p:sp>
        <p:nvSpPr>
          <p:cNvPr id="18" name="Rounded Rectangle 17">
            <a:hlinkClick action="ppaction://hlinksldjump" r:id="rId11"/>
          </p:cNvPr>
          <p:cNvSpPr/>
          <p:nvPr/>
        </p:nvSpPr>
        <p:spPr>
          <a:xfrm>
            <a:off x="5166360" y="2514600"/>
            <a:ext cx="4297680" cy="169164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_heart_62DAE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7528" y="2697480"/>
            <a:ext cx="329184" cy="329184"/>
          </a:xfrm>
          <a:prstGeom prst="rect">
            <a:avLst/>
          </a:prstGeom>
        </p:spPr>
      </p:pic>
      <p:sp>
        <p:nvSpPr>
          <p:cNvPr id="20" name="TextBox 19">
            <a:hlinkClick action="ppaction://hlinksldjump" r:id="rId11"/>
          </p:cNvPr>
          <p:cNvSpPr txBox="1"/>
          <p:nvPr/>
        </p:nvSpPr>
        <p:spPr>
          <a:xfrm>
            <a:off x="5879592" y="2697480"/>
            <a:ext cx="34107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Serve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85816" y="3154680"/>
            <a:ext cx="3858768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Respond to suitable work and confirm assignment</a:t>
            </a:r>
          </a:p>
        </p:txBody>
      </p:sp>
      <p:sp>
        <p:nvSpPr>
          <p:cNvPr id="22" name="Rounded Rectangle 21">
            <a:hlinkClick action="ppaction://hlinksldjump" r:id="rId12"/>
          </p:cNvPr>
          <p:cNvSpPr/>
          <p:nvPr/>
        </p:nvSpPr>
        <p:spPr>
          <a:xfrm>
            <a:off x="9692640" y="2514600"/>
            <a:ext cx="4297680" cy="169164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shield_62DAE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3808" y="2697480"/>
            <a:ext cx="329184" cy="329184"/>
          </a:xfrm>
          <a:prstGeom prst="rect">
            <a:avLst/>
          </a:prstGeom>
        </p:spPr>
      </p:pic>
      <p:sp>
        <p:nvSpPr>
          <p:cNvPr id="24" name="TextBox 23">
            <a:hlinkClick action="ppaction://hlinksldjump" r:id="rId12"/>
          </p:cNvPr>
          <p:cNvSpPr txBox="1"/>
          <p:nvPr/>
        </p:nvSpPr>
        <p:spPr>
          <a:xfrm>
            <a:off x="10405872" y="2697480"/>
            <a:ext cx="34107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Follow 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12096" y="3154680"/>
            <a:ext cx="3858768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Record progress and escalate concerns safely</a:t>
            </a:r>
          </a:p>
        </p:txBody>
      </p:sp>
      <p:sp>
        <p:nvSpPr>
          <p:cNvPr id="26" name="Rounded Rectangle 25">
            <a:hlinkClick action="ppaction://hlinksldjump" r:id="rId13"/>
          </p:cNvPr>
          <p:cNvSpPr/>
          <p:nvPr/>
        </p:nvSpPr>
        <p:spPr>
          <a:xfrm>
            <a:off x="5166360" y="4983480"/>
            <a:ext cx="4297680" cy="169164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_star_62DAE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7528" y="5166360"/>
            <a:ext cx="329184" cy="329184"/>
          </a:xfrm>
          <a:prstGeom prst="rect">
            <a:avLst/>
          </a:prstGeom>
        </p:spPr>
      </p:pic>
      <p:sp>
        <p:nvSpPr>
          <p:cNvPr id="28" name="TextBox 27">
            <a:hlinkClick action="ppaction://hlinksldjump" r:id="rId13"/>
          </p:cNvPr>
          <p:cNvSpPr txBox="1"/>
          <p:nvPr/>
        </p:nvSpPr>
        <p:spPr>
          <a:xfrm>
            <a:off x="5879592" y="5166360"/>
            <a:ext cx="34107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Recognise &amp; improve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85816" y="5623560"/>
            <a:ext cx="3858768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Verified service and approved learning support growth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937760" y="3383280"/>
            <a:ext cx="228600" cy="0"/>
          </a:xfrm>
          <a:prstGeom prst="line">
            <a:avLst/>
          </a:prstGeom>
          <a:ln w="20320">
            <a:solidFill>
              <a:srgbClr val="62DA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464040" y="3383280"/>
            <a:ext cx="228600" cy="0"/>
          </a:xfrm>
          <a:prstGeom prst="line">
            <a:avLst/>
          </a:prstGeom>
          <a:ln w="20320">
            <a:solidFill>
              <a:srgbClr val="62DA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841480" y="4206240"/>
            <a:ext cx="0" cy="1645920"/>
          </a:xfrm>
          <a:prstGeom prst="line">
            <a:avLst/>
          </a:prstGeom>
          <a:ln w="20320">
            <a:solidFill>
              <a:srgbClr val="62DA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9464040" y="5852160"/>
            <a:ext cx="2377440" cy="0"/>
          </a:xfrm>
          <a:prstGeom prst="line">
            <a:avLst/>
          </a:prstGeom>
          <a:ln w="20320">
            <a:solidFill>
              <a:srgbClr val="62DA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2788920" y="5852160"/>
            <a:ext cx="2377440" cy="0"/>
          </a:xfrm>
          <a:prstGeom prst="line">
            <a:avLst/>
          </a:prstGeom>
          <a:ln w="20320">
            <a:solidFill>
              <a:srgbClr val="62DA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788920" y="4206240"/>
            <a:ext cx="0" cy="1645920"/>
          </a:xfrm>
          <a:prstGeom prst="line">
            <a:avLst/>
          </a:prstGeom>
          <a:ln w="20320">
            <a:solidFill>
              <a:srgbClr val="62DA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Availability and approval remain current; suspension immediately withholds eligible new work.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CARE &amp; VOLUNTEERING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Notifications connect people to the next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Alerts are role-aware and privacy-safe, with relevant detail opened inside the app.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PROVIDED DEMO NOTIFICATION SCREEN + PROPOSED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23 /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395728"/>
            <a:ext cx="8229600" cy="443484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395728"/>
            <a:ext cx="8229600" cy="274320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2496312"/>
            <a:ext cx="64008" cy="64008"/>
          </a:xfrm>
          <a:prstGeom prst="ellipse">
            <a:avLst/>
          </a:prstGeom>
          <a:solidFill>
            <a:srgbClr val="F3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2496312"/>
            <a:ext cx="64008" cy="64008"/>
          </a:xfrm>
          <a:prstGeom prst="ellipse">
            <a:avLst/>
          </a:prstGeom>
          <a:solidFill>
            <a:srgbClr val="E6C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7552" y="2496312"/>
            <a:ext cx="64008" cy="64008"/>
          </a:xfrm>
          <a:prstGeom prst="ellipse">
            <a:avLst/>
          </a:prstGeom>
          <a:solidFill>
            <a:srgbClr val="85C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2464308"/>
            <a:ext cx="7086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800" b="0">
                <a:solidFill>
                  <a:srgbClr val="53617A"/>
                </a:solidFill>
                <a:latin typeface="DejaVu Sans"/>
              </a:defRPr>
            </a:pPr>
            <a:r>
              <a:t>MRM  /  MRM ADMIN FINAL</a:t>
            </a:r>
          </a:p>
        </p:txBody>
      </p:sp>
      <p:pic>
        <p:nvPicPr>
          <p:cNvPr id="20" name="Picture 19" descr="08_notifications.png"/>
          <p:cNvPicPr>
            <a:picLocks noChangeAspect="1"/>
          </p:cNvPicPr>
          <p:nvPr/>
        </p:nvPicPr>
        <p:blipFill>
          <a:blip r:embed="rId5"/>
          <a:srcRect b="64624"/>
          <a:stretch>
            <a:fillRect/>
          </a:stretch>
        </p:blipFill>
        <p:spPr>
          <a:xfrm>
            <a:off x="640080" y="2679192"/>
            <a:ext cx="8229600" cy="41513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" y="69037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Provided demo capture · top viewport; full capture in screenbook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45059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Relevant triggers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926080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Eligible request offers, assignment changes, class reminders and application updates.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3858768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Safe payloads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4334256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Use approximate areas and limited summaries. Keep sensitive descriptions off lock screens.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5266944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Accountable delivery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5742432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Record send status, respect preferences and return unattended cases to staff follow-up.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Service event → eligibility check → safe alert → authorised detail → activity update [11]</a:t>
            </a:r>
          </a:p>
        </p:txBody>
      </p:sp>
      <p:sp>
        <p:nvSpPr>
          <p:cNvPr id="30" name="Rounded Rectangle 29">
            <a:hlinkClick action="ppaction://hlinksldjump" r:id="rId7"/>
          </p:cNvPr>
          <p:cNvSpPr/>
          <p:nvPr/>
        </p:nvSpPr>
        <p:spPr>
          <a:xfrm>
            <a:off x="685800" y="2084831"/>
            <a:ext cx="1311249" cy="31089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>
            <a:hlinkClick action="ppaction://hlinksldjump" r:id="rId7"/>
          </p:cNvPr>
          <p:cNvSpPr txBox="1"/>
          <p:nvPr/>
        </p:nvSpPr>
        <p:spPr>
          <a:xfrm>
            <a:off x="795528" y="2130551"/>
            <a:ext cx="1091793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Activity  › 11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LEARNING &amp; REVENUE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Learning for every Muslim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Approved programmes connect discovery, participation and continued learning.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11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PROPOSED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24 /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542032"/>
            <a:ext cx="3076956" cy="2432304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27432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C2A3FF"/>
                </a:solidFill>
                <a:latin typeface="DejaVu Sans"/>
              </a:defRPr>
            </a:pPr>
            <a:r>
              <a:t>01</a:t>
            </a:r>
          </a:p>
        </p:txBody>
      </p:sp>
      <p:pic>
        <p:nvPicPr>
          <p:cNvPr id="16" name="Picture 15" descr="icon_book_C2A3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7227" y="2715768"/>
            <a:ext cx="438912" cy="4389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9536" y="3374136"/>
            <a:ext cx="263804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Discover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050791"/>
            <a:ext cx="2638044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Browse by topic, language, teacher and programme.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53611" y="3758183"/>
            <a:ext cx="274320" cy="0"/>
          </a:xfrm>
          <a:prstGeom prst="line">
            <a:avLst/>
          </a:prstGeom>
          <a:ln w="20320">
            <a:solidFill>
              <a:srgbClr val="C2A3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064507" y="2542032"/>
            <a:ext cx="3076956" cy="2432304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83964" y="27432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C2A3FF"/>
                </a:solidFill>
                <a:latin typeface="DejaVu Sans"/>
              </a:defRPr>
            </a:pPr>
            <a:r>
              <a:t>02</a:t>
            </a:r>
          </a:p>
        </p:txBody>
      </p:sp>
      <p:pic>
        <p:nvPicPr>
          <p:cNvPr id="22" name="Picture 21" descr="icon_clock_C2A3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655" y="2715768"/>
            <a:ext cx="438912" cy="43891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283964" y="3374136"/>
            <a:ext cx="263804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Understand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83964" y="4050791"/>
            <a:ext cx="2638044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View schedule, access rules and approved details.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78039" y="3758183"/>
            <a:ext cx="274321" cy="0"/>
          </a:xfrm>
          <a:prstGeom prst="line">
            <a:avLst/>
          </a:prstGeom>
          <a:ln w="20320">
            <a:solidFill>
              <a:srgbClr val="C2A3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488936" y="2542032"/>
            <a:ext cx="3076956" cy="2432304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08392" y="27432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C2A3FF"/>
                </a:solidFill>
                <a:latin typeface="DejaVu Sans"/>
              </a:defRPr>
            </a:pPr>
            <a:r>
              <a:t>03</a:t>
            </a:r>
          </a:p>
        </p:txBody>
      </p:sp>
      <p:pic>
        <p:nvPicPr>
          <p:cNvPr id="28" name="Picture 27" descr="icon_people_C2A3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6084" y="2715768"/>
            <a:ext cx="438912" cy="43891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708392" y="3374136"/>
            <a:ext cx="263804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Participate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08392" y="4050791"/>
            <a:ext cx="2638044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Register where required and open the live session.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602467" y="3758183"/>
            <a:ext cx="274321" cy="0"/>
          </a:xfrm>
          <a:prstGeom prst="line">
            <a:avLst/>
          </a:prstGeom>
          <a:ln w="20320">
            <a:solidFill>
              <a:srgbClr val="C2A3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913363" y="2542032"/>
            <a:ext cx="3076956" cy="2432304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32819" y="27432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C2A3FF"/>
                </a:solidFill>
                <a:latin typeface="DejaVu Sans"/>
              </a:defRPr>
            </a:pPr>
            <a:r>
              <a:t>04</a:t>
            </a:r>
          </a:p>
        </p:txBody>
      </p:sp>
      <p:pic>
        <p:nvPicPr>
          <p:cNvPr id="34" name="Picture 33" descr="icon_route_C2A3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40511" y="2715768"/>
            <a:ext cx="438912" cy="43891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1132819" y="3374136"/>
            <a:ext cx="263804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Continue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32819" y="4050791"/>
            <a:ext cx="2638044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Use approved recordings and relevant resources.</a:t>
            </a:r>
          </a:p>
        </p:txBody>
      </p:sp>
      <p:sp>
        <p:nvSpPr>
          <p:cNvPr id="37" name="Rounded Rectangle 36">
            <a:hlinkClick action="ppaction://hlinksldjump" r:id="rId12"/>
          </p:cNvPr>
          <p:cNvSpPr/>
          <p:nvPr/>
        </p:nvSpPr>
        <p:spPr>
          <a:xfrm>
            <a:off x="640080" y="5367528"/>
            <a:ext cx="6583680" cy="137160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con_shield_62DAE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247" y="5550408"/>
            <a:ext cx="329184" cy="329184"/>
          </a:xfrm>
          <a:prstGeom prst="rect">
            <a:avLst/>
          </a:prstGeom>
        </p:spPr>
      </p:pic>
      <p:sp>
        <p:nvSpPr>
          <p:cNvPr id="39" name="TextBox 38">
            <a:hlinkClick action="ppaction://hlinksldjump" r:id="rId12"/>
          </p:cNvPr>
          <p:cNvSpPr txBox="1"/>
          <p:nvPr/>
        </p:nvSpPr>
        <p:spPr>
          <a:xfrm>
            <a:off x="1353312" y="5550408"/>
            <a:ext cx="56967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Trusted publication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6007608"/>
            <a:ext cx="6144768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MRM approves religious material and teacher permissions.</a:t>
            </a:r>
          </a:p>
        </p:txBody>
      </p:sp>
      <p:sp>
        <p:nvSpPr>
          <p:cNvPr id="41" name="Rounded Rectangle 40">
            <a:hlinkClick action="ppaction://hlinksldjump" r:id="rId13"/>
          </p:cNvPr>
          <p:cNvSpPr/>
          <p:nvPr/>
        </p:nvSpPr>
        <p:spPr>
          <a:xfrm>
            <a:off x="7406640" y="5367528"/>
            <a:ext cx="6583680" cy="137160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con_moon_E8C57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07808" y="5550408"/>
            <a:ext cx="329184" cy="329184"/>
          </a:xfrm>
          <a:prstGeom prst="rect">
            <a:avLst/>
          </a:prstGeom>
        </p:spPr>
      </p:pic>
      <p:sp>
        <p:nvSpPr>
          <p:cNvPr id="43" name="TextBox 42">
            <a:hlinkClick action="ppaction://hlinksldjump" r:id="rId13"/>
          </p:cNvPr>
          <p:cNvSpPr txBox="1"/>
          <p:nvPr/>
        </p:nvSpPr>
        <p:spPr>
          <a:xfrm>
            <a:off x="8119871" y="5550408"/>
            <a:ext cx="56967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Daily practice connection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26096" y="6007608"/>
            <a:ext cx="6144768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Learning links to Quran, dua, prayer guidance and approved resources.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Approved teacher [25] → moderated content [26] → programme [29] → member participation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LEARNING &amp; REVENUE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Teachers: approval before publishing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Teaching opportunities are governed by credentials, moderation and appropriate entitlements.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12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PROPOSED TEACHER APPROVAL FLOWCHART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25 /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578608"/>
            <a:ext cx="2392070" cy="256032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2779776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C2A3FF"/>
                </a:solidFill>
                <a:latin typeface="DejaVu Sans"/>
              </a:defRPr>
            </a:pPr>
            <a:r>
              <a:t>01</a:t>
            </a:r>
          </a:p>
        </p:txBody>
      </p:sp>
      <p:pic>
        <p:nvPicPr>
          <p:cNvPr id="16" name="Picture 15" descr="icon_people_C2A3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2342" y="2752344"/>
            <a:ext cx="438912" cy="4389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9536" y="3410712"/>
            <a:ext cx="195315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087368"/>
            <a:ext cx="1953158" cy="9326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Profile, subjects, languages, experience and evidence.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068726" y="3858768"/>
            <a:ext cx="274320" cy="0"/>
          </a:xfrm>
          <a:prstGeom prst="line">
            <a:avLst/>
          </a:prstGeom>
          <a:ln w="20320">
            <a:solidFill>
              <a:srgbClr val="C2A3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379622" y="2578608"/>
            <a:ext cx="2392070" cy="256032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99078" y="2779776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C2A3FF"/>
                </a:solidFill>
                <a:latin typeface="DejaVu Sans"/>
              </a:defRPr>
            </a:pPr>
            <a:r>
              <a:t>02</a:t>
            </a:r>
          </a:p>
        </p:txBody>
      </p:sp>
      <p:pic>
        <p:nvPicPr>
          <p:cNvPr id="22" name="Picture 21" descr="icon_shield_C2A3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1884" y="2752344"/>
            <a:ext cx="438912" cy="43891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599078" y="3410712"/>
            <a:ext cx="195315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99078" y="4087368"/>
            <a:ext cx="1953158" cy="9326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MRM examines credentials and requests clarification.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808268" y="3858768"/>
            <a:ext cx="274320" cy="0"/>
          </a:xfrm>
          <a:prstGeom prst="line">
            <a:avLst/>
          </a:prstGeom>
          <a:ln w="20320">
            <a:solidFill>
              <a:srgbClr val="C2A3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119164" y="2578608"/>
            <a:ext cx="2392070" cy="256032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8620" y="2779776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C2A3FF"/>
                </a:solidFill>
                <a:latin typeface="DejaVu Sans"/>
              </a:defRPr>
            </a:pPr>
            <a:r>
              <a:t>03</a:t>
            </a:r>
          </a:p>
        </p:txBody>
      </p:sp>
      <p:pic>
        <p:nvPicPr>
          <p:cNvPr id="28" name="Picture 27" descr="icon_check_C2A3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1427" y="2752344"/>
            <a:ext cx="438912" cy="43891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338620" y="3410712"/>
            <a:ext cx="195315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8620" y="4087368"/>
            <a:ext cx="1953158" cy="9326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Teacher role enables a permitted workspace.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47811" y="3858768"/>
            <a:ext cx="274320" cy="0"/>
          </a:xfrm>
          <a:prstGeom prst="line">
            <a:avLst/>
          </a:prstGeom>
          <a:ln w="20320">
            <a:solidFill>
              <a:srgbClr val="C2A3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858707" y="2578608"/>
            <a:ext cx="2392070" cy="256032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78163" y="2779776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C2A3FF"/>
                </a:solidFill>
                <a:latin typeface="DejaVu Sans"/>
              </a:defRPr>
            </a:pPr>
            <a:r>
              <a:t>04</a:t>
            </a:r>
          </a:p>
        </p:txBody>
      </p:sp>
      <p:pic>
        <p:nvPicPr>
          <p:cNvPr id="34" name="Picture 33" descr="icon_card_C2A3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0969" y="2752344"/>
            <a:ext cx="438912" cy="43891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078163" y="3410712"/>
            <a:ext cx="195315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Enable privileges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78163" y="4087368"/>
            <a:ext cx="1953158" cy="9326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Applicable plan controls designated publishing.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1287353" y="3858768"/>
            <a:ext cx="274320" cy="0"/>
          </a:xfrm>
          <a:prstGeom prst="line">
            <a:avLst/>
          </a:prstGeom>
          <a:ln w="20320">
            <a:solidFill>
              <a:srgbClr val="C2A3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1598249" y="2578608"/>
            <a:ext cx="2392070" cy="256032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817705" y="2779776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C2A3FF"/>
                </a:solidFill>
                <a:latin typeface="DejaVu Sans"/>
              </a:defRPr>
            </a:pPr>
            <a:r>
              <a:t>05</a:t>
            </a:r>
          </a:p>
        </p:txBody>
      </p:sp>
      <p:pic>
        <p:nvPicPr>
          <p:cNvPr id="40" name="Picture 39" descr="icon_book_C2A3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40511" y="2752344"/>
            <a:ext cx="438912" cy="43891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1817705" y="3410712"/>
            <a:ext cx="195315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Moderate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17705" y="4087368"/>
            <a:ext cx="1953158" cy="9326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Submitted material is reviewed before publication.</a:t>
            </a:r>
          </a:p>
        </p:txBody>
      </p:sp>
      <p:sp>
        <p:nvSpPr>
          <p:cNvPr id="43" name="Rounded Rectangle 42">
            <a:hlinkClick action="ppaction://hlinksldjump" r:id="rId13"/>
          </p:cNvPr>
          <p:cNvSpPr/>
          <p:nvPr/>
        </p:nvSpPr>
        <p:spPr>
          <a:xfrm>
            <a:off x="640080" y="5458968"/>
            <a:ext cx="6583680" cy="128016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con_people_62DAE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1247" y="5641848"/>
            <a:ext cx="329184" cy="329184"/>
          </a:xfrm>
          <a:prstGeom prst="rect">
            <a:avLst/>
          </a:prstGeom>
        </p:spPr>
      </p:pic>
      <p:sp>
        <p:nvSpPr>
          <p:cNvPr id="45" name="TextBox 44">
            <a:hlinkClick action="ppaction://hlinksldjump" r:id="rId13"/>
          </p:cNvPr>
          <p:cNvSpPr txBox="1"/>
          <p:nvPr/>
        </p:nvSpPr>
        <p:spPr>
          <a:xfrm>
            <a:off x="1353312" y="5641848"/>
            <a:ext cx="56967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Professional presence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" y="6099048"/>
            <a:ext cx="61447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Approved profile and teaching opportunities connect learners to teachers.</a:t>
            </a:r>
          </a:p>
        </p:txBody>
      </p:sp>
      <p:sp>
        <p:nvSpPr>
          <p:cNvPr id="47" name="Rounded Rectangle 46">
            <a:hlinkClick action="ppaction://hlinksldjump" r:id="rId14"/>
          </p:cNvPr>
          <p:cNvSpPr/>
          <p:nvPr/>
        </p:nvSpPr>
        <p:spPr>
          <a:xfrm>
            <a:off x="7406640" y="5458968"/>
            <a:ext cx="6583680" cy="128016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con_lock_E8C57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07808" y="5641848"/>
            <a:ext cx="329184" cy="329184"/>
          </a:xfrm>
          <a:prstGeom prst="rect">
            <a:avLst/>
          </a:prstGeom>
        </p:spPr>
      </p:pic>
      <p:sp>
        <p:nvSpPr>
          <p:cNvPr id="49" name="TextBox 48">
            <a:hlinkClick action="ppaction://hlinksldjump" r:id="rId14"/>
          </p:cNvPr>
          <p:cNvSpPr txBox="1"/>
          <p:nvPr/>
        </p:nvSpPr>
        <p:spPr>
          <a:xfrm>
            <a:off x="8119871" y="5641848"/>
            <a:ext cx="56967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Role boundary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26096" y="6099048"/>
            <a:ext cx="61447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Teacher approval or payment never provides private support-case access.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Teacher approval and payment entitlement are separate checks; neither substitutes for moderation.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LEARNING &amp; REVENUE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Teaching opportunities and moderated 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Teachers submit educational material and clearly identified teaching advertisements.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9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PROPOSED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26 / 50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640080" y="2423160"/>
            <a:ext cx="6574536" cy="202539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_book_C2A3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7" y="2606040"/>
            <a:ext cx="384048" cy="384048"/>
          </a:xfrm>
          <a:prstGeom prst="rect">
            <a:avLst/>
          </a:prstGeom>
        </p:spPr>
      </p:pic>
      <p:sp>
        <p:nvSpPr>
          <p:cNvPr id="16" name="TextBox 15">
            <a:hlinkClick action="ppaction://hlinksldjump" r:id="rId10"/>
          </p:cNvPr>
          <p:cNvSpPr txBox="1"/>
          <p:nvPr/>
        </p:nvSpPr>
        <p:spPr>
          <a:xfrm>
            <a:off x="1353312" y="2606040"/>
            <a:ext cx="568756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Educational posts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255264"/>
            <a:ext cx="6135623" cy="1074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Approved articles and posts organised by subject and language.</a:t>
            </a:r>
          </a:p>
        </p:txBody>
      </p:sp>
      <p:sp>
        <p:nvSpPr>
          <p:cNvPr id="18" name="Rounded Rectangle 17">
            <a:hlinkClick action="ppaction://hlinksldjump" r:id="rId11"/>
          </p:cNvPr>
          <p:cNvSpPr/>
          <p:nvPr/>
        </p:nvSpPr>
        <p:spPr>
          <a:xfrm>
            <a:off x="7415783" y="2423160"/>
            <a:ext cx="6574536" cy="202539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_people_62DAE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6952" y="2606040"/>
            <a:ext cx="384048" cy="384048"/>
          </a:xfrm>
          <a:prstGeom prst="rect">
            <a:avLst/>
          </a:prstGeom>
        </p:spPr>
      </p:pic>
      <p:sp>
        <p:nvSpPr>
          <p:cNvPr id="20" name="TextBox 19">
            <a:hlinkClick action="ppaction://hlinksldjump" r:id="rId11"/>
          </p:cNvPr>
          <p:cNvSpPr txBox="1"/>
          <p:nvPr/>
        </p:nvSpPr>
        <p:spPr>
          <a:xfrm>
            <a:off x="8129015" y="2606040"/>
            <a:ext cx="568756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Teaching advertisements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3255264"/>
            <a:ext cx="6135623" cy="1074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Teacher, offer, approved media and a clear enquiry route in learning areas.</a:t>
            </a:r>
          </a:p>
        </p:txBody>
      </p:sp>
      <p:sp>
        <p:nvSpPr>
          <p:cNvPr id="22" name="Rounded Rectangle 21">
            <a:hlinkClick action="ppaction://hlinksldjump" r:id="rId12"/>
          </p:cNvPr>
          <p:cNvSpPr/>
          <p:nvPr/>
        </p:nvSpPr>
        <p:spPr>
          <a:xfrm>
            <a:off x="640080" y="4649724"/>
            <a:ext cx="6574536" cy="202539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clock_E8C57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7" y="4832604"/>
            <a:ext cx="384048" cy="384048"/>
          </a:xfrm>
          <a:prstGeom prst="rect">
            <a:avLst/>
          </a:prstGeom>
        </p:spPr>
      </p:pic>
      <p:sp>
        <p:nvSpPr>
          <p:cNvPr id="24" name="TextBox 23">
            <a:hlinkClick action="ppaction://hlinksldjump" r:id="rId12"/>
          </p:cNvPr>
          <p:cNvSpPr txBox="1"/>
          <p:nvPr/>
        </p:nvSpPr>
        <p:spPr>
          <a:xfrm>
            <a:off x="1353312" y="4832604"/>
            <a:ext cx="568756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Classes &amp; recordings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5481828"/>
            <a:ext cx="6135623" cy="1074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Proposed programmes and lessons enter MRM’s review queue.</a:t>
            </a:r>
          </a:p>
        </p:txBody>
      </p:sp>
      <p:sp>
        <p:nvSpPr>
          <p:cNvPr id="26" name="Rounded Rectangle 25">
            <a:hlinkClick action="ppaction://hlinksldjump" r:id="rId13"/>
          </p:cNvPr>
          <p:cNvSpPr/>
          <p:nvPr/>
        </p:nvSpPr>
        <p:spPr>
          <a:xfrm>
            <a:off x="7415783" y="4649724"/>
            <a:ext cx="6574536" cy="202539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_shield_8DD8B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6952" y="4832604"/>
            <a:ext cx="384048" cy="384048"/>
          </a:xfrm>
          <a:prstGeom prst="rect">
            <a:avLst/>
          </a:prstGeom>
        </p:spPr>
      </p:pic>
      <p:sp>
        <p:nvSpPr>
          <p:cNvPr id="28" name="TextBox 27">
            <a:hlinkClick action="ppaction://hlinksldjump" r:id="rId13"/>
          </p:cNvPr>
          <p:cNvSpPr txBox="1"/>
          <p:nvPr/>
        </p:nvSpPr>
        <p:spPr>
          <a:xfrm>
            <a:off x="8129015" y="4832604"/>
            <a:ext cx="568756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Publication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5481828"/>
            <a:ext cx="6135623" cy="1074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Approve, return, schedule, reject, withdraw or archive with recorded outcomes.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Submit → review → revise if needed → publish → monitor  •  No teacher ads in private case screens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LEARNING &amp; REVENUE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Teacher subscriptions: approval, payment, entitlement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Only approved teachers use paid publishing plans. Member assistance and volunteering remain free.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5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PROPOSED TEACHER SUBSCRIPTION FLOWCHART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27 / 50</a:t>
            </a:r>
          </a:p>
        </p:txBody>
      </p:sp>
      <p:sp>
        <p:nvSpPr>
          <p:cNvPr id="14" name="Rounded Rectangle 13">
            <a:hlinkClick action="ppaction://hlinksldjump" r:id="rId6"/>
          </p:cNvPr>
          <p:cNvSpPr/>
          <p:nvPr/>
        </p:nvSpPr>
        <p:spPr>
          <a:xfrm>
            <a:off x="640080" y="2606040"/>
            <a:ext cx="2743200" cy="137160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C2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>
            <a:hlinkClick action="ppaction://hlinksldjump" r:id="rId6"/>
          </p:cNvPr>
          <p:cNvSpPr txBox="1"/>
          <p:nvPr/>
        </p:nvSpPr>
        <p:spPr>
          <a:xfrm>
            <a:off x="786384" y="2752344"/>
            <a:ext cx="245059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teacher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319272"/>
            <a:ext cx="241401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MRM approval is required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0" y="2606040"/>
            <a:ext cx="3017520" cy="137160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C2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86784" y="2752344"/>
            <a:ext cx="272491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Select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5072" y="3319272"/>
            <a:ext cx="268833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MRM-defined period and allowances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2606040"/>
            <a:ext cx="2834640" cy="137160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61504" y="2752344"/>
            <a:ext cx="254203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Applicable billing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9792" y="3319272"/>
            <a:ext cx="250545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Client-owned app-store products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607040" y="2606040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8DD8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53344" y="2752344"/>
            <a:ext cx="309067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Verify entitlement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71632" y="3319272"/>
            <a:ext cx="305409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Server verifies active paid privileges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383280" y="3291840"/>
            <a:ext cx="457200" cy="0"/>
          </a:xfrm>
          <a:prstGeom prst="line">
            <a:avLst/>
          </a:prstGeom>
          <a:ln w="20320">
            <a:solidFill>
              <a:srgbClr val="C2A3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3291840"/>
            <a:ext cx="457200" cy="0"/>
          </a:xfrm>
          <a:prstGeom prst="line">
            <a:avLst/>
          </a:prstGeom>
          <a:ln w="20320">
            <a:solidFill>
              <a:srgbClr val="C2A3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149840" y="3291840"/>
            <a:ext cx="457200" cy="0"/>
          </a:xfrm>
          <a:prstGeom prst="line">
            <a:avLst/>
          </a:prstGeom>
          <a:ln w="20320">
            <a:solidFill>
              <a:srgbClr val="C2A3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315200" y="4846320"/>
            <a:ext cx="2834640" cy="137160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E8C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61504" y="4992624"/>
            <a:ext cx="254203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Payment not verified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5559552"/>
            <a:ext cx="250545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No paid publishing privileges</a:t>
            </a:r>
          </a:p>
        </p:txBody>
      </p:sp>
      <p:sp>
        <p:nvSpPr>
          <p:cNvPr id="32" name="Rounded Rectangle 31">
            <a:hlinkClick action="ppaction://hlinksldjump" r:id="rId7"/>
          </p:cNvPr>
          <p:cNvSpPr/>
          <p:nvPr/>
        </p:nvSpPr>
        <p:spPr>
          <a:xfrm>
            <a:off x="10607040" y="4846320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8DD8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>
            <a:hlinkClick action="ppaction://hlinksldjump" r:id="rId7"/>
          </p:cNvPr>
          <p:cNvSpPr txBox="1"/>
          <p:nvPr/>
        </p:nvSpPr>
        <p:spPr>
          <a:xfrm>
            <a:off x="10753344" y="4992624"/>
            <a:ext cx="309067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Submit for moderation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71632" y="5559552"/>
            <a:ext cx="305409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BBC8DF"/>
                </a:solidFill>
                <a:latin typeface="DejaVu Sans"/>
              </a:defRPr>
            </a:pPr>
            <a:r>
              <a:t>Allowances checked before publication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732520" y="3977639"/>
            <a:ext cx="0" cy="868681"/>
          </a:xfrm>
          <a:prstGeom prst="line">
            <a:avLst/>
          </a:prstGeom>
          <a:ln w="20320">
            <a:solidFill>
              <a:srgbClr val="E8C5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2298680" y="3977639"/>
            <a:ext cx="0" cy="868681"/>
          </a:xfrm>
          <a:prstGeom prst="line">
            <a:avLst/>
          </a:prstGeom>
          <a:ln w="20320">
            <a:solidFill>
              <a:srgbClr val="8DD8B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49808" y="5010912"/>
            <a:ext cx="6035040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BBC8DF"/>
                </a:solidFill>
                <a:latin typeface="DejaVu Sans"/>
              </a:defRPr>
            </a:pPr>
            <a:r>
              <a:t>A no-charge teacher plan can be configured initially. Paid activation depends on MRM policy and store readiness.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Teacher approval → plan → verified entitlement → allowance checks → content moderation → publication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LEARNING &amp; REVENUE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Subscription lifecycle: clear states and recovery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Renewal, cancellation, failed payment and expiry require visible outcomes and verified entitlement.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11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PROPOSED SUBSCRIPTION STATE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28 /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560320"/>
            <a:ext cx="3076956" cy="260604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276148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C2A3FF"/>
                </a:solidFill>
                <a:latin typeface="DejaVu Sans"/>
              </a:defRPr>
            </a:pPr>
            <a:r>
              <a:t>01</a:t>
            </a:r>
          </a:p>
        </p:txBody>
      </p:sp>
      <p:pic>
        <p:nvPicPr>
          <p:cNvPr id="16" name="Picture 15" descr="icon_card_C2A3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7227" y="2734056"/>
            <a:ext cx="438912" cy="4389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9536" y="3392424"/>
            <a:ext cx="263804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Active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069079"/>
            <a:ext cx="2638044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Publishing within plan allowances; show status and renewal.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53611" y="3863339"/>
            <a:ext cx="274320" cy="0"/>
          </a:xfrm>
          <a:prstGeom prst="line">
            <a:avLst/>
          </a:prstGeom>
          <a:ln w="20320">
            <a:solidFill>
              <a:srgbClr val="C2A3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064507" y="2560320"/>
            <a:ext cx="3076956" cy="260604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83964" y="276148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C2A3FF"/>
                </a:solidFill>
                <a:latin typeface="DejaVu Sans"/>
              </a:defRPr>
            </a:pPr>
            <a:r>
              <a:t>02</a:t>
            </a:r>
          </a:p>
        </p:txBody>
      </p:sp>
      <p:pic>
        <p:nvPicPr>
          <p:cNvPr id="22" name="Picture 21" descr="icon_clock_C2A3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655" y="2734056"/>
            <a:ext cx="438912" cy="43891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283964" y="3392424"/>
            <a:ext cx="263804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Renew / cancel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83964" y="4069079"/>
            <a:ext cx="2638044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Use applicable store management and confirmation.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78039" y="3863339"/>
            <a:ext cx="274321" cy="0"/>
          </a:xfrm>
          <a:prstGeom prst="line">
            <a:avLst/>
          </a:prstGeom>
          <a:ln w="20320">
            <a:solidFill>
              <a:srgbClr val="C2A3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488936" y="2560320"/>
            <a:ext cx="3076956" cy="260604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08392" y="276148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C2A3FF"/>
                </a:solidFill>
                <a:latin typeface="DejaVu Sans"/>
              </a:defRPr>
            </a:pPr>
            <a:r>
              <a:t>03</a:t>
            </a:r>
          </a:p>
        </p:txBody>
      </p:sp>
      <p:pic>
        <p:nvPicPr>
          <p:cNvPr id="28" name="Picture 27" descr="icon_shield_C2A3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6084" y="2734056"/>
            <a:ext cx="438912" cy="43891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708392" y="3392424"/>
            <a:ext cx="263804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Verify changes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08392" y="4069079"/>
            <a:ext cx="2638044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Process payment, cancellation and expiry updates.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602467" y="3863339"/>
            <a:ext cx="274321" cy="0"/>
          </a:xfrm>
          <a:prstGeom prst="line">
            <a:avLst/>
          </a:prstGeom>
          <a:ln w="20320">
            <a:solidFill>
              <a:srgbClr val="C2A3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913363" y="2560320"/>
            <a:ext cx="3076956" cy="260604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32819" y="276148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C2A3FF"/>
                </a:solidFill>
                <a:latin typeface="DejaVu Sans"/>
              </a:defRPr>
            </a:pPr>
            <a:r>
              <a:t>04</a:t>
            </a:r>
          </a:p>
        </p:txBody>
      </p:sp>
      <p:pic>
        <p:nvPicPr>
          <p:cNvPr id="34" name="Picture 33" descr="icon_lock_C2A3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40511" y="2734056"/>
            <a:ext cx="438912" cy="43891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1132819" y="3392424"/>
            <a:ext cx="263804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Apply entitlement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32819" y="4069079"/>
            <a:ext cx="2638044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Pause paid privileges when entitlement ends.</a:t>
            </a:r>
          </a:p>
        </p:txBody>
      </p:sp>
      <p:sp>
        <p:nvSpPr>
          <p:cNvPr id="37" name="Rounded Rectangle 36">
            <a:hlinkClick action="ppaction://hlinksldjump" r:id="rId12"/>
          </p:cNvPr>
          <p:cNvSpPr/>
          <p:nvPr/>
        </p:nvSpPr>
        <p:spPr>
          <a:xfrm>
            <a:off x="640080" y="5468112"/>
            <a:ext cx="6583680" cy="1307592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con_route_62DAE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247" y="5650992"/>
            <a:ext cx="329184" cy="329184"/>
          </a:xfrm>
          <a:prstGeom prst="rect">
            <a:avLst/>
          </a:prstGeom>
        </p:spPr>
      </p:pic>
      <p:sp>
        <p:nvSpPr>
          <p:cNvPr id="39" name="TextBox 38">
            <a:hlinkClick action="ppaction://hlinksldjump" r:id="rId12"/>
          </p:cNvPr>
          <p:cNvSpPr txBox="1"/>
          <p:nvPr/>
        </p:nvSpPr>
        <p:spPr>
          <a:xfrm>
            <a:off x="1353312" y="5650992"/>
            <a:ext cx="56967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Restore eligible purchases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6108192"/>
            <a:ext cx="61447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Reconnect a permitted purchase to the approved teacher account.</a:t>
            </a:r>
          </a:p>
        </p:txBody>
      </p:sp>
      <p:sp>
        <p:nvSpPr>
          <p:cNvPr id="41" name="Rounded Rectangle 40">
            <a:hlinkClick action="ppaction://hlinksldjump" r:id="rId13"/>
          </p:cNvPr>
          <p:cNvSpPr/>
          <p:nvPr/>
        </p:nvSpPr>
        <p:spPr>
          <a:xfrm>
            <a:off x="7406640" y="5468112"/>
            <a:ext cx="6583680" cy="1307592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con_book_E8C57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07808" y="5650992"/>
            <a:ext cx="329184" cy="329184"/>
          </a:xfrm>
          <a:prstGeom prst="rect">
            <a:avLst/>
          </a:prstGeom>
        </p:spPr>
      </p:pic>
      <p:sp>
        <p:nvSpPr>
          <p:cNvPr id="43" name="TextBox 42">
            <a:hlinkClick action="ppaction://hlinksldjump" r:id="rId13"/>
          </p:cNvPr>
          <p:cNvSpPr txBox="1"/>
          <p:nvPr/>
        </p:nvSpPr>
        <p:spPr>
          <a:xfrm>
            <a:off x="8119871" y="5650992"/>
            <a:ext cx="56967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Preserve history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26096" y="6108192"/>
            <a:ext cx="61447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Keep the account and approved historical content; confirm visibility policy before launch.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Plan prices and allowances are configured by MRM; the deck does not invent subscription tiers or prices.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LEARNING &amp; REVENUE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Classes, events and approved recordings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Live sessions and recorded resources are connected through moderated programme information.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PROVIDED DEMO LEARNING SCREEN + PROPOSED JOURNEY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29 /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395728"/>
            <a:ext cx="8229600" cy="443484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395728"/>
            <a:ext cx="8229600" cy="274320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2496312"/>
            <a:ext cx="64008" cy="64008"/>
          </a:xfrm>
          <a:prstGeom prst="ellipse">
            <a:avLst/>
          </a:prstGeom>
          <a:solidFill>
            <a:srgbClr val="F3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2496312"/>
            <a:ext cx="64008" cy="64008"/>
          </a:xfrm>
          <a:prstGeom prst="ellipse">
            <a:avLst/>
          </a:prstGeom>
          <a:solidFill>
            <a:srgbClr val="E6C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7552" y="2496312"/>
            <a:ext cx="64008" cy="64008"/>
          </a:xfrm>
          <a:prstGeom prst="ellipse">
            <a:avLst/>
          </a:prstGeom>
          <a:solidFill>
            <a:srgbClr val="85C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2464308"/>
            <a:ext cx="7086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800" b="0">
                <a:solidFill>
                  <a:srgbClr val="53617A"/>
                </a:solidFill>
                <a:latin typeface="DejaVu Sans"/>
              </a:defRPr>
            </a:pPr>
            <a:r>
              <a:t>MRM  /  MRM ADMIN FINAL</a:t>
            </a:r>
          </a:p>
        </p:txBody>
      </p:sp>
      <p:pic>
        <p:nvPicPr>
          <p:cNvPr id="20" name="Picture 19" descr="05_learning_events.png"/>
          <p:cNvPicPr>
            <a:picLocks noChangeAspect="1"/>
          </p:cNvPicPr>
          <p:nvPr/>
        </p:nvPicPr>
        <p:blipFill>
          <a:blip r:embed="rId5"/>
          <a:srcRect b="71441"/>
          <a:stretch>
            <a:fillRect/>
          </a:stretch>
        </p:blipFill>
        <p:spPr>
          <a:xfrm>
            <a:off x="640080" y="2679192"/>
            <a:ext cx="8229600" cy="41513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" y="69037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Provided demo capture · top viewport; full capture in screenbook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45059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Prepare programme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926080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Subject, teacher, language, schedule, access rules and approved media.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3858768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Review &amp; publish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4334256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MRM approves content and rights before users browse or register.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5266944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Attend &amp; revisit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5742432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Reminders link to sessions; approved recordings support later learning. External meeting links may be used.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Teacher workspace [25] → MRM moderation [26] → programme → reminders [23] → learner access [24]</a:t>
            </a:r>
          </a:p>
        </p:txBody>
      </p:sp>
      <p:sp>
        <p:nvSpPr>
          <p:cNvPr id="30" name="Rounded Rectangle 29">
            <a:hlinkClick action="ppaction://hlinksldjump" r:id="rId7"/>
          </p:cNvPr>
          <p:cNvSpPr/>
          <p:nvPr/>
        </p:nvSpPr>
        <p:spPr>
          <a:xfrm>
            <a:off x="685800" y="2084831"/>
            <a:ext cx="1829714" cy="31089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>
            <a:hlinkClick action="ppaction://hlinksldjump" r:id="rId7"/>
          </p:cNvPr>
          <p:cNvSpPr txBox="1"/>
          <p:nvPr/>
        </p:nvSpPr>
        <p:spPr>
          <a:xfrm>
            <a:off x="795528" y="2130551"/>
            <a:ext cx="161025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Learner journey  › 24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LEARNING &amp; REVENUE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Sponsors: recognition with clear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Approved sponsor placements support MRM without influencing care, guidance or zakat decisions.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PROVIDED DEMO SPONSOR SCREEN + PROPOSED PLACEMENTS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30 /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395728"/>
            <a:ext cx="8229600" cy="443484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395728"/>
            <a:ext cx="8229600" cy="274320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2496312"/>
            <a:ext cx="64008" cy="64008"/>
          </a:xfrm>
          <a:prstGeom prst="ellipse">
            <a:avLst/>
          </a:prstGeom>
          <a:solidFill>
            <a:srgbClr val="F3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2496312"/>
            <a:ext cx="64008" cy="64008"/>
          </a:xfrm>
          <a:prstGeom prst="ellipse">
            <a:avLst/>
          </a:prstGeom>
          <a:solidFill>
            <a:srgbClr val="E6C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7552" y="2496312"/>
            <a:ext cx="64008" cy="64008"/>
          </a:xfrm>
          <a:prstGeom prst="ellipse">
            <a:avLst/>
          </a:prstGeom>
          <a:solidFill>
            <a:srgbClr val="85C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2464308"/>
            <a:ext cx="7086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800" b="0">
                <a:solidFill>
                  <a:srgbClr val="53617A"/>
                </a:solidFill>
                <a:latin typeface="DejaVu Sans"/>
              </a:defRPr>
            </a:pPr>
            <a:r>
              <a:t>MRM  /  MRM ADMIN FINAL</a:t>
            </a:r>
          </a:p>
        </p:txBody>
      </p:sp>
      <p:pic>
        <p:nvPicPr>
          <p:cNvPr id="20" name="Picture 19" descr="07_sponsors.png"/>
          <p:cNvPicPr>
            <a:picLocks noChangeAspect="1"/>
          </p:cNvPicPr>
          <p:nvPr/>
        </p:nvPicPr>
        <p:blipFill>
          <a:blip r:embed="rId5"/>
          <a:srcRect b="66935"/>
          <a:stretch>
            <a:fillRect/>
          </a:stretch>
        </p:blipFill>
        <p:spPr>
          <a:xfrm>
            <a:off x="640080" y="2679192"/>
            <a:ext cx="8229600" cy="41513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" y="69037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Provided demo capture · top viewport; full capture in screenbook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45059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Approve sponsor assets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926080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MRM confirms sponsor details, logos, creatives and destination links.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3858768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Schedule recognition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4334256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Set placement, start/end dates and publication state; identify sponsor material clearly.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5266944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Report responsibly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5742432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Aggregate views/clicks only. External marketing and launch publication remain MRM responsibilities.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Sponsor agreement → approved assets → time-limited placement → aggregate reporting [46]</a:t>
            </a:r>
          </a:p>
        </p:txBody>
      </p:sp>
      <p:sp>
        <p:nvSpPr>
          <p:cNvPr id="30" name="Rounded Rectangle 29">
            <a:hlinkClick action="ppaction://hlinksldjump" r:id="rId7"/>
          </p:cNvPr>
          <p:cNvSpPr/>
          <p:nvPr/>
        </p:nvSpPr>
        <p:spPr>
          <a:xfrm>
            <a:off x="685800" y="2084831"/>
            <a:ext cx="1385316" cy="31089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>
            <a:hlinkClick action="ppaction://hlinksldjump" r:id="rId7"/>
          </p:cNvPr>
          <p:cNvSpPr txBox="1"/>
          <p:nvPr/>
        </p:nvSpPr>
        <p:spPr>
          <a:xfrm>
            <a:off x="795528" y="2130551"/>
            <a:ext cx="11658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Reporting  › 46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LEARNING &amp; REVENUE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The website opens the door to the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Public discovery supports all Muslims, prospective volunteers, teachers, partners and sponsors.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9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PROPOSED WEBSITE INFORMATION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31 / 50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640080" y="2423160"/>
            <a:ext cx="6574536" cy="202539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_globe_62DA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7" y="2606040"/>
            <a:ext cx="384048" cy="384048"/>
          </a:xfrm>
          <a:prstGeom prst="rect">
            <a:avLst/>
          </a:prstGeom>
        </p:spPr>
      </p:pic>
      <p:sp>
        <p:nvSpPr>
          <p:cNvPr id="16" name="TextBox 15">
            <a:hlinkClick action="ppaction://hlinksldjump" r:id="rId10"/>
          </p:cNvPr>
          <p:cNvSpPr txBox="1"/>
          <p:nvPr/>
        </p:nvSpPr>
        <p:spPr>
          <a:xfrm>
            <a:off x="1353312" y="2606040"/>
            <a:ext cx="568756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Discover MRM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255264"/>
            <a:ext cx="6135623" cy="1074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Home, mission, programmes, approved resources and public contact information.</a:t>
            </a:r>
          </a:p>
        </p:txBody>
      </p:sp>
      <p:sp>
        <p:nvSpPr>
          <p:cNvPr id="18" name="Rounded Rectangle 17">
            <a:hlinkClick action="ppaction://hlinksldjump" r:id="rId11"/>
          </p:cNvPr>
          <p:cNvSpPr/>
          <p:nvPr/>
        </p:nvSpPr>
        <p:spPr>
          <a:xfrm>
            <a:off x="7415783" y="2423160"/>
            <a:ext cx="6574536" cy="202539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_people_8DD8B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6952" y="2606040"/>
            <a:ext cx="384048" cy="384048"/>
          </a:xfrm>
          <a:prstGeom prst="rect">
            <a:avLst/>
          </a:prstGeom>
        </p:spPr>
      </p:pic>
      <p:sp>
        <p:nvSpPr>
          <p:cNvPr id="20" name="TextBox 19">
            <a:hlinkClick action="ppaction://hlinksldjump" r:id="rId11"/>
          </p:cNvPr>
          <p:cNvSpPr txBox="1"/>
          <p:nvPr/>
        </p:nvSpPr>
        <p:spPr>
          <a:xfrm>
            <a:off x="8129015" y="2606040"/>
            <a:ext cx="568756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Participate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3255264"/>
            <a:ext cx="6135623" cy="1074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Support routes, volunteer information, teacher applications and app download links.</a:t>
            </a:r>
          </a:p>
        </p:txBody>
      </p:sp>
      <p:sp>
        <p:nvSpPr>
          <p:cNvPr id="22" name="Rounded Rectangle 21">
            <a:hlinkClick action="ppaction://hlinksldjump" r:id="rId12"/>
          </p:cNvPr>
          <p:cNvSpPr/>
          <p:nvPr/>
        </p:nvSpPr>
        <p:spPr>
          <a:xfrm>
            <a:off x="640080" y="4649724"/>
            <a:ext cx="6574536" cy="202539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book_C2A3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7" y="4832604"/>
            <a:ext cx="384048" cy="384048"/>
          </a:xfrm>
          <a:prstGeom prst="rect">
            <a:avLst/>
          </a:prstGeom>
        </p:spPr>
      </p:pic>
      <p:sp>
        <p:nvSpPr>
          <p:cNvPr id="24" name="TextBox 23">
            <a:hlinkClick action="ppaction://hlinksldjump" r:id="rId12"/>
          </p:cNvPr>
          <p:cNvSpPr txBox="1"/>
          <p:nvPr/>
        </p:nvSpPr>
        <p:spPr>
          <a:xfrm>
            <a:off x="1353312" y="4832604"/>
            <a:ext cx="568756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Learn &amp; attend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5481828"/>
            <a:ext cx="6135623" cy="1074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Public classes, events and approved articles connected to platform content.</a:t>
            </a:r>
          </a:p>
        </p:txBody>
      </p:sp>
      <p:sp>
        <p:nvSpPr>
          <p:cNvPr id="26" name="Rounded Rectangle 25">
            <a:hlinkClick action="ppaction://hlinksldjump" r:id="rId13"/>
          </p:cNvPr>
          <p:cNvSpPr/>
          <p:nvPr/>
        </p:nvSpPr>
        <p:spPr>
          <a:xfrm>
            <a:off x="7415783" y="4649724"/>
            <a:ext cx="6574536" cy="202539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_shield_E8C57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6952" y="4832604"/>
            <a:ext cx="384048" cy="384048"/>
          </a:xfrm>
          <a:prstGeom prst="rect">
            <a:avLst/>
          </a:prstGeom>
        </p:spPr>
      </p:pic>
      <p:sp>
        <p:nvSpPr>
          <p:cNvPr id="28" name="TextBox 27">
            <a:hlinkClick action="ppaction://hlinksldjump" r:id="rId13"/>
          </p:cNvPr>
          <p:cNvSpPr txBox="1"/>
          <p:nvPr/>
        </p:nvSpPr>
        <p:spPr>
          <a:xfrm>
            <a:off x="8129015" y="4832604"/>
            <a:ext cx="568756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Trust &amp; maintain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5481828"/>
            <a:ext cx="6135623" cy="1074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Policies, partner/sponsor information and staff-managed public content.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Public website → relevant service / app  •  Agreed public content migration; private records need assessment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ISLAMIC UTILITIES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Daily Islamic tools create everyday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A complete utility set supports Muslims at different stages of knowledge and practice.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9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PROPOSED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32 / 50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640080" y="2423160"/>
            <a:ext cx="6574536" cy="202539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_pin_62DA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7" y="2606040"/>
            <a:ext cx="384048" cy="384048"/>
          </a:xfrm>
          <a:prstGeom prst="rect">
            <a:avLst/>
          </a:prstGeom>
        </p:spPr>
      </p:pic>
      <p:sp>
        <p:nvSpPr>
          <p:cNvPr id="16" name="TextBox 15">
            <a:hlinkClick action="ppaction://hlinksldjump" r:id="rId10"/>
          </p:cNvPr>
          <p:cNvSpPr txBox="1"/>
          <p:nvPr/>
        </p:nvSpPr>
        <p:spPr>
          <a:xfrm>
            <a:off x="1353312" y="2606040"/>
            <a:ext cx="568756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Prayer &amp; direction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255264"/>
            <a:ext cx="6135623" cy="1074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Prayer times, approved local adjustments, Qibla and nearby mosques.</a:t>
            </a:r>
          </a:p>
        </p:txBody>
      </p:sp>
      <p:sp>
        <p:nvSpPr>
          <p:cNvPr id="18" name="Rounded Rectangle 17">
            <a:hlinkClick action="ppaction://hlinksldjump" r:id="rId11"/>
          </p:cNvPr>
          <p:cNvSpPr/>
          <p:nvPr/>
        </p:nvSpPr>
        <p:spPr>
          <a:xfrm>
            <a:off x="7415783" y="2423160"/>
            <a:ext cx="6574536" cy="202539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_book_C2A3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6952" y="2606040"/>
            <a:ext cx="384048" cy="384048"/>
          </a:xfrm>
          <a:prstGeom prst="rect">
            <a:avLst/>
          </a:prstGeom>
        </p:spPr>
      </p:pic>
      <p:sp>
        <p:nvSpPr>
          <p:cNvPr id="20" name="TextBox 19">
            <a:hlinkClick action="ppaction://hlinksldjump" r:id="rId11"/>
          </p:cNvPr>
          <p:cNvSpPr txBox="1"/>
          <p:nvPr/>
        </p:nvSpPr>
        <p:spPr>
          <a:xfrm>
            <a:off x="8129015" y="2606040"/>
            <a:ext cx="568756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Quran &amp;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3255264"/>
            <a:ext cx="6135623" cy="1074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Quran reading, approved translations and recitation sources.</a:t>
            </a:r>
          </a:p>
        </p:txBody>
      </p:sp>
      <p:sp>
        <p:nvSpPr>
          <p:cNvPr id="22" name="Rounded Rectangle 21">
            <a:hlinkClick action="ppaction://hlinksldjump" r:id="rId12"/>
          </p:cNvPr>
          <p:cNvSpPr/>
          <p:nvPr/>
        </p:nvSpPr>
        <p:spPr>
          <a:xfrm>
            <a:off x="640080" y="4649724"/>
            <a:ext cx="6574536" cy="202539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heart_8DD8B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7" y="4832604"/>
            <a:ext cx="384048" cy="384048"/>
          </a:xfrm>
          <a:prstGeom prst="rect">
            <a:avLst/>
          </a:prstGeom>
        </p:spPr>
      </p:pic>
      <p:sp>
        <p:nvSpPr>
          <p:cNvPr id="24" name="TextBox 23">
            <a:hlinkClick action="ppaction://hlinksldjump" r:id="rId12"/>
          </p:cNvPr>
          <p:cNvSpPr txBox="1"/>
          <p:nvPr/>
        </p:nvSpPr>
        <p:spPr>
          <a:xfrm>
            <a:off x="1353312" y="4832604"/>
            <a:ext cx="568756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Remembrance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5481828"/>
            <a:ext cx="6135623" cy="1074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Dua, dhikr and hadith with approved religious references.</a:t>
            </a:r>
          </a:p>
        </p:txBody>
      </p:sp>
      <p:sp>
        <p:nvSpPr>
          <p:cNvPr id="26" name="Rounded Rectangle 25">
            <a:hlinkClick action="ppaction://hlinksldjump" r:id="rId13"/>
          </p:cNvPr>
          <p:cNvSpPr/>
          <p:nvPr/>
        </p:nvSpPr>
        <p:spPr>
          <a:xfrm>
            <a:off x="7415783" y="4649724"/>
            <a:ext cx="6574536" cy="202539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_moon_E8C57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6952" y="4832604"/>
            <a:ext cx="384048" cy="384048"/>
          </a:xfrm>
          <a:prstGeom prst="rect">
            <a:avLst/>
          </a:prstGeom>
        </p:spPr>
      </p:pic>
      <p:sp>
        <p:nvSpPr>
          <p:cNvPr id="28" name="TextBox 27">
            <a:hlinkClick action="ppaction://hlinksldjump" r:id="rId13"/>
          </p:cNvPr>
          <p:cNvSpPr txBox="1"/>
          <p:nvPr/>
        </p:nvSpPr>
        <p:spPr>
          <a:xfrm>
            <a:off x="8129015" y="4832604"/>
            <a:ext cx="568756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Dates &amp; guidance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5481828"/>
            <a:ext cx="6135623" cy="1074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Hijri calendar, Ramadan schedule and informational zakat estimate.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MRM approves religious references, translations, calculation methods, rights and local conventions.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ISLAMIC UTILITIES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Prayer times: local settings and controlled imports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Prayer schedules connect approved calculation conventions with location and user preferences.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PROVIDED UTILITY ADMINISTRATION + PROPOSED MOBILE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33 /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50592"/>
            <a:ext cx="6492240" cy="3639312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450592"/>
            <a:ext cx="6492240" cy="274320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2551176"/>
            <a:ext cx="64008" cy="64008"/>
          </a:xfrm>
          <a:prstGeom prst="ellipse">
            <a:avLst/>
          </a:prstGeom>
          <a:solidFill>
            <a:srgbClr val="F3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2551176"/>
            <a:ext cx="64008" cy="64008"/>
          </a:xfrm>
          <a:prstGeom prst="ellipse">
            <a:avLst/>
          </a:prstGeom>
          <a:solidFill>
            <a:srgbClr val="E6C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7552" y="2551176"/>
            <a:ext cx="64008" cy="64008"/>
          </a:xfrm>
          <a:prstGeom prst="ellipse">
            <a:avLst/>
          </a:prstGeom>
          <a:solidFill>
            <a:srgbClr val="85C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2519172"/>
            <a:ext cx="5349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800" b="0">
                <a:solidFill>
                  <a:srgbClr val="53617A"/>
                </a:solidFill>
                <a:latin typeface="DejaVu Sans"/>
              </a:defRPr>
            </a:pPr>
            <a:r>
              <a:t>MRM  /  BACKEND</a:t>
            </a:r>
          </a:p>
        </p:txBody>
      </p:sp>
      <p:pic>
        <p:nvPicPr>
          <p:cNvPr id="20" name="Picture 19" descr="10_prayer_times.png"/>
          <p:cNvPicPr>
            <a:picLocks noChangeAspect="1"/>
          </p:cNvPicPr>
          <p:nvPr/>
        </p:nvPicPr>
        <p:blipFill>
          <a:blip r:embed="rId5"/>
          <a:srcRect b="33371"/>
          <a:stretch>
            <a:fillRect/>
          </a:stretch>
        </p:blipFill>
        <p:spPr>
          <a:xfrm>
            <a:off x="640080" y="2734056"/>
            <a:ext cx="6492240" cy="33558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" y="6163056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Provided demo capture · top viewport; full capture in screenbook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2450592"/>
            <a:ext cx="6492240" cy="3639312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79" y="2450592"/>
            <a:ext cx="6492240" cy="274320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07807" y="2551176"/>
            <a:ext cx="64008" cy="64008"/>
          </a:xfrm>
          <a:prstGeom prst="ellipse">
            <a:avLst/>
          </a:prstGeom>
          <a:solidFill>
            <a:srgbClr val="F3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26679" y="2551176"/>
            <a:ext cx="64008" cy="64008"/>
          </a:xfrm>
          <a:prstGeom prst="ellipse">
            <a:avLst/>
          </a:prstGeom>
          <a:solidFill>
            <a:srgbClr val="E6C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845551" y="2551176"/>
            <a:ext cx="64008" cy="64008"/>
          </a:xfrm>
          <a:prstGeom prst="ellipse">
            <a:avLst/>
          </a:prstGeom>
          <a:solidFill>
            <a:srgbClr val="85C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2519172"/>
            <a:ext cx="5349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800" b="0">
                <a:solidFill>
                  <a:srgbClr val="53617A"/>
                </a:solidFill>
                <a:latin typeface="DejaVu Sans"/>
              </a:defRPr>
            </a:pPr>
            <a:r>
              <a:t>MRM  /  BACKEND</a:t>
            </a:r>
          </a:p>
        </p:txBody>
      </p:sp>
      <p:pic>
        <p:nvPicPr>
          <p:cNvPr id="28" name="Picture 27" descr="11_prayer_time_import.png"/>
          <p:cNvPicPr>
            <a:picLocks noChangeAspect="1"/>
          </p:cNvPicPr>
          <p:nvPr/>
        </p:nvPicPr>
        <p:blipFill>
          <a:blip r:embed="rId6"/>
          <a:srcRect b="33371"/>
          <a:stretch>
            <a:fillRect/>
          </a:stretch>
        </p:blipFill>
        <p:spPr>
          <a:xfrm>
            <a:off x="7498079" y="2734056"/>
            <a:ext cx="6492240" cy="335584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498079" y="6163056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Provided demo capture · top viewport; full capture in screenbook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419088"/>
            <a:ext cx="13167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Select area → use approved schedule / method → display prayer times → apply permitted adjustments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Import and source validation [41] → approved schedule → daily app experience [32]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ISLAMIC UTILITIES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Qibla and nearby mosques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Permission-aware direction and area discovery support practical daily use.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11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PROPOSED UTILITY FLOWS  /  MOBILE CAPTURES NOT SUPPLIED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34 /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560320"/>
            <a:ext cx="3076956" cy="246888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276148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pic>
        <p:nvPicPr>
          <p:cNvPr id="16" name="Picture 15" descr="icon_pin_62DA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7227" y="2734056"/>
            <a:ext cx="438912" cy="4389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9536" y="3392424"/>
            <a:ext cx="263804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Choose location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069079"/>
            <a:ext cx="2638044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Device permission or supported manual area input.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53611" y="3794760"/>
            <a:ext cx="274320" cy="0"/>
          </a:xfrm>
          <a:prstGeom prst="line">
            <a:avLst/>
          </a:prstGeom>
          <a:ln w="20320">
            <a:solidFill>
              <a:srgbClr val="62DA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064507" y="2560320"/>
            <a:ext cx="3076956" cy="246888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83964" y="276148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pic>
        <p:nvPicPr>
          <p:cNvPr id="22" name="Picture 21" descr="icon_moon_62DAE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655" y="2734056"/>
            <a:ext cx="438912" cy="43891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283964" y="3392424"/>
            <a:ext cx="263804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Find direction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83964" y="4069079"/>
            <a:ext cx="2638044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Qibla uses device/location capability with calibration guidance.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78039" y="3794760"/>
            <a:ext cx="274321" cy="0"/>
          </a:xfrm>
          <a:prstGeom prst="line">
            <a:avLst/>
          </a:prstGeom>
          <a:ln w="20320">
            <a:solidFill>
              <a:srgbClr val="62DA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488936" y="2560320"/>
            <a:ext cx="3076956" cy="246888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08392" y="276148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pic>
        <p:nvPicPr>
          <p:cNvPr id="28" name="Picture 27" descr="icon_globe_62DAE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6084" y="2734056"/>
            <a:ext cx="438912" cy="43891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708392" y="3392424"/>
            <a:ext cx="263804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Discover mosques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08392" y="4069079"/>
            <a:ext cx="2638044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Approved places by area; review relevant details.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602467" y="3794760"/>
            <a:ext cx="274321" cy="0"/>
          </a:xfrm>
          <a:prstGeom prst="line">
            <a:avLst/>
          </a:prstGeom>
          <a:ln w="20320">
            <a:solidFill>
              <a:srgbClr val="62DA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913363" y="2560320"/>
            <a:ext cx="3076956" cy="246888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32819" y="276148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pic>
        <p:nvPicPr>
          <p:cNvPr id="34" name="Picture 33" descr="icon_book_62DAE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40511" y="2734056"/>
            <a:ext cx="438912" cy="43891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1132819" y="3392424"/>
            <a:ext cx="263804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Continue learning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32819" y="4069079"/>
            <a:ext cx="2638044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Connect to prayer guidance and approved programmes.</a:t>
            </a:r>
          </a:p>
        </p:txBody>
      </p:sp>
      <p:sp>
        <p:nvSpPr>
          <p:cNvPr id="37" name="Rounded Rectangle 36">
            <a:hlinkClick action="ppaction://hlinksldjump" r:id="rId12"/>
          </p:cNvPr>
          <p:cNvSpPr/>
          <p:nvPr/>
        </p:nvSpPr>
        <p:spPr>
          <a:xfrm>
            <a:off x="640080" y="5440680"/>
            <a:ext cx="6583680" cy="132588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con_gear_62DAE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247" y="5623560"/>
            <a:ext cx="329184" cy="329184"/>
          </a:xfrm>
          <a:prstGeom prst="rect">
            <a:avLst/>
          </a:prstGeom>
        </p:spPr>
      </p:pic>
      <p:sp>
        <p:nvSpPr>
          <p:cNvPr id="39" name="TextBox 38">
            <a:hlinkClick action="ppaction://hlinksldjump" r:id="rId12"/>
          </p:cNvPr>
          <p:cNvSpPr txBox="1"/>
          <p:nvPr/>
        </p:nvSpPr>
        <p:spPr>
          <a:xfrm>
            <a:off x="1353312" y="5623560"/>
            <a:ext cx="56967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Clear device guidance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6080760"/>
            <a:ext cx="614476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Handle denied permissions and sensor limitations without a misleading result.</a:t>
            </a:r>
          </a:p>
        </p:txBody>
      </p:sp>
      <p:sp>
        <p:nvSpPr>
          <p:cNvPr id="41" name="Rounded Rectangle 40">
            <a:hlinkClick action="ppaction://hlinksldjump" r:id="rId13"/>
          </p:cNvPr>
          <p:cNvSpPr/>
          <p:nvPr/>
        </p:nvSpPr>
        <p:spPr>
          <a:xfrm>
            <a:off x="7406640" y="5440680"/>
            <a:ext cx="6583680" cy="132588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con_shield_E8C57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07808" y="5623560"/>
            <a:ext cx="329184" cy="329184"/>
          </a:xfrm>
          <a:prstGeom prst="rect">
            <a:avLst/>
          </a:prstGeom>
        </p:spPr>
      </p:pic>
      <p:sp>
        <p:nvSpPr>
          <p:cNvPr id="43" name="TextBox 42">
            <a:hlinkClick action="ppaction://hlinksldjump" r:id="rId13"/>
          </p:cNvPr>
          <p:cNvSpPr txBox="1"/>
          <p:nvPr/>
        </p:nvSpPr>
        <p:spPr>
          <a:xfrm>
            <a:off x="8119871" y="5623560"/>
            <a:ext cx="56967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Curated information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26096" y="6080760"/>
            <a:ext cx="614476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Confirm map provider, source accuracy and place data before release.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Location preferences [12] → prayer / Qibla / mosque discovery  •  Volunteer profiles remain separately restricted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ISLAMIC UTILITIES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Quran reading and recitation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Approved reading, translation and audio sources connect to daily learning.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PROVIDED RECITER ADMINISTRATION + PROPOSED QURAN JOURNEY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35 /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395728"/>
            <a:ext cx="8229600" cy="443484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395728"/>
            <a:ext cx="8229600" cy="274320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2496312"/>
            <a:ext cx="64008" cy="64008"/>
          </a:xfrm>
          <a:prstGeom prst="ellipse">
            <a:avLst/>
          </a:prstGeom>
          <a:solidFill>
            <a:srgbClr val="F3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2496312"/>
            <a:ext cx="64008" cy="64008"/>
          </a:xfrm>
          <a:prstGeom prst="ellipse">
            <a:avLst/>
          </a:prstGeom>
          <a:solidFill>
            <a:srgbClr val="E6C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7552" y="2496312"/>
            <a:ext cx="64008" cy="64008"/>
          </a:xfrm>
          <a:prstGeom prst="ellipse">
            <a:avLst/>
          </a:prstGeom>
          <a:solidFill>
            <a:srgbClr val="85C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2464308"/>
            <a:ext cx="7086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800" b="0">
                <a:solidFill>
                  <a:srgbClr val="53617A"/>
                </a:solidFill>
                <a:latin typeface="DejaVu Sans"/>
              </a:defRPr>
            </a:pPr>
            <a:r>
              <a:t>MRM  /  BACKEND</a:t>
            </a:r>
          </a:p>
        </p:txBody>
      </p:sp>
      <p:pic>
        <p:nvPicPr>
          <p:cNvPr id="20" name="Picture 19" descr="13_audio_reciters.png"/>
          <p:cNvPicPr>
            <a:picLocks noChangeAspect="1"/>
          </p:cNvPicPr>
          <p:nvPr/>
        </p:nvPicPr>
        <p:blipFill>
          <a:blip r:embed="rId5"/>
          <a:srcRect b="34976"/>
          <a:stretch>
            <a:fillRect/>
          </a:stretch>
        </p:blipFill>
        <p:spPr>
          <a:xfrm>
            <a:off x="640080" y="2679192"/>
            <a:ext cx="8229600" cy="41513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" y="69037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Provided demo capture · top viewport; full capture in screenbook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45059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Read &amp; understand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926080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Quran text and approved translations must be checked against selected licensed sources.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3858768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Listen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4334256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Reciter and audio administration support approved recitation delivery.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5266944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Connect to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5742432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Relevant lessons and resources deepen understanding. Mobile reader captures were not supplied.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Approved Quran sources → reading / recitation → learning resources [24]  •  Technical reciter capture indexed [49]</a:t>
            </a:r>
          </a:p>
        </p:txBody>
      </p:sp>
      <p:sp>
        <p:nvSpPr>
          <p:cNvPr id="30" name="Rounded Rectangle 29">
            <a:hlinkClick action="ppaction://hlinksldjump" r:id="rId7"/>
          </p:cNvPr>
          <p:cNvSpPr/>
          <p:nvPr/>
        </p:nvSpPr>
        <p:spPr>
          <a:xfrm>
            <a:off x="685800" y="2084831"/>
            <a:ext cx="1311249" cy="31089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>
            <a:hlinkClick action="ppaction://hlinksldjump" r:id="rId7"/>
          </p:cNvPr>
          <p:cNvSpPr txBox="1"/>
          <p:nvPr/>
        </p:nvSpPr>
        <p:spPr>
          <a:xfrm>
            <a:off x="795528" y="2130551"/>
            <a:ext cx="1091793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Learning  › 24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ISLAMIC UTILITIES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Dua: discover approved supplications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Dua content is managed by category and published from reviewed references.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PROVIDED DUA ADMINISTRATION + PROPOSED CONTENT JOURNEY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36 /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395728"/>
            <a:ext cx="8229600" cy="443484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395728"/>
            <a:ext cx="8229600" cy="274320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2496312"/>
            <a:ext cx="64008" cy="64008"/>
          </a:xfrm>
          <a:prstGeom prst="ellipse">
            <a:avLst/>
          </a:prstGeom>
          <a:solidFill>
            <a:srgbClr val="F3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2496312"/>
            <a:ext cx="64008" cy="64008"/>
          </a:xfrm>
          <a:prstGeom prst="ellipse">
            <a:avLst/>
          </a:prstGeom>
          <a:solidFill>
            <a:srgbClr val="E6C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7552" y="2496312"/>
            <a:ext cx="64008" cy="64008"/>
          </a:xfrm>
          <a:prstGeom prst="ellipse">
            <a:avLst/>
          </a:prstGeom>
          <a:solidFill>
            <a:srgbClr val="85C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2464308"/>
            <a:ext cx="7086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800" b="0">
                <a:solidFill>
                  <a:srgbClr val="53617A"/>
                </a:solidFill>
                <a:latin typeface="DejaVu Sans"/>
              </a:defRPr>
            </a:pPr>
            <a:r>
              <a:t>MRM  /  BACKEND</a:t>
            </a:r>
          </a:p>
        </p:txBody>
      </p:sp>
      <p:pic>
        <p:nvPicPr>
          <p:cNvPr id="20" name="Picture 19" descr="04_dua.png"/>
          <p:cNvPicPr>
            <a:picLocks noChangeAspect="1"/>
          </p:cNvPicPr>
          <p:nvPr/>
        </p:nvPicPr>
        <p:blipFill>
          <a:blip r:embed="rId5"/>
          <a:srcRect b="34976"/>
          <a:stretch>
            <a:fillRect/>
          </a:stretch>
        </p:blipFill>
        <p:spPr>
          <a:xfrm>
            <a:off x="640080" y="2679192"/>
            <a:ext cx="8229600" cy="41513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" y="69037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Provided demo capture · top viewport; full capture in screenbook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45059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Browse by need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926080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Categories help users find relevant supplications.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3858768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Understand the content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4334256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Use approved Arabic, translation and reference data where available in the supplied component.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5266944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Maintain accuracy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5742432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MRM reviews religious sources, edits and publication rights before use.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Content categories [41] → approved dua → daily practice  •  Learning links use approved content [24]</a:t>
            </a:r>
          </a:p>
        </p:txBody>
      </p:sp>
      <p:sp>
        <p:nvSpPr>
          <p:cNvPr id="30" name="Rounded Rectangle 29">
            <a:hlinkClick action="ppaction://hlinksldjump" r:id="rId7"/>
          </p:cNvPr>
          <p:cNvSpPr/>
          <p:nvPr/>
        </p:nvSpPr>
        <p:spPr>
          <a:xfrm>
            <a:off x="685800" y="2084831"/>
            <a:ext cx="1459382" cy="31089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>
            <a:hlinkClick action="ppaction://hlinksldjump" r:id="rId7"/>
          </p:cNvPr>
          <p:cNvSpPr txBox="1"/>
          <p:nvPr/>
        </p:nvSpPr>
        <p:spPr>
          <a:xfrm>
            <a:off x="795528" y="2130551"/>
            <a:ext cx="123992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Categories  › 41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ISLAMIC UTILITIES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Dhikr: consistent remembrance 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The content library supports clear, approved guidance for daily remembrance.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PROVIDED DHIKR ADMINISTRATION + PROPOSED CONTENT JOURNEY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37 /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395728"/>
            <a:ext cx="8229600" cy="443484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395728"/>
            <a:ext cx="8229600" cy="274320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2496312"/>
            <a:ext cx="64008" cy="64008"/>
          </a:xfrm>
          <a:prstGeom prst="ellipse">
            <a:avLst/>
          </a:prstGeom>
          <a:solidFill>
            <a:srgbClr val="F3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2496312"/>
            <a:ext cx="64008" cy="64008"/>
          </a:xfrm>
          <a:prstGeom prst="ellipse">
            <a:avLst/>
          </a:prstGeom>
          <a:solidFill>
            <a:srgbClr val="E6C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7552" y="2496312"/>
            <a:ext cx="64008" cy="64008"/>
          </a:xfrm>
          <a:prstGeom prst="ellipse">
            <a:avLst/>
          </a:prstGeom>
          <a:solidFill>
            <a:srgbClr val="85C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2464308"/>
            <a:ext cx="7086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800" b="0">
                <a:solidFill>
                  <a:srgbClr val="53617A"/>
                </a:solidFill>
                <a:latin typeface="DejaVu Sans"/>
              </a:defRPr>
            </a:pPr>
            <a:r>
              <a:t>MRM  /  BACKEND</a:t>
            </a:r>
          </a:p>
        </p:txBody>
      </p:sp>
      <p:pic>
        <p:nvPicPr>
          <p:cNvPr id="20" name="Picture 19" descr="05_dhikr.png"/>
          <p:cNvPicPr>
            <a:picLocks noChangeAspect="1"/>
          </p:cNvPicPr>
          <p:nvPr/>
        </p:nvPicPr>
        <p:blipFill>
          <a:blip r:embed="rId5"/>
          <a:srcRect b="34976"/>
          <a:stretch>
            <a:fillRect/>
          </a:stretch>
        </p:blipFill>
        <p:spPr>
          <a:xfrm>
            <a:off x="640080" y="2679192"/>
            <a:ext cx="8229600" cy="41513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" y="69037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Provided demo capture · top viewport; full capture in screenbook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45059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Find relevant dhikr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926080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Reviewed entries and categories organise remembrance content.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3858768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Use approved wording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4334256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Religious text, translation and repetition guidance require MRM approval.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5266944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Stay consistent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5742432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Template components and content governance maintain a coherent utility experience.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Approved dhikr library → daily practice → related learning [24]  •  No fabricated religious claims</a:t>
            </a:r>
          </a:p>
        </p:txBody>
      </p:sp>
      <p:sp>
        <p:nvSpPr>
          <p:cNvPr id="30" name="Rounded Rectangle 29">
            <a:hlinkClick action="ppaction://hlinksldjump" r:id="rId7"/>
          </p:cNvPr>
          <p:cNvSpPr/>
          <p:nvPr/>
        </p:nvSpPr>
        <p:spPr>
          <a:xfrm>
            <a:off x="685800" y="2084831"/>
            <a:ext cx="1459382" cy="31089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>
            <a:hlinkClick action="ppaction://hlinksldjump" r:id="rId7"/>
          </p:cNvPr>
          <p:cNvSpPr txBox="1"/>
          <p:nvPr/>
        </p:nvSpPr>
        <p:spPr>
          <a:xfrm>
            <a:off x="795528" y="2130551"/>
            <a:ext cx="123992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Governance  › 41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ISLAMIC UTILITIES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Hadith and Sifat Names: trusted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Hadith is in the proposed utility scope; the supplied template also includes Sifat Names administration.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PROVIDED TEMPLATE SCREEN + PROPOSED HADITH CAPABILITY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38 /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395728"/>
            <a:ext cx="8229600" cy="443484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395728"/>
            <a:ext cx="8229600" cy="274320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2496312"/>
            <a:ext cx="64008" cy="64008"/>
          </a:xfrm>
          <a:prstGeom prst="ellipse">
            <a:avLst/>
          </a:prstGeom>
          <a:solidFill>
            <a:srgbClr val="F3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2496312"/>
            <a:ext cx="64008" cy="64008"/>
          </a:xfrm>
          <a:prstGeom prst="ellipse">
            <a:avLst/>
          </a:prstGeom>
          <a:solidFill>
            <a:srgbClr val="E6C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7552" y="2496312"/>
            <a:ext cx="64008" cy="64008"/>
          </a:xfrm>
          <a:prstGeom prst="ellipse">
            <a:avLst/>
          </a:prstGeom>
          <a:solidFill>
            <a:srgbClr val="85C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2464308"/>
            <a:ext cx="7086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800" b="0">
                <a:solidFill>
                  <a:srgbClr val="53617A"/>
                </a:solidFill>
                <a:latin typeface="DejaVu Sans"/>
              </a:defRPr>
            </a:pPr>
            <a:r>
              <a:t>MRM  /  BACKEND</a:t>
            </a:r>
          </a:p>
        </p:txBody>
      </p:sp>
      <p:pic>
        <p:nvPicPr>
          <p:cNvPr id="20" name="Picture 19" descr="06_sifat_names.png"/>
          <p:cNvPicPr>
            <a:picLocks noChangeAspect="1"/>
          </p:cNvPicPr>
          <p:nvPr/>
        </p:nvPicPr>
        <p:blipFill>
          <a:blip r:embed="rId5"/>
          <a:srcRect b="34976"/>
          <a:stretch>
            <a:fillRect/>
          </a:stretch>
        </p:blipFill>
        <p:spPr>
          <a:xfrm>
            <a:off x="640080" y="2679192"/>
            <a:ext cx="8229600" cy="41513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" y="69037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Provided demo capture · top viewport; full capture in screenbook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45059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Hadith content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926080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Confirm approved sources, translations, licensing and the supplied component capability.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3858768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Sifat Names library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4334256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The provided administration screen shows a distinct existing template content function.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5266944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Separate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5742432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This screenshot does not demonstrate a mobile hadith reader. Each source requires review before publication.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Religious source approval → content review [41] → appropriate daily tool [32]</a:t>
            </a:r>
          </a:p>
        </p:txBody>
      </p:sp>
      <p:sp>
        <p:nvSpPr>
          <p:cNvPr id="30" name="Rounded Rectangle 29">
            <a:hlinkClick action="ppaction://hlinksldjump" r:id="rId7"/>
          </p:cNvPr>
          <p:cNvSpPr/>
          <p:nvPr/>
        </p:nvSpPr>
        <p:spPr>
          <a:xfrm>
            <a:off x="685800" y="2084831"/>
            <a:ext cx="1533448" cy="31089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>
            <a:hlinkClick action="ppaction://hlinksldjump" r:id="rId7"/>
          </p:cNvPr>
          <p:cNvSpPr txBox="1"/>
          <p:nvPr/>
        </p:nvSpPr>
        <p:spPr>
          <a:xfrm>
            <a:off x="795528" y="2130551"/>
            <a:ext cx="1313992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Utility set  › 32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ISLAMIC UTILITIES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Hijri dates and Ramadan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Approved calendar conventions and local prayer schedules connect seasonal use to daily practice.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11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PROPOSED CALENDAR FLOWS  /  MOBILE CAPTURES NOT SUPPLIED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39 /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606040"/>
            <a:ext cx="3076956" cy="246888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280720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E8C578"/>
                </a:solidFill>
                <a:latin typeface="DejaVu Sans"/>
              </a:defRPr>
            </a:pPr>
            <a:r>
              <a:t>01</a:t>
            </a:r>
          </a:p>
        </p:txBody>
      </p:sp>
      <p:pic>
        <p:nvPicPr>
          <p:cNvPr id="16" name="Picture 15" descr="icon_gear_E8C57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7227" y="2779776"/>
            <a:ext cx="438912" cy="4389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9536" y="3438144"/>
            <a:ext cx="263804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Choose convention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114800"/>
            <a:ext cx="2638044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MRM-approved Hijri and local calendar settings.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53611" y="3840480"/>
            <a:ext cx="274320" cy="0"/>
          </a:xfrm>
          <a:prstGeom prst="line">
            <a:avLst/>
          </a:prstGeom>
          <a:ln w="20320">
            <a:solidFill>
              <a:srgbClr val="E8C5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064507" y="2606040"/>
            <a:ext cx="3076956" cy="246888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83964" y="280720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E8C578"/>
                </a:solidFill>
                <a:latin typeface="DejaVu Sans"/>
              </a:defRPr>
            </a:pPr>
            <a:r>
              <a:t>02</a:t>
            </a:r>
          </a:p>
        </p:txBody>
      </p:sp>
      <p:pic>
        <p:nvPicPr>
          <p:cNvPr id="22" name="Picture 21" descr="icon_moon_E8C57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655" y="2779776"/>
            <a:ext cx="438912" cy="43891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283964" y="3438144"/>
            <a:ext cx="263804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View the 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83964" y="4114800"/>
            <a:ext cx="2638044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Clear Hijri display with applicable local adjustment.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78039" y="3840480"/>
            <a:ext cx="274321" cy="0"/>
          </a:xfrm>
          <a:prstGeom prst="line">
            <a:avLst/>
          </a:prstGeom>
          <a:ln w="20320">
            <a:solidFill>
              <a:srgbClr val="E8C5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488936" y="2606040"/>
            <a:ext cx="3076956" cy="246888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08392" y="280720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E8C578"/>
                </a:solidFill>
                <a:latin typeface="DejaVu Sans"/>
              </a:defRPr>
            </a:pPr>
            <a:r>
              <a:t>03</a:t>
            </a:r>
          </a:p>
        </p:txBody>
      </p:sp>
      <p:pic>
        <p:nvPicPr>
          <p:cNvPr id="28" name="Picture 27" descr="icon_clock_E8C57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6084" y="2779776"/>
            <a:ext cx="438912" cy="43891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708392" y="3438144"/>
            <a:ext cx="263804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Plan Ramadan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08392" y="4114800"/>
            <a:ext cx="2638044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Use approved local schedule and relevant learning.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602467" y="3840480"/>
            <a:ext cx="274321" cy="0"/>
          </a:xfrm>
          <a:prstGeom prst="line">
            <a:avLst/>
          </a:prstGeom>
          <a:ln w="20320">
            <a:solidFill>
              <a:srgbClr val="E8C5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913363" y="2606040"/>
            <a:ext cx="3076956" cy="246888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32819" y="280720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E8C578"/>
                </a:solidFill>
                <a:latin typeface="DejaVu Sans"/>
              </a:defRPr>
            </a:pPr>
            <a:r>
              <a:t>04</a:t>
            </a:r>
          </a:p>
        </p:txBody>
      </p:sp>
      <p:pic>
        <p:nvPicPr>
          <p:cNvPr id="34" name="Picture 33" descr="icon_people_E8C57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40511" y="2779776"/>
            <a:ext cx="438912" cy="43891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1132819" y="3438144"/>
            <a:ext cx="263804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Participate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32819" y="4114800"/>
            <a:ext cx="2638044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Discover MRM classes and community events.</a:t>
            </a:r>
          </a:p>
        </p:txBody>
      </p:sp>
      <p:sp>
        <p:nvSpPr>
          <p:cNvPr id="37" name="Rounded Rectangle 36">
            <a:hlinkClick action="ppaction://hlinksldjump" r:id="rId12"/>
          </p:cNvPr>
          <p:cNvSpPr/>
          <p:nvPr/>
        </p:nvSpPr>
        <p:spPr>
          <a:xfrm>
            <a:off x="640080" y="5468112"/>
            <a:ext cx="6583680" cy="1307592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con_shield_62DAE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247" y="5650992"/>
            <a:ext cx="329184" cy="329184"/>
          </a:xfrm>
          <a:prstGeom prst="rect">
            <a:avLst/>
          </a:prstGeom>
        </p:spPr>
      </p:pic>
      <p:sp>
        <p:nvSpPr>
          <p:cNvPr id="39" name="TextBox 38">
            <a:hlinkClick action="ppaction://hlinksldjump" r:id="rId12"/>
          </p:cNvPr>
          <p:cNvSpPr txBox="1"/>
          <p:nvPr/>
        </p:nvSpPr>
        <p:spPr>
          <a:xfrm>
            <a:off x="1353312" y="5650992"/>
            <a:ext cx="56967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Local accuracy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6108192"/>
            <a:ext cx="61447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Calendar and prayer-time conventions must be explicit and reviewed.</a:t>
            </a:r>
          </a:p>
        </p:txBody>
      </p:sp>
      <p:sp>
        <p:nvSpPr>
          <p:cNvPr id="41" name="Rounded Rectangle 40">
            <a:hlinkClick action="ppaction://hlinksldjump" r:id="rId13"/>
          </p:cNvPr>
          <p:cNvSpPr/>
          <p:nvPr/>
        </p:nvSpPr>
        <p:spPr>
          <a:xfrm>
            <a:off x="7406640" y="5468112"/>
            <a:ext cx="6583680" cy="1307592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con_book_C2A3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07808" y="5650992"/>
            <a:ext cx="329184" cy="329184"/>
          </a:xfrm>
          <a:prstGeom prst="rect">
            <a:avLst/>
          </a:prstGeom>
        </p:spPr>
      </p:pic>
      <p:sp>
        <p:nvSpPr>
          <p:cNvPr id="43" name="TextBox 42">
            <a:hlinkClick action="ppaction://hlinksldjump" r:id="rId13"/>
          </p:cNvPr>
          <p:cNvSpPr txBox="1"/>
          <p:nvPr/>
        </p:nvSpPr>
        <p:spPr>
          <a:xfrm>
            <a:off x="8119871" y="5650992"/>
            <a:ext cx="56967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Relevant content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26096" y="6108192"/>
            <a:ext cx="61447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Connect seasonal guidance to approved programmes and resources.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Approved calendar → Ramadan schedule → prayer settings [33] → learning/events [29]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ISLAMIC UTILITIES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Zakat estimate and payment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The utility estimate, assistance referral and existing template payment screens serve different purposes.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8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PROVIDED TEMPLATE SCREENS  /  PAYMENT CAPABILITY NOT VERIFIED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40 /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23160"/>
            <a:ext cx="6492240" cy="3639312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423160"/>
            <a:ext cx="6492240" cy="274320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2523744"/>
            <a:ext cx="64008" cy="64008"/>
          </a:xfrm>
          <a:prstGeom prst="ellipse">
            <a:avLst/>
          </a:prstGeom>
          <a:solidFill>
            <a:srgbClr val="F3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2523744"/>
            <a:ext cx="64008" cy="64008"/>
          </a:xfrm>
          <a:prstGeom prst="ellipse">
            <a:avLst/>
          </a:prstGeom>
          <a:solidFill>
            <a:srgbClr val="E6C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7552" y="2523744"/>
            <a:ext cx="64008" cy="64008"/>
          </a:xfrm>
          <a:prstGeom prst="ellipse">
            <a:avLst/>
          </a:prstGeom>
          <a:solidFill>
            <a:srgbClr val="85C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2491740"/>
            <a:ext cx="5349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800" b="0">
                <a:solidFill>
                  <a:srgbClr val="53617A"/>
                </a:solidFill>
                <a:latin typeface="DejaVu Sans"/>
              </a:defRPr>
            </a:pPr>
            <a:r>
              <a:t>MRM  /  BACKEND</a:t>
            </a:r>
          </a:p>
        </p:txBody>
      </p:sp>
      <p:pic>
        <p:nvPicPr>
          <p:cNvPr id="20" name="Picture 19" descr="08_donations.png"/>
          <p:cNvPicPr>
            <a:picLocks noChangeAspect="1"/>
          </p:cNvPicPr>
          <p:nvPr/>
        </p:nvPicPr>
        <p:blipFill>
          <a:blip r:embed="rId5"/>
          <a:srcRect b="33371"/>
          <a:stretch>
            <a:fillRect/>
          </a:stretch>
        </p:blipFill>
        <p:spPr>
          <a:xfrm>
            <a:off x="640080" y="2706624"/>
            <a:ext cx="6492240" cy="33558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" y="6135624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Provided demo capture · top viewport; full capture in screenbook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2423160"/>
            <a:ext cx="6492240" cy="3639312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79" y="2423160"/>
            <a:ext cx="6492240" cy="274320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07807" y="2523744"/>
            <a:ext cx="64008" cy="64008"/>
          </a:xfrm>
          <a:prstGeom prst="ellipse">
            <a:avLst/>
          </a:prstGeom>
          <a:solidFill>
            <a:srgbClr val="F3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26679" y="2523744"/>
            <a:ext cx="64008" cy="64008"/>
          </a:xfrm>
          <a:prstGeom prst="ellipse">
            <a:avLst/>
          </a:prstGeom>
          <a:solidFill>
            <a:srgbClr val="E6C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845551" y="2523744"/>
            <a:ext cx="64008" cy="64008"/>
          </a:xfrm>
          <a:prstGeom prst="ellipse">
            <a:avLst/>
          </a:prstGeom>
          <a:solidFill>
            <a:srgbClr val="85C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2491740"/>
            <a:ext cx="5349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800" b="0">
                <a:solidFill>
                  <a:srgbClr val="53617A"/>
                </a:solidFill>
                <a:latin typeface="DejaVu Sans"/>
              </a:defRPr>
            </a:pPr>
            <a:r>
              <a:t>MRM  /  BACKEND</a:t>
            </a:r>
          </a:p>
        </p:txBody>
      </p:sp>
      <p:pic>
        <p:nvPicPr>
          <p:cNvPr id="28" name="Picture 27" descr="09_payment_methods.png"/>
          <p:cNvPicPr>
            <a:picLocks noChangeAspect="1"/>
          </p:cNvPicPr>
          <p:nvPr/>
        </p:nvPicPr>
        <p:blipFill>
          <a:blip r:embed="rId6"/>
          <a:srcRect b="33371"/>
          <a:stretch>
            <a:fillRect/>
          </a:stretch>
        </p:blipFill>
        <p:spPr>
          <a:xfrm>
            <a:off x="7498079" y="2706624"/>
            <a:ext cx="6492240" cy="335584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498079" y="6135624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Provided demo capture · top viewport; full capture in screenbook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400800"/>
            <a:ext cx="1298448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Zakat estimate = informational guidance. Zakat referral = staff coordination. Neither proves payment collection.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Donation/payment configuration is present in the template; it is not evidence of an approved live payment flow.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ISLAMIC UTILITIES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Content governance and template library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Categories and reviewed references connect administration to reliable published utilities.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PROVIDED TEMPLATE SCREENS + PROPOSED MODERATION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41 /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23160"/>
            <a:ext cx="6492240" cy="3639312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423160"/>
            <a:ext cx="6492240" cy="274320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2523744"/>
            <a:ext cx="64008" cy="64008"/>
          </a:xfrm>
          <a:prstGeom prst="ellipse">
            <a:avLst/>
          </a:prstGeom>
          <a:solidFill>
            <a:srgbClr val="F3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2523744"/>
            <a:ext cx="64008" cy="64008"/>
          </a:xfrm>
          <a:prstGeom prst="ellipse">
            <a:avLst/>
          </a:prstGeom>
          <a:solidFill>
            <a:srgbClr val="E6C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7552" y="2523744"/>
            <a:ext cx="64008" cy="64008"/>
          </a:xfrm>
          <a:prstGeom prst="ellipse">
            <a:avLst/>
          </a:prstGeom>
          <a:solidFill>
            <a:srgbClr val="85C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2491740"/>
            <a:ext cx="5349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800" b="0">
                <a:solidFill>
                  <a:srgbClr val="53617A"/>
                </a:solidFill>
                <a:latin typeface="DejaVu Sans"/>
              </a:defRPr>
            </a:pPr>
            <a:r>
              <a:t>MRM  /  BACKEND</a:t>
            </a:r>
          </a:p>
        </p:txBody>
      </p:sp>
      <p:pic>
        <p:nvPicPr>
          <p:cNvPr id="20" name="Picture 19" descr="03_categories.png"/>
          <p:cNvPicPr>
            <a:picLocks noChangeAspect="1"/>
          </p:cNvPicPr>
          <p:nvPr/>
        </p:nvPicPr>
        <p:blipFill>
          <a:blip r:embed="rId5"/>
          <a:srcRect b="33371"/>
          <a:stretch>
            <a:fillRect/>
          </a:stretch>
        </p:blipFill>
        <p:spPr>
          <a:xfrm>
            <a:off x="640080" y="2706624"/>
            <a:ext cx="6492240" cy="33558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" y="6135624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Provided demo capture · top viewport; full capture in screenbook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2423160"/>
            <a:ext cx="6492240" cy="3639312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79" y="2423160"/>
            <a:ext cx="6492240" cy="274320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07807" y="2523744"/>
            <a:ext cx="64008" cy="64008"/>
          </a:xfrm>
          <a:prstGeom prst="ellipse">
            <a:avLst/>
          </a:prstGeom>
          <a:solidFill>
            <a:srgbClr val="F3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26679" y="2523744"/>
            <a:ext cx="64008" cy="64008"/>
          </a:xfrm>
          <a:prstGeom prst="ellipse">
            <a:avLst/>
          </a:prstGeom>
          <a:solidFill>
            <a:srgbClr val="E6C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845551" y="2523744"/>
            <a:ext cx="64008" cy="64008"/>
          </a:xfrm>
          <a:prstGeom prst="ellipse">
            <a:avLst/>
          </a:prstGeom>
          <a:solidFill>
            <a:srgbClr val="85C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2491740"/>
            <a:ext cx="5349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800" b="0">
                <a:solidFill>
                  <a:srgbClr val="53617A"/>
                </a:solidFill>
                <a:latin typeface="DejaVu Sans"/>
              </a:defRPr>
            </a:pPr>
            <a:r>
              <a:t>MRM  /  BACKEND</a:t>
            </a:r>
          </a:p>
        </p:txBody>
      </p:sp>
      <p:pic>
        <p:nvPicPr>
          <p:cNvPr id="28" name="Picture 27" descr="07_haram_codes.png"/>
          <p:cNvPicPr>
            <a:picLocks noChangeAspect="1"/>
          </p:cNvPicPr>
          <p:nvPr/>
        </p:nvPicPr>
        <p:blipFill>
          <a:blip r:embed="rId6"/>
          <a:srcRect b="33371"/>
          <a:stretch>
            <a:fillRect/>
          </a:stretch>
        </p:blipFill>
        <p:spPr>
          <a:xfrm>
            <a:off x="7498079" y="2706624"/>
            <a:ext cx="6492240" cy="335584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498079" y="6135624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Provided demo capture · top viewport; full capture in screenbook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400800"/>
            <a:ext cx="1298448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Source → rights and religious review → category → approved publication → correction / withdrawal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Haram Codes is a supplied template function; its public use and claims need explicit MRM review.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MRM OPERATIONS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MRM dashboard: a coordinated operating centre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Operational queues connect care, verification, learning and sponsorship.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PROVIDED DEMO DASHBOARDS  /  COUNTS ARE NOT PRODUCTION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42 /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23160"/>
            <a:ext cx="6492240" cy="3639312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423160"/>
            <a:ext cx="6492240" cy="274320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2523744"/>
            <a:ext cx="64008" cy="64008"/>
          </a:xfrm>
          <a:prstGeom prst="ellipse">
            <a:avLst/>
          </a:prstGeom>
          <a:solidFill>
            <a:srgbClr val="F3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2523744"/>
            <a:ext cx="64008" cy="64008"/>
          </a:xfrm>
          <a:prstGeom prst="ellipse">
            <a:avLst/>
          </a:prstGeom>
          <a:solidFill>
            <a:srgbClr val="E6C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7552" y="2523744"/>
            <a:ext cx="64008" cy="64008"/>
          </a:xfrm>
          <a:prstGeom prst="ellipse">
            <a:avLst/>
          </a:prstGeom>
          <a:solidFill>
            <a:srgbClr val="85C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2491740"/>
            <a:ext cx="5349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800" b="0">
                <a:solidFill>
                  <a:srgbClr val="53617A"/>
                </a:solidFill>
                <a:latin typeface="DejaVu Sans"/>
              </a:defRPr>
            </a:pPr>
            <a:r>
              <a:t>MRM  /  MRM ADMIN FINAL</a:t>
            </a:r>
          </a:p>
        </p:txBody>
      </p:sp>
      <p:pic>
        <p:nvPicPr>
          <p:cNvPr id="20" name="Picture 19" descr="01_mrm_dashboard.png"/>
          <p:cNvPicPr>
            <a:picLocks noChangeAspect="1"/>
          </p:cNvPicPr>
          <p:nvPr/>
        </p:nvPicPr>
        <p:blipFill>
          <a:blip r:embed="rId5"/>
          <a:srcRect b="73215"/>
          <a:stretch>
            <a:fillRect/>
          </a:stretch>
        </p:blipFill>
        <p:spPr>
          <a:xfrm>
            <a:off x="640080" y="2706624"/>
            <a:ext cx="6492240" cy="33558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" y="6135624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Provided demo capture · top viewport; full capture in screenbook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2423160"/>
            <a:ext cx="6492240" cy="3639312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79" y="2423160"/>
            <a:ext cx="6492240" cy="274320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07807" y="2523744"/>
            <a:ext cx="64008" cy="64008"/>
          </a:xfrm>
          <a:prstGeom prst="ellipse">
            <a:avLst/>
          </a:prstGeom>
          <a:solidFill>
            <a:srgbClr val="F3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26679" y="2523744"/>
            <a:ext cx="64008" cy="64008"/>
          </a:xfrm>
          <a:prstGeom prst="ellipse">
            <a:avLst/>
          </a:prstGeom>
          <a:solidFill>
            <a:srgbClr val="E6C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845551" y="2523744"/>
            <a:ext cx="64008" cy="64008"/>
          </a:xfrm>
          <a:prstGeom prst="ellipse">
            <a:avLst/>
          </a:prstGeom>
          <a:solidFill>
            <a:srgbClr val="85C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2491740"/>
            <a:ext cx="5349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800" b="0">
                <a:solidFill>
                  <a:srgbClr val="53617A"/>
                </a:solidFill>
                <a:latin typeface="DejaVu Sans"/>
              </a:defRPr>
            </a:pPr>
            <a:r>
              <a:t>MRM  /  BACKEND</a:t>
            </a:r>
          </a:p>
        </p:txBody>
      </p:sp>
      <p:pic>
        <p:nvPicPr>
          <p:cNvPr id="28" name="Picture 27" descr="02_dashboard.png"/>
          <p:cNvPicPr>
            <a:picLocks noChangeAspect="1"/>
          </p:cNvPicPr>
          <p:nvPr/>
        </p:nvPicPr>
        <p:blipFill>
          <a:blip r:embed="rId6"/>
          <a:srcRect b="33371"/>
          <a:stretch>
            <a:fillRect/>
          </a:stretch>
        </p:blipFill>
        <p:spPr>
          <a:xfrm>
            <a:off x="7498079" y="2706624"/>
            <a:ext cx="6492240" cy="335584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498079" y="6135624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Provided demo capture · top viewport; full capture in screenbook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400800"/>
            <a:ext cx="1298448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Review queues → authorised action → recorded outcome → operational reporting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Supplied dashboard figures are demo evidence. Existing setup banners must be resolved before release.</a:t>
            </a:r>
          </a:p>
        </p:txBody>
      </p:sp>
      <p:sp>
        <p:nvSpPr>
          <p:cNvPr id="33" name="Rounded Rectangle 32">
            <a:hlinkClick action="ppaction://hlinksldjump" r:id="rId8"/>
          </p:cNvPr>
          <p:cNvSpPr/>
          <p:nvPr/>
        </p:nvSpPr>
        <p:spPr>
          <a:xfrm>
            <a:off x="685800" y="2084831"/>
            <a:ext cx="1237183" cy="31089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8"/>
          </p:cNvPr>
          <p:cNvSpPr txBox="1"/>
          <p:nvPr/>
        </p:nvSpPr>
        <p:spPr>
          <a:xfrm>
            <a:off x="795528" y="2130551"/>
            <a:ext cx="101772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Reports  › 46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MRM OPERATIONS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Accounts, roles and restricted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Role and record-level permissions control who can act and which information they receive.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PROVIDED ACCOUNT ADMINISTRATION + PROPOSED ACCESS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43 /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23160"/>
            <a:ext cx="6492240" cy="3639312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423160"/>
            <a:ext cx="6492240" cy="274320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2523744"/>
            <a:ext cx="64008" cy="64008"/>
          </a:xfrm>
          <a:prstGeom prst="ellipse">
            <a:avLst/>
          </a:prstGeom>
          <a:solidFill>
            <a:srgbClr val="F3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2523744"/>
            <a:ext cx="64008" cy="64008"/>
          </a:xfrm>
          <a:prstGeom prst="ellipse">
            <a:avLst/>
          </a:prstGeom>
          <a:solidFill>
            <a:srgbClr val="E6C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7552" y="2523744"/>
            <a:ext cx="64008" cy="64008"/>
          </a:xfrm>
          <a:prstGeom prst="ellipse">
            <a:avLst/>
          </a:prstGeom>
          <a:solidFill>
            <a:srgbClr val="85C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2491740"/>
            <a:ext cx="5349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800" b="0">
                <a:solidFill>
                  <a:srgbClr val="53617A"/>
                </a:solidFill>
                <a:latin typeface="DejaVu Sans"/>
              </a:defRPr>
            </a:pPr>
            <a:r>
              <a:t>MRM  /  BACKEND</a:t>
            </a:r>
          </a:p>
        </p:txBody>
      </p:sp>
      <p:pic>
        <p:nvPicPr>
          <p:cNvPr id="20" name="Picture 19" descr="14_roles.png"/>
          <p:cNvPicPr>
            <a:picLocks noChangeAspect="1"/>
          </p:cNvPicPr>
          <p:nvPr/>
        </p:nvPicPr>
        <p:blipFill>
          <a:blip r:embed="rId5"/>
          <a:srcRect b="33371"/>
          <a:stretch>
            <a:fillRect/>
          </a:stretch>
        </p:blipFill>
        <p:spPr>
          <a:xfrm>
            <a:off x="640080" y="2706624"/>
            <a:ext cx="6492240" cy="33558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" y="6135624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Provided demo capture · top viewport; full capture in screenbook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2423160"/>
            <a:ext cx="6492240" cy="3639312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79" y="2423160"/>
            <a:ext cx="6492240" cy="274320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07807" y="2523744"/>
            <a:ext cx="64008" cy="64008"/>
          </a:xfrm>
          <a:prstGeom prst="ellipse">
            <a:avLst/>
          </a:prstGeom>
          <a:solidFill>
            <a:srgbClr val="F3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26679" y="2523744"/>
            <a:ext cx="64008" cy="64008"/>
          </a:xfrm>
          <a:prstGeom prst="ellipse">
            <a:avLst/>
          </a:prstGeom>
          <a:solidFill>
            <a:srgbClr val="E6C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845551" y="2523744"/>
            <a:ext cx="64008" cy="64008"/>
          </a:xfrm>
          <a:prstGeom prst="ellipse">
            <a:avLst/>
          </a:prstGeom>
          <a:solidFill>
            <a:srgbClr val="85C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2491740"/>
            <a:ext cx="5349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800" b="0">
                <a:solidFill>
                  <a:srgbClr val="53617A"/>
                </a:solidFill>
                <a:latin typeface="DejaVu Sans"/>
              </a:defRPr>
            </a:pPr>
            <a:r>
              <a:t>MRM  /  BACKEND</a:t>
            </a:r>
          </a:p>
        </p:txBody>
      </p:sp>
      <p:pic>
        <p:nvPicPr>
          <p:cNvPr id="28" name="Picture 27" descr="15_users.png"/>
          <p:cNvPicPr>
            <a:picLocks noChangeAspect="1"/>
          </p:cNvPicPr>
          <p:nvPr/>
        </p:nvPicPr>
        <p:blipFill>
          <a:blip r:embed="rId6"/>
          <a:srcRect b="33371"/>
          <a:stretch>
            <a:fillRect/>
          </a:stretch>
        </p:blipFill>
        <p:spPr>
          <a:xfrm>
            <a:off x="7498079" y="2706624"/>
            <a:ext cx="6492240" cy="335584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498079" y="6135624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Provided demo capture · top viewport; full capture in screenbook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400800"/>
            <a:ext cx="1298448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7F9FF"/>
                </a:solidFill>
                <a:latin typeface="DejaVu Sans"/>
              </a:defRPr>
            </a:pPr>
            <a:r>
              <a:t>Member → own records  |  Volunteer → eligible/assigned work  |  Teacher → content  |  Staff → duty-based access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Gender boundaries [16] + confidential-case rules [18] + approved role + individual record permission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MRM OPERATIONS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Configuration and administrator profiles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Settings and staff identity support consistent operation across the platform.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7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PROVIDED CONFIGURATION SCREENS + PROPOSED OPERATING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44 /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23160"/>
            <a:ext cx="6492240" cy="3639312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423160"/>
            <a:ext cx="6492240" cy="274320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2523744"/>
            <a:ext cx="64008" cy="64008"/>
          </a:xfrm>
          <a:prstGeom prst="ellipse">
            <a:avLst/>
          </a:prstGeom>
          <a:solidFill>
            <a:srgbClr val="F3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2523744"/>
            <a:ext cx="64008" cy="64008"/>
          </a:xfrm>
          <a:prstGeom prst="ellipse">
            <a:avLst/>
          </a:prstGeom>
          <a:solidFill>
            <a:srgbClr val="E6C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7552" y="2523744"/>
            <a:ext cx="64008" cy="64008"/>
          </a:xfrm>
          <a:prstGeom prst="ellipse">
            <a:avLst/>
          </a:prstGeom>
          <a:solidFill>
            <a:srgbClr val="85C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2491740"/>
            <a:ext cx="5349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800" b="0">
                <a:solidFill>
                  <a:srgbClr val="53617A"/>
                </a:solidFill>
                <a:latin typeface="DejaVu Sans"/>
              </a:defRPr>
            </a:pPr>
            <a:r>
              <a:t>MRM  /  BACKEND</a:t>
            </a:r>
          </a:p>
        </p:txBody>
      </p:sp>
      <p:pic>
        <p:nvPicPr>
          <p:cNvPr id="20" name="Picture 19" descr="16_settings.png"/>
          <p:cNvPicPr>
            <a:picLocks noChangeAspect="1"/>
          </p:cNvPicPr>
          <p:nvPr/>
        </p:nvPicPr>
        <p:blipFill>
          <a:blip r:embed="rId5"/>
          <a:srcRect b="33371"/>
          <a:stretch>
            <a:fillRect/>
          </a:stretch>
        </p:blipFill>
        <p:spPr>
          <a:xfrm>
            <a:off x="640080" y="2706624"/>
            <a:ext cx="6492240" cy="33558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" y="6135624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Provided demo capture · top viewport; full capture in screenbook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2423160"/>
            <a:ext cx="6492240" cy="3639312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79" y="2423160"/>
            <a:ext cx="6492240" cy="274320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07807" y="2523744"/>
            <a:ext cx="64008" cy="64008"/>
          </a:xfrm>
          <a:prstGeom prst="ellipse">
            <a:avLst/>
          </a:prstGeom>
          <a:solidFill>
            <a:srgbClr val="F3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26679" y="2523744"/>
            <a:ext cx="64008" cy="64008"/>
          </a:xfrm>
          <a:prstGeom prst="ellipse">
            <a:avLst/>
          </a:prstGeom>
          <a:solidFill>
            <a:srgbClr val="E6C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845551" y="2523744"/>
            <a:ext cx="64008" cy="64008"/>
          </a:xfrm>
          <a:prstGeom prst="ellipse">
            <a:avLst/>
          </a:prstGeom>
          <a:solidFill>
            <a:srgbClr val="85C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2491740"/>
            <a:ext cx="5349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800" b="0">
                <a:solidFill>
                  <a:srgbClr val="53617A"/>
                </a:solidFill>
                <a:latin typeface="DejaVu Sans"/>
              </a:defRPr>
            </a:pPr>
            <a:r>
              <a:t>MRM  /  BACKEND</a:t>
            </a:r>
          </a:p>
        </p:txBody>
      </p:sp>
      <p:pic>
        <p:nvPicPr>
          <p:cNvPr id="28" name="Picture 27" descr="17_profile.png"/>
          <p:cNvPicPr>
            <a:picLocks noChangeAspect="1"/>
          </p:cNvPicPr>
          <p:nvPr/>
        </p:nvPicPr>
        <p:blipFill>
          <a:blip r:embed="rId6"/>
          <a:srcRect b="33371"/>
          <a:stretch>
            <a:fillRect/>
          </a:stretch>
        </p:blipFill>
        <p:spPr>
          <a:xfrm>
            <a:off x="7498079" y="2706624"/>
            <a:ext cx="6492240" cy="335584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498079" y="6135624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Provided demo capture · top viewport; full capture in screenbook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400800"/>
            <a:ext cx="1298448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Approve configuration → restrict staff access → record sensitive changes → validate affected journeys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Brand assets, operational settings and staff responsibilities are configured without changing account permissions.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MRM OPERATIONS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Support, privacy and terms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Public policy pages must reflect real service boundaries and approved handling of personal information.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8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PROVIDED POLICY PLACEHOLDERS + REQUIRED CONTENT 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45 /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68880"/>
            <a:ext cx="4297680" cy="338328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468880"/>
            <a:ext cx="4297680" cy="274320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2569464"/>
            <a:ext cx="64008" cy="64008"/>
          </a:xfrm>
          <a:prstGeom prst="ellipse">
            <a:avLst/>
          </a:prstGeom>
          <a:solidFill>
            <a:srgbClr val="F3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2569464"/>
            <a:ext cx="64008" cy="64008"/>
          </a:xfrm>
          <a:prstGeom prst="ellipse">
            <a:avLst/>
          </a:prstGeom>
          <a:solidFill>
            <a:srgbClr val="E6C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7552" y="2569464"/>
            <a:ext cx="64008" cy="64008"/>
          </a:xfrm>
          <a:prstGeom prst="ellipse">
            <a:avLst/>
          </a:prstGeom>
          <a:solidFill>
            <a:srgbClr val="85C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2537460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800" b="0">
                <a:solidFill>
                  <a:srgbClr val="53617A"/>
                </a:solidFill>
                <a:latin typeface="DejaVu Sans"/>
              </a:defRPr>
            </a:pPr>
            <a:r>
              <a:t>MRM  /  BACKEND</a:t>
            </a:r>
          </a:p>
        </p:txBody>
      </p:sp>
      <p:pic>
        <p:nvPicPr>
          <p:cNvPr id="20" name="Picture 19" descr="18_support.png"/>
          <p:cNvPicPr>
            <a:picLocks noChangeAspect="1"/>
          </p:cNvPicPr>
          <p:nvPr/>
        </p:nvPicPr>
        <p:blipFill>
          <a:blip r:embed="rId5"/>
          <a:srcRect b="7026"/>
          <a:stretch>
            <a:fillRect/>
          </a:stretch>
        </p:blipFill>
        <p:spPr>
          <a:xfrm>
            <a:off x="640080" y="2752344"/>
            <a:ext cx="4297680" cy="309981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" y="5925312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Provided demo capture · top viewport; full capture in screenbook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66360" y="2468880"/>
            <a:ext cx="4297680" cy="338328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66360" y="2468880"/>
            <a:ext cx="4297680" cy="274320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76088" y="2569464"/>
            <a:ext cx="64008" cy="64008"/>
          </a:xfrm>
          <a:prstGeom prst="ellipse">
            <a:avLst/>
          </a:prstGeom>
          <a:solidFill>
            <a:srgbClr val="F3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394960" y="2569464"/>
            <a:ext cx="64008" cy="64008"/>
          </a:xfrm>
          <a:prstGeom prst="ellipse">
            <a:avLst/>
          </a:prstGeom>
          <a:solidFill>
            <a:srgbClr val="E6C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513832" y="2569464"/>
            <a:ext cx="64008" cy="64008"/>
          </a:xfrm>
          <a:prstGeom prst="ellipse">
            <a:avLst/>
          </a:prstGeom>
          <a:solidFill>
            <a:srgbClr val="85C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2537460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800" b="0">
                <a:solidFill>
                  <a:srgbClr val="53617A"/>
                </a:solidFill>
                <a:latin typeface="DejaVu Sans"/>
              </a:defRPr>
            </a:pPr>
            <a:r>
              <a:t>MRM  /  BACKEND</a:t>
            </a:r>
          </a:p>
        </p:txBody>
      </p:sp>
      <p:pic>
        <p:nvPicPr>
          <p:cNvPr id="28" name="Picture 27" descr="19_privacy_policy.png"/>
          <p:cNvPicPr>
            <a:picLocks noChangeAspect="1"/>
          </p:cNvPicPr>
          <p:nvPr/>
        </p:nvPicPr>
        <p:blipFill>
          <a:blip r:embed="rId6"/>
          <a:srcRect b="7026"/>
          <a:stretch>
            <a:fillRect/>
          </a:stretch>
        </p:blipFill>
        <p:spPr>
          <a:xfrm>
            <a:off x="5166360" y="2752344"/>
            <a:ext cx="4297680" cy="309981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166360" y="5925312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Provided demo capture · top viewport; full capture in screenbook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40" y="2468880"/>
            <a:ext cx="4297680" cy="338328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92640" y="2468880"/>
            <a:ext cx="4297680" cy="274320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802367" y="2569464"/>
            <a:ext cx="64008" cy="64008"/>
          </a:xfrm>
          <a:prstGeom prst="ellipse">
            <a:avLst/>
          </a:prstGeom>
          <a:solidFill>
            <a:srgbClr val="F3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21240" y="2569464"/>
            <a:ext cx="64008" cy="64008"/>
          </a:xfrm>
          <a:prstGeom prst="ellipse">
            <a:avLst/>
          </a:prstGeom>
          <a:solidFill>
            <a:srgbClr val="E6C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040111" y="2569464"/>
            <a:ext cx="64008" cy="64008"/>
          </a:xfrm>
          <a:prstGeom prst="ellipse">
            <a:avLst/>
          </a:prstGeom>
          <a:solidFill>
            <a:srgbClr val="85C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87000" y="2537460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800" b="0">
                <a:solidFill>
                  <a:srgbClr val="53617A"/>
                </a:solidFill>
                <a:latin typeface="DejaVu Sans"/>
              </a:defRPr>
            </a:pPr>
            <a:r>
              <a:t>MRM  /  BACKEND</a:t>
            </a:r>
          </a:p>
        </p:txBody>
      </p:sp>
      <p:pic>
        <p:nvPicPr>
          <p:cNvPr id="36" name="Picture 35" descr="20_terms.png"/>
          <p:cNvPicPr>
            <a:picLocks noChangeAspect="1"/>
          </p:cNvPicPr>
          <p:nvPr/>
        </p:nvPicPr>
        <p:blipFill>
          <a:blip r:embed="rId7"/>
          <a:srcRect b="7026"/>
          <a:stretch>
            <a:fillRect/>
          </a:stretch>
        </p:blipFill>
        <p:spPr>
          <a:xfrm>
            <a:off x="9692640" y="2752344"/>
            <a:ext cx="4297680" cy="309981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692640" y="5925312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Provided demo capture · top viewport; full capture in screenbook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6400800"/>
            <a:ext cx="1298448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7F9FF"/>
                </a:solidFill>
                <a:latin typeface="DejaVu Sans"/>
              </a:defRPr>
            </a:pPr>
            <a:r>
              <a:t>MRM supplies notices, retention decisions and support contacts; final pages replace template placeholder copy.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Privacy / consent [12] → restricted data [47]  •  Support and conduct reporting → designated MRM staff [19]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MRM OPERATIONS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Reports: understand service without exposing people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Operational reporting connects case outcomes, volunteer capacity, referrals and programme activity.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PROVIDED DEMO REPORT SCREEN + PROPOSED REPORTING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46 /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395728"/>
            <a:ext cx="8229600" cy="4434840"/>
          </a:xfrm>
          <a:prstGeom prst="roundRect">
            <a:avLst>
              <a:gd name="adj" fmla="val 12000"/>
            </a:avLst>
          </a:prstGeom>
          <a:solidFill>
            <a:srgbClr val="F3F6FB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395728"/>
            <a:ext cx="8229600" cy="274320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2496312"/>
            <a:ext cx="64008" cy="64008"/>
          </a:xfrm>
          <a:prstGeom prst="ellipse">
            <a:avLst/>
          </a:prstGeom>
          <a:solidFill>
            <a:srgbClr val="F3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2496312"/>
            <a:ext cx="64008" cy="64008"/>
          </a:xfrm>
          <a:prstGeom prst="ellipse">
            <a:avLst/>
          </a:prstGeom>
          <a:solidFill>
            <a:srgbClr val="E6C6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7552" y="2496312"/>
            <a:ext cx="64008" cy="64008"/>
          </a:xfrm>
          <a:prstGeom prst="ellipse">
            <a:avLst/>
          </a:prstGeom>
          <a:solidFill>
            <a:srgbClr val="85C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2464308"/>
            <a:ext cx="7086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800" b="0">
                <a:solidFill>
                  <a:srgbClr val="53617A"/>
                </a:solidFill>
                <a:latin typeface="DejaVu Sans"/>
              </a:defRPr>
            </a:pPr>
            <a:r>
              <a:t>MRM  /  MRM ADMIN FINAL</a:t>
            </a:r>
          </a:p>
        </p:txBody>
      </p:sp>
      <p:pic>
        <p:nvPicPr>
          <p:cNvPr id="20" name="Picture 19" descr="09_reports.png"/>
          <p:cNvPicPr>
            <a:picLocks noChangeAspect="1"/>
          </p:cNvPicPr>
          <p:nvPr/>
        </p:nvPicPr>
        <p:blipFill>
          <a:blip r:embed="rId5"/>
          <a:srcRect b="40097"/>
          <a:stretch>
            <a:fillRect/>
          </a:stretch>
        </p:blipFill>
        <p:spPr>
          <a:xfrm>
            <a:off x="640080" y="2679192"/>
            <a:ext cx="8229600" cy="41513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" y="69037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BC8DF"/>
                </a:solidFill>
                <a:latin typeface="DejaVu Sans"/>
              </a:defRPr>
            </a:pPr>
            <a:r>
              <a:t>Provided demo capture · top viewport; full capture in screenbook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45059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Service oversight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926080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Review request and referral status, open work and volunteer capacity.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3858768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Programme insights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4334256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Agreed learning participation, teacher activity and sponsor performance summaries.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5266944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Controlled export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5742432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Aggregate by default; identifiable exports require authorised duties and approved sharing.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Recorded service events → aggregated summaries → MRM action  •  Demo counts are not operational performance</a:t>
            </a:r>
          </a:p>
        </p:txBody>
      </p:sp>
      <p:sp>
        <p:nvSpPr>
          <p:cNvPr id="30" name="Rounded Rectangle 29">
            <a:hlinkClick action="ppaction://hlinksldjump" r:id="rId7"/>
          </p:cNvPr>
          <p:cNvSpPr/>
          <p:nvPr/>
        </p:nvSpPr>
        <p:spPr>
          <a:xfrm>
            <a:off x="685800" y="2084831"/>
            <a:ext cx="1311249" cy="31089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>
            <a:hlinkClick action="ppaction://hlinksldjump" r:id="rId7"/>
          </p:cNvPr>
          <p:cNvSpPr txBox="1"/>
          <p:nvPr/>
        </p:nvSpPr>
        <p:spPr>
          <a:xfrm>
            <a:off x="795528" y="2130551"/>
            <a:ext cx="1091793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Security  › 47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MRM OPERATIONS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Security is part of every connected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Permissions and data handling apply across the app, public website, administration and backend.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10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PROPOSED SECURITY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47 /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560320"/>
            <a:ext cx="3076956" cy="256032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276148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62DAE8"/>
                </a:solidFill>
                <a:latin typeface="DejaVu Sans"/>
              </a:defRPr>
            </a:pPr>
            <a:r>
              <a:t>01</a:t>
            </a:r>
          </a:p>
        </p:txBody>
      </p:sp>
      <p:pic>
        <p:nvPicPr>
          <p:cNvPr id="16" name="Picture 15" descr="icon_lock_62DA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7227" y="2734056"/>
            <a:ext cx="438912" cy="4389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9536" y="3392424"/>
            <a:ext cx="263804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Authenticate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069079"/>
            <a:ext cx="2638044" cy="9326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Verify identity and current authorised roles.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53611" y="3840479"/>
            <a:ext cx="274320" cy="0"/>
          </a:xfrm>
          <a:prstGeom prst="line">
            <a:avLst/>
          </a:prstGeom>
          <a:ln w="20320">
            <a:solidFill>
              <a:srgbClr val="62DA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064507" y="2560320"/>
            <a:ext cx="3076956" cy="256032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83964" y="276148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62DAE8"/>
                </a:solidFill>
                <a:latin typeface="DejaVu Sans"/>
              </a:defRPr>
            </a:pPr>
            <a:r>
              <a:t>02</a:t>
            </a:r>
          </a:p>
        </p:txBody>
      </p:sp>
      <p:pic>
        <p:nvPicPr>
          <p:cNvPr id="22" name="Picture 21" descr="icon_shield_62DAE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655" y="2734056"/>
            <a:ext cx="438912" cy="43891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283964" y="3392424"/>
            <a:ext cx="263804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Authorise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83964" y="4069079"/>
            <a:ext cx="2638044" cy="9326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Check role, record, gender and case sensitivity.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78039" y="3840479"/>
            <a:ext cx="274321" cy="0"/>
          </a:xfrm>
          <a:prstGeom prst="line">
            <a:avLst/>
          </a:prstGeom>
          <a:ln w="20320">
            <a:solidFill>
              <a:srgbClr val="62DA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488936" y="2560320"/>
            <a:ext cx="3076956" cy="256032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08392" y="276148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62DAE8"/>
                </a:solidFill>
                <a:latin typeface="DejaVu Sans"/>
              </a:defRPr>
            </a:pPr>
            <a:r>
              <a:t>03</a:t>
            </a:r>
          </a:p>
        </p:txBody>
      </p:sp>
      <p:pic>
        <p:nvPicPr>
          <p:cNvPr id="28" name="Picture 27" descr="icon_heart_62DAE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6084" y="2734056"/>
            <a:ext cx="438912" cy="43891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708392" y="3392424"/>
            <a:ext cx="263804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Protect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08392" y="4069079"/>
            <a:ext cx="2638044" cy="9326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Encrypted transport and restricted verification files.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602467" y="3840479"/>
            <a:ext cx="274321" cy="0"/>
          </a:xfrm>
          <a:prstGeom prst="line">
            <a:avLst/>
          </a:prstGeom>
          <a:ln w="20320">
            <a:solidFill>
              <a:srgbClr val="62DA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913363" y="2560320"/>
            <a:ext cx="3076956" cy="256032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32819" y="276148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62DAE8"/>
                </a:solidFill>
                <a:latin typeface="DejaVu Sans"/>
              </a:defRPr>
            </a:pPr>
            <a:r>
              <a:t>04</a:t>
            </a:r>
          </a:p>
        </p:txBody>
      </p:sp>
      <p:pic>
        <p:nvPicPr>
          <p:cNvPr id="34" name="Picture 33" descr="icon_chart_62DAE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40511" y="2734056"/>
            <a:ext cx="438912" cy="43891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1132819" y="3392424"/>
            <a:ext cx="263804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Record &amp; recover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32819" y="4069079"/>
            <a:ext cx="2638044" cy="9326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Audit sensitive actions; backup and retention controls.</a:t>
            </a:r>
          </a:p>
        </p:txBody>
      </p:sp>
      <p:sp>
        <p:nvSpPr>
          <p:cNvPr id="37" name="Rounded Rectangle 36">
            <a:hlinkClick action="ppaction://hlinksldjump" r:id="rId11"/>
          </p:cNvPr>
          <p:cNvSpPr/>
          <p:nvPr/>
        </p:nvSpPr>
        <p:spPr>
          <a:xfrm>
            <a:off x="640080" y="5468112"/>
            <a:ext cx="6583680" cy="1298448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con_lock_62DA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7" y="5650992"/>
            <a:ext cx="329184" cy="329184"/>
          </a:xfrm>
          <a:prstGeom prst="rect">
            <a:avLst/>
          </a:prstGeom>
        </p:spPr>
      </p:pic>
      <p:sp>
        <p:nvSpPr>
          <p:cNvPr id="39" name="TextBox 38">
            <a:hlinkClick action="ppaction://hlinksldjump" r:id="rId11"/>
          </p:cNvPr>
          <p:cNvSpPr txBox="1"/>
          <p:nvPr/>
        </p:nvSpPr>
        <p:spPr>
          <a:xfrm>
            <a:off x="1353312" y="5650992"/>
            <a:ext cx="56967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Private data paths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6108192"/>
            <a:ext cx="6144768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Identity evidence, case details and location require separate access policies.</a:t>
            </a:r>
          </a:p>
        </p:txBody>
      </p:sp>
      <p:sp>
        <p:nvSpPr>
          <p:cNvPr id="41" name="Rounded Rectangle 40">
            <a:hlinkClick action="ppaction://hlinksldjump" r:id="rId12"/>
          </p:cNvPr>
          <p:cNvSpPr/>
          <p:nvPr/>
        </p:nvSpPr>
        <p:spPr>
          <a:xfrm>
            <a:off x="7406640" y="5468112"/>
            <a:ext cx="6583680" cy="1298448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con_check_8DD8B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07808" y="5650992"/>
            <a:ext cx="329184" cy="329184"/>
          </a:xfrm>
          <a:prstGeom prst="rect">
            <a:avLst/>
          </a:prstGeom>
        </p:spPr>
      </p:pic>
      <p:sp>
        <p:nvSpPr>
          <p:cNvPr id="43" name="TextBox 42">
            <a:hlinkClick action="ppaction://hlinksldjump" r:id="rId12"/>
          </p:cNvPr>
          <p:cNvSpPr txBox="1"/>
          <p:nvPr/>
        </p:nvSpPr>
        <p:spPr>
          <a:xfrm>
            <a:off x="8119871" y="5650992"/>
            <a:ext cx="56967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Real validation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26096" y="6108192"/>
            <a:ext cx="6144768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Test direct API access, role changes, denied permissions and billing states.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Safe notifications [23]  •  Limited exports [46]  •  MRM policy + server controls + meaningful tests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DELIVERY &amp; EVIDENCE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Delivery: staged evidence over 3–4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The proposed schedule depends on required inputs, timely decisions and external service readiness.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12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INDICATIVE DELIVERY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48 /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560320"/>
            <a:ext cx="2392070" cy="260604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276148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C2A3FF"/>
                </a:solidFill>
                <a:latin typeface="DejaVu Sans"/>
              </a:defRPr>
            </a:pPr>
            <a:r>
              <a:t>01</a:t>
            </a:r>
          </a:p>
        </p:txBody>
      </p:sp>
      <p:pic>
        <p:nvPicPr>
          <p:cNvPr id="16" name="Picture 15" descr="icon_book_C2A3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2342" y="2734056"/>
            <a:ext cx="438912" cy="4389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9536" y="3392424"/>
            <a:ext cx="195315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Weeks 1–2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069079"/>
            <a:ext cx="1953158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Source audit, journeys, policy matrix and acceptance checklist.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068726" y="3863339"/>
            <a:ext cx="274320" cy="0"/>
          </a:xfrm>
          <a:prstGeom prst="line">
            <a:avLst/>
          </a:prstGeom>
          <a:ln w="20320">
            <a:solidFill>
              <a:srgbClr val="C2A3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379622" y="2560320"/>
            <a:ext cx="2392070" cy="260604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99078" y="276148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C2A3FF"/>
                </a:solidFill>
                <a:latin typeface="DejaVu Sans"/>
              </a:defRPr>
            </a:pPr>
            <a:r>
              <a:t>02</a:t>
            </a:r>
          </a:p>
        </p:txBody>
      </p:sp>
      <p:pic>
        <p:nvPicPr>
          <p:cNvPr id="22" name="Picture 21" descr="icon_gear_C2A3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1884" y="2734056"/>
            <a:ext cx="438912" cy="43891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599078" y="3392424"/>
            <a:ext cx="195315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Weeks 3–5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99078" y="4069079"/>
            <a:ext cx="1953158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Template-consistent design, foundation and roles.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808268" y="3863339"/>
            <a:ext cx="274320" cy="0"/>
          </a:xfrm>
          <a:prstGeom prst="line">
            <a:avLst/>
          </a:prstGeom>
          <a:ln w="20320">
            <a:solidFill>
              <a:srgbClr val="C2A3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119164" y="2560320"/>
            <a:ext cx="2392070" cy="260604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8620" y="276148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C2A3FF"/>
                </a:solidFill>
                <a:latin typeface="DejaVu Sans"/>
              </a:defRPr>
            </a:pPr>
            <a:r>
              <a:t>03</a:t>
            </a:r>
          </a:p>
        </p:txBody>
      </p:sp>
      <p:pic>
        <p:nvPicPr>
          <p:cNvPr id="28" name="Picture 27" descr="icon_route_C2A3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1427" y="2734056"/>
            <a:ext cx="438912" cy="43891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338620" y="3392424"/>
            <a:ext cx="195315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Weeks 6–10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8620" y="4069079"/>
            <a:ext cx="1953158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Care, volunteers, teachers, learning and subscriptions.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47811" y="3863339"/>
            <a:ext cx="274320" cy="0"/>
          </a:xfrm>
          <a:prstGeom prst="line">
            <a:avLst/>
          </a:prstGeom>
          <a:ln w="20320">
            <a:solidFill>
              <a:srgbClr val="C2A3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858707" y="2560320"/>
            <a:ext cx="2392070" cy="260604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78163" y="276148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C2A3FF"/>
                </a:solidFill>
                <a:latin typeface="DejaVu Sans"/>
              </a:defRPr>
            </a:pPr>
            <a:r>
              <a:t>04</a:t>
            </a:r>
          </a:p>
        </p:txBody>
      </p:sp>
      <p:pic>
        <p:nvPicPr>
          <p:cNvPr id="34" name="Picture 33" descr="icon_globe_C2A3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0969" y="2734056"/>
            <a:ext cx="438912" cy="43891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078163" y="3392424"/>
            <a:ext cx="195315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Weeks 11–13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78163" y="4069079"/>
            <a:ext cx="1953158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Utilities, website, sponsors, notifications and reports.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1287353" y="3863339"/>
            <a:ext cx="274320" cy="0"/>
          </a:xfrm>
          <a:prstGeom prst="line">
            <a:avLst/>
          </a:prstGeom>
          <a:ln w="20320">
            <a:solidFill>
              <a:srgbClr val="C2A3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1598249" y="2560320"/>
            <a:ext cx="2392070" cy="260604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817705" y="276148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C2A3FF"/>
                </a:solidFill>
                <a:latin typeface="DejaVu Sans"/>
              </a:defRPr>
            </a:pPr>
            <a:r>
              <a:t>05</a:t>
            </a:r>
          </a:p>
        </p:txBody>
      </p:sp>
      <p:pic>
        <p:nvPicPr>
          <p:cNvPr id="40" name="Picture 39" descr="icon_check_C2A3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40511" y="2734056"/>
            <a:ext cx="438912" cy="43891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1817705" y="3392424"/>
            <a:ext cx="195315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Weeks 14–16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17705" y="4069079"/>
            <a:ext cx="1953158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Security/device tests, UAT, training and submissions.</a:t>
            </a:r>
          </a:p>
        </p:txBody>
      </p:sp>
      <p:sp>
        <p:nvSpPr>
          <p:cNvPr id="43" name="Rounded Rectangle 42">
            <a:hlinkClick action="ppaction://hlinksldjump" r:id="rId13"/>
          </p:cNvPr>
          <p:cNvSpPr/>
          <p:nvPr/>
        </p:nvSpPr>
        <p:spPr>
          <a:xfrm>
            <a:off x="640080" y="5468112"/>
            <a:ext cx="6583680" cy="1298448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con_people_62DAE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1247" y="5650992"/>
            <a:ext cx="329184" cy="329184"/>
          </a:xfrm>
          <a:prstGeom prst="rect">
            <a:avLst/>
          </a:prstGeom>
        </p:spPr>
      </p:pic>
      <p:sp>
        <p:nvSpPr>
          <p:cNvPr id="45" name="TextBox 44">
            <a:hlinkClick action="ppaction://hlinksldjump" r:id="rId13"/>
          </p:cNvPr>
          <p:cNvSpPr txBox="1"/>
          <p:nvPr/>
        </p:nvSpPr>
        <p:spPr>
          <a:xfrm>
            <a:off x="1353312" y="5650992"/>
            <a:ext cx="56967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MRM dependencies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" y="6108192"/>
            <a:ext cx="6144768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Policies, content rights, partner contacts and client-owned accounts.</a:t>
            </a:r>
          </a:p>
        </p:txBody>
      </p:sp>
      <p:sp>
        <p:nvSpPr>
          <p:cNvPr id="47" name="Rounded Rectangle 46">
            <a:hlinkClick action="ppaction://hlinksldjump" r:id="rId13"/>
          </p:cNvPr>
          <p:cNvSpPr/>
          <p:nvPr/>
        </p:nvSpPr>
        <p:spPr>
          <a:xfrm>
            <a:off x="7406640" y="5468112"/>
            <a:ext cx="6583680" cy="1298448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con_shield_E8C57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07808" y="5650992"/>
            <a:ext cx="329184" cy="329184"/>
          </a:xfrm>
          <a:prstGeom prst="rect">
            <a:avLst/>
          </a:prstGeom>
        </p:spPr>
      </p:pic>
      <p:sp>
        <p:nvSpPr>
          <p:cNvPr id="49" name="TextBox 48">
            <a:hlinkClick action="ppaction://hlinksldjump" r:id="rId13"/>
          </p:cNvPr>
          <p:cNvSpPr txBox="1"/>
          <p:nvPr/>
        </p:nvSpPr>
        <p:spPr>
          <a:xfrm>
            <a:off x="8119871" y="5650992"/>
            <a:ext cx="56967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Release qualification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26096" y="6108192"/>
            <a:ext cx="6144768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Store submission is a milestone; approval dates remain store-controlled.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Review at each stage  •  Scope changes recorded  •  No silent removal of agreed modules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DELIVERY &amp; EVIDENCE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Screen coverage and evidence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All 38 primary captures are indexed; duplicate export variants are retained in the companion screenbook.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11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SCREENSHOT AUDIT  /  NOT AN IMPLEMENTATION CERTIFICATION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49 / 50</a:t>
            </a:r>
          </a:p>
        </p:txBody>
      </p:sp>
      <p:sp>
        <p:nvSpPr>
          <p:cNvPr id="14" name="Rounded Rectangle 13">
            <a:hlinkClick action="ppaction://hlinksldjump" r:id="rId12"/>
          </p:cNvPr>
          <p:cNvSpPr/>
          <p:nvPr/>
        </p:nvSpPr>
        <p:spPr>
          <a:xfrm>
            <a:off x="640080" y="2423160"/>
            <a:ext cx="4251960" cy="192024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_people_62DA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7" y="2606040"/>
            <a:ext cx="384048" cy="384048"/>
          </a:xfrm>
          <a:prstGeom prst="rect">
            <a:avLst/>
          </a:prstGeom>
        </p:spPr>
      </p:pic>
      <p:sp>
        <p:nvSpPr>
          <p:cNvPr id="16" name="TextBox 15">
            <a:hlinkClick action="ppaction://hlinksldjump" r:id="rId12"/>
          </p:cNvPr>
          <p:cNvSpPr txBox="1"/>
          <p:nvPr/>
        </p:nvSpPr>
        <p:spPr>
          <a:xfrm>
            <a:off x="1353312" y="2606040"/>
            <a:ext cx="336499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9 mobile captures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255264"/>
            <a:ext cx="3813048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Home, services, activity, account and entry states. Some filenames do not match the captured screen.</a:t>
            </a:r>
          </a:p>
        </p:txBody>
      </p:sp>
      <p:sp>
        <p:nvSpPr>
          <p:cNvPr id="18" name="Rounded Rectangle 17">
            <a:hlinkClick action="ppaction://hlinksldjump" r:id="rId13"/>
          </p:cNvPr>
          <p:cNvSpPr/>
          <p:nvPr/>
        </p:nvSpPr>
        <p:spPr>
          <a:xfrm>
            <a:off x="5184648" y="2423160"/>
            <a:ext cx="4251960" cy="192024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_gear_C2A3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5816" y="2606040"/>
            <a:ext cx="384048" cy="384048"/>
          </a:xfrm>
          <a:prstGeom prst="rect">
            <a:avLst/>
          </a:prstGeom>
        </p:spPr>
      </p:pic>
      <p:sp>
        <p:nvSpPr>
          <p:cNvPr id="20" name="TextBox 19">
            <a:hlinkClick action="ppaction://hlinksldjump" r:id="rId13"/>
          </p:cNvPr>
          <p:cNvSpPr txBox="1"/>
          <p:nvPr/>
        </p:nvSpPr>
        <p:spPr>
          <a:xfrm>
            <a:off x="5897880" y="2606040"/>
            <a:ext cx="336499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20 backend captures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4104" y="3255264"/>
            <a:ext cx="3813048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Content, prayer, accounts, settings, policies and template payment configuration.</a:t>
            </a:r>
          </a:p>
        </p:txBody>
      </p:sp>
      <p:sp>
        <p:nvSpPr>
          <p:cNvPr id="22" name="Rounded Rectangle 21">
            <a:hlinkClick action="ppaction://hlinksldjump" r:id="rId14"/>
          </p:cNvPr>
          <p:cNvSpPr/>
          <p:nvPr/>
        </p:nvSpPr>
        <p:spPr>
          <a:xfrm>
            <a:off x="9738360" y="2423160"/>
            <a:ext cx="4251960" cy="1920240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shield_8DD8B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2606040"/>
            <a:ext cx="384048" cy="384048"/>
          </a:xfrm>
          <a:prstGeom prst="rect">
            <a:avLst/>
          </a:prstGeom>
        </p:spPr>
      </p:pic>
      <p:sp>
        <p:nvSpPr>
          <p:cNvPr id="24" name="TextBox 23">
            <a:hlinkClick action="ppaction://hlinksldjump" r:id="rId14"/>
          </p:cNvPr>
          <p:cNvSpPr txBox="1"/>
          <p:nvPr/>
        </p:nvSpPr>
        <p:spPr>
          <a:xfrm>
            <a:off x="10451592" y="2606040"/>
            <a:ext cx="336499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9 MRM final captures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57816" y="3255264"/>
            <a:ext cx="3813048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Cases, verification, assignments, learning, referrals, sponsors, alerts and reports. Demo records.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700016"/>
            <a:ext cx="128930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F7F9FF"/>
                </a:solidFill>
                <a:latin typeface="DejaVu Sans"/>
              </a:defRPr>
            </a:pPr>
            <a:r>
              <a:t>Captures requiring replacement or a fresh functional demonstration</a:t>
            </a:r>
          </a:p>
        </p:txBody>
      </p:sp>
      <p:pic>
        <p:nvPicPr>
          <p:cNvPr id="27" name="Picture 26" descr="07_volunte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5321808"/>
            <a:ext cx="514350" cy="1143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437894" y="5358384"/>
            <a:ext cx="345414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E8C578"/>
                </a:solidFill>
                <a:latin typeface="DejaVu Sans"/>
              </a:defRPr>
            </a:pPr>
            <a:r>
              <a:t>Volunteer filename → Gmail</a:t>
            </a:r>
          </a:p>
        </p:txBody>
      </p:sp>
      <p:pic>
        <p:nvPicPr>
          <p:cNvPr id="29" name="Picture 28" descr="08_assignments_or_learnin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3520" y="5321808"/>
            <a:ext cx="514350" cy="1143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964174" y="5358384"/>
            <a:ext cx="345414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E8C578"/>
                </a:solidFill>
                <a:latin typeface="DejaVu Sans"/>
              </a:defRPr>
            </a:pPr>
            <a:r>
              <a:t>Assignment/learning → blank state</a:t>
            </a:r>
          </a:p>
        </p:txBody>
      </p:sp>
      <p:pic>
        <p:nvPicPr>
          <p:cNvPr id="31" name="Picture 30" descr="12_reciter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29800" y="5321808"/>
            <a:ext cx="1473346" cy="11430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449450" y="5358384"/>
            <a:ext cx="2495149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E8C578"/>
                </a:solidFill>
                <a:latin typeface="DejaVu Sans"/>
              </a:defRPr>
            </a:pPr>
            <a:r>
              <a:t>Reciters → raw API response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Missing mobile detail views are described as proposed flows; the deck does not fabricate completed screens.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DELIVERY &amp; EVIDENCE  /  MRM DIGITAL COMMUNITY PLATFORM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50976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7F9FF"/>
                </a:solidFill>
                <a:latin typeface="DejaVu Sans"/>
              </a:defRPr>
            </a:pPr>
            <a:r>
              <a:t>Acceptance, handover and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BC8DF"/>
                </a:solidFill>
                <a:latin typeface="DejaVu Sans"/>
              </a:defRPr>
            </a:pPr>
            <a:r>
              <a:t>Confirm the detailed specification, validate the real journeys and release through MRM-owned accounts.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10"/>
          </p:cNvPr>
          <p:cNvSpPr txBox="1"/>
          <p:nvPr/>
        </p:nvSpPr>
        <p:spPr>
          <a:xfrm>
            <a:off x="640080" y="77541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7754112"/>
            <a:ext cx="82296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PROPOSED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0" y="77083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50 / 50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640080" y="2423160"/>
            <a:ext cx="6574536" cy="202539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_book_62DA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7" y="2606040"/>
            <a:ext cx="384048" cy="384048"/>
          </a:xfrm>
          <a:prstGeom prst="rect">
            <a:avLst/>
          </a:prstGeom>
        </p:spPr>
      </p:pic>
      <p:sp>
        <p:nvSpPr>
          <p:cNvPr id="16" name="TextBox 15">
            <a:hlinkClick action="ppaction://hlinksldjump" r:id="rId11"/>
          </p:cNvPr>
          <p:cNvSpPr txBox="1"/>
          <p:nvPr/>
        </p:nvSpPr>
        <p:spPr>
          <a:xfrm>
            <a:off x="1353312" y="2606040"/>
            <a:ext cx="568756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Confirm the specification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255264"/>
            <a:ext cx="6135623" cy="1074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Final naming, permissions, plans, content sources, capacity and partner handoff. Preserve Zabi’s visual patterns.</a:t>
            </a:r>
          </a:p>
        </p:txBody>
      </p:sp>
      <p:sp>
        <p:nvSpPr>
          <p:cNvPr id="18" name="Rounded Rectangle 17">
            <a:hlinkClick action="ppaction://hlinksldjump" r:id="rId12"/>
          </p:cNvPr>
          <p:cNvSpPr/>
          <p:nvPr/>
        </p:nvSpPr>
        <p:spPr>
          <a:xfrm>
            <a:off x="7415783" y="2423160"/>
            <a:ext cx="6574536" cy="202539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_check_8DD8B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6952" y="2606040"/>
            <a:ext cx="384048" cy="384048"/>
          </a:xfrm>
          <a:prstGeom prst="rect">
            <a:avLst/>
          </a:prstGeom>
        </p:spPr>
      </p:pic>
      <p:sp>
        <p:nvSpPr>
          <p:cNvPr id="20" name="TextBox 19">
            <a:hlinkClick action="ppaction://hlinksldjump" r:id="rId12"/>
          </p:cNvPr>
          <p:cNvSpPr txBox="1"/>
          <p:nvPr/>
        </p:nvSpPr>
        <p:spPr>
          <a:xfrm>
            <a:off x="8129015" y="2606040"/>
            <a:ext cx="568756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Verify complete journeys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3255264"/>
            <a:ext cx="6135623" cy="1074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Requests, verification, restricted cases, referrals, learning, subscriptions and sponsor expiry.</a:t>
            </a:r>
          </a:p>
        </p:txBody>
      </p:sp>
      <p:sp>
        <p:nvSpPr>
          <p:cNvPr id="22" name="Rounded Rectangle 21">
            <a:hlinkClick action="ppaction://hlinksldjump" r:id="rId13"/>
          </p:cNvPr>
          <p:cNvSpPr/>
          <p:nvPr/>
        </p:nvSpPr>
        <p:spPr>
          <a:xfrm>
            <a:off x="640080" y="4649724"/>
            <a:ext cx="6574536" cy="202539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people_C2A3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7" y="4832604"/>
            <a:ext cx="384048" cy="384048"/>
          </a:xfrm>
          <a:prstGeom prst="rect">
            <a:avLst/>
          </a:prstGeom>
        </p:spPr>
      </p:pic>
      <p:sp>
        <p:nvSpPr>
          <p:cNvPr id="24" name="TextBox 23">
            <a:hlinkClick action="ppaction://hlinksldjump" r:id="rId13"/>
          </p:cNvPr>
          <p:cNvSpPr txBox="1"/>
          <p:nvPr/>
        </p:nvSpPr>
        <p:spPr>
          <a:xfrm>
            <a:off x="1353312" y="4832604"/>
            <a:ext cx="568756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Handover to MRM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5481828"/>
            <a:ext cx="6135623" cy="1074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Operating guide, staff training, deployment notes and acceptance checklist. Critical defects resolved before release.</a:t>
            </a:r>
          </a:p>
        </p:txBody>
      </p:sp>
      <p:sp>
        <p:nvSpPr>
          <p:cNvPr id="26" name="Rounded Rectangle 25">
            <a:hlinkClick action="ppaction://hlinksldjump" r:id="rId13"/>
          </p:cNvPr>
          <p:cNvSpPr/>
          <p:nvPr/>
        </p:nvSpPr>
        <p:spPr>
          <a:xfrm>
            <a:off x="7415783" y="4649724"/>
            <a:ext cx="6574536" cy="202539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_shield_E8C57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6952" y="4832604"/>
            <a:ext cx="384048" cy="384048"/>
          </a:xfrm>
          <a:prstGeom prst="rect">
            <a:avLst/>
          </a:prstGeom>
        </p:spPr>
      </p:pic>
      <p:sp>
        <p:nvSpPr>
          <p:cNvPr id="28" name="TextBox 27">
            <a:hlinkClick action="ppaction://hlinksldjump" r:id="rId13"/>
          </p:cNvPr>
          <p:cNvSpPr txBox="1"/>
          <p:nvPr/>
        </p:nvSpPr>
        <p:spPr>
          <a:xfrm>
            <a:off x="8129015" y="4832604"/>
            <a:ext cx="568756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7F9FF"/>
                </a:solidFill>
                <a:latin typeface="DejaVu Sans"/>
              </a:defRPr>
            </a:pPr>
            <a:r>
              <a:t>Prepare client-owned releases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5481828"/>
            <a:ext cx="6135623" cy="1074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BC8DF"/>
                </a:solidFill>
                <a:latin typeface="DejaVu Sans"/>
              </a:defRPr>
            </a:pPr>
            <a:r>
              <a:t>Android/iOS submissions, applicable store billing and account readiness. Proposal includes 30-day stabilisation.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7104888"/>
            <a:ext cx="13350240" cy="356616"/>
          </a:xfrm>
          <a:prstGeom prst="roundRect">
            <a:avLst>
              <a:gd name="adj" fmla="val 12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7178040"/>
            <a:ext cx="1289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DAE8"/>
                </a:solidFill>
                <a:latin typeface="DejaVu Sans"/>
              </a:defRPr>
            </a:pPr>
            <a:r>
              <a:t>Next step: detailed requirements and source audit → staged implementation → evidence-based acceptance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