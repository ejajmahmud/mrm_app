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"entry",</a:t>
            </a:r>
          </a:p>
          <a:p>
            <a:r>
              <a:t>  "owner": "MRM + Zylax",</a:t>
            </a:r>
          </a:p>
          <a:p>
            <a:r>
              <a:t>  "scope": "Observed entry screens \u00b7 proposed routing",</a:t>
            </a:r>
          </a:p>
          <a:p>
            <a:r>
              <a:t>  "why": "Clear entry paths turn public interest into learning, participation or a safe request for help.",</a:t>
            </a:r>
          </a:p>
          <a:p>
            <a:r>
              <a:t>  "measure": "Guest-to-service progression; onboarding completion",</a:t>
            </a:r>
          </a:p>
          <a:p>
            <a:r>
              <a:t>  "decision": "Screens retain revert-focused wording; platform positioning remains for all Muslims.",</a:t>
            </a:r>
          </a:p>
          <a:p>
            <a:r>
              <a:t>  "screen_evidence": [</a:t>
            </a:r>
          </a:p>
          <a:p>
            <a:r>
              <a:t>    "Onboarding \u00b7 care pillar",</a:t>
            </a:r>
          </a:p>
          <a:p>
            <a:r>
              <a:t>    "Welcome and guest entry"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"Public website",</a:t>
            </a:r>
          </a:p>
          <a:p>
            <a:r>
              <a:t>      "introduces",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"opens",</a:t>
            </a:r>
          </a:p>
          <a:p>
            <a:r>
              <a:t>      "Guest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"Language preference",</a:t>
            </a:r>
          </a:p>
          <a:p>
            <a:r>
              <a:t>      "localises",</a:t>
            </a:r>
          </a:p>
          <a:p>
            <a:r>
              <a:t>      "Welcome &amp; onboarding"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"Welcome &amp; onboarding",</a:t>
            </a:r>
          </a:p>
          <a:p>
            <a:r>
              <a:t>      "invites",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"routes",</a:t>
            </a:r>
          </a:p>
          <a:p>
            <a:r>
              <a:t>      "Role application"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"registration",</a:t>
            </a:r>
          </a:p>
          <a:p>
            <a:r>
              <a:t>  "owner": "MRM + Zylax",</a:t>
            </a:r>
          </a:p>
          <a:p>
            <a:r>
              <a:t>  "scope": "Observed participation-track form \u00b7 approval flow proposed",</a:t>
            </a:r>
          </a:p>
          <a:p>
            <a:r>
              <a:t>  "why": "A single identity supports several authorised roles without duplicating accounts or exposing private records.",</a:t>
            </a:r>
          </a:p>
          <a:p>
            <a:r>
              <a:t>  "measure": "Registration completion; consent capture; duplicate-account handling",</a:t>
            </a:r>
          </a:p>
          <a:p>
            <a:r>
              <a:t>  "decision": "Selecting a track is an application, not instant verified access.",</a:t>
            </a:r>
          </a:p>
          <a:p>
            <a:r>
              <a:t>  "screen_evidence": [</a:t>
            </a:r>
          </a:p>
          <a:p>
            <a:r>
              <a:t>    "Registration \u00b7 participation tracks"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"Welcome / guest route",</a:t>
            </a:r>
          </a:p>
          <a:p>
            <a:r>
              <a:t>      "starts",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"Terms &amp; privacy consent",</a:t>
            </a:r>
          </a:p>
          <a:p>
            <a:r>
              <a:t>      "requires",</a:t>
            </a:r>
          </a:p>
          <a:p>
            <a:r>
              <a:t>      "Account registration"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"creates",</a:t>
            </a:r>
          </a:p>
          <a:p>
            <a:r>
              <a:t>      "Account &amp;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registration",</a:t>
            </a:r>
          </a:p>
          <a:p>
            <a:r>
              <a:t>      "enables",</a:t>
            </a:r>
          </a:p>
          <a:p>
            <a:r>
              <a:t>      "Role application"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application",</a:t>
            </a:r>
          </a:p>
          <a:p>
            <a:r>
              <a:t>      "reviews",</a:t>
            </a:r>
          </a:p>
          <a:p>
            <a:r>
              <a:t>      "MRM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verification",</a:t>
            </a:r>
          </a:p>
          <a:p>
            <a:r>
              <a:t>      "updates",</a:t>
            </a:r>
          </a:p>
          <a:p>
            <a:r>
              <a:t>      "Account &amp; profile"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"authentication",</a:t>
            </a:r>
          </a:p>
          <a:p>
            <a:r>
              <a:t>  "owner": "MRM + Zylax",</a:t>
            </a:r>
          </a:p>
          <a:p>
            <a:r>
              <a:t>  "scope": "Observed sign-in UI \u00b7 Face ID not independently verified",</a:t>
            </a:r>
          </a:p>
          <a:p>
            <a:r>
              <a:t>  "why": "Secure recovery and session checks preserve access to ongoing cases and learning without weakening permissions.",</a:t>
            </a:r>
          </a:p>
          <a:p>
            <a:r>
              <a:t>  "measure": "Successful recovery; session expiry; denied-access tests",</a:t>
            </a:r>
          </a:p>
          <a:p>
            <a:r>
              <a:t>  "decision": "",</a:t>
            </a:r>
          </a:p>
          <a:p>
            <a:r>
              <a:t>  "screen_evidence": [</a:t>
            </a:r>
          </a:p>
          <a:p>
            <a:r>
              <a:t>    "Sign-in form"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"Registered identity",</a:t>
            </a:r>
          </a:p>
          <a:p>
            <a:r>
              <a:t>      "identifies",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"Recovery / device checks",</a:t>
            </a:r>
          </a:p>
          <a:p>
            <a:r>
              <a:t>      "restores",</a:t>
            </a:r>
          </a:p>
          <a:p>
            <a:r>
              <a:t>      "Sign-in &amp;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"opens",</a:t>
            </a:r>
          </a:p>
          <a:p>
            <a:r>
              <a:t>      "Role-aware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"Sign-in &amp; recovery",</a:t>
            </a:r>
          </a:p>
          <a:p>
            <a:r>
              <a:t>      "creates",</a:t>
            </a:r>
          </a:p>
          <a:p>
            <a:r>
              <a:t>      "Authenticated session"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"Authenticated session",</a:t>
            </a:r>
          </a:p>
          <a:p>
            <a:r>
              <a:t>      "checks",</a:t>
            </a:r>
          </a:p>
          <a:p>
            <a:r>
              <a:t>      "Record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workspace",</a:t>
            </a:r>
          </a:p>
          <a:p>
            <a:r>
              <a:t>      "requests",</a:t>
            </a:r>
          </a:p>
          <a:p>
            <a:r>
              <a:t>      "Record authorisation"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"roles",</a:t>
            </a:r>
          </a:p>
          <a:p>
            <a:r>
              <a:t>  "owner": "MRM + Zylax",</a:t>
            </a:r>
          </a:p>
          <a:p>
            <a:r>
              <a:t>  "scope": "Observed profile and role-picker modal \u00b7 server permissions unverified",</a:t>
            </a:r>
          </a:p>
          <a:p>
            <a:r>
              <a:t>  "why": "Role approval controls service access; changing the visible persona must never grant new privileges.",</a:t>
            </a:r>
          </a:p>
          <a:p>
            <a:r>
              <a:t>  "measure": "Correct role activation; revoked-access and profile-change tests",</a:t>
            </a:r>
          </a:p>
          <a:p>
            <a:r>
              <a:t>  "decision": "The demo\u2019s clearance labels and profile statistics are illustrative, not verified credentials.",</a:t>
            </a:r>
          </a:p>
          <a:p>
            <a:r>
              <a:t>  "screen_evidence": [</a:t>
            </a:r>
          </a:p>
          <a:p>
            <a:r>
              <a:t>    "Profile / role summary",</a:t>
            </a:r>
          </a:p>
          <a:p>
            <a:r>
              <a:t>    "Role-picker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"Account identity",</a:t>
            </a:r>
          </a:p>
          <a:p>
            <a:r>
              <a:t>      "binds",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"Verification decisions",</a:t>
            </a:r>
          </a:p>
          <a:p>
            <a:r>
              <a:t>      "approves",</a:t>
            </a:r>
          </a:p>
          <a:p>
            <a:r>
              <a:t>      "Approved role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"selects",</a:t>
            </a:r>
          </a:p>
          <a:p>
            <a:r>
              <a:t>      "Relevant workspace"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record",</a:t>
            </a:r>
          </a:p>
          <a:p>
            <a:r>
              <a:t>      "constrains",</a:t>
            </a:r>
          </a:p>
          <a:p>
            <a:r>
              <a:t>      "Visibility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rules",</a:t>
            </a:r>
          </a:p>
          <a:p>
            <a:r>
              <a:t>      "filters",</a:t>
            </a:r>
          </a:p>
          <a:p>
            <a:r>
              <a:t>      "Permitted case / content"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workspace",</a:t>
            </a:r>
          </a:p>
          <a:p>
            <a:r>
              <a:t>      "requests",</a:t>
            </a:r>
          </a:p>
          <a:p>
            <a:r>
              <a:t>      "Permitted case / content"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"home",</a:t>
            </a:r>
          </a:p>
          <a:p>
            <a:r>
              <a:t>  "owner": "MRM + Zylax",</a:t>
            </a:r>
          </a:p>
          <a:p>
            <a:r>
              <a:t>  "scope": "Observed Admin Ops and Member home states \u00b7 role differences shown",</a:t>
            </a:r>
          </a:p>
          <a:p>
            <a:r>
              <a:t>  "why": "A relevant home screen helps people move from routine practice into learning or contribution without navigating separate systems.",</a:t>
            </a:r>
          </a:p>
          <a:p>
            <a:r>
              <a:t>  "measure": "Entry-point use; task completion by authorised role",</a:t>
            </a:r>
          </a:p>
          <a:p>
            <a:r>
              <a:t>  "decision": "Shown figures, response targets and audit claims are demo content.",</a:t>
            </a:r>
          </a:p>
          <a:p>
            <a:r>
              <a:t>  "screen_evidence": [</a:t>
            </a:r>
          </a:p>
          <a:p>
            <a:r>
              <a:t>    "Admin Ops Home",</a:t>
            </a:r>
          </a:p>
          <a:p>
            <a:r>
              <a:t>    "Member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&amp; preferences",</a:t>
            </a:r>
          </a:p>
          <a:p>
            <a:r>
              <a:t>      "configures",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"controls",</a:t>
            </a:r>
          </a:p>
          <a:p>
            <a:r>
              <a:t>      "Role-aware home"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"opens",</a:t>
            </a:r>
          </a:p>
          <a:p>
            <a:r>
              <a:t>      "Daily Islamic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"Role-aware home",</a:t>
            </a:r>
          </a:p>
          <a:p>
            <a:r>
              <a:t>      "routes",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role / access",</a:t>
            </a:r>
          </a:p>
          <a:p>
            <a:r>
              <a:t>      "limits",</a:t>
            </a:r>
          </a:p>
          <a:p>
            <a:r>
              <a:t>      "Service entry points"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entry points",</a:t>
            </a:r>
          </a:p>
          <a:p>
            <a:r>
              <a:t>      "continues",</a:t>
            </a:r>
          </a:p>
          <a:p>
            <a:r>
              <a:t>      "Assigned work / programme"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"search",</a:t>
            </a:r>
          </a:p>
          <a:p>
            <a:r>
              <a:t>  "owner": "MRM + Zylax",</a:t>
            </a:r>
          </a:p>
          <a:p>
            <a:r>
              <a:t>  "scope": "Observed utility / mosque search \u00b7 programme links proposed",</a:t>
            </a:r>
          </a:p>
          <a:p>
            <a:r>
              <a:t>  "why": "One search route can help a user find relevant learning, a mosque or support while respecting private-profile restrictions.",</a:t>
            </a:r>
          </a:p>
          <a:p>
            <a:r>
              <a:t>  "measure": "Relevant-result selection; zero-result recovery; visibility tests",</a:t>
            </a:r>
          </a:p>
          <a:p>
            <a:r>
              <a:t>  "decision": "A public result is not evidence of approved volunteer-map access.",</a:t>
            </a:r>
          </a:p>
          <a:p>
            <a:r>
              <a:t>  "screen_evidence": [</a:t>
            </a:r>
          </a:p>
          <a:p>
            <a:r>
              <a:t>    "Search: utilities and local places"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need / query",</a:t>
            </a:r>
          </a:p>
          <a:p>
            <a:r>
              <a:t>      "queries",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/ moderation",</a:t>
            </a:r>
          </a:p>
          <a:p>
            <a:r>
              <a:t>      "filters",</a:t>
            </a:r>
          </a:p>
          <a:p>
            <a:r>
              <a:t>      "Search &amp;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"returns",</a:t>
            </a:r>
          </a:p>
          <a:p>
            <a:r>
              <a:t>      "Approved public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 results",</a:t>
            </a:r>
          </a:p>
          <a:p>
            <a:r>
              <a:t>      "opens",</a:t>
            </a:r>
          </a:p>
          <a:p>
            <a:r>
              <a:t>      "Registration /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"Search &amp; discovery",</a:t>
            </a:r>
          </a:p>
          <a:p>
            <a:r>
              <a:t>      "selects",</a:t>
            </a:r>
          </a:p>
          <a:p>
            <a:r>
              <a:t>      "Programme / service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service detail",</a:t>
            </a:r>
          </a:p>
          <a:p>
            <a:r>
              <a:t>      "continues",</a:t>
            </a:r>
          </a:p>
          <a:p>
            <a:r>
              <a:t>      "Registration / request"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"prayer",</a:t>
            </a:r>
          </a:p>
          <a:p>
            <a:r>
              <a:t>  "owner": "MRM content lead + Zylax",</a:t>
            </a:r>
          </a:p>
          <a:p>
            <a:r>
              <a:t>  "scope": "Observed Waqt, fasting and prayer-window interface",</a:t>
            </a:r>
          </a:p>
          <a:p>
            <a:r>
              <a:t>  "why": "Consistent local settings make daily practice useful and prevent conflicting times across the app.",</a:t>
            </a:r>
          </a:p>
          <a:p>
            <a:r>
              <a:t>  "measure": "Source accuracy; denied-location fallback; reminder accuracy",</a:t>
            </a:r>
          </a:p>
          <a:p>
            <a:r>
              <a:t>  "decision": "Source and local conventions need approval. \u201cJAKIM / global synced\u201d labels do not establish verified API connectivity.",</a:t>
            </a:r>
          </a:p>
          <a:p>
            <a:r>
              <a:t>  "screen_evidence": [</a:t>
            </a:r>
          </a:p>
          <a:p>
            <a:r>
              <a:t>    "Waqt, fasting and prayer windows"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preference",</a:t>
            </a:r>
          </a:p>
          <a:p>
            <a:r>
              <a:t>      "selects",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"Calculation / local policy",</a:t>
            </a:r>
          </a:p>
          <a:p>
            <a:r>
              <a:t>      "validates",</a:t>
            </a:r>
          </a:p>
          <a:p>
            <a:r>
              <a:t>      "Approved prayer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"feeds",</a:t>
            </a:r>
          </a:p>
          <a:p>
            <a:r>
              <a:t>      "Daily prayer display"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"schedules",</a:t>
            </a:r>
          </a:p>
          <a:p>
            <a:r>
              <a:t>      "Prayer reminder scheduling"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schedule",</a:t>
            </a:r>
          </a:p>
          <a:p>
            <a:r>
              <a:t>      "aligns",</a:t>
            </a:r>
          </a:p>
          <a:p>
            <a:r>
              <a:t>      "Ramadan timetable"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"tracker",</a:t>
            </a:r>
          </a:p>
          <a:p>
            <a:r>
              <a:t>  "owner": "MRM + Zylax",</a:t>
            </a:r>
          </a:p>
          <a:p>
            <a:r>
              <a:t>  "scope": "Observed private check-in, sunnah and Qaza-counter UI",</a:t>
            </a:r>
          </a:p>
          <a:p>
            <a:r>
              <a:t>  "why": "A private log supports consistency without exposing personal worship or turning it into a public ranking.",</a:t>
            </a:r>
          </a:p>
          <a:p>
            <a:r>
              <a:t>  "measure": "Log persistence; private visibility; daily reset and correction",</a:t>
            </a:r>
          </a:p>
          <a:p>
            <a:r>
              <a:t>  "decision": "Prototype percentages and counts are sample state; persistence and religious rules need verification.",</a:t>
            </a:r>
          </a:p>
          <a:p>
            <a:r>
              <a:t>  "screen_evidence": [</a:t>
            </a:r>
          </a:p>
          <a:p>
            <a:r>
              <a:t>    "Private Salah / Qaza tracker"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"Daily prayer schedule",</a:t>
            </a:r>
          </a:p>
          <a:p>
            <a:r>
              <a:t>      "context",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user control",</a:t>
            </a:r>
          </a:p>
          <a:p>
            <a:r>
              <a:t>      "protects",</a:t>
            </a:r>
          </a:p>
          <a:p>
            <a:r>
              <a:t>      "Private Salah tracker"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"records",</a:t>
            </a:r>
          </a:p>
          <a:p>
            <a:r>
              <a:t>      "Personal practice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Salah tracker",</a:t>
            </a:r>
          </a:p>
          <a:p>
            <a:r>
              <a:t>      "links",</a:t>
            </a:r>
          </a:p>
          <a:p>
            <a:r>
              <a:t>      "Salah / dua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"Salah / dua guidance",</a:t>
            </a:r>
          </a:p>
          <a:p>
            <a:r>
              <a:t>      "supports",</a:t>
            </a:r>
          </a:p>
          <a:p>
            <a:r>
              <a:t>      "Continued daily practice"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"mosques",</a:t>
            </a:r>
          </a:p>
          <a:p>
            <a:r>
              <a:t>  "owner": "MRM + Zylax",</a:t>
            </a:r>
          </a:p>
          <a:p>
            <a:r>
              <a:t>  "scope": "Observed compass simulation and nearby-place list",</a:t>
            </a:r>
          </a:p>
          <a:p>
            <a:r>
              <a:t>  "why": "Useful local guidance makes the app relevant beyond assistance, while keeping volunteer-location data separately protected.",</a:t>
            </a:r>
          </a:p>
          <a:p>
            <a:r>
              <a:t>  "measure": "Direction guidance; permission fallback; place-data accuracy",</a:t>
            </a:r>
          </a:p>
          <a:p>
            <a:r>
              <a:t>  "decision": "The screenshot includes Simulate Compass Azimuth. It is not proof of live sensor accuracy, 3D navigation or real-time user tracking.",</a:t>
            </a:r>
          </a:p>
          <a:p>
            <a:r>
              <a:t>  "screen_evidence": [</a:t>
            </a:r>
          </a:p>
          <a:p>
            <a:r>
              <a:t>    "Compass simulation + place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"Location / manual area",</a:t>
            </a:r>
          </a:p>
          <a:p>
            <a:r>
              <a:t>      "locates",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data / calibration",</a:t>
            </a:r>
          </a:p>
          <a:p>
            <a:r>
              <a:t>      "validates",</a:t>
            </a:r>
          </a:p>
          <a:p>
            <a:r>
              <a:t>      "Qibla &amp; mosque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"shows",</a:t>
            </a:r>
          </a:p>
          <a:p>
            <a:r>
              <a:t>      "Nearby mosque details"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mosque tools",</a:t>
            </a:r>
          </a:p>
          <a:p>
            <a:r>
              <a:t>      "supports",</a:t>
            </a:r>
          </a:p>
          <a:p>
            <a:r>
              <a:t>      "Prayer guidance"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"Nearby mosque details",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guidance",</a:t>
            </a:r>
          </a:p>
          <a:p>
            <a:r>
              <a:t>      "connects",</a:t>
            </a:r>
          </a:p>
          <a:p>
            <a:r>
              <a:t>      "Programme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"quran",</a:t>
            </a:r>
          </a:p>
          <a:p>
            <a:r>
              <a:t>  "owner": "MRM content approver + Zylax",</a:t>
            </a:r>
          </a:p>
          <a:p>
            <a:r>
              <a:t>  "scope": "Observed Al-Fatihah text, reciter and tajweed controls",</a:t>
            </a:r>
          </a:p>
          <a:p>
            <a:r>
              <a:t>  "why": "Reading and recitation become more valuable when users can continue into approved explanations and classes.",</a:t>
            </a:r>
          </a:p>
          <a:p>
            <a:r>
              <a:t>  "measure": "Content-source validation; recitation delivery; learning continuation",</a:t>
            </a:r>
          </a:p>
          <a:p>
            <a:r>
              <a:t>  "decision": "The content shown is Al-Fatihah; a Ya-Sin selected-tab label conflicts with the verses. Confirm tab behaviour, content and rights.",</a:t>
            </a:r>
          </a:p>
          <a:p>
            <a:r>
              <a:t>  "screen_evidence": [</a:t>
            </a:r>
          </a:p>
          <a:p>
            <a:r>
              <a:t>    "Al-Fatihah text / reciter controls"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"Religious sources &amp; rights",</a:t>
            </a:r>
          </a:p>
          <a:p>
            <a:r>
              <a:t>      "authorises",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administration",</a:t>
            </a:r>
          </a:p>
          <a:p>
            <a:r>
              <a:t>      "publishes",</a:t>
            </a:r>
          </a:p>
          <a:p>
            <a:r>
              <a:t>      "Quran &amp; recitation"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"links",</a:t>
            </a:r>
          </a:p>
          <a:p>
            <a:r>
              <a:t>      "Approved learning resources"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"Quran &amp; recitation",</a:t>
            </a:r>
          </a:p>
          <a:p>
            <a:r>
              <a:t>      "supports",</a:t>
            </a:r>
          </a:p>
          <a:p>
            <a:r>
              <a:t>      "Offline / cache settings"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"Offline / cache settings",</a:t>
            </a:r>
          </a:p>
          <a:p>
            <a:r>
              <a:t>      "enables",</a:t>
            </a:r>
          </a:p>
          <a:p>
            <a:r>
              <a:t>      "Repeat daily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learning resources",</a:t>
            </a:r>
          </a:p>
          <a:p>
            <a:r>
              <a:t>      "encourages",</a:t>
            </a:r>
          </a:p>
          <a:p>
            <a:r>
              <a:t>      "Repeat daily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"tasbih",</a:t>
            </a:r>
          </a:p>
          <a:p>
            <a:r>
              <a:t>  "owner": "MRM + Zylax",</a:t>
            </a:r>
          </a:p>
          <a:p>
            <a:r>
              <a:t>  "scope": "Observed tasbih phrase and counter view",</a:t>
            </a:r>
          </a:p>
          <a:p>
            <a:r>
              <a:t>  "why": "A focused counter supports repeated practice while relevant guidance remains grounded in approved content.",</a:t>
            </a:r>
          </a:p>
          <a:p>
            <a:r>
              <a:t>  "measure": "Counter increment / reset; selected phrase; private state persistence",</a:t>
            </a:r>
          </a:p>
          <a:p>
            <a:r>
              <a:t>  "decision": "Displayed laps / totals are sample state; no public faith scoring or guaranteed religious outcome.",</a:t>
            </a:r>
          </a:p>
          <a:p>
            <a:r>
              <a:t>  "screen_evidence": [</a:t>
            </a:r>
          </a:p>
          <a:p>
            <a:r>
              <a:t>    "Digital tasbih counter"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dhikr wording",</a:t>
            </a:r>
          </a:p>
          <a:p>
            <a:r>
              <a:t>      "grounds",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"User target / preference",</a:t>
            </a:r>
          </a:p>
          <a:p>
            <a:r>
              <a:t>      "sets",</a:t>
            </a:r>
          </a:p>
          <a:p>
            <a:r>
              <a:t>      "Digital tasbih counter"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"records",</a:t>
            </a:r>
          </a:p>
          <a:p>
            <a:r>
              <a:t>      "Private local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"Digital tasbih counter",</a:t>
            </a:r>
          </a:p>
          <a:p>
            <a:r>
              <a:t>      "opens",</a:t>
            </a:r>
          </a:p>
          <a:p>
            <a:r>
              <a:t>      "Dua / remembrance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remembrance library",</a:t>
            </a:r>
          </a:p>
          <a:p>
            <a:r>
              <a:t>      "supports",</a:t>
            </a:r>
          </a:p>
          <a:p>
            <a:r>
              <a:t>      "Daily utility return"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"dua",</a:t>
            </a:r>
          </a:p>
          <a:p>
            <a:r>
              <a:t>  "owner": "MRM + Zylax",</a:t>
            </a:r>
          </a:p>
          <a:p>
            <a:r>
              <a:t>  "scope": "Observed dua categories, text and reference labels",</a:t>
            </a:r>
          </a:p>
          <a:p>
            <a:r>
              <a:t>  "why": "Searchable, categorised supplications make the daily library useful and keep correction and source review visible.",</a:t>
            </a:r>
          </a:p>
          <a:p>
            <a:r>
              <a:t>  "measure": "Search relevance; source approval; recitation-state behaviour",</a:t>
            </a:r>
          </a:p>
          <a:p>
            <a:r>
              <a:t>  "decision": "The presence of a hadith citation does not demonstrate a separate full Hadith-reader module.",</a:t>
            </a:r>
          </a:p>
          <a:p>
            <a:r>
              <a:t>  "screen_evidence": [</a:t>
            </a:r>
          </a:p>
          <a:p>
            <a:r>
              <a:t>    "Dua categories and references"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"Situation / search",</a:t>
            </a:r>
          </a:p>
          <a:p>
            <a:r>
              <a:t>      "finds",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source review",</a:t>
            </a:r>
          </a:p>
          <a:p>
            <a:r>
              <a:t>      "approves",</a:t>
            </a:r>
          </a:p>
          <a:p>
            <a:r>
              <a:t>      "Dua / adhkar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"explains",</a:t>
            </a:r>
          </a:p>
          <a:p>
            <a:r>
              <a:t>      "Approved learning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adhkar library",</a:t>
            </a:r>
          </a:p>
          <a:p>
            <a:r>
              <a:t>      "supports",</a:t>
            </a:r>
          </a:p>
          <a:p>
            <a:r>
              <a:t>      "Optional personal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"Optional personal practice",</a:t>
            </a:r>
          </a:p>
          <a:p>
            <a:r>
              <a:t>      "returns",</a:t>
            </a:r>
          </a:p>
          <a:p>
            <a:r>
              <a:t>      "Relevant daily tool"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"remembrance",</a:t>
            </a:r>
          </a:p>
          <a:p>
            <a:r>
              <a:t>  "owner": "MRM content approver",</a:t>
            </a:r>
          </a:p>
          <a:p>
            <a:r>
              <a:t>  "scope": "Approved scope \u00b7 proposed connections",</a:t>
            </a:r>
          </a:p>
          <a:p>
            <a:r>
              <a:t>  "why": "A governed content library keeps daily tools consistent and gives learners a route to deeper understanding.",</a:t>
            </a:r>
          </a:p>
          <a:p>
            <a:r>
              <a:t>  "measure": "Source review; content correction; relevant-resource access",</a:t>
            </a:r>
          </a:p>
          <a:p>
            <a:r>
              <a:t>  "decision": "Sifat Names and Haram Codes remain template-library items subject to separate source and use review.",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"grounds",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categories",</a:t>
            </a:r>
          </a:p>
          <a:p>
            <a:r>
              <a:t>      "organises",</a:t>
            </a:r>
          </a:p>
          <a:p>
            <a:r>
              <a:t>      "Dua / dhikr / hadith"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"deepens",</a:t>
            </a:r>
          </a:p>
          <a:p>
            <a:r>
              <a:t>      "Relevant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"Dua / dhikr / hadith",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"salahguide",</a:t>
            </a:r>
          </a:p>
          <a:p>
            <a:r>
              <a:t>  "owner": "MRM + Zylax",</a:t>
            </a:r>
          </a:p>
          <a:p>
            <a:r>
              <a:t>  "scope": "Observed posture 1 of 7 \u00b7 pronounce control visible",</a:t>
            </a:r>
          </a:p>
          <a:p>
            <a:r>
              <a:t>  "why": "A step-by-step guide gives beginners a practical next step and links learning to the same prayer and direction context.",</a:t>
            </a:r>
          </a:p>
          <a:p>
            <a:r>
              <a:t>  "measure": "Posture navigation; approved text / audio; guidance-to-practice access",</a:t>
            </a:r>
          </a:p>
          <a:p>
            <a:r>
              <a:t>  "decision": "One captured posture is not proof that every posture, pronunciation or lesson works.",</a:t>
            </a:r>
          </a:p>
          <a:p>
            <a:r>
              <a:t>  "screen_evidence": [</a:t>
            </a:r>
          </a:p>
          <a:p>
            <a:r>
              <a:t>    "Salah guide \u00b7 posture 1 of 7"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"Beginner / learning entry",</a:t>
            </a:r>
          </a:p>
          <a:p>
            <a:r>
              <a:t>      "learns",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"Qibla &amp; content references",</a:t>
            </a:r>
          </a:p>
          <a:p>
            <a:r>
              <a:t>      "supports",</a:t>
            </a:r>
          </a:p>
          <a:p>
            <a:r>
              <a:t>      "Step-by-step Salah guide"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"practises",</a:t>
            </a:r>
          </a:p>
          <a:p>
            <a:r>
              <a:t>      "Daily prayer practice"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"Step-by-step Salah guide",</a:t>
            </a:r>
          </a:p>
          <a:p>
            <a:r>
              <a:t>      "asks",</a:t>
            </a:r>
          </a:p>
          <a:p>
            <a:r>
              <a:t>      "Mentor / class support"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"Mentor / class support",</a:t>
            </a:r>
          </a:p>
          <a:p>
            <a:r>
              <a:t>      "supports",</a:t>
            </a:r>
          </a:p>
          <a:p>
            <a:r>
              <a:t>      "Private learning progress"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"asma",</a:t>
            </a:r>
          </a:p>
          <a:p>
            <a:r>
              <a:t>  "owner": "MRM + Zylax",</a:t>
            </a:r>
          </a:p>
          <a:p>
            <a:r>
              <a:t>  "scope": "Observed Asma-ul-Husna names and meanings",</a:t>
            </a:r>
          </a:p>
          <a:p>
            <a:r>
              <a:t>  "why": "A reviewed names library supports daily learning without inventing religious explanations or unsupported source claims.",</a:t>
            </a:r>
          </a:p>
          <a:p>
            <a:r>
              <a:t>  "measure": "Approved names / meanings; search relevance; content correction",</a:t>
            </a:r>
          </a:p>
          <a:p>
            <a:r>
              <a:t>  "decision": "Treat this as a distinct reference view, not a hadith reader or proof of religious approval.",</a:t>
            </a:r>
          </a:p>
          <a:p>
            <a:r>
              <a:t>  "screen_evidence": [</a:t>
            </a:r>
          </a:p>
          <a:p>
            <a:r>
              <a:t>    "Asma-ul-Husna names / meanings"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references",</a:t>
            </a:r>
          </a:p>
          <a:p>
            <a:r>
              <a:t>      "approves",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categorisation",</a:t>
            </a:r>
          </a:p>
          <a:p>
            <a:r>
              <a:t>      "finds",</a:t>
            </a:r>
          </a:p>
          <a:p>
            <a:r>
              <a:t>      "Names &amp; meanings library"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"deepens",</a:t>
            </a:r>
          </a:p>
          <a:p>
            <a:r>
              <a:t>      "Related approved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"Names &amp; meanings library",</a:t>
            </a:r>
          </a:p>
          <a:p>
            <a:r>
              <a:t>      "reports",</a:t>
            </a:r>
          </a:p>
          <a:p>
            <a:r>
              <a:t>      "Correction / withdrawal"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"Correction / withdrawal",</a:t>
            </a:r>
          </a:p>
          <a:p>
            <a:r>
              <a:t>      "updates",</a:t>
            </a:r>
          </a:p>
          <a:p>
            <a:r>
              <a:t>      "Published utility library"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"halal",</a:t>
            </a:r>
          </a:p>
          <a:p>
            <a:r>
              <a:t>  "owner": "MRM + Zylax",</a:t>
            </a:r>
          </a:p>
          <a:p>
            <a:r>
              <a:t>  "scope": "Observed E-code list + Fitrah / Fidyah calculator concept",</a:t>
            </a:r>
          </a:p>
          <a:p>
            <a:r>
              <a:t>  "why": "Useful ingredient information needs clear sourcing and limits; a prototype label cannot replace an authority\u2019s certification.",</a:t>
            </a:r>
          </a:p>
          <a:p>
            <a:r>
              <a:t>  "measure": "Source currency; query accuracy; visible qualification of results",</a:t>
            </a:r>
          </a:p>
          <a:p>
            <a:r>
              <a:t>  "decision": "Source 29 combines two utilities. Rates, classifications and \u201cJAKIM\u201d attribution require review; no authority API is established.",</a:t>
            </a:r>
          </a:p>
          <a:p>
            <a:r>
              <a:t>  "screen_evidence": [</a:t>
            </a:r>
          </a:p>
          <a:p>
            <a:r>
              <a:t>    "Ingredient reference + Fitrah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"Ingredient / E-code query",</a:t>
            </a:r>
          </a:p>
          <a:p>
            <a:r>
              <a:t>      "queries",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content / source review",</a:t>
            </a:r>
          </a:p>
          <a:p>
            <a:r>
              <a:t>      "validates",</a:t>
            </a:r>
          </a:p>
          <a:p>
            <a:r>
              <a:t>      "Reviewed ingredient reference"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"returns",</a:t>
            </a:r>
          </a:p>
          <a:p>
            <a:r>
              <a:t>      "Informational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"Reviewed ingredient reference",</a:t>
            </a:r>
          </a:p>
          <a:p>
            <a:r>
              <a:t>      "explains",</a:t>
            </a:r>
          </a:p>
          <a:p>
            <a:r>
              <a:t>      "Religious learning /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"Religious learning / enquiry",</a:t>
            </a:r>
          </a:p>
          <a:p>
            <a:r>
              <a:t>      "reports",</a:t>
            </a:r>
          </a:p>
          <a:p>
            <a:r>
              <a:t>      "Content correction"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"islamic_calendar",</a:t>
            </a:r>
          </a:p>
          <a:p>
            <a:r>
              <a:t>  "owner": "MRM + Zylax",</a:t>
            </a:r>
          </a:p>
          <a:p>
            <a:r>
              <a:t>  "scope": "Observed calendar almanac and local timetable",</a:t>
            </a:r>
          </a:p>
          <a:p>
            <a:r>
              <a:t>  "why": "Shared calendar conventions keep seasonal guidance and programme communication coherent.",</a:t>
            </a:r>
          </a:p>
          <a:p>
            <a:r>
              <a:t>  "measure": "Local-date review; timetable consistency; event reminder delivery",</a:t>
            </a:r>
          </a:p>
          <a:p>
            <a:r>
              <a:t>  "decision": "This almanac includes religious dates and prayer times. Local date, calculation and highlighted-day conventions require review.",</a:t>
            </a:r>
          </a:p>
          <a:p>
            <a:r>
              <a:t>  "screen_evidence": [</a:t>
            </a:r>
          </a:p>
          <a:p>
            <a:r>
              <a:t>    "Calendar almanac / prayer schedule"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"Local calendar convention",</a:t>
            </a:r>
          </a:p>
          <a:p>
            <a:r>
              <a:t>      "sets",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prayer times",</a:t>
            </a:r>
          </a:p>
          <a:p>
            <a:r>
              <a:t>      "aligns",</a:t>
            </a:r>
          </a:p>
          <a:p>
            <a:r>
              <a:t>      "Hijri &amp; Ramadan tools"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"highlights",</a:t>
            </a:r>
          </a:p>
          <a:p>
            <a:r>
              <a:t>      "Seasonal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"Hijri &amp; Ramadan tools",</a:t>
            </a:r>
          </a:p>
          <a:p>
            <a:r>
              <a:t>      "informs",</a:t>
            </a:r>
          </a:p>
          <a:p>
            <a:r>
              <a:t>      "Event / class calendar"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"Seasonal programme discovery",</a:t>
            </a:r>
          </a:p>
          <a:p>
            <a:r>
              <a:t>      "registers",</a:t>
            </a:r>
          </a:p>
          <a:p>
            <a:r>
              <a:t>      "Permitted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"Event / class calendar",</a:t>
            </a:r>
          </a:p>
          <a:p>
            <a:r>
              <a:t>      "schedules",</a:t>
            </a:r>
          </a:p>
          <a:p>
            <a:r>
              <a:t>      "Permitted reminders"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"estimate",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"Clear assumptions and method-specific inputs make estimates useful, while the authority retains every assistance eligibility decision.",</a:t>
            </a:r>
          </a:p>
          <a:p>
            <a:r>
              <a:t>  "measure": "Approved calculation checks; referral consent; correct authority wording",</a:t>
            </a:r>
          </a:p>
          <a:p>
            <a:r>
              <a:t>  "decision": "Income/savings and Fitrah/Fidyah use different methods. Source 29 shows the latter; rates and authority decisions remain unverified.",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"Method-specific references",</a:t>
            </a:r>
          </a:p>
          <a:p>
            <a:r>
              <a:t>      "governs",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"Necessary calculator inputs",</a:t>
            </a:r>
          </a:p>
          <a:p>
            <a:r>
              <a:t>      "calculates",</a:t>
            </a:r>
          </a:p>
          <a:p>
            <a:r>
              <a:t>      "Informational estimate"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"explains",</a:t>
            </a:r>
          </a:p>
          <a:p>
            <a:r>
              <a:t>      "Guidance / learning"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"Informational estimate",</a:t>
            </a:r>
          </a:p>
          <a:p>
            <a:r>
              <a:t>      "signposts",</a:t>
            </a:r>
          </a:p>
          <a:p>
            <a:r>
              <a:t>      "Assistance enquiry"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"Assistance enquiry",</a:t>
            </a:r>
          </a:p>
          <a:p>
            <a:r>
              <a:t>      "refers",</a:t>
            </a:r>
          </a:p>
          <a:p>
            <a:r>
              <a:t>      "Authority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"requests",</a:t>
            </a:r>
          </a:p>
          <a:p>
            <a:r>
              <a:t>  "owner": "MRM + Zylax",</a:t>
            </a:r>
          </a:p>
          <a:p>
            <a:r>
              <a:t>  "scope": "Observed Seeker workspace \u00b7 full request intake not shown",</a:t>
            </a:r>
          </a:p>
          <a:p>
            <a:r>
              <a:t>  "why": "A complete request lifecycle prevents the app becoming a contact form with no accountable follow-up.",</a:t>
            </a:r>
          </a:p>
          <a:p>
            <a:r>
              <a:t>  "measure": "Acknowledgement; triage completion; unresolved-request follow-up",</a:t>
            </a:r>
          </a:p>
          <a:p>
            <a:r>
              <a:t>  "decision": "Sensitive concerns use the restricted route; the ordinary request form is not shown in the latest pack.",</a:t>
            </a:r>
          </a:p>
          <a:p>
            <a:r>
              <a:t>  "screen_evidence": [</a:t>
            </a:r>
          </a:p>
          <a:p>
            <a:r>
              <a:t>    "Seeker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"Member / service entry",</a:t>
            </a:r>
          </a:p>
          <a:p>
            <a:r>
              <a:t>      "starts",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privacy rules",</a:t>
            </a:r>
          </a:p>
          <a:p>
            <a:r>
              <a:t>      "protects",</a:t>
            </a:r>
          </a:p>
          <a:p>
            <a:r>
              <a:t>      "Private request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request intake",</a:t>
            </a:r>
          </a:p>
          <a:p>
            <a:r>
              <a:t>      "submits",</a:t>
            </a:r>
          </a:p>
          <a:p>
            <a:r>
              <a:t>      "MRM triage"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"routes",</a:t>
            </a:r>
          </a:p>
          <a:p>
            <a:r>
              <a:t>      "Eligible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triage",</a:t>
            </a:r>
          </a:p>
          <a:p>
            <a:r>
              <a:t>      "updates",</a:t>
            </a:r>
          </a:p>
          <a:p>
            <a:r>
              <a:t>      "Case status / activity"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matching",</a:t>
            </a:r>
          </a:p>
          <a:p>
            <a:r>
              <a:t>      "records",</a:t>
            </a:r>
          </a:p>
          <a:p>
            <a:r>
              <a:t>      "Case status /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"vetting",</a:t>
            </a:r>
          </a:p>
          <a:p>
            <a:r>
              <a:t>  "owner": "MRM + Zylax",</a:t>
            </a:r>
          </a:p>
          <a:p>
            <a:r>
              <a:t>  "scope": "Observed Applicant progress \u00b7 verification policy still requires MRM approval",</a:t>
            </a:r>
          </a:p>
          <a:p>
            <a:r>
              <a:t>  "why": "Documents and interview decisions must change real eligibility, not merely add a badge to a profile.",</a:t>
            </a:r>
          </a:p>
          <a:p>
            <a:r>
              <a:t>  "measure": "Review completion; interview record; suspension and access tests",</a:t>
            </a:r>
          </a:p>
          <a:p>
            <a:r>
              <a:t>  "decision": "The prototype shows police-clearance steps. These do not replace the agreed document review and online interview or establish MRM policy.",</a:t>
            </a:r>
          </a:p>
          <a:p>
            <a:r>
              <a:t>  "screen_evidence": [</a:t>
            </a:r>
          </a:p>
          <a:p>
            <a:r>
              <a:t>    "Applicant verification progress"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"Volunteer application",</a:t>
            </a:r>
          </a:p>
          <a:p>
            <a:r>
              <a:t>      "applies",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verification files",</a:t>
            </a:r>
          </a:p>
          <a:p>
            <a:r>
              <a:t>      "supports",</a:t>
            </a:r>
          </a:p>
          <a:p>
            <a:r>
              <a:t>      "Evidence &amp; interview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"Evidence &amp; interview review",</a:t>
            </a:r>
          </a:p>
          <a:p>
            <a:r>
              <a:t>      "decides",</a:t>
            </a:r>
          </a:p>
          <a:p>
            <a:r>
              <a:t>      "Approved active volunteer"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"enables",</a:t>
            </a:r>
          </a:p>
          <a:p>
            <a:r>
              <a:t>      "Eligible discovery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active volunteer",</a:t>
            </a:r>
          </a:p>
          <a:p>
            <a:r>
              <a:t>      "qualifies",</a:t>
            </a:r>
          </a:p>
          <a:p>
            <a:r>
              <a:t>      "Assigned work"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discovery / matching",</a:t>
            </a:r>
          </a:p>
          <a:p>
            <a:r>
              <a:t>      "offers",</a:t>
            </a:r>
          </a:p>
          <a:p>
            <a:r>
              <a:t>      "Assigned work"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"gender",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"Consistent server filtering prevents a protected profile leaking through search, maps, alerts or direct detail requests.",</a:t>
            </a:r>
          </a:p>
          <a:p>
            <a:r>
              <a:t>  "measure": "Cross-gender API tests; restricted detail and location tests",</a:t>
            </a:r>
          </a:p>
          <a:p>
            <a:r>
              <a:t>  "decision": "MRM must define controlled staff / teacher exceptions and precise role applicability.",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role &amp; profile",</a:t>
            </a:r>
          </a:p>
          <a:p>
            <a:r>
              <a:t>      "checks",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"Location consent",</a:t>
            </a:r>
          </a:p>
          <a:p>
            <a:r>
              <a:t>      "constrains",</a:t>
            </a:r>
          </a:p>
          <a:p>
            <a:r>
              <a:t>      "Visibility policy checks"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"filters",</a:t>
            </a:r>
          </a:p>
          <a:p>
            <a:r>
              <a:t>      "Permitted discovery results"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"Visibility policy checks",</a:t>
            </a:r>
          </a:p>
          <a:p>
            <a:r>
              <a:t>      "limits",</a:t>
            </a:r>
          </a:p>
          <a:p>
            <a:r>
              <a:t>      "Eligible alerts /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discovery results",</a:t>
            </a:r>
          </a:p>
          <a:p>
            <a:r>
              <a:t>      "requests",</a:t>
            </a:r>
          </a:p>
          <a:p>
            <a:r>
              <a:t>      "Authorised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"Eligible alerts / matching",</a:t>
            </a:r>
          </a:p>
          <a:p>
            <a:r>
              <a:t>      "routes",</a:t>
            </a:r>
          </a:p>
          <a:p>
            <a:r>
              <a:t>      "Authorised case contact"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"matching",</a:t>
            </a:r>
          </a:p>
          <a:p>
            <a:r>
              <a:t>  "owner": "MRM + Zylax",</a:t>
            </a:r>
          </a:p>
          <a:p>
            <a:r>
              <a:t>  "scope": "Observed Volunteer on-duty workspace \u00b7 actual matching not tested",</a:t>
            </a:r>
          </a:p>
          <a:p>
            <a:r>
              <a:t>  "why": "Eligibility checks improve relevance and preserve confidentiality before any volunteer receives an offer.",</a:t>
            </a:r>
          </a:p>
          <a:p>
            <a:r>
              <a:t>  "measure": "Eligible-offer delivery; unanswered-case handling; access tests",</a:t>
            </a:r>
          </a:p>
          <a:p>
            <a:r>
              <a:t>  "decision": "Prototype \u201cnearest squad\u201d and 15-minute targets are not a guaranteed response service.",</a:t>
            </a:r>
          </a:p>
          <a:p>
            <a:r>
              <a:t>  "screen_evidence": [</a:t>
            </a:r>
          </a:p>
          <a:p>
            <a:r>
              <a:t>    "Volunteer on-duty workspace"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"Reviewed routine request",</a:t>
            </a:r>
          </a:p>
          <a:p>
            <a:r>
              <a:t>      "provides",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volunteer capacity",</a:t>
            </a:r>
          </a:p>
          <a:p>
            <a:r>
              <a:t>      "qualifies",</a:t>
            </a:r>
          </a:p>
          <a:p>
            <a:r>
              <a:t>      "Eligibility matching"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matching",</a:t>
            </a:r>
          </a:p>
          <a:p>
            <a:r>
              <a:t>      "offers",</a:t>
            </a:r>
          </a:p>
          <a:p>
            <a:r>
              <a:t>      "Limited volunteer offer"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"responds",</a:t>
            </a:r>
          </a:p>
          <a:p>
            <a:r>
              <a:t>      "Assignment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"Limited volunteer offer",</a:t>
            </a:r>
          </a:p>
          <a:p>
            <a:r>
              <a:t>      "expires",</a:t>
            </a:r>
          </a:p>
          <a:p>
            <a:r>
              <a:t>      "Coordinator fallback"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"Assignment confirmation",</a:t>
            </a:r>
          </a:p>
          <a:p>
            <a:r>
              <a:t>      "escalates",</a:t>
            </a:r>
          </a:p>
          <a:p>
            <a:r>
              <a:t>      "Coordinator fallback"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"assignments",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"Confirmation creates accountable service access and lets MRM manage changes through to a verified outcome.",</a:t>
            </a:r>
          </a:p>
          <a:p>
            <a:r>
              <a:t>  "measure": "Confirmed assignment; reassignment; progress and closure records",</a:t>
            </a:r>
          </a:p>
          <a:p>
            <a:r>
              <a:t>  "decision": "Closure and any service credit require a defined confirmation process, not self-awarded completion.",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"Eligible volunteer offer",</a:t>
            </a:r>
          </a:p>
          <a:p>
            <a:r>
              <a:t>      "confirms",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"Coordinator review",</a:t>
            </a:r>
          </a:p>
          <a:p>
            <a:r>
              <a:t>      "supervises",</a:t>
            </a:r>
          </a:p>
          <a:p>
            <a:r>
              <a:t>      "Confirmed assignment"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"permits",</a:t>
            </a:r>
          </a:p>
          <a:p>
            <a:r>
              <a:t>      "Permitted case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assignment",</a:t>
            </a:r>
          </a:p>
          <a:p>
            <a:r>
              <a:t>      "tracks",</a:t>
            </a:r>
          </a:p>
          <a:p>
            <a:r>
              <a:t>      "Case progress &amp;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progress &amp; closure",</a:t>
            </a:r>
          </a:p>
          <a:p>
            <a:r>
              <a:t>      "verifies",</a:t>
            </a:r>
          </a:p>
          <a:p>
            <a:r>
              <a:t>      "Verified recognition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"private",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restricted route protects sensitive faith and family information while retaining responsible follow-up.",</a:t>
            </a:r>
          </a:p>
          <a:p>
            <a:r>
              <a:t>  "measure": "Unrelated-account denial; assigned-staff access; closure history",</a:t>
            </a:r>
          </a:p>
          <a:p>
            <a:r>
              <a:t>  "decision": "No automated religious-status judgement and no general volunteer access to restricted cases.",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"Private concern",</a:t>
            </a:r>
          </a:p>
          <a:p>
            <a:r>
              <a:t>      "submits",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"Consent &amp; record permissions",</a:t>
            </a:r>
          </a:p>
          <a:p>
            <a:r>
              <a:t>      "restricts",</a:t>
            </a:r>
          </a:p>
          <a:p>
            <a:r>
              <a:t>      "Restricted case intake"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"assigns",</a:t>
            </a:r>
          </a:p>
          <a:p>
            <a:r>
              <a:t>      "Designated personnel"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"Restricted case intake",</a:t>
            </a:r>
          </a:p>
          <a:p>
            <a:r>
              <a:t>      "coordinates",</a:t>
            </a:r>
          </a:p>
          <a:p>
            <a:r>
              <a:t>      "Controlled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"Designated personnel",</a:t>
            </a:r>
          </a:p>
          <a:p>
            <a:r>
              <a:t>      "records",</a:t>
            </a:r>
          </a:p>
          <a:p>
            <a:r>
              <a:t>      "Case history / closure"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"Controlled follow-up",</a:t>
            </a:r>
          </a:p>
          <a:p>
            <a:r>
              <a:t>      "closes",</a:t>
            </a:r>
          </a:p>
          <a:p>
            <a:r>
              <a:t>      "Case history / closure"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"safeguard",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"Reporting, restrictions and escalation protect participation without implying guaranteed emergency response.",</a:t>
            </a:r>
          </a:p>
          <a:p>
            <a:r>
              <a:t>  "measure": "Report handling; account restriction; open-assignment review",</a:t>
            </a:r>
          </a:p>
          <a:p>
            <a:r>
              <a:t>  "decision": "The app supports coordination; immediate danger still requires the appropriate emergency service.",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"Conduct / danger concern",</a:t>
            </a:r>
          </a:p>
          <a:p>
            <a:r>
              <a:t>      "reports",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escalation policy",</a:t>
            </a:r>
          </a:p>
          <a:p>
            <a:r>
              <a:t>      "guides",</a:t>
            </a:r>
          </a:p>
          <a:p>
            <a:r>
              <a:t>      "Safeguarding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"restricts",</a:t>
            </a:r>
          </a:p>
          <a:p>
            <a:r>
              <a:t>      "Account / contact restriction"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"Safeguarding review",</a:t>
            </a:r>
          </a:p>
          <a:p>
            <a:r>
              <a:t>      "reviews",</a:t>
            </a:r>
          </a:p>
          <a:p>
            <a:r>
              <a:t>      "Affected assignments"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/ contact restriction",</a:t>
            </a:r>
          </a:p>
          <a:p>
            <a:r>
              <a:t>      "records",</a:t>
            </a:r>
          </a:p>
          <a:p>
            <a:r>
              <a:t>      "Protected incident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"Affected assignments",</a:t>
            </a:r>
          </a:p>
          <a:p>
            <a:r>
              <a:t>      "follows up",</a:t>
            </a:r>
          </a:p>
          <a:p>
            <a:r>
              <a:t>      "Protected incident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"chat",</a:t>
            </a:r>
          </a:p>
          <a:p>
            <a:r>
              <a:t>  "owner": "MRM + Zylax",</a:t>
            </a:r>
          </a:p>
          <a:p>
            <a:r>
              <a:t>  "scope": "Observed caseworker chat concept \u00b7 implementation unverified",</a:t>
            </a:r>
          </a:p>
          <a:p>
            <a:r>
              <a:t>  "why": "Conversation is useful when the right case and participants govern access, continuity and escalation.",</a:t>
            </a:r>
          </a:p>
          <a:p>
            <a:r>
              <a:t>  "measure": "Participant access; case linkage; report and closure behaviour",</a:t>
            </a:r>
          </a:p>
          <a:p>
            <a:r>
              <a:t>  "decision": "The screen\u2019s end-to-end encryption and response claims are not verified technical guarantees.",</a:t>
            </a:r>
          </a:p>
          <a:p>
            <a:r>
              <a:t>  "screen_evidence": [</a:t>
            </a:r>
          </a:p>
          <a:p>
            <a:r>
              <a:t>    "Caseworker conversation"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case / assignment",</a:t>
            </a:r>
          </a:p>
          <a:p>
            <a:r>
              <a:t>      "opens",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&amp; participant checks",</a:t>
            </a:r>
          </a:p>
          <a:p>
            <a:r>
              <a:t>      "protects",</a:t>
            </a:r>
          </a:p>
          <a:p>
            <a:r>
              <a:t>      "Case conversation"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"updates",</a:t>
            </a:r>
          </a:p>
          <a:p>
            <a:r>
              <a:t>      "Progress / confirmation"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"Case conversation",</a:t>
            </a:r>
          </a:p>
          <a:p>
            <a:r>
              <a:t>      "reports",</a:t>
            </a:r>
          </a:p>
          <a:p>
            <a:r>
              <a:t>      "Conduct report / escalation"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"Progress / confirmation",</a:t>
            </a:r>
          </a:p>
          <a:p>
            <a:r>
              <a:t>      "informs",</a:t>
            </a:r>
          </a:p>
          <a:p>
            <a:r>
              <a:t>      "Case closure policy"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"Conduct report / escalation",</a:t>
            </a:r>
          </a:p>
          <a:p>
            <a:r>
              <a:t>      "records",</a:t>
            </a:r>
          </a:p>
          <a:p>
            <a:r>
              <a:t>      "Case closure policy"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"referral",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tracked handoff helps people follow an enquiry without presenting MRM as the eligibility or disbursement authority.",</a:t>
            </a:r>
          </a:p>
          <a:p>
            <a:r>
              <a:t>  "measure": "Complete referral record; permitted status update; partner response",</a:t>
            </a:r>
          </a:p>
          <a:p>
            <a:r>
              <a:t>  "decision": "Direct API integration depends on confirmed access; zakat collection / disbursement remains outside the earlier proposal.",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"Enquiry + referral consent",</a:t>
            </a:r>
          </a:p>
          <a:p>
            <a:r>
              <a:t>      "submits",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"Partner sharing agreement",</a:t>
            </a:r>
          </a:p>
          <a:p>
            <a:r>
              <a:t>      "governs",</a:t>
            </a:r>
          </a:p>
          <a:p>
            <a:r>
              <a:t>      "MRM completeness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"refers",</a:t>
            </a:r>
          </a:p>
          <a:p>
            <a:r>
              <a:t>      "Approved authority handoff"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completeness review",</a:t>
            </a:r>
          </a:p>
          <a:p>
            <a:r>
              <a:t>      "tracks",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authority handoff",</a:t>
            </a:r>
          </a:p>
          <a:p>
            <a:r>
              <a:t>      "responds",</a:t>
            </a:r>
          </a:p>
          <a:p>
            <a:r>
              <a:t>      "Referral status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"Referral status / follow-up",</a:t>
            </a:r>
          </a:p>
          <a:p>
            <a:r>
              <a:t>      "updates",</a:t>
            </a:r>
          </a:p>
          <a:p>
            <a:r>
              <a:t>      "User update / reports"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"recognition",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"Badges are credible when they reflect confirmed activity and do not override safeguarding or access rules.",</a:t>
            </a:r>
          </a:p>
          <a:p>
            <a:r>
              <a:t>  "measure": "Verified-credit accuracy; corrections; recognition visibility",</a:t>
            </a:r>
          </a:p>
          <a:p>
            <a:r>
              <a:t>  "decision": "Rank does not grant sensitive-case priority or administrator permissions.",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"Completed assignment / event",</a:t>
            </a:r>
          </a:p>
          <a:p>
            <a:r>
              <a:t>      "submits",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recognition criteria",</a:t>
            </a:r>
          </a:p>
          <a:p>
            <a:r>
              <a:t>      "validates",</a:t>
            </a:r>
          </a:p>
          <a:p>
            <a:r>
              <a:t>      "Service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"awards",</a:t>
            </a:r>
          </a:p>
          <a:p>
            <a:r>
              <a:t>      "Badges &amp; service ranks"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verification",</a:t>
            </a:r>
          </a:p>
          <a:p>
            <a:r>
              <a:t>      "records",</a:t>
            </a:r>
          </a:p>
          <a:p>
            <a:r>
              <a:t>      "Private service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"Badges &amp; service ranks",</a:t>
            </a:r>
          </a:p>
          <a:p>
            <a:r>
              <a:t>      "encourages",</a:t>
            </a:r>
          </a:p>
          <a:p>
            <a:r>
              <a:t>      "Volunteer engagement"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"Private service history",</a:t>
            </a:r>
          </a:p>
          <a:p>
            <a:r>
              <a:t>      "supports",</a:t>
            </a:r>
          </a:p>
          <a:p>
            <a:r>
              <a:t>      "Volunteer engagement"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"teacher",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"Learner trust depends on teacher review being independent of whether a person pays for publishing privileges.",</a:t>
            </a:r>
          </a:p>
          <a:p>
            <a:r>
              <a:t>  "measure": "Credential review; role approval; revoked-teacher access tests",</a:t>
            </a:r>
          </a:p>
          <a:p>
            <a:r>
              <a:t>  "decision": "There is no dedicated teacher approval capture in the latest pack.",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"Teacher application",</a:t>
            </a:r>
          </a:p>
          <a:p>
            <a:r>
              <a:t>      "applies",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teaching standards",</a:t>
            </a:r>
          </a:p>
          <a:p>
            <a:r>
              <a:t>      "guides",</a:t>
            </a:r>
          </a:p>
          <a:p>
            <a:r>
              <a:t>      "Credential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"approves",</a:t>
            </a:r>
          </a:p>
          <a:p>
            <a:r>
              <a:t>      "Approved teacher profile"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"Credential review",</a:t>
            </a:r>
          </a:p>
          <a:p>
            <a:r>
              <a:t>      "qualifies",</a:t>
            </a:r>
          </a:p>
          <a:p>
            <a:r>
              <a:t>      "Teacher plan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teacher profile",</a:t>
            </a:r>
          </a:p>
          <a:p>
            <a:r>
              <a:t>      "submits",</a:t>
            </a:r>
          </a:p>
          <a:p>
            <a:r>
              <a:t>      "Moderated programme / posts"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entitlement",</a:t>
            </a:r>
          </a:p>
          <a:p>
            <a:r>
              <a:t>      "allows",</a:t>
            </a:r>
          </a:p>
          <a:p>
            <a:r>
              <a:t>      "Moderated programme / posts"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"posts",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"Moderation, plan allowances and clear publication states turn teacher opportunity into controlled learner value.",</a:t>
            </a:r>
          </a:p>
          <a:p>
            <a:r>
              <a:t>  "measure": "Submission review; allowance enforcement; publication / withdrawal tests",</a:t>
            </a:r>
          </a:p>
          <a:p>
            <a:r>
              <a:t>  "decision": "Teaching ads are labelled and kept out of private assistance screens.",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teacher",</a:t>
            </a:r>
          </a:p>
          <a:p>
            <a:r>
              <a:t>      "submits",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"Valid plan entitlement",</a:t>
            </a:r>
          </a:p>
          <a:p>
            <a:r>
              <a:t>      "permits",</a:t>
            </a:r>
          </a:p>
          <a:p>
            <a:r>
              <a:t>      "Educational submission"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"Educational submission",</a:t>
            </a:r>
          </a:p>
          <a:p>
            <a:r>
              <a:t>      "reviews",</a:t>
            </a:r>
          </a:p>
          <a:p>
            <a:r>
              <a:t>      "MRM moderation"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moderation",</a:t>
            </a:r>
          </a:p>
          <a:p>
            <a:r>
              <a:t>      "approves",</a:t>
            </a:r>
          </a:p>
          <a:p>
            <a:r>
              <a:t>      "Approved publication"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publication",</a:t>
            </a:r>
          </a:p>
          <a:p>
            <a:r>
              <a:t>      "publishes",</a:t>
            </a:r>
          </a:p>
          <a:p>
            <a:r>
              <a:t>      "Search / website discovery"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"subscriptions",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"MRM can earn recurring teacher revenue while preserving free core assistance and volunteer participation.",</a:t>
            </a:r>
          </a:p>
          <a:p>
            <a:r>
              <a:t>  "measure": "Verified active plans; publishing-limit checks; correct expiry handling",</a:t>
            </a:r>
          </a:p>
          <a:p>
            <a:r>
              <a:t>  "decision": "No invented plan tiers or prices. A configured no-charge teacher plan can precede paid activation.",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role",</a:t>
            </a:r>
          </a:p>
          <a:p>
            <a:r>
              <a:t>      "qualifies",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commercial policy",</a:t>
            </a:r>
          </a:p>
          <a:p>
            <a:r>
              <a:t>      "defines",</a:t>
            </a:r>
          </a:p>
          <a:p>
            <a:r>
              <a:t>      "Teacher plan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"Teacher plan selection",</a:t>
            </a:r>
          </a:p>
          <a:p>
            <a:r>
              <a:t>      "purchases",</a:t>
            </a:r>
          </a:p>
          <a:p>
            <a:r>
              <a:t>      "Applicable billing flow"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"Applicable billing flow",</a:t>
            </a:r>
          </a:p>
          <a:p>
            <a:r>
              <a:t>      "verifies",</a:t>
            </a:r>
          </a:p>
          <a:p>
            <a:r>
              <a:t>      "Verified entitlement"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entitlement",</a:t>
            </a:r>
          </a:p>
          <a:p>
            <a:r>
              <a:t>      "limits",</a:t>
            </a:r>
          </a:p>
          <a:p>
            <a:r>
              <a:t>      "Permitted publishing"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"billing",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"Payment success, renewal and expiry must change privileges reliably without deleting the teacher\u2019s identity or history.",</a:t>
            </a:r>
          </a:p>
          <a:p>
            <a:r>
              <a:t>  "measure": "Payment verification; renewal / cancellation; restore and expiry tests",</a:t>
            </a:r>
          </a:p>
          <a:p>
            <a:r>
              <a:t>  "decision": "Teacher billing is distinct from donation payment prototypes; historical-content visibility needs a policy decision.",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"Store purchase / renewal",</a:t>
            </a:r>
          </a:p>
          <a:p>
            <a:r>
              <a:t>      "verifies",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"Cancel / fail / restore",</a:t>
            </a:r>
          </a:p>
          <a:p>
            <a:r>
              <a:t>      "updates",</a:t>
            </a:r>
          </a:p>
          <a:p>
            <a:r>
              <a:t>      "Entitlement verification"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"enforces",</a:t>
            </a:r>
          </a:p>
          <a:p>
            <a:r>
              <a:t>      "Publishing permission"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"Entitlement verification",</a:t>
            </a:r>
          </a:p>
          <a:p>
            <a:r>
              <a:t>      "preserves",</a:t>
            </a:r>
          </a:p>
          <a:p>
            <a:r>
              <a:t>      "Account &amp; content history"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"Publishing permission",</a:t>
            </a:r>
          </a:p>
          <a:p>
            <a:r>
              <a:t>      "records",</a:t>
            </a:r>
          </a:p>
          <a:p>
            <a:r>
              <a:t>      "Billing oversight"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"Account &amp; content history",</a:t>
            </a:r>
          </a:p>
          <a:p>
            <a:r>
              <a:t>      "supports",</a:t>
            </a:r>
          </a:p>
          <a:p>
            <a:r>
              <a:t>      "Billing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"learning",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"Discovery becomes sustained learning when programme details, access, reminders and recordings form one journey.",</a:t>
            </a:r>
          </a:p>
          <a:p>
            <a:r>
              <a:t>  "measure": "Programme access; registration; attendance / recording access",</a:t>
            </a:r>
          </a:p>
          <a:p>
            <a:r>
              <a:t>  "decision": "Live teaching is not replaced with static posts; custom video infrastructure is not implied.",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teacher / content",</a:t>
            </a:r>
          </a:p>
          <a:p>
            <a:r>
              <a:t>      "publishes",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"Daily tools / search / website",</a:t>
            </a:r>
          </a:p>
          <a:p>
            <a:r>
              <a:t>      "discovers",</a:t>
            </a:r>
          </a:p>
          <a:p>
            <a:r>
              <a:t>      "Programme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discovery",</a:t>
            </a:r>
          </a:p>
          <a:p>
            <a:r>
              <a:t>      "explains",</a:t>
            </a:r>
          </a:p>
          <a:p>
            <a:r>
              <a:t>      "Registration / access rules"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access rules",</a:t>
            </a:r>
          </a:p>
          <a:p>
            <a:r>
              <a:t>      "registers",</a:t>
            </a:r>
          </a:p>
          <a:p>
            <a:r>
              <a:t>      "Calendar &amp; reminders"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reminders",</a:t>
            </a:r>
          </a:p>
          <a:p>
            <a:r>
              <a:t>      "permits",</a:t>
            </a:r>
          </a:p>
          <a:p>
            <a:r>
              <a:t>      "Live session / recording"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"mentoring",</a:t>
            </a:r>
          </a:p>
          <a:p>
            <a:r>
              <a:t>  "owner": "MRM + Zylax",</a:t>
            </a:r>
          </a:p>
          <a:p>
            <a:r>
              <a:t>  "scope": "Observed Scholar / Mentor roster and Start Room control",</a:t>
            </a:r>
          </a:p>
          <a:p>
            <a:r>
              <a:t>  "why": "Matching the right mentor to a programme or authorised support relationship adds continuity without exposing unrelated cases.",</a:t>
            </a:r>
          </a:p>
          <a:p>
            <a:r>
              <a:t>  "measure": "Authorised mentor assignment; schedule access; confidential-record tests",</a:t>
            </a:r>
          </a:p>
          <a:p>
            <a:r>
              <a:t>  "decision": "This is a mentor workspace, not evidence of teacher subscriptions, credential approval or a working video room.",</a:t>
            </a:r>
          </a:p>
          <a:p>
            <a:r>
              <a:t>  "screen_evidence": [</a:t>
            </a:r>
          </a:p>
          <a:p>
            <a:r>
              <a:t>    "Scholar / Mentor roster"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"Learning / support need",</a:t>
            </a:r>
          </a:p>
          <a:p>
            <a:r>
              <a:t>      "requests",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case permissions",</a:t>
            </a:r>
          </a:p>
          <a:p>
            <a:r>
              <a:t>      "authorises",</a:t>
            </a:r>
          </a:p>
          <a:p>
            <a:r>
              <a:t>      "Approved mentor relationship"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"schedules",</a:t>
            </a:r>
          </a:p>
          <a:p>
            <a:r>
              <a:t>      "Session / programme roster"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mentor relationship",</a:t>
            </a:r>
          </a:p>
          <a:p>
            <a:r>
              <a:t>      "permits",</a:t>
            </a:r>
          </a:p>
          <a:p>
            <a:r>
              <a:t>      "Permitted contact"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contact",</a:t>
            </a:r>
          </a:p>
          <a:p>
            <a:r>
              <a:t>      "follows up",</a:t>
            </a:r>
          </a:p>
          <a:p>
            <a:r>
              <a:t>      "Follow-up / learning history"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"schedule",</a:t>
            </a:r>
          </a:p>
          <a:p>
            <a:r>
              <a:t>  "owner": "MRM + Zylax",</a:t>
            </a:r>
          </a:p>
          <a:p>
            <a:r>
              <a:t>  "scope": "Observed calendar list and slot-confirmation modal",</a:t>
            </a:r>
          </a:p>
          <a:p>
            <a:r>
              <a:t>  "why": "One calendar can coordinate participation while keeping a class enrolment separate from a volunteer duty assignment.",</a:t>
            </a:r>
          </a:p>
          <a:p>
            <a:r>
              <a:t>  "measure": "Slot availability; registration conflict; shift / class reminders",</a:t>
            </a:r>
          </a:p>
          <a:p>
            <a:r>
              <a:t>  "decision": "A calendar slot does not prove attendance, approval or a guaranteed dispatch time.",</a:t>
            </a:r>
          </a:p>
          <a:p>
            <a:r>
              <a:t>  "screen_evidence": [</a:t>
            </a:r>
          </a:p>
          <a:p>
            <a:r>
              <a:t>    "Halaqa &amp; duty calendar",</a:t>
            </a:r>
          </a:p>
          <a:p>
            <a:r>
              <a:t>    "Slot-confirmation modal"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class / duty event",</a:t>
            </a:r>
          </a:p>
          <a:p>
            <a:r>
              <a:t>      "schedules",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/ capacity checks",</a:t>
            </a:r>
          </a:p>
          <a:p>
            <a:r>
              <a:t>      "constrains",</a:t>
            </a:r>
          </a:p>
          <a:p>
            <a:r>
              <a:t>      "Calendar &amp; availability"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"Calendar &amp; availability",</a:t>
            </a:r>
          </a:p>
          <a:p>
            <a:r>
              <a:t>      "selects",</a:t>
            </a:r>
          </a:p>
          <a:p>
            <a:r>
              <a:t>      "Registration / shift request"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"Registration / shift request",</a:t>
            </a:r>
          </a:p>
          <a:p>
            <a:r>
              <a:t>      "confirms",</a:t>
            </a:r>
          </a:p>
          <a:p>
            <a:r>
              <a:t>      "Confirmed participation"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participation",</a:t>
            </a:r>
          </a:p>
          <a:p>
            <a:r>
              <a:t>      "reminds",</a:t>
            </a:r>
          </a:p>
          <a:p>
            <a:r>
              <a:t>      "Reminder &amp; activity update"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"feed",</a:t>
            </a:r>
          </a:p>
          <a:p>
            <a:r>
              <a:t>  "owner": "MRM + Zylax",</a:t>
            </a:r>
          </a:p>
          <a:p>
            <a:r>
              <a:t>  "scope": "Observed feed and composer \u00b7 moderation controls proposed",</a:t>
            </a:r>
          </a:p>
          <a:p>
            <a:r>
              <a:t>  "why": "A moderated public update can build trust and point people toward programmes without exposing private cases.",</a:t>
            </a:r>
          </a:p>
          <a:p>
            <a:r>
              <a:t>  "measure": "Moderation decisions; privacy review; programme follow-through",</a:t>
            </a:r>
          </a:p>
          <a:p>
            <a:r>
              <a:t>  "decision": "The earlier proposal excludes unrestricted public social networking; comments and sharing controls need agreement.",</a:t>
            </a:r>
          </a:p>
          <a:p>
            <a:r>
              <a:t>  "screen_evidence": [</a:t>
            </a:r>
          </a:p>
          <a:p>
            <a:r>
              <a:t>    "Dawah &amp; Impact Feed",</a:t>
            </a:r>
          </a:p>
          <a:p>
            <a:r>
              <a:t>    "Community-post composer"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staff / teacher post",</a:t>
            </a:r>
          </a:p>
          <a:p>
            <a:r>
              <a:t>      "submits",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 / beneficiary consent",</a:t>
            </a:r>
          </a:p>
          <a:p>
            <a:r>
              <a:t>      "protects",</a:t>
            </a:r>
          </a:p>
          <a:p>
            <a:r>
              <a:t>      "Moderated community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"publishes",</a:t>
            </a:r>
          </a:p>
          <a:p>
            <a:r>
              <a:t>      "Public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"Moderated community update",</a:t>
            </a:r>
          </a:p>
          <a:p>
            <a:r>
              <a:t>      "labels",</a:t>
            </a:r>
          </a:p>
          <a:p>
            <a:r>
              <a:t>      "Approved sponsor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programme discovery",</a:t>
            </a:r>
          </a:p>
          <a:p>
            <a:r>
              <a:t>      "invites",</a:t>
            </a:r>
          </a:p>
          <a:p>
            <a:r>
              <a:t>      "Participation / learning action"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"sponsors",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"Scheduled placements create accountable sponsor value without influencing private care or assistance decisions.",</a:t>
            </a:r>
          </a:p>
          <a:p>
            <a:r>
              <a:t>  "measure": "Placement start / expiry; approved asset use; aggregate delivery",</a:t>
            </a:r>
          </a:p>
          <a:p>
            <a:r>
              <a:t>  "decision": "External marketing posts and launch-day publication remain agreed MRM responsibilities.",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"Sponsor agreement &amp; assets",</a:t>
            </a:r>
          </a:p>
          <a:p>
            <a:r>
              <a:t>      "defines",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"Content / privacy rules",</a:t>
            </a:r>
          </a:p>
          <a:p>
            <a:r>
              <a:t>      "restricts",</a:t>
            </a:r>
          </a:p>
          <a:p>
            <a:r>
              <a:t>      "Placement configuration"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"Placement configuration",</a:t>
            </a:r>
          </a:p>
          <a:p>
            <a:r>
              <a:t>      "publishes",</a:t>
            </a:r>
          </a:p>
          <a:p>
            <a:r>
              <a:t>      "App / website recognition"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"measures",</a:t>
            </a:r>
          </a:p>
          <a:p>
            <a:r>
              <a:t>      "Aggregate views / clicks"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 / website recognition",</a:t>
            </a:r>
          </a:p>
          <a:p>
            <a:r>
              <a:t>      "expires",</a:t>
            </a:r>
          </a:p>
          <a:p>
            <a:r>
              <a:t>      "Renewal / expiry"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"Aggregate views / clicks",</a:t>
            </a:r>
          </a:p>
          <a:p>
            <a:r>
              <a:t>      "informs",</a:t>
            </a:r>
          </a:p>
          <a:p>
            <a:r>
              <a:t>      "Renewal / expiry"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"website",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"Immediate link access introduces MRM\u2019s work and brings the right audience into learning, volunteering or support.",</a:t>
            </a:r>
          </a:p>
          <a:p>
            <a:r>
              <a:t>  "measure": "Public-route completion; content currency; app / service handoff",</a:t>
            </a:r>
          </a:p>
          <a:p>
            <a:r>
              <a:t>  "decision": "Legacy private-record or account migration needs assessment; public-page migration is separately inventoried.",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public content",</a:t>
            </a:r>
          </a:p>
          <a:p>
            <a:r>
              <a:t>      "publishes",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"CMS &amp; migration inventory",</a:t>
            </a:r>
          </a:p>
          <a:p>
            <a:r>
              <a:t>      "maintains",</a:t>
            </a:r>
          </a:p>
          <a:p>
            <a:r>
              <a:t>      "Responsive website"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"directs",</a:t>
            </a:r>
          </a:p>
          <a:p>
            <a:r>
              <a:t>      "Relevant participation route"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"Responsive website",</a:t>
            </a:r>
          </a:p>
          <a:p>
            <a:r>
              <a:t>      "explains",</a:t>
            </a:r>
          </a:p>
          <a:p>
            <a:r>
              <a:t>      "Programme / resource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"Relevant participation route",</a:t>
            </a:r>
          </a:p>
          <a:p>
            <a:r>
              <a:t>      "hands off",</a:t>
            </a:r>
          </a:p>
          <a:p>
            <a:r>
              <a:t>      "App / account entry"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"Programme / resource detail",</a:t>
            </a:r>
          </a:p>
          <a:p>
            <a:r>
              <a:t>      "continues",</a:t>
            </a:r>
          </a:p>
          <a:p>
            <a:r>
              <a:t>      "App / account entry"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"alerts",</a:t>
            </a:r>
          </a:p>
          <a:p>
            <a:r>
              <a:t>  "owner": "MRM + Zylax",</a:t>
            </a:r>
          </a:p>
          <a:p>
            <a:r>
              <a:t>  "scope": "Observed notification list \u00b7 demo events / receipt claims unverified",</a:t>
            </a:r>
          </a:p>
          <a:p>
            <a:r>
              <a:t>  "why": "A useful alert opens the correct authorised case, programme or shift without exposing sensitive details on a lock screen.",</a:t>
            </a:r>
          </a:p>
          <a:p>
            <a:r>
              <a:t>  "measure": "Relevant delivery; consent; authorised deep link; failed-send handling",</a:t>
            </a:r>
          </a:p>
          <a:p>
            <a:r>
              <a:t>  "decision": "Prototype tax-receipt alerts are not proof of authority approval or a working donation service.",</a:t>
            </a:r>
          </a:p>
          <a:p>
            <a:r>
              <a:t>  "screen_evidence": [</a:t>
            </a:r>
          </a:p>
          <a:p>
            <a:r>
              <a:t>    "In-app notification list"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"Case / class / shift event",</a:t>
            </a:r>
          </a:p>
          <a:p>
            <a:r>
              <a:t>      "triggers",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"Current role / record access",</a:t>
            </a:r>
          </a:p>
          <a:p>
            <a:r>
              <a:t>      "filters",</a:t>
            </a:r>
          </a:p>
          <a:p>
            <a:r>
              <a:t>      "Eligibility &amp; preferences"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"sends",</a:t>
            </a:r>
          </a:p>
          <a:p>
            <a:r>
              <a:t>      "Privacy-safe notification"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"Eligibility &amp; preferences",</a:t>
            </a:r>
          </a:p>
          <a:p>
            <a:r>
              <a:t>      "links",</a:t>
            </a:r>
          </a:p>
          <a:p>
            <a:r>
              <a:t>      "Authorised destination"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"Privacy-safe notification",</a:t>
            </a:r>
          </a:p>
          <a:p>
            <a:r>
              <a:t>      "prompts",</a:t>
            </a:r>
          </a:p>
          <a:p>
            <a:r>
              <a:t>      "Personal activity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destination",</a:t>
            </a:r>
          </a:p>
          <a:p>
            <a:r>
              <a:t>      "records",</a:t>
            </a:r>
          </a:p>
          <a:p>
            <a:r>
              <a:t>      "Personal activity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"activity",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 coherent history reduces uncertainty and keeps users connected to the action that needs their attention.",</a:t>
            </a:r>
          </a:p>
          <a:p>
            <a:r>
              <a:t>  "measure": "Correct own-record visibility; status accuracy; actionable updates",</a:t>
            </a:r>
          </a:p>
          <a:p>
            <a:r>
              <a:t>  "decision": "An activity view is not a public record of sensitive cases or beneficiary identities.",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 / case changes",</a:t>
            </a:r>
          </a:p>
          <a:p>
            <a:r>
              <a:t>      "records",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"Role &amp; record permissions",</a:t>
            </a:r>
          </a:p>
          <a:p>
            <a:r>
              <a:t>      "filters",</a:t>
            </a:r>
          </a:p>
          <a:p>
            <a:r>
              <a:t>      "Authorised activity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"opens",</a:t>
            </a:r>
          </a:p>
          <a:p>
            <a:r>
              <a:t>      "Next action /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activity record",</a:t>
            </a:r>
          </a:p>
          <a:p>
            <a:r>
              <a:t>      "connects",</a:t>
            </a:r>
          </a:p>
          <a:p>
            <a:r>
              <a:t>      "Learning / volunteer schedule"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"Next action / detail",</a:t>
            </a:r>
          </a:p>
          <a:p>
            <a:r>
              <a:t>      "continues",</a:t>
            </a:r>
          </a:p>
          <a:p>
            <a:r>
              <a:t>      "Safe reminder /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volunteer schedule",</a:t>
            </a:r>
          </a:p>
          <a:p>
            <a:r>
              <a:t>      "reminds",</a:t>
            </a:r>
          </a:p>
          <a:p>
            <a:r>
              <a:t>      "Safe reminder /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"admin",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"The staff system is the operating layer that turns applications, requests and content into accountable outcomes.",</a:t>
            </a:r>
          </a:p>
          <a:p>
            <a:r>
              <a:t>  "measure": "Decision history; queue ownership; correct role-limited staff actions",</a:t>
            </a:r>
          </a:p>
          <a:p>
            <a:r>
              <a:t>  "decision": "No staff permission is gained from paying, earning rank or switching a demo persona.",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"Applications / cases / content",</a:t>
            </a:r>
          </a:p>
          <a:p>
            <a:r>
              <a:t>      "enters",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policies &amp; responsibilities",</a:t>
            </a:r>
          </a:p>
          <a:p>
            <a:r>
              <a:t>      "governs",</a:t>
            </a:r>
          </a:p>
          <a:p>
            <a:r>
              <a:t>      "Duty-based staff queues"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"Duty-based staff queues",</a:t>
            </a:r>
          </a:p>
          <a:p>
            <a:r>
              <a:t>      "decides",</a:t>
            </a:r>
          </a:p>
          <a:p>
            <a:r>
              <a:t>      "Recorded staff decision"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"changes",</a:t>
            </a:r>
          </a:p>
          <a:p>
            <a:r>
              <a:t>      "Updated feature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"Recorded staff decision",</a:t>
            </a:r>
          </a:p>
          <a:p>
            <a:r>
              <a:t>      "audits",</a:t>
            </a:r>
          </a:p>
          <a:p>
            <a:r>
              <a:t>      "User update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"Updated feature state",</a:t>
            </a:r>
          </a:p>
          <a:p>
            <a:r>
              <a:t>      "updates",</a:t>
            </a:r>
          </a:p>
          <a:p>
            <a:r>
              <a:t>      "User update / report"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"reports",</a:t>
            </a:r>
          </a:p>
          <a:p>
            <a:r>
              <a:t>  "owner": "MRM + Zylax",</a:t>
            </a:r>
          </a:p>
          <a:p>
            <a:r>
              <a:t>  "scope": "Observed analytics + calculator concept \u00b7 figures illustrative",</a:t>
            </a:r>
          </a:p>
          <a:p>
            <a:r>
              <a:t>  "why": "Operational summaries are useful only when they derive from verified events and lead to a clear staff response.",</a:t>
            </a:r>
          </a:p>
          <a:p>
            <a:r>
              <a:t>  "measure": "Metric definitions; source reconciliation; restricted export tests",</a:t>
            </a:r>
          </a:p>
          <a:p>
            <a:r>
              <a:t>  "decision": "The demo\u2019s amounts, beneficiary counts, audit claims and SLA figures are not production evidence.",</a:t>
            </a:r>
          </a:p>
          <a:p>
            <a:r>
              <a:t>  "screen_evidence": [</a:t>
            </a:r>
          </a:p>
          <a:p>
            <a:r>
              <a:t>    "Analytics + calculator concept"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"Recorded case / programme events",</a:t>
            </a:r>
          </a:p>
          <a:p>
            <a:r>
              <a:t>      "aggregates",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"Data quality &amp; access rules",</a:t>
            </a:r>
          </a:p>
          <a:p>
            <a:r>
              <a:t>      "governs",</a:t>
            </a:r>
          </a:p>
          <a:p>
            <a:r>
              <a:t>      "Agreed operational summaries"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"informs",</a:t>
            </a:r>
          </a:p>
          <a:p>
            <a:r>
              <a:t>      "MRM review &amp;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"Agreed operational summaries",</a:t>
            </a:r>
          </a:p>
          <a:p>
            <a:r>
              <a:t>      "summarises",</a:t>
            </a:r>
          </a:p>
          <a:p>
            <a:r>
              <a:t>      "Learning / sponsor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review &amp; action",</a:t>
            </a:r>
          </a:p>
          <a:p>
            <a:r>
              <a:t>      "acts",</a:t>
            </a:r>
          </a:p>
          <a:p>
            <a:r>
              <a:t>      "Documented improvement"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"Learning / sponsor insight",</a:t>
            </a:r>
          </a:p>
          <a:p>
            <a:r>
              <a:t>      "improves",</a:t>
            </a:r>
          </a:p>
          <a:p>
            <a:r>
              <a:t>      "Documented improvement"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"security",</a:t>
            </a:r>
          </a:p>
          <a:p>
            <a:r>
              <a:t>  "owner": "MRM + Zylax",</a:t>
            </a:r>
          </a:p>
          <a:p>
            <a:r>
              <a:t>  "scope": "Approved scope \u00b7 proposed connections",</a:t>
            </a:r>
          </a:p>
          <a:p>
            <a:r>
              <a:t>  "why": "Access rules must remain effective in the API, files, exports and notifications, not only in visible screens.",</a:t>
            </a:r>
          </a:p>
          <a:p>
            <a:r>
              <a:t>  "measure": "Direct API denial; file permissions; audit / recovery checks",</a:t>
            </a:r>
          </a:p>
          <a:p>
            <a:r>
              <a:t>  "decision": "UI encryption badges or tax/audit labels are not independent security or compliance validation.",</a:t>
            </a:r>
          </a:p>
          <a:p>
            <a:r>
              <a:t>  "screen_evidence": [],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"Authenticated identity",</a:t>
            </a:r>
          </a:p>
          <a:p>
            <a:r>
              <a:t>      "checks",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"MRM privacy / retention policy",</a:t>
            </a:r>
          </a:p>
          <a:p>
            <a:r>
              <a:t>      "defines",</a:t>
            </a:r>
          </a:p>
          <a:p>
            <a:r>
              <a:t>      "Record-level authorisation"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"protects",</a:t>
            </a:r>
          </a:p>
          <a:p>
            <a:r>
              <a:t>      "Protected case / evidence"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"Record-level authorisation",</a:t>
            </a:r>
          </a:p>
          <a:p>
            <a:r>
              <a:t>      "constrains",</a:t>
            </a:r>
          </a:p>
          <a:p>
            <a:r>
              <a:t>      "Safe notifications / exports"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"Protected case / evidence",</a:t>
            </a:r>
          </a:p>
          <a:p>
            <a:r>
              <a:t>      "audits",</a:t>
            </a:r>
          </a:p>
          <a:p>
            <a:r>
              <a:t>      "Audit / backup / recovery"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notifications / exports",</a:t>
            </a:r>
          </a:p>
          <a:p>
            <a:r>
              <a:t>      "records",</a:t>
            </a:r>
          </a:p>
          <a:p>
            <a:r>
              <a:t>      "Audit / backup / recovery"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"settings",</a:t>
            </a:r>
          </a:p>
          <a:p>
            <a:r>
              <a:t>  "owner": "MRM + Zylax",</a:t>
            </a:r>
          </a:p>
          <a:p>
            <a:r>
              <a:t>  "scope": "Observed Settings; distinct dark-theme Home is shown on the main cover",</a:t>
            </a:r>
          </a:p>
          <a:p>
            <a:r>
              <a:t>  "why": "Preferences should change the intended experience consistently without silently changing role or record permissions.",</a:t>
            </a:r>
          </a:p>
          <a:p>
            <a:r>
              <a:t>  "measure": "Prayer-zone changes; consent; cache and supported device-lock tests",</a:t>
            </a:r>
          </a:p>
          <a:p>
            <a:r>
              <a:t>  "decision": "The panic-disguise option is a concept needing policy and technical review; it does not itself establish safety.",</a:t>
            </a:r>
          </a:p>
          <a:p>
            <a:r>
              <a:t>  "screen_evidence": [</a:t>
            </a:r>
          </a:p>
          <a:p>
            <a:r>
              <a:t>    "Settings, zone, lock and cache"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"User preferences",</a:t>
            </a:r>
          </a:p>
          <a:p>
            <a:r>
              <a:t>      "sets",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"Supported offline content",</a:t>
            </a:r>
          </a:p>
          <a:p>
            <a:r>
              <a:t>      "manages",</a:t>
            </a:r>
          </a:p>
          <a:p>
            <a:r>
              <a:t>      "Settings &amp; consent"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"configures",</a:t>
            </a:r>
          </a:p>
          <a:p>
            <a:r>
              <a:t>      "Prayer / reminder behaviour"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"Settings &amp; consent",</a:t>
            </a:r>
          </a:p>
          <a:p>
            <a:r>
              <a:t>      "controls",</a:t>
            </a:r>
          </a:p>
          <a:p>
            <a:r>
              <a:t>      "Device / privacy controls"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"Prayer / reminder behaviour",</a:t>
            </a:r>
          </a:p>
          <a:p>
            <a:r>
              <a:t>      "tests",</a:t>
            </a:r>
          </a:p>
          <a:p>
            <a:r>
              <a:t>      "Reliable repeated use"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"Device / privacy controls",</a:t>
            </a:r>
          </a:p>
          <a:p>
            <a:r>
              <a:t>      "protects",</a:t>
            </a:r>
          </a:p>
          <a:p>
            <a:r>
              <a:t>      "Reliable repeated use"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"reliability",</a:t>
            </a:r>
          </a:p>
          <a:p>
            <a:r>
              <a:t>  "owner": "MRM + Zylax",</a:t>
            </a:r>
          </a:p>
          <a:p>
            <a:r>
              <a:t>  "scope": "Observed loading skeleton \u00b7 empty/error tabs visible",</a:t>
            </a:r>
          </a:p>
          <a:p>
            <a:r>
              <a:t>  "why": "A failed request must explain what happened and offer the right recovery path without duplicating work.",</a:t>
            </a:r>
          </a:p>
          <a:p>
            <a:r>
              <a:t>  "measure": "Retry correctness; no duplicate submissions; recoverable state tests",</a:t>
            </a:r>
          </a:p>
          <a:p>
            <a:r>
              <a:t>  "decision": "Source 20 demonstrates a loading skeleton. Separate empty and error screenshots are reviewed on their own feature pages.",</a:t>
            </a:r>
          </a:p>
          <a:p>
            <a:r>
              <a:t>  "screen_evidence": [</a:t>
            </a:r>
          </a:p>
          <a:p>
            <a:r>
              <a:t>    "Loading-state skeleton"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"API / content operation",</a:t>
            </a:r>
          </a:p>
          <a:p>
            <a:r>
              <a:t>      "loads",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"Permission / network outcome",</a:t>
            </a:r>
          </a:p>
          <a:p>
            <a:r>
              <a:t>      "explains",</a:t>
            </a:r>
          </a:p>
          <a:p>
            <a:r>
              <a:t>      "Visible state feedback"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"guides",</a:t>
            </a:r>
          </a:p>
          <a:p>
            <a:r>
              <a:t>      "Safe retry /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state feedback",</a:t>
            </a:r>
          </a:p>
          <a:p>
            <a:r>
              <a:t>      "checks",</a:t>
            </a:r>
          </a:p>
          <a:p>
            <a:r>
              <a:t>      "Persistent operation status"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retry / next action",</a:t>
            </a:r>
          </a:p>
          <a:p>
            <a:r>
              <a:t>      "escalates",</a:t>
            </a:r>
          </a:p>
          <a:p>
            <a:r>
              <a:t>      "Support / staff follow-up"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status",</a:t>
            </a:r>
          </a:p>
          <a:p>
            <a:r>
              <a:t>      "prevents loss",</a:t>
            </a:r>
          </a:p>
          <a:p>
            <a:r>
              <a:t>      "Support / staff follow-up"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"empty",</a:t>
            </a:r>
          </a:p>
          <a:p>
            <a:r>
              <a:t>  "owner": "MRM + Zylax",</a:t>
            </a:r>
          </a:p>
          <a:p>
            <a:r>
              <a:t>  "scope": "Observed \u201cNo Active Care Missions\u201d empty-state panel",</a:t>
            </a:r>
          </a:p>
          <a:p>
            <a:r>
              <a:t>  "why": "A genuine empty state reduces confusion without claiming that work is completed simply because nothing is displayed.",</a:t>
            </a:r>
          </a:p>
          <a:p>
            <a:r>
              <a:t>  "measure": "Correct zero-state wording; next-action eligibility; no false completion",</a:t>
            </a:r>
          </a:p>
          <a:p>
            <a:r>
              <a:t>  "decision": "\u201cAll dispatches completed\u201d is prototype copy, not a verified operational result.",</a:t>
            </a:r>
          </a:p>
          <a:p>
            <a:r>
              <a:t>  "screen_evidence": [</a:t>
            </a:r>
          </a:p>
          <a:p>
            <a:r>
              <a:t>    "Empty-state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"Authorised query",</a:t>
            </a:r>
          </a:p>
          <a:p>
            <a:r>
              <a:t>      "returns",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"Record / network checks",</a:t>
            </a:r>
          </a:p>
          <a:p>
            <a:r>
              <a:t>      "distinguishes",</a:t>
            </a:r>
          </a:p>
          <a:p>
            <a:r>
              <a:t>      "Confirmed empty result"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"guides",</a:t>
            </a:r>
          </a:p>
          <a:p>
            <a:r>
              <a:t>      "Useful next action"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"Confirmed empty result",</a:t>
            </a:r>
          </a:p>
          <a:p>
            <a:r>
              <a:t>      "offers",</a:t>
            </a:r>
          </a:p>
          <a:p>
            <a:r>
              <a:t>      "Service / programme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"Service / programme discovery",</a:t>
            </a:r>
          </a:p>
          <a:p>
            <a:r>
              <a:t>      "starts",</a:t>
            </a:r>
          </a:p>
          <a:p>
            <a:r>
              <a:t>      "New valid activity"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"error",</a:t>
            </a:r>
          </a:p>
          <a:p>
            <a:r>
              <a:t>  "owner": "MRM + Zylax",</a:t>
            </a:r>
          </a:p>
          <a:p>
            <a:r>
              <a:t>  "scope": "Observed network-error panel with reconnect control",</a:t>
            </a:r>
          </a:p>
          <a:p>
            <a:r>
              <a:t>  "why": "A clear failure state should recover the correct operation and preserve data, rather than silently repeat a submission.",</a:t>
            </a:r>
          </a:p>
          <a:p>
            <a:r>
              <a:t>  "measure": "Reconnect; idempotent retry; cached access; status reconciliation",</a:t>
            </a:r>
          </a:p>
          <a:p>
            <a:r>
              <a:t>  "decision": "The screen says cached Quran and prayer remain available; actual offline behaviour still needs testing.",</a:t>
            </a:r>
          </a:p>
          <a:p>
            <a:r>
              <a:t>  "screen_evidence": [</a:t>
            </a:r>
          </a:p>
          <a:p>
            <a:r>
              <a:t>    "Network-error panel"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"Failed service operation",</a:t>
            </a:r>
          </a:p>
          <a:p>
            <a:r>
              <a:t>      "fails",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"Available offline content",</a:t>
            </a:r>
          </a:p>
          <a:p>
            <a:r>
              <a:t>      "offers fallback",</a:t>
            </a:r>
          </a:p>
          <a:p>
            <a:r>
              <a:t>      "Visible error explanation"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"guides",</a:t>
            </a:r>
          </a:p>
          <a:p>
            <a:r>
              <a:t>      "Safe reconnect / retry"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"Visible error explanation",</a:t>
            </a:r>
          </a:p>
          <a:p>
            <a:r>
              <a:t>      "checks",</a:t>
            </a:r>
          </a:p>
          <a:p>
            <a:r>
              <a:t>      "Persistent operation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"Safe reconnect / retry",</a:t>
            </a:r>
          </a:p>
          <a:p>
            <a:r>
              <a:t>      "recovers",</a:t>
            </a:r>
          </a:p>
          <a:p>
            <a:r>
              <a:t>      "Recovered permitted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"Persistent operation record",</a:t>
            </a:r>
          </a:p>
          <a:p>
            <a:r>
              <a:t>      "reconciles",</a:t>
            </a:r>
          </a:p>
          <a:p>
            <a:r>
              <a:t>      "Recovered permitted journey"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"campaigns",</a:t>
            </a:r>
          </a:p>
          <a:p>
            <a:r>
              <a:t>  "owner": "MRM + Zylax",</a:t>
            </a:r>
          </a:p>
          <a:p>
            <a:r>
              <a:t>  "scope": "Extended concept \u00b7 fundraising / authority approval required",</a:t>
            </a:r>
          </a:p>
          <a:p>
            <a:r>
              <a:t>  "why": "A transparent campaign should explain its purpose and owner before a person considers a contribution.",</a:t>
            </a:r>
          </a:p>
          <a:p>
            <a:r>
              <a:t>  "measure": "Approved campaign information; correct status; purpose clarity",</a:t>
            </a:r>
          </a:p>
          <a:p>
            <a:r>
              <a:t>  "decision": "The filename says catalog; the visible screen is Infaq &amp; Relief Campaigns, not a marketplace.",</a:t>
            </a:r>
          </a:p>
          <a:p>
            <a:r>
              <a:t>  "screen_evidence": [</a:t>
            </a:r>
          </a:p>
          <a:p>
            <a:r>
              <a:t>    "Infaq &amp; Relief Campaigns"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programme / purpose",</a:t>
            </a:r>
          </a:p>
          <a:p>
            <a:r>
              <a:t>      "publishes",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&amp; claim review",</a:t>
            </a:r>
          </a:p>
          <a:p>
            <a:r>
              <a:t>      "approves",</a:t>
            </a:r>
          </a:p>
          <a:p>
            <a:r>
              <a:t>      "Campaign discovery"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"Campaign discovery",</a:t>
            </a:r>
          </a:p>
          <a:p>
            <a:r>
              <a:t>      "explains",</a:t>
            </a:r>
          </a:p>
          <a:p>
            <a:r>
              <a:t>      "Purpose / provisions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/ provisions detail",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"continues",</a:t>
            </a:r>
          </a:p>
          <a:p>
            <a:r>
              <a:t>      "Recorded contribution status"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"campaign_detail",</a:t>
            </a:r>
          </a:p>
          <a:p>
            <a:r>
              <a:t>  "owner": "MRM + Zylax",</a:t>
            </a:r>
          </a:p>
          <a:p>
            <a:r>
              <a:t>  "scope": "Extended concept \u00b7 distinct Overview and Provisions tabs",</a:t>
            </a:r>
          </a:p>
          <a:p>
            <a:r>
              <a:t>  "why": "Clear provisions and responsible ownership help supporters understand the intended purpose without relying on unsupported impact claims.",</a:t>
            </a:r>
          </a:p>
          <a:p>
            <a:r>
              <a:t>  "measure": "Approved provisions; amount calculation; correct purpose selection",</a:t>
            </a:r>
          </a:p>
          <a:p>
            <a:r>
              <a:t>  "decision": "\u201cProduct detail\u201d is a generic filename. These are relief-purpose tabs; delivery, tax and partnership claims are unverified.",</a:t>
            </a:r>
          </a:p>
          <a:p>
            <a:r>
              <a:t>  "screen_evidence": [</a:t>
            </a:r>
          </a:p>
          <a:p>
            <a:r>
              <a:t>    "Campaign detail \u00b7 Overview",</a:t>
            </a:r>
          </a:p>
          <a:p>
            <a:r>
              <a:t>    "Campaign detail \u00b7 Provisions"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"Campaign selection",</a:t>
            </a:r>
          </a:p>
          <a:p>
            <a:r>
              <a:t>      "opens",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"Claims / rights approval",</a:t>
            </a:r>
          </a:p>
          <a:p>
            <a:r>
              <a:t>      "reviews",</a:t>
            </a:r>
          </a:p>
          <a:p>
            <a:r>
              <a:t>      "Purpose &amp; provision detail"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"selects",</a:t>
            </a:r>
          </a:p>
          <a:p>
            <a:r>
              <a:t>      "Contribution selection"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"Purpose &amp; provision detail",</a:t>
            </a:r>
          </a:p>
          <a:p>
            <a:r>
              <a:t>      "explains",</a:t>
            </a:r>
          </a:p>
          <a:p>
            <a:r>
              <a:t>      "Permitted impact information"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selection",</a:t>
            </a:r>
          </a:p>
          <a:p>
            <a:r>
              <a:t>      "continues",</a:t>
            </a:r>
          </a:p>
          <a:p>
            <a:r>
              <a:t>      "Verified status / confirmation"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"impact",</a:t>
            </a:r>
          </a:p>
          <a:p>
            <a:r>
              <a:t>  "owner": "MRM + Zylax",</a:t>
            </a:r>
          </a:p>
          <a:p>
            <a:r>
              <a:t>  "scope": "Extended concept \u00b7 sample Impact tab, not verified testimonials",</a:t>
            </a:r>
          </a:p>
          <a:p>
            <a:r>
              <a:t>  "why": "Verified and consented evidence can explain value; a sample testimonial must never be presented as a proven result.",</a:t>
            </a:r>
          </a:p>
          <a:p>
            <a:r>
              <a:t>  "measure": "Evidence traceability; consent; approval and correction records",</a:t>
            </a:r>
          </a:p>
          <a:p>
            <a:r>
              <a:t>  "decision": "The statements and verification badges in this capture are illustrative; no testimonial has been independently confirmed.",</a:t>
            </a:r>
          </a:p>
          <a:p>
            <a:r>
              <a:t>  "screen_evidence": [</a:t>
            </a:r>
          </a:p>
          <a:p>
            <a:r>
              <a:t>    "Campaign detail \u00b7 sample Impact"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"Verified service outcome",</a:t>
            </a:r>
          </a:p>
          <a:p>
            <a:r>
              <a:t>      "evidences",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"Beneficiary consent &amp; privacy",</a:t>
            </a:r>
          </a:p>
          <a:p>
            <a:r>
              <a:t>      "permits",</a:t>
            </a:r>
          </a:p>
          <a:p>
            <a:r>
              <a:t>      "Approved impact record"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"publishes",</a:t>
            </a:r>
          </a:p>
          <a:p>
            <a:r>
              <a:t>      "Public campaign / report"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"Approved impact record",</a:t>
            </a:r>
          </a:p>
          <a:p>
            <a:r>
              <a:t>      "aggregates",</a:t>
            </a:r>
          </a:p>
          <a:p>
            <a:r>
              <a:t>      "Aggregate programme insight"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"Public campaign / report",</a:t>
            </a:r>
          </a:p>
          <a:p>
            <a:r>
              <a:t>      "corrects",</a:t>
            </a:r>
          </a:p>
          <a:p>
            <a:r>
              <a:t>      "Content correction / withdrawal"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"allocation",</a:t>
            </a:r>
          </a:p>
          <a:p>
            <a:r>
              <a:t>  "owner": "MRM + Zylax",</a:t>
            </a:r>
          </a:p>
          <a:p>
            <a:r>
              <a:t>  "scope": "Extended concept \u00b7 Sadaqah / Infaq allocation, not retail cart",</a:t>
            </a:r>
          </a:p>
          <a:p>
            <a:r>
              <a:t>  "why": "An explicit allocation and transparent total reduce confusion between donations, business sponsorship and teacher subscriptions.",</a:t>
            </a:r>
          </a:p>
          <a:p>
            <a:r>
              <a:t>  "measure": "Amount consistency; purpose consent; valid financial-state transition",</a:t>
            </a:r>
          </a:p>
          <a:p>
            <a:r>
              <a:t>  "decision": "Prototype amounts are examples. Religious purpose, handling and tax wording require approval; this is not goods checkout.",</a:t>
            </a:r>
          </a:p>
          <a:p>
            <a:r>
              <a:t>  "screen_evidence": [</a:t>
            </a:r>
          </a:p>
          <a:p>
            <a:r>
              <a:t>    "Sadaqah &amp; Infaq Allocation"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campaign / provision",</a:t>
            </a:r>
          </a:p>
          <a:p>
            <a:r>
              <a:t>      "selects",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"Financial policy &amp; permission",</a:t>
            </a:r>
          </a:p>
          <a:p>
            <a:r>
              <a:t>      "governs",</a:t>
            </a:r>
          </a:p>
          <a:p>
            <a:r>
              <a:t>      "Contribution allocation"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"Contribution allocation",</a:t>
            </a:r>
          </a:p>
          <a:p>
            <a:r>
              <a:t>      "calculates",</a:t>
            </a:r>
          </a:p>
          <a:p>
            <a:r>
              <a:t>      "Amount / purpose review"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"Amount / purpose review",</a:t>
            </a:r>
          </a:p>
          <a:p>
            <a:r>
              <a:t>      "confirms",</a:t>
            </a:r>
          </a:p>
          <a:p>
            <a:r>
              <a:t>      "Conditional payment journey"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"Conditional payment journey",</a:t>
            </a:r>
          </a:p>
          <a:p>
            <a:r>
              <a:t>      "verifies",</a:t>
            </a:r>
          </a:p>
          <a:p>
            <a:r>
              <a:t>      "Receipt / status record"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"feature": "donation_payment",</a:t>
            </a:r>
          </a:p>
          <a:p>
            <a:r>
              <a:t>  "owner": "MRM + Zylax",</a:t>
            </a:r>
          </a:p>
          <a:p>
            <a:r>
              <a:t>  "scope": "Extended concept \u00b7 earlier proposal excludes zakat collection / disbursement",</a:t>
            </a:r>
          </a:p>
          <a:p>
            <a:r>
              <a:t>  "why": "Financial confirmation needs verified transactions, approved authority wording and reconciliation before any receipt or disbursement claim.",</a:t>
            </a:r>
          </a:p>
          <a:p>
            <a:r>
              <a:t>  "measure": "Payment verification; failed / duplicate handling; reconciliation",</a:t>
            </a:r>
          </a:p>
          <a:p>
            <a:r>
              <a:t>  "decision": "The visible image is onboarding pillar 2, not checkout. Payment / receipt captures are withheld; gateway, tax and transfer claims remain unverified.",</a:t>
            </a:r>
          </a:p>
          <a:p>
            <a:r>
              <a:t>  "screen_evidence": [</a:t>
            </a:r>
          </a:p>
          <a:p>
            <a:r>
              <a:t>    "Onboarding \u00b7 welfare / aid pillar"</a:t>
            </a:r>
          </a:p>
          <a:p>
            <a:r>
              <a:t>  ],</a:t>
            </a:r>
          </a:p>
          <a:p>
            <a:r>
              <a:t>  "connections": [</a:t>
            </a:r>
          </a:p>
          <a:p>
            <a:r>
              <a:t>    [</a:t>
            </a:r>
          </a:p>
          <a:p>
            <a:r>
              <a:t>      "Approved allocation",</a:t>
            </a:r>
          </a:p>
          <a:p>
            <a:r>
              <a:t>      "initiates",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"Authority / financial approval",</a:t>
            </a:r>
          </a:p>
          <a:p>
            <a:r>
              <a:t>      "authorises",</a:t>
            </a:r>
          </a:p>
          <a:p>
            <a:r>
              <a:t>      "Authorised payment process"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"Authorised payment process",</a:t>
            </a:r>
          </a:p>
          <a:p>
            <a:r>
              <a:t>      "verifies",</a:t>
            </a:r>
          </a:p>
          <a:p>
            <a:r>
              <a:t>      "Verified transaction state"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"Verified transaction state",</a:t>
            </a:r>
          </a:p>
          <a:p>
            <a:r>
              <a:t>      "confirms",</a:t>
            </a:r>
          </a:p>
          <a:p>
            <a:r>
              <a:t>      "Permitted receipt / update"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"Permitted receipt / update",</a:t>
            </a:r>
          </a:p>
          <a:p>
            <a:r>
              <a:t>      "reconciles",</a:t>
            </a:r>
          </a:p>
          <a:p>
            <a:r>
              <a:t>      "Reconciliation / staff oversight"</a:t>
            </a:r>
          </a:p>
          <a:p>
            <a:r>
              <a:t>    ]</a:t>
            </a:r>
          </a:p>
          <a:p>
            <a:r>
              <a:t>  ]</a:t>
            </a:r>
          </a:p>
          <a:p>
            <a:r>
              <a:t>}</a:t>
            </a:r>
          </a:p>
          <a:p>
            <a:r>
              <a:t>Screen UI is evidence of a visual state, not tested persistence, permissions, live APIs, religious approval, tax certification, payment or production impact. Only corrected Drive images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Relationship Id="rId7" Type="http://schemas.openxmlformats.org/officeDocument/2006/relationships/slide" Target="slide38.xml"/><Relationship Id="rId8" Type="http://schemas.openxmlformats.org/officeDocument/2006/relationships/slide" Target="slide6.xml"/><Relationship Id="rId9" Type="http://schemas.openxmlformats.org/officeDocument/2006/relationships/slide" Target="slide44.xml"/><Relationship Id="rId10" Type="http://schemas.openxmlformats.org/officeDocument/2006/relationships/slide" Target="slide2.xml"/><Relationship Id="rId11" Type="http://schemas.openxmlformats.org/officeDocument/2006/relationships/slide" Target="slide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4.xml"/><Relationship Id="rId9" Type="http://schemas.openxmlformats.org/officeDocument/2006/relationships/slide" Target="slide43.xml"/><Relationship Id="rId10" Type="http://schemas.openxmlformats.org/officeDocument/2006/relationships/slide" Target="slide20.xml"/><Relationship Id="rId11" Type="http://schemas.openxmlformats.org/officeDocument/2006/relationships/slide" Target="slide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5.xml"/><Relationship Id="rId10" Type="http://schemas.openxmlformats.org/officeDocument/2006/relationships/slide" Target="slide43.xml"/><Relationship Id="rId11" Type="http://schemas.openxmlformats.org/officeDocument/2006/relationships/slide" Target="slide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4.xml"/><Relationship Id="rId9" Type="http://schemas.openxmlformats.org/officeDocument/2006/relationships/slide" Target="slide5.xml"/><Relationship Id="rId10" Type="http://schemas.openxmlformats.org/officeDocument/2006/relationships/slide" Target="slide20.xml"/><Relationship Id="rId11" Type="http://schemas.openxmlformats.org/officeDocument/2006/relationships/slide" Target="slide21.xml"/><Relationship Id="rId12" Type="http://schemas.openxmlformats.org/officeDocument/2006/relationships/slide" Target="slide4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6" Type="http://schemas.openxmlformats.org/officeDocument/2006/relationships/slide" Target="slide1.xml"/><Relationship Id="rId7" Type="http://schemas.openxmlformats.org/officeDocument/2006/relationships/slide" Target="slide44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4.xml"/><Relationship Id="rId11" Type="http://schemas.openxmlformats.org/officeDocument/2006/relationships/slide" Target="slide19.xml"/><Relationship Id="rId12" Type="http://schemas.openxmlformats.org/officeDocument/2006/relationships/slide" Target="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6" Type="http://schemas.openxmlformats.org/officeDocument/2006/relationships/slide" Target="slide1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9.xml"/><Relationship Id="rId10" Type="http://schemas.openxmlformats.org/officeDocument/2006/relationships/slide" Target="slide43.xml"/><Relationship Id="rId11" Type="http://schemas.openxmlformats.org/officeDocument/2006/relationships/slide" Target="slide33.xml"/><Relationship Id="rId12" Type="http://schemas.openxmlformats.org/officeDocument/2006/relationships/slide" Target="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Relationship Id="rId6" Type="http://schemas.openxmlformats.org/officeDocument/2006/relationships/slide" Target="slide1.xml"/><Relationship Id="rId7" Type="http://schemas.openxmlformats.org/officeDocument/2006/relationships/slide" Target="slide44.xml"/><Relationship Id="rId8" Type="http://schemas.openxmlformats.org/officeDocument/2006/relationships/slide" Target="slide7.xml"/><Relationship Id="rId9" Type="http://schemas.openxmlformats.org/officeDocument/2006/relationships/slide" Target="slide5.xml"/><Relationship Id="rId10" Type="http://schemas.openxmlformats.org/officeDocument/2006/relationships/slide" Target="slide39.xml"/><Relationship Id="rId11" Type="http://schemas.openxmlformats.org/officeDocument/2006/relationships/slide" Target="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Relationship Id="rId6" Type="http://schemas.openxmlformats.org/officeDocument/2006/relationships/slide" Target="slide1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40.xml"/><Relationship Id="rId10" Type="http://schemas.openxmlformats.org/officeDocument/2006/relationships/slide" Target="slide43.xml"/><Relationship Id="rId11" Type="http://schemas.openxmlformats.org/officeDocument/2006/relationships/slide" Target="slide14.xml"/><Relationship Id="rId12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Relationship Id="rId6" Type="http://schemas.openxmlformats.org/officeDocument/2006/relationships/slide" Target="slide1.xml"/><Relationship Id="rId7" Type="http://schemas.openxmlformats.org/officeDocument/2006/relationships/slide" Target="slide44.xml"/><Relationship Id="rId8" Type="http://schemas.openxmlformats.org/officeDocument/2006/relationships/slide" Target="slide9.xml"/><Relationship Id="rId9" Type="http://schemas.openxmlformats.org/officeDocument/2006/relationships/slide" Target="slide6.xml"/><Relationship Id="rId10" Type="http://schemas.openxmlformats.org/officeDocument/2006/relationships/slide" Target="slide43.xml"/><Relationship Id="rId11" Type="http://schemas.openxmlformats.org/officeDocument/2006/relationships/slide" Target="slide7.xml"/><Relationship Id="rId12" Type="http://schemas.openxmlformats.org/officeDocument/2006/relationships/slide" Target="slide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6" Type="http://schemas.openxmlformats.org/officeDocument/2006/relationships/slide" Target="slide1.xml"/><Relationship Id="rId7" Type="http://schemas.openxmlformats.org/officeDocument/2006/relationships/slide" Target="slide43.xml"/><Relationship Id="rId8" Type="http://schemas.openxmlformats.org/officeDocument/2006/relationships/slide" Target="slide10.xml"/><Relationship Id="rId9" Type="http://schemas.openxmlformats.org/officeDocument/2006/relationships/slide" Target="slide33.xml"/><Relationship Id="rId10" Type="http://schemas.openxmlformats.org/officeDocument/2006/relationships/slide" Target="slide41.xml"/><Relationship Id="rId11" Type="http://schemas.openxmlformats.org/officeDocument/2006/relationships/slide" Target="slide44.xml"/><Relationship Id="rId12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Relationship Id="rId6" Type="http://schemas.openxmlformats.org/officeDocument/2006/relationships/slide" Target="slide1.xml"/><Relationship Id="rId7" Type="http://schemas.openxmlformats.org/officeDocument/2006/relationships/slide" Target="slide13.xml"/><Relationship Id="rId8" Type="http://schemas.openxmlformats.org/officeDocument/2006/relationships/slide" Target="slide11.xml"/><Relationship Id="rId9" Type="http://schemas.openxmlformats.org/officeDocument/2006/relationships/slide" Target="slide40.xml"/><Relationship Id="rId10" Type="http://schemas.openxmlformats.org/officeDocument/2006/relationships/slide" Target="slide44.xml"/><Relationship Id="rId11" Type="http://schemas.openxmlformats.org/officeDocument/2006/relationships/slide" Target="slide12.xml"/><Relationship Id="rId12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2.xml"/><Relationship Id="rId6" Type="http://schemas.openxmlformats.org/officeDocument/2006/relationships/slide" Target="slide1.xml"/><Relationship Id="rId7" Type="http://schemas.openxmlformats.org/officeDocument/2006/relationships/slide" Target="slide6.xml"/><Relationship Id="rId8" Type="http://schemas.openxmlformats.org/officeDocument/2006/relationships/slide" Target="slide12.xml"/><Relationship Id="rId9" Type="http://schemas.openxmlformats.org/officeDocument/2006/relationships/slide" Target="slide33.xml"/><Relationship Id="rId10" Type="http://schemas.openxmlformats.org/officeDocument/2006/relationships/slide" Target="slide41.xml"/><Relationship Id="rId11" Type="http://schemas.openxmlformats.org/officeDocument/2006/relationships/slide" Target="slide8.xml"/><Relationship Id="rId12" Type="http://schemas.openxmlformats.org/officeDocument/2006/relationships/slide" Target="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3.xml"/><Relationship Id="rId6" Type="http://schemas.openxmlformats.org/officeDocument/2006/relationships/slide" Target="slide1.xml"/><Relationship Id="rId7" Type="http://schemas.openxmlformats.org/officeDocument/2006/relationships/slide" Target="slide43.xml"/><Relationship Id="rId8" Type="http://schemas.openxmlformats.org/officeDocument/2006/relationships/slide" Target="slide13.xml"/><Relationship Id="rId9" Type="http://schemas.openxmlformats.org/officeDocument/2006/relationships/slide" Target="slide33.xml"/><Relationship Id="rId10" Type="http://schemas.openxmlformats.org/officeDocument/2006/relationships/slide" Target="slide41.xml"/><Relationship Id="rId11" Type="http://schemas.openxmlformats.org/officeDocument/2006/relationships/slide" Target="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Relationship Id="rId6" Type="http://schemas.openxmlformats.org/officeDocument/2006/relationships/slide" Target="slide1.xml"/><Relationship Id="rId7" Type="http://schemas.openxmlformats.org/officeDocument/2006/relationships/slide" Target="slide33.xml"/><Relationship Id="rId8" Type="http://schemas.openxmlformats.org/officeDocument/2006/relationships/slide" Target="slide14.xml"/><Relationship Id="rId9" Type="http://schemas.openxmlformats.org/officeDocument/2006/relationships/slide" Target="slide7.xml"/><Relationship Id="rId10" Type="http://schemas.openxmlformats.org/officeDocument/2006/relationships/slide" Target="slide9.xml"/><Relationship Id="rId11" Type="http://schemas.openxmlformats.org/officeDocument/2006/relationships/slide" Target="slide34.xml"/><Relationship Id="rId12" Type="http://schemas.openxmlformats.org/officeDocument/2006/relationships/slide" Target="slide4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5.xml"/><Relationship Id="rId6" Type="http://schemas.openxmlformats.org/officeDocument/2006/relationships/slide" Target="slide1.xml"/><Relationship Id="rId7" Type="http://schemas.openxmlformats.org/officeDocument/2006/relationships/slide" Target="slide41.xml"/><Relationship Id="rId8" Type="http://schemas.openxmlformats.org/officeDocument/2006/relationships/slide" Target="slide15.xml"/><Relationship Id="rId9" Type="http://schemas.openxmlformats.org/officeDocument/2006/relationships/slide" Target="slide33.xml"/><Relationship Id="rId10" Type="http://schemas.openxmlformats.org/officeDocument/2006/relationships/slide" Target="slide6.xml"/><Relationship Id="rId11" Type="http://schemas.openxmlformats.org/officeDocument/2006/relationships/slide" Target="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6.xml"/><Relationship Id="rId6" Type="http://schemas.openxmlformats.org/officeDocument/2006/relationships/slide" Target="slide1.xml"/><Relationship Id="rId7" Type="http://schemas.openxmlformats.org/officeDocument/2006/relationships/slide" Target="slide6.xml"/><Relationship Id="rId8" Type="http://schemas.openxmlformats.org/officeDocument/2006/relationships/slide" Target="slide16.xml"/><Relationship Id="rId9" Type="http://schemas.openxmlformats.org/officeDocument/2006/relationships/slide" Target="slide5.xml"/><Relationship Id="rId10" Type="http://schemas.openxmlformats.org/officeDocument/2006/relationships/slide" Target="slide41.xml"/><Relationship Id="rId11" Type="http://schemas.openxmlformats.org/officeDocument/2006/relationships/slide" Target="slide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7.xml"/><Relationship Id="rId6" Type="http://schemas.openxmlformats.org/officeDocument/2006/relationships/slide" Target="slide1.xml"/><Relationship Id="rId7" Type="http://schemas.openxmlformats.org/officeDocument/2006/relationships/slide" Target="slide44.xml"/><Relationship Id="rId8" Type="http://schemas.openxmlformats.org/officeDocument/2006/relationships/slide" Target="slide17.xml"/><Relationship Id="rId9" Type="http://schemas.openxmlformats.org/officeDocument/2006/relationships/slide" Target="slide33.xml"/><Relationship Id="rId10" Type="http://schemas.openxmlformats.org/officeDocument/2006/relationships/slide" Target="slide7.xml"/><Relationship Id="rId11" Type="http://schemas.openxmlformats.org/officeDocument/2006/relationships/slide" Target="slide35.xml"/><Relationship Id="rId12" Type="http://schemas.openxmlformats.org/officeDocument/2006/relationships/slide" Target="slide3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8.xml"/><Relationship Id="rId6" Type="http://schemas.openxmlformats.org/officeDocument/2006/relationships/slide" Target="slide1.xml"/><Relationship Id="rId7" Type="http://schemas.openxmlformats.org/officeDocument/2006/relationships/slide" Target="slide43.xml"/><Relationship Id="rId8" Type="http://schemas.openxmlformats.org/officeDocument/2006/relationships/slide" Target="slide18.xml"/><Relationship Id="rId9" Type="http://schemas.openxmlformats.org/officeDocument/2006/relationships/slide" Target="slide33.xml"/><Relationship Id="rId10" Type="http://schemas.openxmlformats.org/officeDocument/2006/relationships/slide" Target="slide44.xml"/><Relationship Id="rId11" Type="http://schemas.openxmlformats.org/officeDocument/2006/relationships/slide" Target="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9.xml"/><Relationship Id="rId6" Type="http://schemas.openxmlformats.org/officeDocument/2006/relationships/slide" Target="slide1.xml"/><Relationship Id="rId7" Type="http://schemas.openxmlformats.org/officeDocument/2006/relationships/slide" Target="slide5.xml"/><Relationship Id="rId8" Type="http://schemas.openxmlformats.org/officeDocument/2006/relationships/slide" Target="slide19.xml"/><Relationship Id="rId9" Type="http://schemas.openxmlformats.org/officeDocument/2006/relationships/slide" Target="slide41.xml"/><Relationship Id="rId10" Type="http://schemas.openxmlformats.org/officeDocument/2006/relationships/slide" Target="slide43.xml"/><Relationship Id="rId11" Type="http://schemas.openxmlformats.org/officeDocument/2006/relationships/slide" Target="slide22.xml"/><Relationship Id="rId12" Type="http://schemas.openxmlformats.org/officeDocument/2006/relationships/slide" Target="slide4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0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20.xml"/><Relationship Id="rId9" Type="http://schemas.openxmlformats.org/officeDocument/2006/relationships/slide" Target="slide4.xml"/><Relationship Id="rId10" Type="http://schemas.openxmlformats.org/officeDocument/2006/relationships/slide" Target="slide43.xml"/><Relationship Id="rId11" Type="http://schemas.openxmlformats.org/officeDocument/2006/relationships/slide" Target="slide22.xml"/><Relationship Id="rId12" Type="http://schemas.openxmlformats.org/officeDocument/2006/relationships/slide" Target="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1.xml"/><Relationship Id="rId6" Type="http://schemas.openxmlformats.org/officeDocument/2006/relationships/slide" Target="slide1.xml"/><Relationship Id="rId7" Type="http://schemas.openxmlformats.org/officeDocument/2006/relationships/slide" Target="slide4.xml"/><Relationship Id="rId8" Type="http://schemas.openxmlformats.org/officeDocument/2006/relationships/slide" Target="slide21.xml"/><Relationship Id="rId9" Type="http://schemas.openxmlformats.org/officeDocument/2006/relationships/slide" Target="slide6.xml"/><Relationship Id="rId10" Type="http://schemas.openxmlformats.org/officeDocument/2006/relationships/slide" Target="slide44.xml"/><Relationship Id="rId11" Type="http://schemas.openxmlformats.org/officeDocument/2006/relationships/slide" Target="slide22.xml"/><Relationship Id="rId12" Type="http://schemas.openxmlformats.org/officeDocument/2006/relationships/slide" Target="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2.xml"/><Relationship Id="rId6" Type="http://schemas.openxmlformats.org/officeDocument/2006/relationships/slide" Target="slide1.xml"/><Relationship Id="rId7" Type="http://schemas.openxmlformats.org/officeDocument/2006/relationships/slide" Target="slide19.xml"/><Relationship Id="rId8" Type="http://schemas.openxmlformats.org/officeDocument/2006/relationships/slide" Target="slide22.xml"/><Relationship Id="rId9" Type="http://schemas.openxmlformats.org/officeDocument/2006/relationships/slide" Target="slide39.xml"/><Relationship Id="rId10" Type="http://schemas.openxmlformats.org/officeDocument/2006/relationships/slide" Target="slide20.xml"/><Relationship Id="rId11" Type="http://schemas.openxmlformats.org/officeDocument/2006/relationships/slide" Target="slide23.xml"/><Relationship Id="rId12" Type="http://schemas.openxmlformats.org/officeDocument/2006/relationships/slide" Target="slide4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3.xml"/><Relationship Id="rId6" Type="http://schemas.openxmlformats.org/officeDocument/2006/relationships/slide" Target="slide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6.xml"/><Relationship Id="rId10" Type="http://schemas.openxmlformats.org/officeDocument/2006/relationships/slide" Target="slide41.xml"/><Relationship Id="rId11" Type="http://schemas.openxmlformats.org/officeDocument/2006/relationships/slide" Target="slide40.xml"/><Relationship Id="rId12" Type="http://schemas.openxmlformats.org/officeDocument/2006/relationships/slide" Target="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4.xml"/><Relationship Id="rId6" Type="http://schemas.openxmlformats.org/officeDocument/2006/relationships/slide" Target="slide1.xml"/><Relationship Id="rId7" Type="http://schemas.openxmlformats.org/officeDocument/2006/relationships/slide" Target="slide19.xml"/><Relationship Id="rId8" Type="http://schemas.openxmlformats.org/officeDocument/2006/relationships/slide" Target="slide24.xml"/><Relationship Id="rId9" Type="http://schemas.openxmlformats.org/officeDocument/2006/relationships/slide" Target="slide41.xml"/><Relationship Id="rId10" Type="http://schemas.openxmlformats.org/officeDocument/2006/relationships/slide" Target="slide43.xml"/><Relationship Id="rId11" Type="http://schemas.openxmlformats.org/officeDocument/2006/relationships/slide" Target="slide26.xml"/><Relationship Id="rId12" Type="http://schemas.openxmlformats.org/officeDocument/2006/relationships/slide" Target="slide4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5.xml"/><Relationship Id="rId6" Type="http://schemas.openxmlformats.org/officeDocument/2006/relationships/slide" Target="slide1.xml"/><Relationship Id="rId7" Type="http://schemas.openxmlformats.org/officeDocument/2006/relationships/slide" Target="slide26.xml"/><Relationship Id="rId8" Type="http://schemas.openxmlformats.org/officeDocument/2006/relationships/slide" Target="slide25.xml"/><Relationship Id="rId9" Type="http://schemas.openxmlformats.org/officeDocument/2006/relationships/slide" Target="slide4.xml"/><Relationship Id="rId10" Type="http://schemas.openxmlformats.org/officeDocument/2006/relationships/slide" Target="slide43.xml"/><Relationship Id="rId11" Type="http://schemas.openxmlformats.org/officeDocument/2006/relationships/slide" Target="slide23.xml"/><Relationship Id="rId12" Type="http://schemas.openxmlformats.org/officeDocument/2006/relationships/slide" Target="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6.xml"/><Relationship Id="rId6" Type="http://schemas.openxmlformats.org/officeDocument/2006/relationships/slide" Target="slide1.xml"/><Relationship Id="rId7" Type="http://schemas.openxmlformats.org/officeDocument/2006/relationships/slide" Target="slide23.xml"/><Relationship Id="rId8" Type="http://schemas.openxmlformats.org/officeDocument/2006/relationships/slide" Target="slide26.xml"/><Relationship Id="rId9" Type="http://schemas.openxmlformats.org/officeDocument/2006/relationships/slide" Target="slide40.xml"/><Relationship Id="rId10" Type="http://schemas.openxmlformats.org/officeDocument/2006/relationships/slide" Target="slide43.xml"/><Relationship Id="rId11" Type="http://schemas.openxmlformats.org/officeDocument/2006/relationships/slide" Target="slide25.xml"/><Relationship Id="rId12" Type="http://schemas.openxmlformats.org/officeDocument/2006/relationships/slide" Target="slide4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7.xml"/><Relationship Id="rId6" Type="http://schemas.openxmlformats.org/officeDocument/2006/relationships/slide" Target="slide1.xml"/><Relationship Id="rId7" Type="http://schemas.openxmlformats.org/officeDocument/2006/relationships/slide" Target="slide19.xml"/><Relationship Id="rId8" Type="http://schemas.openxmlformats.org/officeDocument/2006/relationships/slide" Target="slide27.xml"/><Relationship Id="rId9" Type="http://schemas.openxmlformats.org/officeDocument/2006/relationships/slide" Target="slide41.xml"/><Relationship Id="rId10" Type="http://schemas.openxmlformats.org/officeDocument/2006/relationships/slide" Target="slide43.xml"/><Relationship Id="rId11" Type="http://schemas.openxmlformats.org/officeDocument/2006/relationships/slide" Target="slide40.xml"/><Relationship Id="rId12" Type="http://schemas.openxmlformats.org/officeDocument/2006/relationships/slide" Target="slide4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8.xml"/><Relationship Id="rId6" Type="http://schemas.openxmlformats.org/officeDocument/2006/relationships/slide" Target="slide1.xml"/><Relationship Id="rId7" Type="http://schemas.openxmlformats.org/officeDocument/2006/relationships/slide" Target="slide23.xml"/><Relationship Id="rId8" Type="http://schemas.openxmlformats.org/officeDocument/2006/relationships/slide" Target="slide28.xml"/><Relationship Id="rId9" Type="http://schemas.openxmlformats.org/officeDocument/2006/relationships/slide" Target="slide4.xml"/><Relationship Id="rId10" Type="http://schemas.openxmlformats.org/officeDocument/2006/relationships/slide" Target="slide41.xml"/><Relationship Id="rId11" Type="http://schemas.openxmlformats.org/officeDocument/2006/relationships/slide" Target="slide40.xml"/><Relationship Id="rId12" Type="http://schemas.openxmlformats.org/officeDocument/2006/relationships/slide" Target="slide3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Relationship Id="rId6" Type="http://schemas.openxmlformats.org/officeDocument/2006/relationships/slide" Target="slide1.xml"/><Relationship Id="rId7" Type="http://schemas.openxmlformats.org/officeDocument/2006/relationships/slide" Target="slide2.xml"/><Relationship Id="rId8" Type="http://schemas.openxmlformats.org/officeDocument/2006/relationships/slide" Target="slide29.xml"/><Relationship Id="rId9" Type="http://schemas.openxmlformats.org/officeDocument/2006/relationships/slide" Target="slide4.xml"/><Relationship Id="rId10" Type="http://schemas.openxmlformats.org/officeDocument/2006/relationships/slide" Target="slide41.xml"/><Relationship Id="rId11" Type="http://schemas.openxmlformats.org/officeDocument/2006/relationships/slide" Target="slide31.xml"/><Relationship Id="rId12" Type="http://schemas.openxmlformats.org/officeDocument/2006/relationships/slide" Target="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0.xml"/><Relationship Id="rId6" Type="http://schemas.openxmlformats.org/officeDocument/2006/relationships/slide" Target="slide1.xml"/><Relationship Id="rId7" Type="http://schemas.openxmlformats.org/officeDocument/2006/relationships/slide" Target="slide29.xml"/><Relationship Id="rId8" Type="http://schemas.openxmlformats.org/officeDocument/2006/relationships/slide" Target="slide30.xml"/><Relationship Id="rId9" Type="http://schemas.openxmlformats.org/officeDocument/2006/relationships/slide" Target="slide41.xml"/><Relationship Id="rId10" Type="http://schemas.openxmlformats.org/officeDocument/2006/relationships/slide" Target="slide31.xml"/><Relationship Id="rId11" Type="http://schemas.openxmlformats.org/officeDocument/2006/relationships/slide" Target="slide33.xml"/><Relationship Id="rId12" Type="http://schemas.openxmlformats.org/officeDocument/2006/relationships/slide" Target="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1.xml"/><Relationship Id="rId6" Type="http://schemas.openxmlformats.org/officeDocument/2006/relationships/slide" Target="slide1.xml"/><Relationship Id="rId7" Type="http://schemas.openxmlformats.org/officeDocument/2006/relationships/slide" Target="slide29.xml"/><Relationship Id="rId8" Type="http://schemas.openxmlformats.org/officeDocument/2006/relationships/slide" Target="slide31.xml"/><Relationship Id="rId9" Type="http://schemas.openxmlformats.org/officeDocument/2006/relationships/slide" Target="slide32.xml"/><Relationship Id="rId10" Type="http://schemas.openxmlformats.org/officeDocument/2006/relationships/slide" Target="slide41.xml"/><Relationship Id="rId11" Type="http://schemas.openxmlformats.org/officeDocument/2006/relationships/slide" Target="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2.xml"/><Relationship Id="rId6" Type="http://schemas.openxmlformats.org/officeDocument/2006/relationships/slide" Target="slide1.xml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" Target="slide30.xml"/><Relationship Id="rId10" Type="http://schemas.openxmlformats.org/officeDocument/2006/relationships/slide" Target="slide4.xml"/><Relationship Id="rId11" Type="http://schemas.openxmlformats.org/officeDocument/2006/relationships/slide" Target="slide4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3.xml"/><Relationship Id="rId6" Type="http://schemas.openxmlformats.org/officeDocument/2006/relationships/slide" Target="slide1.xml"/><Relationship Id="rId7" Type="http://schemas.openxmlformats.org/officeDocument/2006/relationships/slide" Target="slide30.xml"/><Relationship Id="rId8" Type="http://schemas.openxmlformats.org/officeDocument/2006/relationships/slide" Target="slide33.xml"/><Relationship Id="rId9" Type="http://schemas.openxmlformats.org/officeDocument/2006/relationships/slide" Target="slide35.xml"/><Relationship Id="rId10" Type="http://schemas.openxmlformats.org/officeDocument/2006/relationships/slide" Target="slide6.xml"/><Relationship Id="rId11" Type="http://schemas.openxmlformats.org/officeDocument/2006/relationships/slide" Target="slide39.xml"/><Relationship Id="rId12" Type="http://schemas.openxmlformats.org/officeDocument/2006/relationships/slide" Target="slide4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4.xml"/><Relationship Id="rId6" Type="http://schemas.openxmlformats.org/officeDocument/2006/relationships/slide" Target="slide1.xml"/><Relationship Id="rId7" Type="http://schemas.openxmlformats.org/officeDocument/2006/relationships/slide" Target="slide33.xml"/><Relationship Id="rId8" Type="http://schemas.openxmlformats.org/officeDocument/2006/relationships/slide" Target="slide34.xml"/><Relationship Id="rId9" Type="http://schemas.openxmlformats.org/officeDocument/2006/relationships/slide" Target="slide35.xml"/><Relationship Id="rId10" Type="http://schemas.openxmlformats.org/officeDocument/2006/relationships/slide" Target="slide43.xml"/><Relationship Id="rId11" Type="http://schemas.openxmlformats.org/officeDocument/2006/relationships/slide" Target="slide26.xml"/><Relationship Id="rId12" Type="http://schemas.openxmlformats.org/officeDocument/2006/relationships/slide" Target="slide4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5.xml"/><Relationship Id="rId6" Type="http://schemas.openxmlformats.org/officeDocument/2006/relationships/slide" Target="slide1.xml"/><Relationship Id="rId7" Type="http://schemas.openxmlformats.org/officeDocument/2006/relationships/slide" Target="slide33.xml"/><Relationship Id="rId8" Type="http://schemas.openxmlformats.org/officeDocument/2006/relationships/slide" Target="slide35.xml"/><Relationship Id="rId9" Type="http://schemas.openxmlformats.org/officeDocument/2006/relationships/slide" Target="slide4.xml"/><Relationship Id="rId10" Type="http://schemas.openxmlformats.org/officeDocument/2006/relationships/slide" Target="slide21.xml"/><Relationship Id="rId11" Type="http://schemas.openxmlformats.org/officeDocument/2006/relationships/slide" Target="slide23.xml"/><Relationship Id="rId12" Type="http://schemas.openxmlformats.org/officeDocument/2006/relationships/slide" Target="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6.xml"/><Relationship Id="rId6" Type="http://schemas.openxmlformats.org/officeDocument/2006/relationships/slide" Target="slide1.xml"/><Relationship Id="rId7" Type="http://schemas.openxmlformats.org/officeDocument/2006/relationships/slide" Target="slide30.xml"/><Relationship Id="rId8" Type="http://schemas.openxmlformats.org/officeDocument/2006/relationships/slide" Target="slide36.xml"/><Relationship Id="rId9" Type="http://schemas.openxmlformats.org/officeDocument/2006/relationships/slide" Target="slide33.xml"/><Relationship Id="rId10" Type="http://schemas.openxmlformats.org/officeDocument/2006/relationships/slide" Target="slide43.xml"/><Relationship Id="rId11" Type="http://schemas.openxmlformats.org/officeDocument/2006/relationships/slide" Target="slide37.xml"/><Relationship Id="rId12" Type="http://schemas.openxmlformats.org/officeDocument/2006/relationships/slide" Target="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7.xml"/><Relationship Id="rId6" Type="http://schemas.openxmlformats.org/officeDocument/2006/relationships/slide" Target="slide1.xml"/><Relationship Id="rId7" Type="http://schemas.openxmlformats.org/officeDocument/2006/relationships/slide" Target="slide41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43.xml"/><Relationship Id="rId11" Type="http://schemas.openxmlformats.org/officeDocument/2006/relationships/slide" Target="slide4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8.xml"/><Relationship Id="rId6" Type="http://schemas.openxmlformats.org/officeDocument/2006/relationships/slide" Target="slide1.xml"/><Relationship Id="rId7" Type="http://schemas.openxmlformats.org/officeDocument/2006/relationships/slide" Target="slide30.xml"/><Relationship Id="rId8" Type="http://schemas.openxmlformats.org/officeDocument/2006/relationships/slide" Target="slide38.xml"/><Relationship Id="rId9" Type="http://schemas.openxmlformats.org/officeDocument/2006/relationships/slide" Target="slide41.xml"/><Relationship Id="rId10" Type="http://schemas.openxmlformats.org/officeDocument/2006/relationships/slide" Target="slide33.xml"/><Relationship Id="rId11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9.xml"/><Relationship Id="rId6" Type="http://schemas.openxmlformats.org/officeDocument/2006/relationships/slide" Target="slide1.xml"/><Relationship Id="rId7" Type="http://schemas.openxmlformats.org/officeDocument/2006/relationships/slide" Target="slide40.xml"/><Relationship Id="rId8" Type="http://schemas.openxmlformats.org/officeDocument/2006/relationships/slide" Target="slide39.xml"/><Relationship Id="rId9" Type="http://schemas.openxmlformats.org/officeDocument/2006/relationships/slide" Target="slide43.xml"/><Relationship Id="rId10" Type="http://schemas.openxmlformats.org/officeDocument/2006/relationships/slide" Target="slide4.xml"/><Relationship Id="rId11" Type="http://schemas.openxmlformats.org/officeDocument/2006/relationships/slide" Target="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0.xml"/><Relationship Id="rId6" Type="http://schemas.openxmlformats.org/officeDocument/2006/relationships/slide" Target="slide1.xml"/><Relationship Id="rId7" Type="http://schemas.openxmlformats.org/officeDocument/2006/relationships/slide" Target="slide19.xml"/><Relationship Id="rId8" Type="http://schemas.openxmlformats.org/officeDocument/2006/relationships/slide" Target="slide40.xml"/><Relationship Id="rId9" Type="http://schemas.openxmlformats.org/officeDocument/2006/relationships/slide" Target="slide5.xml"/><Relationship Id="rId10" Type="http://schemas.openxmlformats.org/officeDocument/2006/relationships/slide" Target="slide43.xml"/><Relationship Id="rId11" Type="http://schemas.openxmlformats.org/officeDocument/2006/relationships/slide" Target="slide35.xml"/><Relationship Id="rId12" Type="http://schemas.openxmlformats.org/officeDocument/2006/relationships/slide" Target="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1.xml"/><Relationship Id="rId6" Type="http://schemas.openxmlformats.org/officeDocument/2006/relationships/slide" Target="slide1.xml"/><Relationship Id="rId7" Type="http://schemas.openxmlformats.org/officeDocument/2006/relationships/slide" Target="slide19.xml"/><Relationship Id="rId8" Type="http://schemas.openxmlformats.org/officeDocument/2006/relationships/slide" Target="slide41.xml"/><Relationship Id="rId9" Type="http://schemas.openxmlformats.org/officeDocument/2006/relationships/slide" Target="slide43.xml"/><Relationship Id="rId10" Type="http://schemas.openxmlformats.org/officeDocument/2006/relationships/slide" Target="slide4.xml"/><Relationship Id="rId11" Type="http://schemas.openxmlformats.org/officeDocument/2006/relationships/slide" Target="slide23.xml"/><Relationship Id="rId12" Type="http://schemas.openxmlformats.org/officeDocument/2006/relationships/slide" Target="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2.xml"/><Relationship Id="rId6" Type="http://schemas.openxmlformats.org/officeDocument/2006/relationships/slide" Target="slide1.xml"/><Relationship Id="rId7" Type="http://schemas.openxmlformats.org/officeDocument/2006/relationships/slide" Target="slide40.xml"/><Relationship Id="rId8" Type="http://schemas.openxmlformats.org/officeDocument/2006/relationships/slide" Target="slide42.xml"/><Relationship Id="rId9" Type="http://schemas.openxmlformats.org/officeDocument/2006/relationships/slide" Target="slide41.xml"/><Relationship Id="rId10" Type="http://schemas.openxmlformats.org/officeDocument/2006/relationships/slide" Target="slide43.xml"/><Relationship Id="rId11" Type="http://schemas.openxmlformats.org/officeDocument/2006/relationships/slide" Target="slide37.xml"/><Relationship Id="rId12" Type="http://schemas.openxmlformats.org/officeDocument/2006/relationships/slide" Target="slide4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3.xml"/><Relationship Id="rId6" Type="http://schemas.openxmlformats.org/officeDocument/2006/relationships/slide" Target="slide1.xml"/><Relationship Id="rId7" Type="http://schemas.openxmlformats.org/officeDocument/2006/relationships/slide" Target="slide3.xml"/><Relationship Id="rId8" Type="http://schemas.openxmlformats.org/officeDocument/2006/relationships/slide" Target="slide43.xml"/><Relationship Id="rId9" Type="http://schemas.openxmlformats.org/officeDocument/2006/relationships/slide" Target="slide24.xml"/><Relationship Id="rId10" Type="http://schemas.openxmlformats.org/officeDocument/2006/relationships/slide" Target="slide41.xml"/><Relationship Id="rId11" Type="http://schemas.openxmlformats.org/officeDocument/2006/relationships/slide" Target="slide39.xml"/><Relationship Id="rId12" Type="http://schemas.openxmlformats.org/officeDocument/2006/relationships/slide" Target="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4.xml"/><Relationship Id="rId6" Type="http://schemas.openxmlformats.org/officeDocument/2006/relationships/slide" Target="slide1.xml"/><Relationship Id="rId7" Type="http://schemas.openxmlformats.org/officeDocument/2006/relationships/slide" Target="slide4.xml"/><Relationship Id="rId8" Type="http://schemas.openxmlformats.org/officeDocument/2006/relationships/slide" Target="slide44.xml"/><Relationship Id="rId9" Type="http://schemas.openxmlformats.org/officeDocument/2006/relationships/slide" Target="slide7.xml"/><Relationship Id="rId10" Type="http://schemas.openxmlformats.org/officeDocument/2006/relationships/slide" Target="slide10.xml"/><Relationship Id="rId11" Type="http://schemas.openxmlformats.org/officeDocument/2006/relationships/slide" Target="slide43.xml"/><Relationship Id="rId12" Type="http://schemas.openxmlformats.org/officeDocument/2006/relationships/slide" Target="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5.xml"/><Relationship Id="rId6" Type="http://schemas.openxmlformats.org/officeDocument/2006/relationships/slide" Target="slide1.xml"/><Relationship Id="rId7" Type="http://schemas.openxmlformats.org/officeDocument/2006/relationships/slide" Target="slide41.xml"/><Relationship Id="rId8" Type="http://schemas.openxmlformats.org/officeDocument/2006/relationships/slide" Target="slide45.xml"/><Relationship Id="rId9" Type="http://schemas.openxmlformats.org/officeDocument/2006/relationships/slide" Target="slide5.xml"/><Relationship Id="rId10" Type="http://schemas.openxmlformats.org/officeDocument/2006/relationships/slide" Target="slide43.xml"/><Relationship Id="rId11" Type="http://schemas.openxmlformats.org/officeDocument/2006/relationships/slide" Target="slide40.xml"/><Relationship Id="rId12" Type="http://schemas.openxmlformats.org/officeDocument/2006/relationships/slide" Target="slide2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6.xml"/><Relationship Id="rId6" Type="http://schemas.openxmlformats.org/officeDocument/2006/relationships/slide" Target="slide1.xml"/><Relationship Id="rId7" Type="http://schemas.openxmlformats.org/officeDocument/2006/relationships/slide" Target="slide43.xml"/><Relationship Id="rId8" Type="http://schemas.openxmlformats.org/officeDocument/2006/relationships/slide" Target="slide46.xml"/><Relationship Id="rId9" Type="http://schemas.openxmlformats.org/officeDocument/2006/relationships/slide" Target="slide5.xml"/><Relationship Id="rId10" Type="http://schemas.openxmlformats.org/officeDocument/2006/relationships/slide" Target="slide45.xml"/><Relationship Id="rId11" Type="http://schemas.openxmlformats.org/officeDocument/2006/relationships/slide" Target="slide6.xml"/><Relationship Id="rId12" Type="http://schemas.openxmlformats.org/officeDocument/2006/relationships/slide" Target="slide4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7.xml"/><Relationship Id="rId6" Type="http://schemas.openxmlformats.org/officeDocument/2006/relationships/slide" Target="slide1.xml"/><Relationship Id="rId7" Type="http://schemas.openxmlformats.org/officeDocument/2006/relationships/slide" Target="slide41.xml"/><Relationship Id="rId8" Type="http://schemas.openxmlformats.org/officeDocument/2006/relationships/slide" Target="slide47.xml"/><Relationship Id="rId9" Type="http://schemas.openxmlformats.org/officeDocument/2006/relationships/slide" Target="slide45.xml"/><Relationship Id="rId10" Type="http://schemas.openxmlformats.org/officeDocument/2006/relationships/slide" Target="slide10.xml"/><Relationship Id="rId11" Type="http://schemas.openxmlformats.org/officeDocument/2006/relationships/slide" Target="slide40.xml"/><Relationship Id="rId12" Type="http://schemas.openxmlformats.org/officeDocument/2006/relationships/slide" Target="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8.xml"/><Relationship Id="rId6" Type="http://schemas.openxmlformats.org/officeDocument/2006/relationships/slide" Target="slide1.xml"/><Relationship Id="rId7" Type="http://schemas.openxmlformats.org/officeDocument/2006/relationships/slide" Target="slide41.xml"/><Relationship Id="rId8" Type="http://schemas.openxmlformats.org/officeDocument/2006/relationships/slide" Target="slide48.xml"/><Relationship Id="rId9" Type="http://schemas.openxmlformats.org/officeDocument/2006/relationships/slide" Target="slide49.xml"/><Relationship Id="rId10" Type="http://schemas.openxmlformats.org/officeDocument/2006/relationships/slide" Target="slide43.xml"/><Relationship Id="rId11" Type="http://schemas.openxmlformats.org/officeDocument/2006/relationships/slide" Target="slide51.xml"/><Relationship Id="rId12" Type="http://schemas.openxmlformats.org/officeDocument/2006/relationships/slide" Target="slide5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9.xml"/><Relationship Id="rId6" Type="http://schemas.openxmlformats.org/officeDocument/2006/relationships/slide" Target="slide1.xml"/><Relationship Id="rId7" Type="http://schemas.openxmlformats.org/officeDocument/2006/relationships/slide" Target="slide48.xml"/><Relationship Id="rId8" Type="http://schemas.openxmlformats.org/officeDocument/2006/relationships/slide" Target="slide49.xml"/><Relationship Id="rId9" Type="http://schemas.openxmlformats.org/officeDocument/2006/relationships/slide" Target="slide51.xml"/><Relationship Id="rId10" Type="http://schemas.openxmlformats.org/officeDocument/2006/relationships/slide" Target="slide43.xml"/><Relationship Id="rId11" Type="http://schemas.openxmlformats.org/officeDocument/2006/relationships/slide" Target="slide50.xml"/><Relationship Id="rId12" Type="http://schemas.openxmlformats.org/officeDocument/2006/relationships/slide" Target="slide5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0.xml"/><Relationship Id="rId6" Type="http://schemas.openxmlformats.org/officeDocument/2006/relationships/slide" Target="slide1.xml"/><Relationship Id="rId7" Type="http://schemas.openxmlformats.org/officeDocument/2006/relationships/slide" Target="slide23.xml"/><Relationship Id="rId8" Type="http://schemas.openxmlformats.org/officeDocument/2006/relationships/slide" Target="slide50.xml"/><Relationship Id="rId9" Type="http://schemas.openxmlformats.org/officeDocument/2006/relationships/slide" Target="slide48.xml"/><Relationship Id="rId10" Type="http://schemas.openxmlformats.org/officeDocument/2006/relationships/slide" Target="slide43.xml"/><Relationship Id="rId11" Type="http://schemas.openxmlformats.org/officeDocument/2006/relationships/slide" Target="slide42.xml"/><Relationship Id="rId12" Type="http://schemas.openxmlformats.org/officeDocument/2006/relationships/slide" Target="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1.xml"/><Relationship Id="rId6" Type="http://schemas.openxmlformats.org/officeDocument/2006/relationships/slide" Target="slide1.xml"/><Relationship Id="rId7" Type="http://schemas.openxmlformats.org/officeDocument/2006/relationships/slide" Target="slide49.xml"/><Relationship Id="rId8" Type="http://schemas.openxmlformats.org/officeDocument/2006/relationships/slide" Target="slide51.xml"/><Relationship Id="rId9" Type="http://schemas.openxmlformats.org/officeDocument/2006/relationships/slide" Target="slide52.xml"/><Relationship Id="rId10" Type="http://schemas.openxmlformats.org/officeDocument/2006/relationships/slide" Target="slide43.xml"/><Relationship Id="rId11" Type="http://schemas.openxmlformats.org/officeDocument/2006/relationships/slide" Target="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2.xml"/><Relationship Id="rId6" Type="http://schemas.openxmlformats.org/officeDocument/2006/relationships/slide" Target="slide1.xml"/><Relationship Id="rId7" Type="http://schemas.openxmlformats.org/officeDocument/2006/relationships/slide" Target="slide51.xml"/><Relationship Id="rId8" Type="http://schemas.openxmlformats.org/officeDocument/2006/relationships/slide" Target="slide52.xml"/><Relationship Id="rId9" Type="http://schemas.openxmlformats.org/officeDocument/2006/relationships/slide" Target="slide41.xml"/><Relationship Id="rId10" Type="http://schemas.openxmlformats.org/officeDocument/2006/relationships/slide" Target="slide43.xml"/><Relationship Id="rId11" Type="http://schemas.openxmlformats.org/officeDocument/2006/relationships/slide" Target="slide40.xml"/><Relationship Id="rId12" Type="http://schemas.openxmlformats.org/officeDocument/2006/relationships/slide" Target="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Welcome people into the right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entry paths turn public interest into learning, participation or a safe request for help.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entry screens · proposed routing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Public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Mission, programmes and participation routes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6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Welcome &amp; onboarding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Explain benefits and entry choices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Guest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public tools and resources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Language preference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approved EN / BM content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Create identity for personal services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Choose seeker, volunteer or teacher route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88" b="1">
                <a:solidFill>
                  <a:srgbClr val="62DAE8"/>
                </a:solidFill>
                <a:latin typeface="DejaVu Sans"/>
              </a:defRPr>
            </a:pPr>
            <a:r>
              <a:t>introduces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localises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Language preference → Welcome &amp; onboarding → Guest discovery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Guest-to-service progression; onboarding completion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Registration connects identity, consent and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single identity supports several authorised roles without duplicating accounts or exposing private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participation-track form · approval flow proposed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6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Welcome / guest 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Personal service needs a registered identity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7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registration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Contact details and required verification</a:t>
            </a:r>
          </a:p>
        </p:txBody>
      </p:sp>
      <p:sp>
        <p:nvSpPr>
          <p:cNvPr id="24" name="Rounded Rectangle 23">
            <a:hlinkClick action="ppaction://hlinksldjump" r:id="rId8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&amp;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Maintain the person’s ordinary details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Terms &amp; privacy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notice and participation conditions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for volunteer or teacher privileges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verification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 privileged roles independently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requires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Terms &amp; privacy consent → Account registration → Account &amp; profile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Registration completion; consent capture; duplicate-account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Sign-in connects the person to authorised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Secure recovery and session checks preserve access to ongoing cases and learning without weakening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03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sign-in UI · Face ID not independently verified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Registered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Existing account and recovery channel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Sign-in &amp;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Authenticate or recover the account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Role-aware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permitted services and actions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Recovery / device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Re-establish the legitimate user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Authenticated session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Expiry, sign-out and supported device lock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 authorisation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each requested case or file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identifies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restores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creates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Recovery / device checks → Sign-in &amp; recovery → Role-aware workspace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Successful recovery; session expiry; denied-access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Profile and roles connect trust to the right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Role approval controls service access; changing the visible persona must never grant new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04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profile and role-picker modal · server permissions unverified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One person may hold several roles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decisions govern privileged access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Member, teacher, volunteer or staff view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Verification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Volunteer / teacher / staff authority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Role, gender and record sensitivity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case / 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Return only authorised information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binds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Verification decisions → Approved role record → Relevant workspace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role activation; revoked-access and profile-change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578096" y="5312664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Home connects daily value to meaningful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relevant home screen helps people move from routine practice into learning or contribution without navigating separate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05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Admin Ops and Member home states · role differences shown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&amp;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area and display choices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Role-aware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Present appropriate daily and service entries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Islamic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Prayer, Quran and approved guidance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/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Limit operational actions to eligible accounts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 entry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Request help, learn or contribute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Assigned work / programme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authorised next task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9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4672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42104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role / access → Role-aware home → Daily Islamic tools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Entry-point use; task completion by authorised 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Discovery connects a need to an approved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search route can help a user find relevant learning, a mosque or support while respecting private-profile restrictions.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06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utility / mosque search · programme links proposed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need /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area or type of support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Search &amp;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relevant categories and filters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Mosques, programmes and resources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/ moderation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Exclude private or unapproved records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/ service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eligibility and next action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Join a class or enter the correct support route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Visibility / moderation → Search &amp; discovery → Approved public results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Relevant-result selection; zero-result recovery; visibility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021311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15200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Prayer times connect location, calendar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local settings make daily practice useful and prevent conflicting times across the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07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Waqt, fasting and prayer-window interface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preference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Permission or supported manual area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prayer 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MRM-approved local source / method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prayer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Relevant local times and guidance</a:t>
            </a:r>
          </a:p>
        </p:txBody>
      </p:sp>
      <p:sp>
        <p:nvSpPr>
          <p:cNvPr id="28" name="Rounded Rectangle 27">
            <a:hlinkClick action="ppaction://hlinksldjump" r:id="rId7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Calculation / local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adjustments and conventions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Prayer reminder scheduling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User preference and approved local schedule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Ramadan timetable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consistent approved local times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feeds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4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Calculation / local policy → Approved prayer schedule → Daily prayer display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accuracy; denied-location fallback; reminder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06" b="1">
                <a:solidFill>
                  <a:srgbClr val="F7F9FF"/>
                </a:solidFill>
                <a:latin typeface="DejaVu Sans"/>
              </a:defRPr>
            </a:pPr>
            <a:r>
              <a:t>Prayer tracking connects practice to a private personal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private log supports consistency without exposing personal worship or turning it into a public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08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private check-in, sunnah and Qaza-counter UI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prayer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same local prayer context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Salah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User-chosen Farz, Sunnah and Qaza check-ins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Personal practice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Private, correctable progress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Privacy &amp; user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public worship score or role privilege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Salah / dua 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Relevant approved learning support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Continued daily practice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Return to tools at the person’s choice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user control → Private Salah tracker → Personal practice history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Log persistence; private visibility; daily reset and correction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Qibla and mosque discovery connect practice to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local guidance makes the app relevant beyond assistance, while keeping volunteer-location data separately protected.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09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compass simulation and nearby-place list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/ manual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User-authorised geographic context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Qibla &amp; mosque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Device capability and approved place data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Nearby mosque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General place information, not private profiles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data /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Source and sensor limitations are explicit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Prayer 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Link to appropriate daily practice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relevant approved learning or events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locates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shows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4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data / calibration → Qibla &amp; mosque tools → Nearby mosque details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Direction guidance; permission fallback; place-data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Quran connects trusted content to continued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Reading and recitation become more valuable when users can continue into approved explanations and classes.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10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Al-Fatihah text, reciter and tajweed controls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Religious sources &amp; rights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text, translation and audio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Quran &amp; recitation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Reading, approved tajweed, translation and recitation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learning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Related lessons and programme details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references, edits and availability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Offline / cache settings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supported content and rights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Repeat daily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Reliable access to approved material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3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administration → Quran &amp; recitation → Approved learning resources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Content-source validation; recitation delivery; learning continuation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98" b="1">
                <a:solidFill>
                  <a:srgbClr val="F7F9FF"/>
                </a:solidFill>
                <a:latin typeface="DejaVu Sans"/>
              </a:defRPr>
            </a:pPr>
            <a:r>
              <a:t>Digital tasbih connects remembrance to simple, private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focused counter supports repeated practice while relevant guidance remains grounded in approved content.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tasbih phrase and counter view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dhikr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references and translations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Digital tasbih counter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Selected phrase, target and reset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local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supported, user-controlled state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target / preference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Choose supported repetition controls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remembrance library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related approved material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utility return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Resume personal practice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User target / preference → Digital tasbih counter → Private local history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Counter increment / reset; selected phrase; private state persistence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65" b="1">
                <a:solidFill>
                  <a:srgbClr val="F7F9FF"/>
                </a:solidFill>
                <a:latin typeface="DejaVu Sans"/>
              </a:defRPr>
            </a:pPr>
            <a:r>
              <a:t>Dua discovery connects a situation to an approved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Searchable, categorised supplications make the daily library useful and keep correction and source review 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dua categories, text and reference labels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Situation /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Daily need, prayer or fasting context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adhkar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wording, translation and reference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learning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the relevant guidance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Religious source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References, translations and corrections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Optional personal practice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Supported counter or saved state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daily tool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Return to prayer, fasting or remembrance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Religious source review → Dua / adhkar library → Approved learning detail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Search relevance; source approval; recitation-state behaviour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6" b="1">
                <a:solidFill>
                  <a:srgbClr val="F7F9FF"/>
                </a:solidFill>
                <a:latin typeface="DejaVu Sans"/>
              </a:defRPr>
            </a:pPr>
            <a:r>
              <a:t>Hadith and references connect content to accountable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governed content library keeps daily tools consistent and gives learners a route to deeper understanding.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13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Arabic, translations and source decisions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Dua / dhikr / hadith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Organised daily guidance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explanation or class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categories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Find material by topic and purpose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can remove inaccurate material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Visible content follows approval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grounds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organises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categories → Dua / dhikr / hadith → Relevant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review; content correction; relevant-resource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Salah guidance connects learning to daily 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step-by-step guide gives beginners a practical next step and links learning to the same prayer and direction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14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posture 1 of 7 · pronounce control visible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Beginner / learning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person seeks practical prayer guidance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Step-by-step Salah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postures, wording and meanings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prayer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correct local time context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Qibla &amp; content references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Direction guidance and approved material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Mentor / class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authorised teacher can explain further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learning 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agreed, consented progress visibility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learns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practises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Qibla &amp; content references → Step-by-step Salah guide → Daily prayer practice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Posture navigation; approved text / audio; guidance-to-practice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26" b="1">
                <a:solidFill>
                  <a:srgbClr val="F7F9FF"/>
                </a:solidFill>
                <a:latin typeface="DejaVu Sans"/>
              </a:defRPr>
            </a:pPr>
            <a:r>
              <a:t>Asma-ul-Husna connects reference content to reflection and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reviewed names library supports daily learning without inventing religious explanations or unsupported source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15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Asma-ul-Husna names and meanings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names, Arabic and meanings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Names &amp; meanings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Readable, searchable reference content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Related approved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Appropriate explanation or programme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categorisation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Organise entries without altering meaning</a:t>
            </a:r>
          </a:p>
        </p:txBody>
      </p:sp>
      <p:sp>
        <p:nvSpPr>
          <p:cNvPr id="32" name="Rounded Rectangle 31">
            <a:hlinkClick action="ppaction://hlinksldjump" r:id="rId7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7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Correction / withdrawal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Fix unapproved or inaccurate copy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Published utility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reviewed content remains visible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finds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deepens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categorisation → Names &amp; meanings library → Related approved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names / meanings; search relevance; content correction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34" b="1">
                <a:solidFill>
                  <a:srgbClr val="F7F9FF"/>
                </a:solidFill>
                <a:latin typeface="DejaVu Sans"/>
              </a:defRPr>
            </a:pPr>
            <a:r>
              <a:t>Ingredient guidance connects search to reviewed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Useful ingredient information needs clear sourcing and limits; a prototype label cannot replace an authority’s certification.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16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E-code list + Fitrah / Fidyah calculator concept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Ingredient / E-code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Search a named additive or ingredient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31" b="1">
                <a:solidFill>
                  <a:srgbClr val="F7F9FF"/>
                </a:solidFill>
                <a:latin typeface="DejaVu Sans"/>
              </a:defRPr>
            </a:pPr>
            <a:r>
              <a:t>Reviewed ingredient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source and contextual wording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Informational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source and applicable limitations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content / source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Correct origin and context-dependent claims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Religious learning / enquiry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Explain uncertainty and next steps</a:t>
            </a:r>
          </a:p>
        </p:txBody>
      </p:sp>
      <p:sp>
        <p:nvSpPr>
          <p:cNvPr id="36" name="Rounded Rectangle 35">
            <a:hlinkClick action="ppaction://hlinksldjump" r:id="rId10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0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correction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Update or withdraw inaccurate guidance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content / source review → Reviewed ingredient reference → Informational result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Source currency; query accuracy; visible qualification of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9" b="1">
                <a:solidFill>
                  <a:srgbClr val="F7F9FF"/>
                </a:solidFill>
                <a:latin typeface="DejaVu Sans"/>
              </a:defRPr>
            </a:pPr>
            <a:r>
              <a:t>Hijri and Ramadan connect dates, prayer and programmes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Shared calendar conventions keep seasonal guidance and programme communication coherent.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17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almanac and local timetable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Local calendar convention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Hijri / local adjustments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Hijri &amp; Ramadan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the appropriate dates and schedule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06" b="1">
                <a:solidFill>
                  <a:srgbClr val="F7F9FF"/>
                </a:solidFill>
                <a:latin typeface="DejaVu Sans"/>
              </a:defRPr>
            </a:pPr>
            <a:r>
              <a:t>Seasonal programme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Relevant classes and community events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prayer times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same local schedule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Event / class 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dates and access details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reminders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Notify registered or eligible participants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aligns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5" b="1">
                <a:solidFill>
                  <a:srgbClr val="62DAE8"/>
                </a:solidFill>
                <a:latin typeface="DejaVu Sans"/>
              </a:defRPr>
            </a:pPr>
            <a:r>
              <a:t>highlights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2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Approved prayer times → Hijri &amp; Ramadan tools → Seasonal programme discovery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Local-date review; timetable consistency; event reminder delivery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289" b="1">
                <a:solidFill>
                  <a:srgbClr val="F7F9FF"/>
                </a:solidFill>
                <a:latin typeface="DejaVu Sans"/>
              </a:defRPr>
            </a:pPr>
            <a:r>
              <a:t>Zakat, Fitrah and Fidyah estimates connect guidance to responsible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assumptions and method-specific inputs make estimates useful, while the authority retains every assistance eligibility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18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Method-specific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income/savings or Fitrah/Fidyah rules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Informational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selected, approved calculation method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Guidance /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Understand the estimate and its limits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Necessary calculator inputs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Income/savings or household / missed-fast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Assistance enquiry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 route for people needing help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 and disbursement stay external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signposts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Necessary calculator inputs → Informational estimate → Guidance / learning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calculation checks; referral consent; correct authority wording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30" b="1">
                <a:solidFill>
                  <a:srgbClr val="F7F9FF"/>
                </a:solidFill>
                <a:latin typeface="DejaVu Sans"/>
              </a:defRPr>
            </a:pPr>
            <a:r>
              <a:t>Help requests connect a personal need to a controlled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complete request lifecycle prevents the app becoming a contact form with no accountable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19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Seeker workspace · full request intake not shown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Member / service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person seeks assistance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request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Category, urgency and safe contact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sensitivity and required response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Consent &amp; privacy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Minimum necessary information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routine permitted work is offered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status /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The requester follows authorised progress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privacy rules → Private request intake → MRM triage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Acknowledgement; triage completion; unresolved-request follow-up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48" b="1">
                <a:solidFill>
                  <a:srgbClr val="F7F9FF"/>
                </a:solidFill>
                <a:latin typeface="DejaVu Sans"/>
              </a:defRPr>
            </a:pPr>
            <a:r>
              <a:t>Volunteer verification connects willingness to trusted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Documents and interview decisions must change real eligibility, not merely add a badge to a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20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Applicant progress · verification policy still requires MRM approval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Skills, languages, area and availability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Evidence &amp; interview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checks documents and online interview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active volunteer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Decision, reason and review history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verification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Restricted staff access and retention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discovery /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Return only permitted service profiles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Assigned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Approval alone does not expose all cases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enables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Protected verification files → Evidence &amp; interview review → Approved active volunteer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Review completion; interview record; suspension and access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83" b="1">
                <a:solidFill>
                  <a:srgbClr val="F7F9FF"/>
                </a:solidFill>
                <a:latin typeface="DejaVu Sans"/>
              </a:defRPr>
            </a:pPr>
            <a:r>
              <a:t>Gender and nearby visibility connect policy to every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Consistent server filtering prevents a protected profile leaking through search, maps, alerts or direct detail requests.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role &amp;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Verified access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Visibility policy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Agreed gender / role / record rules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discovery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Approximate area and approved fields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Location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automatic exact-location sharing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alerts / matching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the same access boundary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case 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Assignment and policy govern disclosure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routes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Location consent → Visibility policy checks → Permitted discovery results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Cross-gender API tests; restricted detail and location tests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65" b="1">
                <a:solidFill>
                  <a:srgbClr val="F7F9FF"/>
                </a:solidFill>
                <a:latin typeface="DejaVu Sans"/>
              </a:defRPr>
            </a:pPr>
            <a:r>
              <a:t>Matching connects a reviewed request to suitable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Eligibility checks improve relevance and preserve confidentiality before any volunteer receives an offer.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Volunteer on-duty workspace · actual matching not tested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Reviewed routine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Category, area, language and urgency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Eligibility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Approved, active, available and permitted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Limited volunteer offer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Safe summary and approximate area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volunteer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Skills, availability and gender rules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Assignment confirmation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Seeker / coordinator accepts the match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Coordinator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Unanswered or unsuitable work is reviewed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provides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Verified volunteer capacity → Eligibility matching → Limited volunteer offer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Eligible-offer delivery; unanswered-case handling; access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76" b="1">
                <a:solidFill>
                  <a:srgbClr val="F7F9FF"/>
                </a:solidFill>
                <a:latin typeface="DejaVu Sans"/>
              </a:defRPr>
            </a:pPr>
            <a:r>
              <a:t>Assignments connect offers, contact, progress and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Confirmation creates accountable service access and lets MRM manage changes through to a verified outcome.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23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Eligible volunteer offer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approved volunteer responds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responsible participants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case 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authorised details and conversation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Coordinator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reassignment or safety concerns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progress &amp; 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follow-up and the service outcome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recognition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Award valid credit;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supervises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Coordinator review → Confirmed assignment → Permitted case contact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Confirmed assignment; reassignment; progress and closure records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75" b="1">
                <a:solidFill>
                  <a:srgbClr val="F7F9FF"/>
                </a:solidFill>
                <a:latin typeface="DejaVu Sans"/>
              </a:defRPr>
            </a:pPr>
            <a:r>
              <a:t>Confidential support connects concern to designated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restricted route protects sensitive faith and family information while retaining responsible follow-up.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24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Safe contact and permitted description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Restricted case intake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Keep outside public discovery / broadcasts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Designated personnel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MRM-authorised adviser or caseworker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73" b="1">
                <a:solidFill>
                  <a:srgbClr val="F7F9FF"/>
                </a:solidFill>
                <a:latin typeface="DejaVu Sans"/>
              </a:defRPr>
            </a:pPr>
            <a:r>
              <a:t>Consent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Access only for the agreed duty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Controlled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Guidance, referral and case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history / closure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only the permitted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assigns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71" b="1">
                <a:solidFill>
                  <a:srgbClr val="62DAE8"/>
                </a:solidFill>
                <a:latin typeface="DejaVu Sans"/>
              </a:defRPr>
            </a:pPr>
            <a:r>
              <a:t>coordinates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closes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Consent &amp; record permissions → Restricted case intake → Designated personnel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Unrelated-account denial; assigned-staff access; closure history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Safeguarding connects a concern to a responsible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Reporting, restrictions and escalation protect participation without implying guaranteed emergency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25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Conduct / danger concern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from an authorised service journey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Safeguarding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Designated staff assess and record action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/ contact restriction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Stop unsafe contact or new work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escalation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Coverage, contacts and urgent guidance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Affected assignments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Reassign or follow up existing work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incident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Retain authorised evidence and outcome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8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escalation policy → Safeguarding review → Account / contact restriction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Report handling; account restriction; open-assignment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Case communication connects an assignment to follow-up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Conversation is useful when the right case and participants govern access, continuity and escalation.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26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caseworker chat concept · implementation unverified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case /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defined support relationship exists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conversation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participants exchange updates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Progress / 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Relevant messages support follow-up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Privacy &amp; participant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Recheck access after role / case changes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Conduct report /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Route concerns to designated staff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closure policy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Decide retention and further access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&amp; participant checks → Case conversation → Progress / confirmation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Participant access; case linkage; report and closure behaviour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44" b="1">
                <a:solidFill>
                  <a:srgbClr val="F7F9FF"/>
                </a:solidFill>
                <a:latin typeface="DejaVu Sans"/>
              </a:defRPr>
            </a:pPr>
            <a:r>
              <a:t>Zakat referrals connect consent, review and an external 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tracked handoff helps people follow an enquiry without presenting MRM as the eligibility or disbursement authority.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27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Enquiry + referral consent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Need, region and safe contact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completeness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required information and evidence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authority 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Document recipient, reference and method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Partner sharing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Forms, permissions and authorised access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Referral status / follow-up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received, reviewed, referred or closed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Disclose permitted status; aggregate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refers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responds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Partner sharing agreement → MRM completeness review → Approved authority handoff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Complete referral record; permitted status update; partner response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49" b="1">
                <a:solidFill>
                  <a:srgbClr val="F7F9FF"/>
                </a:solidFill>
                <a:latin typeface="DejaVu Sans"/>
              </a:defRPr>
            </a:pPr>
            <a:r>
              <a:t>Recognition connects verified service to continued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Badges are credible when they reflect confirmed activity and do not override safeguarding or access rules.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28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0" b="1">
                <a:solidFill>
                  <a:srgbClr val="F7F9FF"/>
                </a:solidFill>
                <a:latin typeface="DejaVu Sans"/>
              </a:defRPr>
            </a:pPr>
            <a:r>
              <a:t>Completed assignment /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qualifying contribution is recorded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Service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Authorised confirmation under MRM criteria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Badges &amp; service ranks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approved thresholds and periods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recognition criteria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Eligibility, correction and appeal process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Private service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Show contribution without beneficiary details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Volunteer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Encourage responsible continued service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validates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awards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83" b="1">
                <a:solidFill>
                  <a:srgbClr val="62DAE8"/>
                </a:solidFill>
                <a:latin typeface="DejaVu Sans"/>
              </a:defRPr>
            </a:pPr>
            <a:r>
              <a:t>encourages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recognition criteria → Service verification → Badges &amp; service ranks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Verified-credit accuracy; corrections; recognition visibility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17" b="1">
                <a:solidFill>
                  <a:srgbClr val="F7F9FF"/>
                </a:solidFill>
                <a:latin typeface="DejaVu Sans"/>
              </a:defRPr>
            </a:pPr>
            <a:r>
              <a:t>Teacher approval connects credentials to a governed teaching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Learner trust depends on teacher review being independent of whether a person pays for publishing privileges.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29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Subjects, language, experience and evidence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Credential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approves, declines or requests detail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Professional role; no private-case access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teaching standards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Religious review and evidence requirements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Publishing privileges remain separate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8" b="1">
                <a:solidFill>
                  <a:srgbClr val="F7F9FF"/>
                </a:solidFill>
                <a:latin typeface="DejaVu Sans"/>
              </a:defRPr>
            </a:pPr>
            <a:r>
              <a:t>Moderated programme / posts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needs a publication decision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applies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allows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teaching standards → Credential review → Approved teacher profile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Credential review; role approval; revoked-teacher access tests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5" b="1">
                <a:solidFill>
                  <a:srgbClr val="F7F9FF"/>
                </a:solidFill>
                <a:latin typeface="DejaVu Sans"/>
              </a:defRPr>
            </a:pPr>
            <a:r>
              <a:t>Teacher publishing connects expertise to discoverable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Moderation, plan allowances and clear publication states turn teacher opportunity into controlled learner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30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Teaching role and profile are active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Educational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Post, teaching ad, class or recording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rights, quality and religious content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Valid plan entitlement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Enforce designated publishing allowances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Schedule, publish, revise or withdraw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Search / website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approved visible material is returned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Valid plan entitlement → Educational submission → MRM moderation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Submission review; allowance enforcement; publication / withdrawal tests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09" b="1">
                <a:solidFill>
                  <a:srgbClr val="F7F9FF"/>
                </a:solidFill>
                <a:latin typeface="DejaVu Sans"/>
              </a:defRPr>
            </a:pPr>
            <a:r>
              <a:t>Teacher subscriptions connect revenue to explicit privileges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MRM can earn recurring teacher revenue while preserving free core assistance and volunteer participation.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Credentials approved before paid privileges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Teacher plan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defines period and allowances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Applicable billing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required client-owned store setup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commercial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Plan terms, prices and moderation rules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entitlement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current rights on the server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publishing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Content still requires moderation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qualifies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1" b="1">
                <a:solidFill>
                  <a:srgbClr val="62DAE8"/>
                </a:solidFill>
                <a:latin typeface="DejaVu Sans"/>
              </a:defRPr>
            </a:pPr>
            <a:r>
              <a:t>purchases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commercial policy → Teacher plan selection → Applicable billing flow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Verified active plans; publishing-limit checks; correct expiry handling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93" b="1">
                <a:solidFill>
                  <a:srgbClr val="F7F9FF"/>
                </a:solidFill>
                <a:latin typeface="DejaVu Sans"/>
              </a:defRPr>
            </a:pPr>
            <a:r>
              <a:t>Billing state connects payment events to the correct entitlement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Payment success, renewal and expiry must change privileges reliably without deleting the teacher’s identity or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Store purchase / renewal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Applicable verified transaction event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Entitlement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current teacher-plan rights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Publishing 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Allow or pause the designated privileges</a:t>
            </a:r>
          </a:p>
        </p:txBody>
      </p:sp>
      <p:sp>
        <p:nvSpPr>
          <p:cNvPr id="28" name="Rounded Rectangle 27">
            <a:hlinkClick action="ppaction://hlinksldjump" r:id="rId7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Cancel / fail / 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Handle supported lifecycle events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Account &amp; content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Preserve records under agreed policy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Billing oversight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available reconciliation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enforces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1">
                <a:solidFill>
                  <a:srgbClr val="62DAE8"/>
                </a:solidFill>
                <a:latin typeface="DejaVu Sans"/>
              </a:defRPr>
            </a:pPr>
            <a:r>
              <a:t>preserves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supports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Cancel / fail / restore → Entitlement verification → Publishing permission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renewal / cancellation; restore and expiry tests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7" b="1">
                <a:solidFill>
                  <a:srgbClr val="F7F9FF"/>
                </a:solidFill>
                <a:latin typeface="DejaVu Sans"/>
              </a:defRPr>
            </a:pPr>
            <a:r>
              <a:t>Learning connects approved content to participation and return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Discovery becomes sustained learning when programme details, access, reminders and recordings form one journey.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33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teacher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MRM-approved learning material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Topic, language, teacher and schedule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access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state who can join and how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Daily tools / search / website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Multiple relevant entry points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Calendar &amp; reminders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Registered participants receive updates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Live session / recording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approved links or hosted resources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discovers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registers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Daily tools / search / website → Programme discovery → Registration / access rules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Programme access; registration; attendance / recording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3" b="1">
                <a:solidFill>
                  <a:srgbClr val="F7F9FF"/>
                </a:solidFill>
                <a:latin typeface="DejaVu Sans"/>
              </a:defRPr>
            </a:pPr>
            <a:r>
              <a:t>Mentorship connects an approved adviser to a defined learning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Matching the right mentor to a programme or authorised support relationship adds continuity without exposing unrelated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34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Scholar / Mentor roster and Start Room control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Learning / support 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Class need or permitted case referral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71" b="1">
                <a:solidFill>
                  <a:srgbClr val="F7F9FF"/>
                </a:solidFill>
                <a:latin typeface="DejaVu Sans"/>
              </a:defRPr>
            </a:pPr>
            <a:r>
              <a:t>Approved mentor 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Defined assignment and permitted purpose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Session / programme roster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relevant learner and timing details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&amp; case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Teacher approval alone is insufficient for cases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Approved session link or case communication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Follow-up / learning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only the agreed information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requests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2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8" b="1">
                <a:solidFill>
                  <a:srgbClr val="62DAE8"/>
                </a:solidFill>
                <a:latin typeface="DejaVu Sans"/>
              </a:defRPr>
            </a:pPr>
            <a:r>
              <a:t>follows up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case permissions → Approved mentor relationship → Session / programme roster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Authorised mentor assignment; schedule access; confidential-record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11" b="1">
                <a:solidFill>
                  <a:srgbClr val="F7F9FF"/>
                </a:solidFill>
                <a:latin typeface="DejaVu Sans"/>
              </a:defRPr>
            </a:pPr>
            <a:r>
              <a:t>Scheduling connects learning, volunteer capacity and reminders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One calendar can coordinate participation while keeping a class enrolment separate from a volunteer duty assignment.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35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calendar list and slot-confirmation modal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class / duty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or service opportunity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Calendar &amp; 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Dates, tracks and available places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Registration / shift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Capture the person’s participation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/ capacity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Apply access rules and available capacity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participation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the class or duty relationship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Reminder &amp; activity update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right programme or shift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2" b="1">
                <a:solidFill>
                  <a:srgbClr val="62DAE8"/>
                </a:solidFill>
                <a:latin typeface="DejaVu Sans"/>
              </a:defRPr>
            </a:pPr>
            <a:r>
              <a:t>schedules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/ capacity checks → Calendar &amp; availability → Registration / shift request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Slot availability; registration conflict; shift / class reminders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2" b="1">
                <a:solidFill>
                  <a:srgbClr val="F7F9FF"/>
                </a:solidFill>
                <a:latin typeface="DejaVu Sans"/>
              </a:defRPr>
            </a:pPr>
            <a:r>
              <a:t>Community updates connect approved stories to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moderated public update can build trust and point people toward programmes without exposing private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36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feed and composer · moderation controls proposed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staff / teacher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Author and publication rights are checked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6" b="1">
                <a:solidFill>
                  <a:srgbClr val="F7F9FF"/>
                </a:solidFill>
                <a:latin typeface="DejaVu Sans"/>
              </a:defRPr>
            </a:pPr>
            <a:r>
              <a:t>Moderated community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Review text, media and consent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Public programme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Link to approved participation information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Privacy / beneficiary consent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Never expose private case circumstances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6" b="1">
                <a:solidFill>
                  <a:srgbClr val="F7F9FF"/>
                </a:solidFill>
                <a:latin typeface="DejaVu Sans"/>
              </a:defRPr>
            </a:pPr>
            <a:r>
              <a:t>Approved sponsor recognition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agreed creatives and display period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9" b="1">
                <a:solidFill>
                  <a:srgbClr val="F7F9FF"/>
                </a:solidFill>
                <a:latin typeface="DejaVu Sans"/>
              </a:defRPr>
            </a:pPr>
            <a:r>
              <a:t>Participation / learning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clear destination beyond the post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submits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labels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invites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Privacy / beneficiary consent → Moderated community update → Public programme discovery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Moderation decisions; privacy review; programme follow-through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94" b="1">
                <a:solidFill>
                  <a:srgbClr val="F7F9FF"/>
                </a:solidFill>
                <a:latin typeface="DejaVu Sans"/>
              </a:defRPr>
            </a:pPr>
            <a:r>
              <a:t>Sponsor recognition connects approved support to visible placements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Scheduled placements create accountable sponsor value without influencing private care or assistance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37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Sponsor agreement &amp;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confirms claims, creatives and terms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Placement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Location, link, dates and approval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website recognition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Clearly identify sponsored material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Content / privacy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targeting from sensitive case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Aggregate views / clicks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Report agreed non-identifying performance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7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Renewal / expiry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Remove or renew under MRM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restricts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measures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expires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Content / privacy rules → Placement configuration → App / website recognition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Placement start / expiry; approved asset use; aggregate delivery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675" b="1">
                <a:solidFill>
                  <a:srgbClr val="F7F9FF"/>
                </a:solidFill>
                <a:latin typeface="DejaVu Sans"/>
              </a:defRPr>
            </a:pPr>
            <a:r>
              <a:t>The website connects public discovery to the correct app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Immediate link access introduces MRM’s work and brings the right audience into learning, volunteering or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38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public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Mission, resources, programmes and policies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Responsive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Discover MRM without app installation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Relevant participation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Support, volunteer or teacher information</a:t>
            </a:r>
          </a:p>
        </p:txBody>
      </p:sp>
      <p:sp>
        <p:nvSpPr>
          <p:cNvPr id="28" name="Rounded Rectangle 27">
            <a:hlinkClick action="ppaction://hlinksldjump" r:id="rId9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9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CMS &amp; migration 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 pages, assets and accessible content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0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Programme / resource detail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Public information matches approved records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 / account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Continue when a personal service is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maintains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directs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hands off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CMS &amp; migration inventory → Responsive website → Relevant participation route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Public-route completion; content currency; app / service handoff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99" b="1">
                <a:solidFill>
                  <a:srgbClr val="F7F9FF"/>
                </a:solidFill>
                <a:latin typeface="DejaVu Sans"/>
              </a:defRPr>
            </a:pPr>
            <a:r>
              <a:t>Notifications connect a service event to the next safe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useful alert opens the correct authorised case, programme or shift without exposing sensitive details on a lock screen.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39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notification list · demo events / receipt claims unverified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Case / class / shift 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relevant state or schedule changes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Eligibility &amp;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Select the permitted recipient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Privacy-safe 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Minimal context and approved wording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Current role / record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Recheck permission at send and open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destination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Case, programme, shift or account status</a:t>
            </a:r>
          </a:p>
        </p:txBody>
      </p:sp>
      <p:sp>
        <p:nvSpPr>
          <p:cNvPr id="36" name="Rounded Rectangle 35">
            <a:hlinkClick action="ppaction://hlinksldjump" r:id="rId7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7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Personal activity /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Record state and review unattended 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triggers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links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prompts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Current role / record access → Eligibility &amp; preferences → Privacy-safe notification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Relevant delivery; consent; authorised deep link; failed-send handling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62" b="1">
                <a:solidFill>
                  <a:srgbClr val="F7F9FF"/>
                </a:solidFill>
                <a:latin typeface="DejaVu Sans"/>
              </a:defRPr>
            </a:pPr>
            <a:r>
              <a:t>Personal activity connects applications and service status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coherent history reduces uncertainty and keeps users connected to the action that needs their attention.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40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 / case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assignment or referral updates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activity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Store the person’s relevant event history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Next action /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Open the current permitted record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Role &amp; record 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the correct person can see it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6" b="1">
                <a:solidFill>
                  <a:srgbClr val="F7F9FF"/>
                </a:solidFill>
                <a:latin typeface="DejaVu Sans"/>
              </a:defRPr>
            </a:pPr>
            <a:r>
              <a:t>Learning / volunteer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Programme and duty updates stay relevant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reminder /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Notify or route overdue work appropriately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filters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connects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62DAE8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reminds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Role &amp; record permissions → Authorised activity record → Next action / detail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own-record visibility; status accuracy; actionable updates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46" b="1">
                <a:solidFill>
                  <a:srgbClr val="F7F9FF"/>
                </a:solidFill>
                <a:latin typeface="DejaVu Sans"/>
              </a:defRPr>
            </a:pPr>
            <a:r>
              <a:t>Administration connects decisions to real operational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The staff system is the operating layer that turns applications, requests and content into accountable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Applications / cases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Work arrives through approved journeys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Duty-based staff queues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Verification, triage and moderation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Recorded staff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Reason, responsible staff and time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14" b="1">
                <a:solidFill>
                  <a:srgbClr val="F7F9FF"/>
                </a:solidFill>
                <a:latin typeface="DejaVu Sans"/>
              </a:defRPr>
            </a:pPr>
            <a:r>
              <a:t>MRM policies &amp; responsibilities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Define decision rights and coverage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Updated feature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Approval, assignment or publication changes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update /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Communicate permitted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enters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decides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changes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updates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policies &amp; responsibilities → Duty-based staff queues → Recorded staff decision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Decision history; queue ownership; correct role-limited staff actions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Reports connect recorded activity to better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Operational summaries are useful only when they derive from verified events and lead to a clear staff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analytics + calculator concept · figures illustrative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37" b="1">
                <a:solidFill>
                  <a:srgbClr val="F7F9FF"/>
                </a:solidFill>
                <a:latin typeface="DejaVu Sans"/>
              </a:defRPr>
            </a:pPr>
            <a:r>
              <a:t>Recorded case / programme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Outcome, status and participation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33" b="1">
                <a:solidFill>
                  <a:srgbClr val="F7F9FF"/>
                </a:solidFill>
                <a:latin typeface="DejaVu Sans"/>
              </a:defRPr>
            </a:pPr>
            <a:r>
              <a:t>Agreed operational summaries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Service queues, capacity and referrals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MRM review &amp;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Investigate bottlenecks and plan resources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Data quality &amp; access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Aggregate by default; restrict personal exports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Learning / sponsor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Agreed programme and placement measures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Documented improvement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Adjust policy, capacity or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37" b="1">
                <a:solidFill>
                  <a:srgbClr val="62DAE8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informs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59" b="1">
                <a:solidFill>
                  <a:srgbClr val="62DAE8"/>
                </a:solidFill>
                <a:latin typeface="DejaVu Sans"/>
              </a:defRPr>
            </a:pPr>
            <a:r>
              <a:t>summarises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acts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improves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Data quality &amp; access rules → Agreed operational summaries → MRM review &amp; action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Metric definitions; source reconciliation; restricted export tests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Privacy and audit connect policy to every data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Access rules must remain effective in the API, files, exports and notifications, not only in visible screens.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43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Approved scope · proposed connections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Authenticated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Current roles and approved attributes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Record-level authorisation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role, case and gender boundary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Protected case /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Restrict identity files and sensitive records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49" b="1">
                <a:solidFill>
                  <a:srgbClr val="F7F9FF"/>
                </a:solidFill>
                <a:latin typeface="DejaVu Sans"/>
              </a:defRPr>
            </a:pPr>
            <a:r>
              <a:t>MRM privacy / retention policy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Consent, sharing and retention decisions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notifications / exports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Minimise disclosure outside the record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Audit / backup / 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Accountable action and agreed recovery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defines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59" b="1">
                <a:solidFill>
                  <a:srgbClr val="62DAE8"/>
                </a:solidFill>
                <a:latin typeface="DejaVu Sans"/>
              </a:defRPr>
            </a:pPr>
            <a:r>
              <a:t>constrains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audits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records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MRM privacy / retention policy → Record-level authorisation → Protected case / evidence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Direct API denial; file permissions; audit / recovery checks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Settings connect local choices to reliable, private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Preferences should change the intended experience consistently without silently changing role or record permissions.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44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Settings; distinct dark-theme Home is shown on the main cover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User preferences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Language, theme and local area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Settings &amp;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Explicit choices and clear effects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Prayer / reminder behaviour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the approved zone and notification choice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Supported offline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Cache only approved / permitted material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Device / privacy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Supported lock and safe local handling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Reliable repeated 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Respect denied permissions and changed settings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manages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799" b="1">
                <a:solidFill>
                  <a:srgbClr val="62DAE8"/>
                </a:solidFill>
                <a:latin typeface="DejaVu Sans"/>
              </a:defRPr>
            </a:pPr>
            <a:r>
              <a:t>configures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controls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tests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protects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Supported offline content → Settings &amp; consent → Prayer / reminder behaviour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Prayer-zone changes; consent; cache and supported device-lock tests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997" b="1">
                <a:solidFill>
                  <a:srgbClr val="F7F9FF"/>
                </a:solidFill>
                <a:latin typeface="DejaVu Sans"/>
              </a:defRPr>
            </a:pPr>
            <a:r>
              <a:t>Loading, empty and error states connect trust to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failed request must explain what happened and offer the right recovery path without duplicating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45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loading skeleton · empty/error tabs visible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API / content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Load or submit a real service action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Visible state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Loading, empty, success or error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retry / next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Retry, correct input or return to a valid route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57" b="1">
                <a:solidFill>
                  <a:srgbClr val="F7F9FF"/>
                </a:solidFill>
                <a:latin typeface="DejaVu Sans"/>
              </a:defRPr>
            </a:pPr>
            <a:r>
              <a:t>Permission / network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Distinguish denied access from unavailable data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Persistent operation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whether the action already completed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Support / staff 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Escalate a genuine unresolved problem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loads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41" b="1">
                <a:solidFill>
                  <a:srgbClr val="E8C578"/>
                </a:solidFill>
                <a:latin typeface="DejaVu Sans"/>
              </a:defRPr>
            </a:pPr>
            <a:r>
              <a:t>escalates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25" b="1">
                <a:solidFill>
                  <a:srgbClr val="62DAE8"/>
                </a:solidFill>
                <a:latin typeface="DejaVu Sans"/>
              </a:defRPr>
            </a:pPr>
            <a:r>
              <a:t>prevents loss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Permission / network outcome → Visible state feedback → Safe retry / next action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Retry correctness; no duplicate submissions; recoverable state tests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59" b="1">
                <a:solidFill>
                  <a:srgbClr val="F7F9FF"/>
                </a:solidFill>
                <a:latin typeface="DejaVu Sans"/>
              </a:defRPr>
            </a:pPr>
            <a:r>
              <a:t>Empty states connect a valid zero result to a useful next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genuine empty state reduces confusion without claiming that work is completed simply because nothing is displayed.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46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“No Active Care Missions” empty-state panel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permitted case or content list is loaded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Confirmed empty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Distinguish no data from network failure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Useful next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Return to relevant tools or participation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 / network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 not treat an error as an empty list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24" b="1">
                <a:solidFill>
                  <a:srgbClr val="F7F9FF"/>
                </a:solidFill>
                <a:latin typeface="DejaVu Sans"/>
              </a:defRPr>
            </a:pPr>
            <a:r>
              <a:t>Service / programme 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Offer only an appropriate permitted route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New valid 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explicit user action starts a real journey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returns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distinguishes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starts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Record / network checks → Confirmed empty result → Useful next action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Correct zero-state wording; next-action eligibility; no false completion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62DAE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62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E8C5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FEATURE NETWORK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68" b="1">
                <a:solidFill>
                  <a:srgbClr val="F7F9FF"/>
                </a:solidFill>
                <a:latin typeface="DejaVu Sans"/>
              </a:defRPr>
            </a:pPr>
            <a:r>
              <a:t>Error recovery connects service continuity to truthful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clear failure state should recover the correct operation and preserve data, rather than silently repeat a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47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Observed network-error panel with reconnect control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Failed service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Network or backend did not complete normally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62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Visible error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State what is unavailable without overclaiming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Safe reconnect / retry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Reconcile status before resubmitting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Available offline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previously permitted cached material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Persistent operation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whether submission already succeeded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Recovered permitted journey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Resume or route to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E8C578"/>
                </a:solidFill>
                <a:latin typeface="DejaVu Sans"/>
              </a:defRPr>
            </a:pPr>
            <a:r>
              <a:t>fails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offers fallback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guides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62DAE8"/>
                </a:solidFill>
                <a:latin typeface="DejaVu Sans"/>
              </a:defRPr>
            </a:pPr>
            <a:r>
              <a:t>recovers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8" b="1">
                <a:solidFill>
                  <a:srgbClr val="62DAE8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Available offline content → Visible error explanation → Safe reconnect / retry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Reconnect; idempotent retry; cached access; status reconciliation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814" b="1">
                <a:solidFill>
                  <a:srgbClr val="F7F9FF"/>
                </a:solidFill>
                <a:latin typeface="DejaVu Sans"/>
              </a:defRPr>
            </a:pPr>
            <a:r>
              <a:t>Relief campaigns connect public interest to a defined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 transparent campaign should explain its purpose and owner before a person considers a contribution.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48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fundraising / authority approval required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85" b="1">
                <a:solidFill>
                  <a:srgbClr val="F7F9FF"/>
                </a:solidFill>
                <a:latin typeface="DejaVu Sans"/>
              </a:defRPr>
            </a:pPr>
            <a:r>
              <a:t>Approved programme /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defines the intended relief initiative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Campaign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Categories, information and display period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Purpose / provisions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Explain what is being supported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&amp; claim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permissions, tax wording and rights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 conditional financial journey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Recorded contribution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verified transaction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approves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&amp; claim review → Campaign discovery → Purpose / provisions detail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campaign information; correct status; purpose clarity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7F9FF"/>
                </a:solidFill>
                <a:latin typeface="DejaVu Sans"/>
              </a:defRPr>
            </a:pPr>
            <a:r>
              <a:t>Campaign detail connects a pledge to explicit provisions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Clear provisions and responsible ownership help supporters understand the intended purpose without relying on unsupported impact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49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distinct Overview and Provisions tabs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Campaign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Choose an approved relief initiative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Purpose &amp; provision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Overview, contents and responsible contact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Contribution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Quantity or supported allocation choice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Claims / rights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No assumed tax status or guaranteed delivery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91" b="1">
                <a:solidFill>
                  <a:srgbClr val="F7F9FF"/>
                </a:solidFill>
                <a:latin typeface="DejaVu Sans"/>
              </a:defRPr>
            </a:pPr>
            <a:r>
              <a:t>Permitted impact information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approved, consented and evidenced material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status / confirmation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Do not claim completion before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opens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reviews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explains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10" b="1">
                <a:solidFill>
                  <a:srgbClr val="C2A3FF"/>
                </a:solidFill>
                <a:latin typeface="DejaVu Sans"/>
              </a:defRPr>
            </a:pPr>
            <a:r>
              <a:t>continues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Claims / rights approval → Purpose &amp; provision detail → Contribution selection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Approved provisions; amount calculation; correct purpose selection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2021311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4041648"/>
            <a:ext cx="0" cy="658368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426" b="1">
                <a:solidFill>
                  <a:srgbClr val="F7F9FF"/>
                </a:solidFill>
                <a:latin typeface="DejaVu Sans"/>
              </a:defRPr>
            </a:pPr>
            <a:r>
              <a:t>Impact information connects an outcome to trustworthy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Verified and consented evidence can explain value; a sample testimonial must never be presented as a proven result.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50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sample Impact tab, not verified testimonials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service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accountable event and confirmation exist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impact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Check evidence, privacy and consent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Public campaign /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Use only permitted, supported statements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87" b="1">
                <a:solidFill>
                  <a:srgbClr val="F7F9FF"/>
                </a:solidFill>
                <a:latin typeface="DejaVu Sans"/>
              </a:defRPr>
            </a:pPr>
            <a:r>
              <a:t>Beneficiary consent &amp; privacy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Exclude identifying private case details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65" b="1">
                <a:solidFill>
                  <a:srgbClr val="F7F9FF"/>
                </a:solidFill>
                <a:latin typeface="DejaVu Sans"/>
              </a:defRPr>
            </a:pPr>
            <a:r>
              <a:t>Aggregate programme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MRM reviews responsible summaries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489" b="1">
                <a:solidFill>
                  <a:srgbClr val="F7F9FF"/>
                </a:solidFill>
                <a:latin typeface="DejaVu Sans"/>
              </a:defRPr>
            </a:pPr>
            <a:r>
              <a:t>Content correction / withdrawal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Remove material when permission changes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9" b="1">
                <a:solidFill>
                  <a:srgbClr val="C2A3FF"/>
                </a:solidFill>
                <a:latin typeface="DejaVu Sans"/>
              </a:defRPr>
            </a:pPr>
            <a:r>
              <a:t>evidences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permits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publishes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86016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13448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695" b="1">
                <a:solidFill>
                  <a:srgbClr val="C2A3FF"/>
                </a:solidFill>
                <a:latin typeface="DejaVu Sans"/>
              </a:defRPr>
            </a:pPr>
            <a:r>
              <a:t>aggregates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92127" y="4251959"/>
            <a:ext cx="658368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19559" y="4288536"/>
            <a:ext cx="60350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corrects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Beneficiary consent &amp; privacy → Approved impact record → Public campaign / report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Evidence traceability; consent; approval and correction records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722" b="1">
                <a:solidFill>
                  <a:srgbClr val="F7F9FF"/>
                </a:solidFill>
                <a:latin typeface="DejaVu Sans"/>
              </a:defRPr>
            </a:pPr>
            <a:r>
              <a:t>Contribution allocation connects intention, purpose and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An explicit allocation and transparent total reduce confusion between donations, business sponsorship and teacher subscriptions.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51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Sadaqah / Infaq allocation, not retail cart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22" b="1">
                <a:solidFill>
                  <a:srgbClr val="F7F9FF"/>
                </a:solidFill>
                <a:latin typeface="DejaVu Sans"/>
              </a:defRPr>
            </a:pPr>
            <a:r>
              <a:t>Approved campaign / provision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An authorised purpose is selected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Contribution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Purpose, quantity and optional support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Amount / purpose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Make the intended commitment clear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Financial policy &amp; permission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Terms, handling and authority requirements</a:t>
            </a:r>
          </a:p>
        </p:txBody>
      </p:sp>
      <p:sp>
        <p:nvSpPr>
          <p:cNvPr id="32" name="Rounded Rectangle 31">
            <a:hlinkClick action="ppaction://hlinksldjump" r:id="rId9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9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Conditional payment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separately authorised financial service</a:t>
            </a:r>
          </a:p>
        </p:txBody>
      </p:sp>
      <p:sp>
        <p:nvSpPr>
          <p:cNvPr id="36" name="Rounded Rectangle 35">
            <a:hlinkClick action="ppaction://hlinksldjump" r:id="rId11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1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Receipt / status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after verified transaction 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selects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governs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33" b="1">
                <a:solidFill>
                  <a:srgbClr val="C2A3FF"/>
                </a:solidFill>
                <a:latin typeface="DejaVu Sans"/>
              </a:defRPr>
            </a:pPr>
            <a:r>
              <a:t>calculates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Financial policy &amp; permission → Contribution allocation → Amount / purpose 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Amount consistency; purpose consent; valid financial-state transition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B3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9284208" y="5312664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15200" y="4370831"/>
            <a:ext cx="0" cy="329185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315200" y="4370831"/>
            <a:ext cx="4706111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021311" y="4041648"/>
            <a:ext cx="0" cy="329183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84208" y="3429000"/>
            <a:ext cx="768095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962144" y="3429000"/>
            <a:ext cx="384048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962144" y="3429000"/>
            <a:ext cx="0" cy="1883664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78096" y="5312664"/>
            <a:ext cx="384048" cy="0"/>
          </a:xfrm>
          <a:prstGeom prst="line">
            <a:avLst/>
          </a:prstGeom>
          <a:ln w="17780">
            <a:solidFill>
              <a:srgbClr val="C2A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578096" y="3429000"/>
            <a:ext cx="768096" cy="0"/>
          </a:xfrm>
          <a:prstGeom prst="line">
            <a:avLst/>
          </a:prstGeom>
          <a:ln w="17780">
            <a:solidFill>
              <a:srgbClr val="C2A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438912"/>
            <a:ext cx="41148" cy="274320"/>
          </a:xfrm>
          <a:prstGeom prst="rect">
            <a:avLst/>
          </a:prstGeom>
          <a:solidFill>
            <a:srgbClr val="62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48056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62DAE8"/>
                </a:solidFill>
                <a:latin typeface="DejaVu Sans"/>
              </a:defRPr>
            </a:pPr>
            <a:r>
              <a:t>EXTENDED CONCEPT  /  MRM DIGITAL COMMUNITY PLATFORM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347472"/>
            <a:ext cx="845618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0" y="365760"/>
            <a:ext cx="924939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932688"/>
            <a:ext cx="13350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2530" b="1">
                <a:solidFill>
                  <a:srgbClr val="F7F9FF"/>
                </a:solidFill>
                <a:latin typeface="DejaVu Sans"/>
              </a:defRPr>
            </a:pPr>
            <a:r>
              <a:t>Donation payment is separate from teacher billing and zakat referral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325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BBC8DF"/>
                </a:solidFill>
                <a:latin typeface="DejaVu Sans"/>
              </a:defRPr>
            </a:pPr>
            <a:r>
              <a:t>Financial confirmation needs verified transactions, approved authority wording and reconciliation before any receipt or disbursement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7589520"/>
            <a:ext cx="13350240" cy="10972"/>
          </a:xfrm>
          <a:prstGeom prst="rect">
            <a:avLst/>
          </a:prstGeom>
          <a:solidFill>
            <a:srgbClr val="34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6"/>
          </p:cNvPr>
          <p:cNvSpPr txBox="1"/>
          <p:nvPr/>
        </p:nvSpPr>
        <p:spPr>
          <a:xfrm>
            <a:off x="640080" y="776325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BBC8DF"/>
                </a:solidFill>
                <a:latin typeface="DejaVu Sans"/>
              </a:defRPr>
            </a:pPr>
            <a:r>
              <a:t>MRM  /  ZYLAX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776325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00" b="0">
                <a:solidFill>
                  <a:srgbClr val="BBC8DF"/>
                </a:solidFill>
                <a:latin typeface="DejaVu Sans"/>
              </a:defRPr>
            </a:pPr>
            <a:r>
              <a:t>PROPOSED CONNECTIONS  /  MVP UI DOES NOT VERIFY BACKEND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0" y="77083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  <a:defRPr sz="1200" b="1">
                <a:solidFill>
                  <a:srgbClr val="62DAE8"/>
                </a:solidFill>
                <a:latin typeface="DejaVu Sans"/>
              </a:defRPr>
            </a:pPr>
            <a:r>
              <a:t>52 / 52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13350240" cy="292608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290572"/>
            <a:ext cx="131673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E8C578"/>
                </a:solidFill>
                <a:latin typeface="DejaVu Sans"/>
              </a:defRPr>
            </a:pPr>
            <a:r>
              <a:t>Extended concept · earlier proposal excludes zakat collection / disbursement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640080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action="ppaction://hlinksldjump" r:id="rId7"/>
          </p:cNvPr>
          <p:cNvSpPr txBox="1"/>
          <p:nvPr/>
        </p:nvSpPr>
        <p:spPr>
          <a:xfrm>
            <a:off x="804671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Approved allocation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A permitted purpose and amount are confirmed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5346192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233B55"/>
          </a:solidFill>
          <a:ln w="11430">
            <a:solidFill>
              <a:srgbClr val="C2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64480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action="ppaction://hlinksldjump" r:id="rId8"/>
          </p:cNvPr>
          <p:cNvSpPr txBox="1"/>
          <p:nvPr/>
        </p:nvSpPr>
        <p:spPr>
          <a:xfrm>
            <a:off x="5510784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Authorised payment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0784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Provider, account ownership and controls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10052303" y="2816352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70591" y="2935224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action="ppaction://hlinksldjump" r:id="rId9"/>
          </p:cNvPr>
          <p:cNvSpPr txBox="1"/>
          <p:nvPr/>
        </p:nvSpPr>
        <p:spPr>
          <a:xfrm>
            <a:off x="10216895" y="2962656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Verified transaction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6895" y="3419856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Resolve success, failure or pending</a:t>
            </a:r>
          </a:p>
        </p:txBody>
      </p:sp>
      <p:sp>
        <p:nvSpPr>
          <p:cNvPr id="28" name="Rounded Rectangle 27">
            <a:hlinkClick action="ppaction://hlinksldjump" r:id="rId10"/>
          </p:cNvPr>
          <p:cNvSpPr/>
          <p:nvPr/>
        </p:nvSpPr>
        <p:spPr>
          <a:xfrm>
            <a:off x="640080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action="ppaction://hlinksldjump" r:id="rId10"/>
          </p:cNvPr>
          <p:cNvSpPr txBox="1"/>
          <p:nvPr/>
        </p:nvSpPr>
        <p:spPr>
          <a:xfrm>
            <a:off x="804671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Authority / financial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Collection, tax and disbursement permissions</a:t>
            </a:r>
          </a:p>
        </p:txBody>
      </p:sp>
      <p:sp>
        <p:nvSpPr>
          <p:cNvPr id="32" name="Rounded Rectangle 31">
            <a:hlinkClick action="ppaction://hlinksldjump" r:id="rId11"/>
          </p:cNvPr>
          <p:cNvSpPr/>
          <p:nvPr/>
        </p:nvSpPr>
        <p:spPr>
          <a:xfrm>
            <a:off x="5346192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4480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action="ppaction://hlinksldjump" r:id="rId11"/>
          </p:cNvPr>
          <p:cNvSpPr txBox="1"/>
          <p:nvPr/>
        </p:nvSpPr>
        <p:spPr>
          <a:xfrm>
            <a:off x="5510784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7F9FF"/>
                </a:solidFill>
                <a:latin typeface="DejaVu Sans"/>
              </a:defRPr>
            </a:pPr>
            <a:r>
              <a:t>Permitted receipt /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10784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Only issue what is legally authorised</a:t>
            </a:r>
          </a:p>
        </p:txBody>
      </p:sp>
      <p:sp>
        <p:nvSpPr>
          <p:cNvPr id="36" name="Rounded Rectangle 35">
            <a:hlinkClick action="ppaction://hlinksldjump" r:id="rId12"/>
          </p:cNvPr>
          <p:cNvSpPr/>
          <p:nvPr/>
        </p:nvSpPr>
        <p:spPr>
          <a:xfrm>
            <a:off x="10052303" y="4700016"/>
            <a:ext cx="3938016" cy="1225296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70591" y="4818888"/>
            <a:ext cx="32004" cy="987552"/>
          </a:xfrm>
          <a:prstGeom prst="rect">
            <a:avLst/>
          </a:prstGeom>
          <a:solidFill>
            <a:srgbClr val="C2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action="ppaction://hlinksldjump" r:id="rId12"/>
          </p:cNvPr>
          <p:cNvSpPr txBox="1"/>
          <p:nvPr/>
        </p:nvSpPr>
        <p:spPr>
          <a:xfrm>
            <a:off x="10216895" y="4846320"/>
            <a:ext cx="36088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545" b="1">
                <a:solidFill>
                  <a:srgbClr val="F7F9FF"/>
                </a:solidFill>
                <a:latin typeface="DejaVu Sans"/>
              </a:defRPr>
            </a:pPr>
            <a:r>
              <a:t>Reconciliation / staff oversight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16895" y="5303520"/>
            <a:ext cx="36088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250" b="0">
                <a:solidFill>
                  <a:srgbClr val="BBC8DF"/>
                </a:solidFill>
                <a:latin typeface="DejaVu Sans"/>
              </a:defRPr>
            </a:pPr>
            <a:r>
              <a:t>Track the verified financial state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4672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42104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initiates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95216" y="4251959"/>
            <a:ext cx="1133856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22648" y="4288536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authorises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0783" y="3118104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48215" y="315468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verifies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2476" y="4059935"/>
            <a:ext cx="1051560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69908" y="4096511"/>
            <a:ext cx="9966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C2A3FF"/>
                </a:solidFill>
                <a:latin typeface="DejaVu Sans"/>
              </a:defRPr>
            </a:pPr>
            <a:r>
              <a:t>confirms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0783" y="5001768"/>
            <a:ext cx="694943" cy="246888"/>
          </a:xfrm>
          <a:prstGeom prst="rect">
            <a:avLst/>
          </a:prstGeom>
          <a:solidFill>
            <a:srgbClr val="11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8215" y="50383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828" b="1">
                <a:solidFill>
                  <a:srgbClr val="C2A3FF"/>
                </a:solidFill>
                <a:latin typeface="DejaVu Sans"/>
              </a:defRPr>
            </a:pPr>
            <a:r>
              <a:t>reconciles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6382512"/>
            <a:ext cx="13350240" cy="749808"/>
          </a:xfrm>
          <a:prstGeom prst="roundRect">
            <a:avLst>
              <a:gd name="adj" fmla="val 10000"/>
            </a:avLst>
          </a:prstGeom>
          <a:solidFill>
            <a:srgbClr val="253651"/>
          </a:solidFill>
          <a:ln w="1143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1" y="6473952"/>
            <a:ext cx="1302105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8C578"/>
                </a:solidFill>
                <a:latin typeface="DejaVu Sans"/>
              </a:defRPr>
            </a:pPr>
            <a:r>
              <a:t>CRITICAL CONNECTION TO GET RIGHT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6647688"/>
            <a:ext cx="13021056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7F9FF"/>
                </a:solidFill>
                <a:latin typeface="DejaVu Sans"/>
              </a:defRPr>
            </a:pPr>
            <a:r>
              <a:t>Authority / financial approval → Authorised payment process → Verified transaction state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7214616"/>
            <a:ext cx="13350240" cy="320040"/>
          </a:xfrm>
          <a:prstGeom prst="roundRect">
            <a:avLst>
              <a:gd name="adj" fmla="val 10000"/>
            </a:avLst>
          </a:prstGeom>
          <a:solidFill>
            <a:srgbClr val="1B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8096" y="7274052"/>
            <a:ext cx="130942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30" b="0">
                <a:solidFill>
                  <a:srgbClr val="BBC8DF"/>
                </a:solidFill>
                <a:latin typeface="DejaVu Sans"/>
              </a:defRPr>
            </a:pPr>
            <a:r>
              <a:t>Measure after implementation: Payment verification; failed / duplicate handling; reconciliation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