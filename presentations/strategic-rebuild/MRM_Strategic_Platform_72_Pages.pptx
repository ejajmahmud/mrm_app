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"entry",</a:t>
            </a:r>
          </a:p>
          <a:p>
            <a:r>
              <a:t>  "owner": "MRM + Zylax",</a:t>
            </a:r>
          </a:p>
          <a:p>
            <a:r>
              <a:t>  "scope": "Observed entry screens \u00b7 proposed routing",</a:t>
            </a:r>
          </a:p>
          <a:p>
            <a:r>
              <a:t>  "why": "Clear entry paths turn public interest into learning, participation or a safe request for help.",</a:t>
            </a:r>
          </a:p>
          <a:p>
            <a:r>
              <a:t>  "measure": "Guest-to-service progression; onboarding completion",</a:t>
            </a:r>
          </a:p>
          <a:p>
            <a:r>
              <a:t>  "decision": "Screens retain revert-focused wording; platform positioning remains for all Muslims.",</a:t>
            </a:r>
          </a:p>
          <a:p>
            <a:r>
              <a:t>  "screen_evidence": [</a:t>
            </a:r>
          </a:p>
          <a:p>
            <a:r>
              <a:t>    "Onboarding \u00b7 care pillar",</a:t>
            </a:r>
          </a:p>
          <a:p>
            <a:r>
              <a:t>    "Welcome and guest entry"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"Public website",</a:t>
            </a:r>
          </a:p>
          <a:p>
            <a:r>
              <a:t>      "introduces",</a:t>
            </a:r>
          </a:p>
          <a:p>
            <a:r>
              <a:t>      "Welcome &amp; onboarding"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"Welcome &amp; onboarding",</a:t>
            </a:r>
          </a:p>
          <a:p>
            <a:r>
              <a:t>      "opens",</a:t>
            </a:r>
          </a:p>
          <a:p>
            <a:r>
              <a:t>      "Guest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"Language preference",</a:t>
            </a:r>
          </a:p>
          <a:p>
            <a:r>
              <a:t>      "localises",</a:t>
            </a:r>
          </a:p>
          <a:p>
            <a:r>
              <a:t>      "Welcome &amp; onboarding"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"Welcome &amp; onboarding",</a:t>
            </a:r>
          </a:p>
          <a:p>
            <a:r>
              <a:t>      "invites",</a:t>
            </a:r>
          </a:p>
          <a:p>
            <a:r>
              <a:t>      "Account registration"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"Account registration",</a:t>
            </a:r>
          </a:p>
          <a:p>
            <a:r>
              <a:t>      "routes",</a:t>
            </a:r>
          </a:p>
          <a:p>
            <a:r>
              <a:t>      "Role application"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"registration",</a:t>
            </a:r>
          </a:p>
          <a:p>
            <a:r>
              <a:t>  "owner": "MRM + Zylax",</a:t>
            </a:r>
          </a:p>
          <a:p>
            <a:r>
              <a:t>  "scope": "Observed participation-track form \u00b7 approval flow proposed",</a:t>
            </a:r>
          </a:p>
          <a:p>
            <a:r>
              <a:t>  "why": "A single identity supports several authorised roles without duplicating accounts or exposing private records.",</a:t>
            </a:r>
          </a:p>
          <a:p>
            <a:r>
              <a:t>  "measure": "Registration completion; consent capture; duplicate-account handling",</a:t>
            </a:r>
          </a:p>
          <a:p>
            <a:r>
              <a:t>  "decision": "Selecting a track is an application, not instant verified access.",</a:t>
            </a:r>
          </a:p>
          <a:p>
            <a:r>
              <a:t>  "screen_evidence": [</a:t>
            </a:r>
          </a:p>
          <a:p>
            <a:r>
              <a:t>    "Registration \u00b7 participation tracks"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"Welcome / guest route",</a:t>
            </a:r>
          </a:p>
          <a:p>
            <a:r>
              <a:t>      "starts",</a:t>
            </a:r>
          </a:p>
          <a:p>
            <a:r>
              <a:t>      "Account registration"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"Terms &amp; privacy consent",</a:t>
            </a:r>
          </a:p>
          <a:p>
            <a:r>
              <a:t>      "requires",</a:t>
            </a:r>
          </a:p>
          <a:p>
            <a:r>
              <a:t>      "Account registration"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"Account registration",</a:t>
            </a:r>
          </a:p>
          <a:p>
            <a:r>
              <a:t>      "creates",</a:t>
            </a:r>
          </a:p>
          <a:p>
            <a:r>
              <a:t>      "Account &amp; profile"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"Account registration",</a:t>
            </a:r>
          </a:p>
          <a:p>
            <a:r>
              <a:t>      "enables",</a:t>
            </a:r>
          </a:p>
          <a:p>
            <a:r>
              <a:t>      "Role application"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"Role application",</a:t>
            </a:r>
          </a:p>
          <a:p>
            <a:r>
              <a:t>      "reviews",</a:t>
            </a:r>
          </a:p>
          <a:p>
            <a:r>
              <a:t>      "MRM verification"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verification",</a:t>
            </a:r>
          </a:p>
          <a:p>
            <a:r>
              <a:t>      "updates",</a:t>
            </a:r>
          </a:p>
          <a:p>
            <a:r>
              <a:t>      "Account &amp; profile"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"authentication",</a:t>
            </a:r>
          </a:p>
          <a:p>
            <a:r>
              <a:t>  "owner": "MRM + Zylax",</a:t>
            </a:r>
          </a:p>
          <a:p>
            <a:r>
              <a:t>  "scope": "Observed sign-in UI \u00b7 Face ID not independently verified",</a:t>
            </a:r>
          </a:p>
          <a:p>
            <a:r>
              <a:t>  "why": "Secure recovery and session checks preserve access to ongoing cases and learning without weakening permissions.",</a:t>
            </a:r>
          </a:p>
          <a:p>
            <a:r>
              <a:t>  "measure": "Successful recovery; session expiry; denied-access tests",</a:t>
            </a:r>
          </a:p>
          <a:p>
            <a:r>
              <a:t>  "decision": "",</a:t>
            </a:r>
          </a:p>
          <a:p>
            <a:r>
              <a:t>  "screen_evidence": [</a:t>
            </a:r>
          </a:p>
          <a:p>
            <a:r>
              <a:t>    "Sign-in form"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"Registered identity",</a:t>
            </a:r>
          </a:p>
          <a:p>
            <a:r>
              <a:t>      "identifies",</a:t>
            </a:r>
          </a:p>
          <a:p>
            <a:r>
              <a:t>      "Sign-in &amp; recovery"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"Recovery / device checks",</a:t>
            </a:r>
          </a:p>
          <a:p>
            <a:r>
              <a:t>      "restores",</a:t>
            </a:r>
          </a:p>
          <a:p>
            <a:r>
              <a:t>      "Sign-in &amp; recovery"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"Sign-in &amp; recovery",</a:t>
            </a:r>
          </a:p>
          <a:p>
            <a:r>
              <a:t>      "opens",</a:t>
            </a:r>
          </a:p>
          <a:p>
            <a:r>
              <a:t>      "Role-aware workspace"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"Sign-in &amp; recovery",</a:t>
            </a:r>
          </a:p>
          <a:p>
            <a:r>
              <a:t>      "creates",</a:t>
            </a:r>
          </a:p>
          <a:p>
            <a:r>
              <a:t>      "Authenticated session"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"Authenticated session",</a:t>
            </a:r>
          </a:p>
          <a:p>
            <a:r>
              <a:t>      "checks",</a:t>
            </a:r>
          </a:p>
          <a:p>
            <a:r>
              <a:t>      "Record authorisation"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"Role-aware workspace",</a:t>
            </a:r>
          </a:p>
          <a:p>
            <a:r>
              <a:t>      "requests",</a:t>
            </a:r>
          </a:p>
          <a:p>
            <a:r>
              <a:t>      "Record authorisation"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"roles",</a:t>
            </a:r>
          </a:p>
          <a:p>
            <a:r>
              <a:t>  "owner": "MRM + Zylax",</a:t>
            </a:r>
          </a:p>
          <a:p>
            <a:r>
              <a:t>  "scope": "Observed profile and role-picker modal \u00b7 server permissions unverified",</a:t>
            </a:r>
          </a:p>
          <a:p>
            <a:r>
              <a:t>  "why": "Role approval controls service access; changing the visible persona must never grant new privileges.",</a:t>
            </a:r>
          </a:p>
          <a:p>
            <a:r>
              <a:t>  "measure": "Correct role activation; revoked-access and profile-change tests",</a:t>
            </a:r>
          </a:p>
          <a:p>
            <a:r>
              <a:t>  "decision": "The demo\u2019s clearance labels and profile statistics are illustrative, not verified credentials.",</a:t>
            </a:r>
          </a:p>
          <a:p>
            <a:r>
              <a:t>  "screen_evidence": [</a:t>
            </a:r>
          </a:p>
          <a:p>
            <a:r>
              <a:t>    "Profile / role summary",</a:t>
            </a:r>
          </a:p>
          <a:p>
            <a:r>
              <a:t>    "Role-picker modal"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"Account identity",</a:t>
            </a:r>
          </a:p>
          <a:p>
            <a:r>
              <a:t>      "binds",</a:t>
            </a:r>
          </a:p>
          <a:p>
            <a:r>
              <a:t>      "Approved role record"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"Verification decisions",</a:t>
            </a:r>
          </a:p>
          <a:p>
            <a:r>
              <a:t>      "approves",</a:t>
            </a:r>
          </a:p>
          <a:p>
            <a:r>
              <a:t>      "Approved role record"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role record",</a:t>
            </a:r>
          </a:p>
          <a:p>
            <a:r>
              <a:t>      "selects",</a:t>
            </a:r>
          </a:p>
          <a:p>
            <a:r>
              <a:t>      "Relevant workspace"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role record",</a:t>
            </a:r>
          </a:p>
          <a:p>
            <a:r>
              <a:t>      "constrains",</a:t>
            </a:r>
          </a:p>
          <a:p>
            <a:r>
              <a:t>      "Visibility rules"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"Visibility rules",</a:t>
            </a:r>
          </a:p>
          <a:p>
            <a:r>
              <a:t>      "filters",</a:t>
            </a:r>
          </a:p>
          <a:p>
            <a:r>
              <a:t>      "Permitted case / content"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"Relevant workspace",</a:t>
            </a:r>
          </a:p>
          <a:p>
            <a:r>
              <a:t>      "requests",</a:t>
            </a:r>
          </a:p>
          <a:p>
            <a:r>
              <a:t>      "Permitted case / content"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"home",</a:t>
            </a:r>
          </a:p>
          <a:p>
            <a:r>
              <a:t>  "owner": "MRM + Zylax",</a:t>
            </a:r>
          </a:p>
          <a:p>
            <a:r>
              <a:t>  "scope": "Observed Admin Ops and Member home states \u00b7 role differences shown",</a:t>
            </a:r>
          </a:p>
          <a:p>
            <a:r>
              <a:t>  "why": "A relevant home screen helps people move from routine practice into learning or contribution without navigating separate systems.",</a:t>
            </a:r>
          </a:p>
          <a:p>
            <a:r>
              <a:t>  "measure": "Entry-point use; task completion by authorised role",</a:t>
            </a:r>
          </a:p>
          <a:p>
            <a:r>
              <a:t>  "decision": "Shown figures, response targets and audit claims are demo content.",</a:t>
            </a:r>
          </a:p>
          <a:p>
            <a:r>
              <a:t>  "screen_evidence": [</a:t>
            </a:r>
          </a:p>
          <a:p>
            <a:r>
              <a:t>    "Admin Ops Home",</a:t>
            </a:r>
          </a:p>
          <a:p>
            <a:r>
              <a:t>    "Member workspace"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"Location &amp; preferences",</a:t>
            </a:r>
          </a:p>
          <a:p>
            <a:r>
              <a:t>      "configures",</a:t>
            </a:r>
          </a:p>
          <a:p>
            <a:r>
              <a:t>      "Role-aware home"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role / access",</a:t>
            </a:r>
          </a:p>
          <a:p>
            <a:r>
              <a:t>      "controls",</a:t>
            </a:r>
          </a:p>
          <a:p>
            <a:r>
              <a:t>      "Role-aware home"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"Role-aware home",</a:t>
            </a:r>
          </a:p>
          <a:p>
            <a:r>
              <a:t>      "opens",</a:t>
            </a:r>
          </a:p>
          <a:p>
            <a:r>
              <a:t>      "Daily Islamic tools"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"Role-aware home",</a:t>
            </a:r>
          </a:p>
          <a:p>
            <a:r>
              <a:t>      "routes",</a:t>
            </a:r>
          </a:p>
          <a:p>
            <a:r>
              <a:t>      "Service entry points"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role / access",</a:t>
            </a:r>
          </a:p>
          <a:p>
            <a:r>
              <a:t>      "limits",</a:t>
            </a:r>
          </a:p>
          <a:p>
            <a:r>
              <a:t>      "Service entry points"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"Service entry points",</a:t>
            </a:r>
          </a:p>
          <a:p>
            <a:r>
              <a:t>      "continues",</a:t>
            </a:r>
          </a:p>
          <a:p>
            <a:r>
              <a:t>      "Assigned work / programme"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"search",</a:t>
            </a:r>
          </a:p>
          <a:p>
            <a:r>
              <a:t>  "owner": "MRM + Zylax",</a:t>
            </a:r>
          </a:p>
          <a:p>
            <a:r>
              <a:t>  "scope": "Observed utility / mosque search \u00b7 programme links proposed",</a:t>
            </a:r>
          </a:p>
          <a:p>
            <a:r>
              <a:t>  "why": "One search route can help a user find relevant learning, a mosque or support while respecting private-profile restrictions.",</a:t>
            </a:r>
          </a:p>
          <a:p>
            <a:r>
              <a:t>  "measure": "Relevant-result selection; zero-result recovery; visibility tests",</a:t>
            </a:r>
          </a:p>
          <a:p>
            <a:r>
              <a:t>  "decision": "A public result is not evidence of approved volunteer-map access.",</a:t>
            </a:r>
          </a:p>
          <a:p>
            <a:r>
              <a:t>  "screen_evidence": [</a:t>
            </a:r>
          </a:p>
          <a:p>
            <a:r>
              <a:t>    "Search: utilities and local places"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"User need / query",</a:t>
            </a:r>
          </a:p>
          <a:p>
            <a:r>
              <a:t>      "queries",</a:t>
            </a:r>
          </a:p>
          <a:p>
            <a:r>
              <a:t>      "Search &amp;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"Visibility / moderation",</a:t>
            </a:r>
          </a:p>
          <a:p>
            <a:r>
              <a:t>      "filters",</a:t>
            </a:r>
          </a:p>
          <a:p>
            <a:r>
              <a:t>      "Search &amp;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"Search &amp; discovery",</a:t>
            </a:r>
          </a:p>
          <a:p>
            <a:r>
              <a:t>      "returns",</a:t>
            </a:r>
          </a:p>
          <a:p>
            <a:r>
              <a:t>      "Approved public results"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public results",</a:t>
            </a:r>
          </a:p>
          <a:p>
            <a:r>
              <a:t>      "opens",</a:t>
            </a:r>
          </a:p>
          <a:p>
            <a:r>
              <a:t>      "Registration / request"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"Search &amp; discovery",</a:t>
            </a:r>
          </a:p>
          <a:p>
            <a:r>
              <a:t>      "selects",</a:t>
            </a:r>
          </a:p>
          <a:p>
            <a:r>
              <a:t>      "Programme / service detail"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"Programme / service detail",</a:t>
            </a:r>
          </a:p>
          <a:p>
            <a:r>
              <a:t>      "continues",</a:t>
            </a:r>
          </a:p>
          <a:p>
            <a:r>
              <a:t>      "Registration / request"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"prayer",</a:t>
            </a:r>
          </a:p>
          <a:p>
            <a:r>
              <a:t>  "owner": "MRM content lead + Zylax",</a:t>
            </a:r>
          </a:p>
          <a:p>
            <a:r>
              <a:t>  "scope": "Observed Waqt, fasting and prayer-window interface",</a:t>
            </a:r>
          </a:p>
          <a:p>
            <a:r>
              <a:t>  "why": "Consistent local settings make daily practice useful and prevent conflicting times across the app.",</a:t>
            </a:r>
          </a:p>
          <a:p>
            <a:r>
              <a:t>  "measure": "Source accuracy; denied-location fallback; reminder accuracy",</a:t>
            </a:r>
          </a:p>
          <a:p>
            <a:r>
              <a:t>  "decision": "Source and local conventions need approval. \u201cJAKIM / global synced\u201d labels do not establish verified API connectivity.",</a:t>
            </a:r>
          </a:p>
          <a:p>
            <a:r>
              <a:t>  "screen_evidence": [</a:t>
            </a:r>
          </a:p>
          <a:p>
            <a:r>
              <a:t>    "Waqt, fasting and prayer windows"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"Location preference",</a:t>
            </a:r>
          </a:p>
          <a:p>
            <a:r>
              <a:t>      "selects",</a:t>
            </a:r>
          </a:p>
          <a:p>
            <a:r>
              <a:t>      "Approved prayer schedule"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"Calculation / local policy",</a:t>
            </a:r>
          </a:p>
          <a:p>
            <a:r>
              <a:t>      "validates",</a:t>
            </a:r>
          </a:p>
          <a:p>
            <a:r>
              <a:t>      "Approved prayer schedule"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prayer schedule",</a:t>
            </a:r>
          </a:p>
          <a:p>
            <a:r>
              <a:t>      "feeds",</a:t>
            </a:r>
          </a:p>
          <a:p>
            <a:r>
              <a:t>      "Daily prayer display"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prayer schedule",</a:t>
            </a:r>
          </a:p>
          <a:p>
            <a:r>
              <a:t>      "schedules",</a:t>
            </a:r>
          </a:p>
          <a:p>
            <a:r>
              <a:t>      "Prayer reminder scheduling"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prayer schedule",</a:t>
            </a:r>
          </a:p>
          <a:p>
            <a:r>
              <a:t>      "aligns",</a:t>
            </a:r>
          </a:p>
          <a:p>
            <a:r>
              <a:t>      "Ramadan timetable"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"tracker",</a:t>
            </a:r>
          </a:p>
          <a:p>
            <a:r>
              <a:t>  "owner": "MRM + Zylax",</a:t>
            </a:r>
          </a:p>
          <a:p>
            <a:r>
              <a:t>  "scope": "Observed private check-in, sunnah and Qaza-counter UI",</a:t>
            </a:r>
          </a:p>
          <a:p>
            <a:r>
              <a:t>  "why": "A private log supports consistency without exposing personal worship or turning it into a public ranking.",</a:t>
            </a:r>
          </a:p>
          <a:p>
            <a:r>
              <a:t>  "measure": "Log persistence; private visibility; daily reset and correction",</a:t>
            </a:r>
          </a:p>
          <a:p>
            <a:r>
              <a:t>  "decision": "Prototype percentages and counts are sample state; persistence and religious rules need verification.",</a:t>
            </a:r>
          </a:p>
          <a:p>
            <a:r>
              <a:t>  "screen_evidence": [</a:t>
            </a:r>
          </a:p>
          <a:p>
            <a:r>
              <a:t>    "Private Salah / Qaza tracker"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"Daily prayer schedule",</a:t>
            </a:r>
          </a:p>
          <a:p>
            <a:r>
              <a:t>      "context",</a:t>
            </a:r>
          </a:p>
          <a:p>
            <a:r>
              <a:t>      "Private Salah tracker"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"Privacy &amp; user control",</a:t>
            </a:r>
          </a:p>
          <a:p>
            <a:r>
              <a:t>      "protects",</a:t>
            </a:r>
          </a:p>
          <a:p>
            <a:r>
              <a:t>      "Private Salah tracker"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"Private Salah tracker",</a:t>
            </a:r>
          </a:p>
          <a:p>
            <a:r>
              <a:t>      "records",</a:t>
            </a:r>
          </a:p>
          <a:p>
            <a:r>
              <a:t>      "Personal practice history"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"Private Salah tracker",</a:t>
            </a:r>
          </a:p>
          <a:p>
            <a:r>
              <a:t>      "links",</a:t>
            </a:r>
          </a:p>
          <a:p>
            <a:r>
              <a:t>      "Salah / dua guidance"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"Salah / dua guidance",</a:t>
            </a:r>
          </a:p>
          <a:p>
            <a:r>
              <a:t>      "supports",</a:t>
            </a:r>
          </a:p>
          <a:p>
            <a:r>
              <a:t>      "Continued daily practice"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"mosques",</a:t>
            </a:r>
          </a:p>
          <a:p>
            <a:r>
              <a:t>  "owner": "MRM + Zylax",</a:t>
            </a:r>
          </a:p>
          <a:p>
            <a:r>
              <a:t>  "scope": "Observed compass simulation and nearby-place list",</a:t>
            </a:r>
          </a:p>
          <a:p>
            <a:r>
              <a:t>  "why": "Useful local guidance makes the app relevant beyond assistance, while keeping volunteer-location data separately protected.",</a:t>
            </a:r>
          </a:p>
          <a:p>
            <a:r>
              <a:t>  "measure": "Direction guidance; permission fallback; place-data accuracy",</a:t>
            </a:r>
          </a:p>
          <a:p>
            <a:r>
              <a:t>  "decision": "The screenshot includes Simulate Compass Azimuth. It is not proof of live sensor accuracy, 3D navigation or real-time user tracking.",</a:t>
            </a:r>
          </a:p>
          <a:p>
            <a:r>
              <a:t>  "screen_evidence": [</a:t>
            </a:r>
          </a:p>
          <a:p>
            <a:r>
              <a:t>    "Compass simulation + place list"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"Location / manual area",</a:t>
            </a:r>
          </a:p>
          <a:p>
            <a:r>
              <a:t>      "locates",</a:t>
            </a:r>
          </a:p>
          <a:p>
            <a:r>
              <a:t>      "Qibla &amp; mosque tools"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data / calibration",</a:t>
            </a:r>
          </a:p>
          <a:p>
            <a:r>
              <a:t>      "validates",</a:t>
            </a:r>
          </a:p>
          <a:p>
            <a:r>
              <a:t>      "Qibla &amp; mosque tools"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"Qibla &amp; mosque tools",</a:t>
            </a:r>
          </a:p>
          <a:p>
            <a:r>
              <a:t>      "shows",</a:t>
            </a:r>
          </a:p>
          <a:p>
            <a:r>
              <a:t>      "Nearby mosque details"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"Qibla &amp; mosque tools",</a:t>
            </a:r>
          </a:p>
          <a:p>
            <a:r>
              <a:t>      "supports",</a:t>
            </a:r>
          </a:p>
          <a:p>
            <a:r>
              <a:t>      "Prayer guidance"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"Nearby mosque details",</a:t>
            </a:r>
          </a:p>
          <a:p>
            <a:r>
              <a:t>      "discovers",</a:t>
            </a:r>
          </a:p>
          <a:p>
            <a:r>
              <a:t>      "Programme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"Prayer guidance",</a:t>
            </a:r>
          </a:p>
          <a:p>
            <a:r>
              <a:t>      "connects",</a:t>
            </a:r>
          </a:p>
          <a:p>
            <a:r>
              <a:t>      "Programme discovery"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"quran",</a:t>
            </a:r>
          </a:p>
          <a:p>
            <a:r>
              <a:t>  "owner": "MRM content approver + Zylax",</a:t>
            </a:r>
          </a:p>
          <a:p>
            <a:r>
              <a:t>  "scope": "Observed Al-Fatihah text, reciter and tajweed controls",</a:t>
            </a:r>
          </a:p>
          <a:p>
            <a:r>
              <a:t>  "why": "Reading and recitation become more valuable when users can continue into approved explanations and classes.",</a:t>
            </a:r>
          </a:p>
          <a:p>
            <a:r>
              <a:t>  "measure": "Content-source validation; recitation delivery; learning continuation",</a:t>
            </a:r>
          </a:p>
          <a:p>
            <a:r>
              <a:t>  "decision": "The content shown is Al-Fatihah; a Ya-Sin selected-tab label conflicts with the verses. Confirm tab behaviour, content and rights.",</a:t>
            </a:r>
          </a:p>
          <a:p>
            <a:r>
              <a:t>  "screen_evidence": [</a:t>
            </a:r>
          </a:p>
          <a:p>
            <a:r>
              <a:t>    "Al-Fatihah text / reciter controls"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"Religious sources &amp; rights",</a:t>
            </a:r>
          </a:p>
          <a:p>
            <a:r>
              <a:t>      "authorises",</a:t>
            </a:r>
          </a:p>
          <a:p>
            <a:r>
              <a:t>      "Quran &amp; recitation"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"Content administration",</a:t>
            </a:r>
          </a:p>
          <a:p>
            <a:r>
              <a:t>      "publishes",</a:t>
            </a:r>
          </a:p>
          <a:p>
            <a:r>
              <a:t>      "Quran &amp; recitation"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"Quran &amp; recitation",</a:t>
            </a:r>
          </a:p>
          <a:p>
            <a:r>
              <a:t>      "links",</a:t>
            </a:r>
          </a:p>
          <a:p>
            <a:r>
              <a:t>      "Approved learning resources"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"Quran &amp; recitation",</a:t>
            </a:r>
          </a:p>
          <a:p>
            <a:r>
              <a:t>      "supports",</a:t>
            </a:r>
          </a:p>
          <a:p>
            <a:r>
              <a:t>      "Offline / cache settings"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"Offline / cache settings",</a:t>
            </a:r>
          </a:p>
          <a:p>
            <a:r>
              <a:t>      "enables",</a:t>
            </a:r>
          </a:p>
          <a:p>
            <a:r>
              <a:t>      "Repeat daily use"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learning resources",</a:t>
            </a:r>
          </a:p>
          <a:p>
            <a:r>
              <a:t>      "encourages",</a:t>
            </a:r>
          </a:p>
          <a:p>
            <a:r>
              <a:t>      "Repeat daily use"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"tasbih",</a:t>
            </a:r>
          </a:p>
          <a:p>
            <a:r>
              <a:t>  "owner": "MRM + Zylax",</a:t>
            </a:r>
          </a:p>
          <a:p>
            <a:r>
              <a:t>  "scope": "Observed tasbih phrase and counter view",</a:t>
            </a:r>
          </a:p>
          <a:p>
            <a:r>
              <a:t>  "why": "A focused counter supports repeated practice while relevant guidance remains grounded in approved content.",</a:t>
            </a:r>
          </a:p>
          <a:p>
            <a:r>
              <a:t>  "measure": "Counter increment / reset; selected phrase; private state persistence",</a:t>
            </a:r>
          </a:p>
          <a:p>
            <a:r>
              <a:t>  "decision": "Displayed laps / totals are sample state; no public faith scoring or guaranteed religious outcome.",</a:t>
            </a:r>
          </a:p>
          <a:p>
            <a:r>
              <a:t>  "screen_evidence": [</a:t>
            </a:r>
          </a:p>
          <a:p>
            <a:r>
              <a:t>    "Digital tasbih counter"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dhikr wording",</a:t>
            </a:r>
          </a:p>
          <a:p>
            <a:r>
              <a:t>      "grounds",</a:t>
            </a:r>
          </a:p>
          <a:p>
            <a:r>
              <a:t>      "Digital tasbih counter"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"User target / preference",</a:t>
            </a:r>
          </a:p>
          <a:p>
            <a:r>
              <a:t>      "sets",</a:t>
            </a:r>
          </a:p>
          <a:p>
            <a:r>
              <a:t>      "Digital tasbih counter"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"Digital tasbih counter",</a:t>
            </a:r>
          </a:p>
          <a:p>
            <a:r>
              <a:t>      "records",</a:t>
            </a:r>
          </a:p>
          <a:p>
            <a:r>
              <a:t>      "Private local history"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"Digital tasbih counter",</a:t>
            </a:r>
          </a:p>
          <a:p>
            <a:r>
              <a:t>      "opens",</a:t>
            </a:r>
          </a:p>
          <a:p>
            <a:r>
              <a:t>      "Dua / remembrance library"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"Dua / remembrance library",</a:t>
            </a:r>
          </a:p>
          <a:p>
            <a:r>
              <a:t>      "supports",</a:t>
            </a:r>
          </a:p>
          <a:p>
            <a:r>
              <a:t>      "Daily utility return"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"dua",</a:t>
            </a:r>
          </a:p>
          <a:p>
            <a:r>
              <a:t>  "owner": "MRM + Zylax",</a:t>
            </a:r>
          </a:p>
          <a:p>
            <a:r>
              <a:t>  "scope": "Observed dua categories, text and reference labels",</a:t>
            </a:r>
          </a:p>
          <a:p>
            <a:r>
              <a:t>  "why": "Searchable, categorised supplications make the daily library useful and keep correction and source review visible.",</a:t>
            </a:r>
          </a:p>
          <a:p>
            <a:r>
              <a:t>  "measure": "Search relevance; source approval; recitation-state behaviour",</a:t>
            </a:r>
          </a:p>
          <a:p>
            <a:r>
              <a:t>  "decision": "The presence of a hadith citation does not demonstrate a separate full Hadith-reader module.",</a:t>
            </a:r>
          </a:p>
          <a:p>
            <a:r>
              <a:t>  "screen_evidence": [</a:t>
            </a:r>
          </a:p>
          <a:p>
            <a:r>
              <a:t>    "Dua categories and references"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"Situation / search",</a:t>
            </a:r>
          </a:p>
          <a:p>
            <a:r>
              <a:t>      "finds",</a:t>
            </a:r>
          </a:p>
          <a:p>
            <a:r>
              <a:t>      "Dua / adhkar library"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"Religious source review",</a:t>
            </a:r>
          </a:p>
          <a:p>
            <a:r>
              <a:t>      "approves",</a:t>
            </a:r>
          </a:p>
          <a:p>
            <a:r>
              <a:t>      "Dua / adhkar library"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"Dua / adhkar library",</a:t>
            </a:r>
          </a:p>
          <a:p>
            <a:r>
              <a:t>      "explains",</a:t>
            </a:r>
          </a:p>
          <a:p>
            <a:r>
              <a:t>      "Approved learning detail"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"Dua / adhkar library",</a:t>
            </a:r>
          </a:p>
          <a:p>
            <a:r>
              <a:t>      "supports",</a:t>
            </a:r>
          </a:p>
          <a:p>
            <a:r>
              <a:t>      "Optional personal practice"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"Optional personal practice",</a:t>
            </a:r>
          </a:p>
          <a:p>
            <a:r>
              <a:t>      "returns",</a:t>
            </a:r>
          </a:p>
          <a:p>
            <a:r>
              <a:t>      "Relevant daily tool"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"remembrance",</a:t>
            </a:r>
          </a:p>
          <a:p>
            <a:r>
              <a:t>  "owner": "MRM content approver",</a:t>
            </a:r>
          </a:p>
          <a:p>
            <a:r>
              <a:t>  "scope": "Approved scope \u00b7 proposed connections",</a:t>
            </a:r>
          </a:p>
          <a:p>
            <a:r>
              <a:t>  "why": "A governed content library keeps daily tools consistent and gives learners a route to deeper understanding.",</a:t>
            </a:r>
          </a:p>
          <a:p>
            <a:r>
              <a:t>  "measure": "Source review; content correction; relevant-resource access",</a:t>
            </a:r>
          </a:p>
          <a:p>
            <a:r>
              <a:t>  "decision": "Sifat Names and Haram Codes remain template-library items subject to separate source and use review.",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references",</a:t>
            </a:r>
          </a:p>
          <a:p>
            <a:r>
              <a:t>      "grounds",</a:t>
            </a:r>
          </a:p>
          <a:p>
            <a:r>
              <a:t>      "Dua / dhikr / hadith"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"Content categories",</a:t>
            </a:r>
          </a:p>
          <a:p>
            <a:r>
              <a:t>      "organises",</a:t>
            </a:r>
          </a:p>
          <a:p>
            <a:r>
              <a:t>      "Dua / dhikr / hadith"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"Dua / dhikr / hadith",</a:t>
            </a:r>
          </a:p>
          <a:p>
            <a:r>
              <a:t>      "deepens",</a:t>
            </a:r>
          </a:p>
          <a:p>
            <a:r>
              <a:t>      "Relevant learning"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"Dua / dhikr / hadith",</a:t>
            </a:r>
          </a:p>
          <a:p>
            <a:r>
              <a:t>      "reports",</a:t>
            </a:r>
          </a:p>
          <a:p>
            <a:r>
              <a:t>      "Correction / withdrawal"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"Correction / withdrawal",</a:t>
            </a:r>
          </a:p>
          <a:p>
            <a:r>
              <a:t>      "updates",</a:t>
            </a:r>
          </a:p>
          <a:p>
            <a:r>
              <a:t>      "Published utility library"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"salahguide",</a:t>
            </a:r>
          </a:p>
          <a:p>
            <a:r>
              <a:t>  "owner": "MRM + Zylax",</a:t>
            </a:r>
          </a:p>
          <a:p>
            <a:r>
              <a:t>  "scope": "Observed posture 1 of 7 \u00b7 pronounce control visible",</a:t>
            </a:r>
          </a:p>
          <a:p>
            <a:r>
              <a:t>  "why": "A step-by-step guide gives beginners a practical next step and links learning to the same prayer and direction context.",</a:t>
            </a:r>
          </a:p>
          <a:p>
            <a:r>
              <a:t>  "measure": "Posture navigation; approved text / audio; guidance-to-practice access",</a:t>
            </a:r>
          </a:p>
          <a:p>
            <a:r>
              <a:t>  "decision": "One captured posture is not proof that every posture, pronunciation or lesson works.",</a:t>
            </a:r>
          </a:p>
          <a:p>
            <a:r>
              <a:t>  "screen_evidence": [</a:t>
            </a:r>
          </a:p>
          <a:p>
            <a:r>
              <a:t>    "Salah guide \u00b7 posture 1 of 7"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"Beginner / learning entry",</a:t>
            </a:r>
          </a:p>
          <a:p>
            <a:r>
              <a:t>      "learns",</a:t>
            </a:r>
          </a:p>
          <a:p>
            <a:r>
              <a:t>      "Step-by-step Salah guide"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"Qibla &amp; content references",</a:t>
            </a:r>
          </a:p>
          <a:p>
            <a:r>
              <a:t>      "supports",</a:t>
            </a:r>
          </a:p>
          <a:p>
            <a:r>
              <a:t>      "Step-by-step Salah guide"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"Step-by-step Salah guide",</a:t>
            </a:r>
          </a:p>
          <a:p>
            <a:r>
              <a:t>      "practises",</a:t>
            </a:r>
          </a:p>
          <a:p>
            <a:r>
              <a:t>      "Daily prayer practice"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"Step-by-step Salah guide",</a:t>
            </a:r>
          </a:p>
          <a:p>
            <a:r>
              <a:t>      "asks",</a:t>
            </a:r>
          </a:p>
          <a:p>
            <a:r>
              <a:t>      "Mentor / class support"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"Mentor / class support",</a:t>
            </a:r>
          </a:p>
          <a:p>
            <a:r>
              <a:t>      "supports",</a:t>
            </a:r>
          </a:p>
          <a:p>
            <a:r>
              <a:t>      "Private learning progress"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"asma",</a:t>
            </a:r>
          </a:p>
          <a:p>
            <a:r>
              <a:t>  "owner": "MRM + Zylax",</a:t>
            </a:r>
          </a:p>
          <a:p>
            <a:r>
              <a:t>  "scope": "Observed Asma-ul-Husna names and meanings",</a:t>
            </a:r>
          </a:p>
          <a:p>
            <a:r>
              <a:t>  "why": "A reviewed names library supports daily learning without inventing religious explanations or unsupported source claims.",</a:t>
            </a:r>
          </a:p>
          <a:p>
            <a:r>
              <a:t>  "measure": "Approved names / meanings; search relevance; content correction",</a:t>
            </a:r>
          </a:p>
          <a:p>
            <a:r>
              <a:t>  "decision": "Treat this as a distinct reference view, not a hadith reader or proof of religious approval.",</a:t>
            </a:r>
          </a:p>
          <a:p>
            <a:r>
              <a:t>  "screen_evidence": [</a:t>
            </a:r>
          </a:p>
          <a:p>
            <a:r>
              <a:t>    "Asma-ul-Husna names / meanings"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references",</a:t>
            </a:r>
          </a:p>
          <a:p>
            <a:r>
              <a:t>      "approves",</a:t>
            </a:r>
          </a:p>
          <a:p>
            <a:r>
              <a:t>      "Names &amp; meanings library"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"Content categorisation",</a:t>
            </a:r>
          </a:p>
          <a:p>
            <a:r>
              <a:t>      "finds",</a:t>
            </a:r>
          </a:p>
          <a:p>
            <a:r>
              <a:t>      "Names &amp; meanings library"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"Names &amp; meanings library",</a:t>
            </a:r>
          </a:p>
          <a:p>
            <a:r>
              <a:t>      "deepens",</a:t>
            </a:r>
          </a:p>
          <a:p>
            <a:r>
              <a:t>      "Related approved learning"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"Names &amp; meanings library",</a:t>
            </a:r>
          </a:p>
          <a:p>
            <a:r>
              <a:t>      "reports",</a:t>
            </a:r>
          </a:p>
          <a:p>
            <a:r>
              <a:t>      "Correction / withdrawal"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"Correction / withdrawal",</a:t>
            </a:r>
          </a:p>
          <a:p>
            <a:r>
              <a:t>      "updates",</a:t>
            </a:r>
          </a:p>
          <a:p>
            <a:r>
              <a:t>      "Published utility library"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"halal",</a:t>
            </a:r>
          </a:p>
          <a:p>
            <a:r>
              <a:t>  "owner": "MRM + Zylax",</a:t>
            </a:r>
          </a:p>
          <a:p>
            <a:r>
              <a:t>  "scope": "Observed E-code list + Fitrah / Fidyah calculator concept",</a:t>
            </a:r>
          </a:p>
          <a:p>
            <a:r>
              <a:t>  "why": "Useful ingredient information needs clear sourcing and limits; a prototype label cannot replace an authority\u2019s certification.",</a:t>
            </a:r>
          </a:p>
          <a:p>
            <a:r>
              <a:t>  "measure": "Source currency; query accuracy; visible qualification of results",</a:t>
            </a:r>
          </a:p>
          <a:p>
            <a:r>
              <a:t>  "decision": "Source 29 combines two utilities. Rates, classifications and \u201cJAKIM\u201d attribution require review; no authority API is established.",</a:t>
            </a:r>
          </a:p>
          <a:p>
            <a:r>
              <a:t>  "screen_evidence": [</a:t>
            </a:r>
          </a:p>
          <a:p>
            <a:r>
              <a:t>    "Ingredient reference + Fitrah concept"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"Ingredient / E-code query",</a:t>
            </a:r>
          </a:p>
          <a:p>
            <a:r>
              <a:t>      "queries",</a:t>
            </a:r>
          </a:p>
          <a:p>
            <a:r>
              <a:t>      "Reviewed ingredient reference"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content / source review",</a:t>
            </a:r>
          </a:p>
          <a:p>
            <a:r>
              <a:t>      "validates",</a:t>
            </a:r>
          </a:p>
          <a:p>
            <a:r>
              <a:t>      "Reviewed ingredient reference"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"Reviewed ingredient reference",</a:t>
            </a:r>
          </a:p>
          <a:p>
            <a:r>
              <a:t>      "returns",</a:t>
            </a:r>
          </a:p>
          <a:p>
            <a:r>
              <a:t>      "Informational result"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"Reviewed ingredient reference",</a:t>
            </a:r>
          </a:p>
          <a:p>
            <a:r>
              <a:t>      "explains",</a:t>
            </a:r>
          </a:p>
          <a:p>
            <a:r>
              <a:t>      "Religious learning / enquiry"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"Religious learning / enquiry",</a:t>
            </a:r>
          </a:p>
          <a:p>
            <a:r>
              <a:t>      "reports",</a:t>
            </a:r>
          </a:p>
          <a:p>
            <a:r>
              <a:t>      "Content correction"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"islamic_calendar",</a:t>
            </a:r>
          </a:p>
          <a:p>
            <a:r>
              <a:t>  "owner": "MRM + Zylax",</a:t>
            </a:r>
          </a:p>
          <a:p>
            <a:r>
              <a:t>  "scope": "Observed calendar almanac and local timetable",</a:t>
            </a:r>
          </a:p>
          <a:p>
            <a:r>
              <a:t>  "why": "Shared calendar conventions keep seasonal guidance and programme communication coherent.",</a:t>
            </a:r>
          </a:p>
          <a:p>
            <a:r>
              <a:t>  "measure": "Local-date review; timetable consistency; event reminder delivery",</a:t>
            </a:r>
          </a:p>
          <a:p>
            <a:r>
              <a:t>  "decision": "This almanac includes religious dates and prayer times. Local date, calculation and highlighted-day conventions require review.",</a:t>
            </a:r>
          </a:p>
          <a:p>
            <a:r>
              <a:t>  "screen_evidence": [</a:t>
            </a:r>
          </a:p>
          <a:p>
            <a:r>
              <a:t>    "Calendar almanac / prayer schedule"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"Local calendar convention",</a:t>
            </a:r>
          </a:p>
          <a:p>
            <a:r>
              <a:t>      "sets",</a:t>
            </a:r>
          </a:p>
          <a:p>
            <a:r>
              <a:t>      "Hijri &amp; Ramadan tools"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prayer times",</a:t>
            </a:r>
          </a:p>
          <a:p>
            <a:r>
              <a:t>      "aligns",</a:t>
            </a:r>
          </a:p>
          <a:p>
            <a:r>
              <a:t>      "Hijri &amp; Ramadan tools"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"Hijri &amp; Ramadan tools",</a:t>
            </a:r>
          </a:p>
          <a:p>
            <a:r>
              <a:t>      "highlights",</a:t>
            </a:r>
          </a:p>
          <a:p>
            <a:r>
              <a:t>      "Seasonal programme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"Hijri &amp; Ramadan tools",</a:t>
            </a:r>
          </a:p>
          <a:p>
            <a:r>
              <a:t>      "informs",</a:t>
            </a:r>
          </a:p>
          <a:p>
            <a:r>
              <a:t>      "Event / class calendar"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"Seasonal programme discovery",</a:t>
            </a:r>
          </a:p>
          <a:p>
            <a:r>
              <a:t>      "registers",</a:t>
            </a:r>
          </a:p>
          <a:p>
            <a:r>
              <a:t>      "Permitted reminders"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"Event / class calendar",</a:t>
            </a:r>
          </a:p>
          <a:p>
            <a:r>
              <a:t>      "schedules",</a:t>
            </a:r>
          </a:p>
          <a:p>
            <a:r>
              <a:t>      "Permitted reminders"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"estimate",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"Clear assumptions and method-specific inputs make estimates useful, while the authority retains every assistance eligibility decision.",</a:t>
            </a:r>
          </a:p>
          <a:p>
            <a:r>
              <a:t>  "measure": "Approved calculation checks; referral consent; correct authority wording",</a:t>
            </a:r>
          </a:p>
          <a:p>
            <a:r>
              <a:t>  "decision": "Income/savings and Fitrah/Fidyah use different methods. Source 29 shows the latter; rates and authority decisions remain unverified.",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"Method-specific references",</a:t>
            </a:r>
          </a:p>
          <a:p>
            <a:r>
              <a:t>      "governs",</a:t>
            </a:r>
          </a:p>
          <a:p>
            <a:r>
              <a:t>      "Informational estimate"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"Necessary calculator inputs",</a:t>
            </a:r>
          </a:p>
          <a:p>
            <a:r>
              <a:t>      "calculates",</a:t>
            </a:r>
          </a:p>
          <a:p>
            <a:r>
              <a:t>      "Informational estimate"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"Informational estimate",</a:t>
            </a:r>
          </a:p>
          <a:p>
            <a:r>
              <a:t>      "explains",</a:t>
            </a:r>
          </a:p>
          <a:p>
            <a:r>
              <a:t>      "Guidance / learning"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"Informational estimate",</a:t>
            </a:r>
          </a:p>
          <a:p>
            <a:r>
              <a:t>      "signposts",</a:t>
            </a:r>
          </a:p>
          <a:p>
            <a:r>
              <a:t>      "Assistance enquiry"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"Assistance enquiry",</a:t>
            </a:r>
          </a:p>
          <a:p>
            <a:r>
              <a:t>      "refers",</a:t>
            </a:r>
          </a:p>
          <a:p>
            <a:r>
              <a:t>      "Authority follow-up"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"requests",</a:t>
            </a:r>
          </a:p>
          <a:p>
            <a:r>
              <a:t>  "owner": "MRM + Zylax",</a:t>
            </a:r>
          </a:p>
          <a:p>
            <a:r>
              <a:t>  "scope": "Observed Seeker workspace \u00b7 full request intake not shown",</a:t>
            </a:r>
          </a:p>
          <a:p>
            <a:r>
              <a:t>  "why": "A complete request lifecycle prevents the app becoming a contact form with no accountable follow-up.",</a:t>
            </a:r>
          </a:p>
          <a:p>
            <a:r>
              <a:t>  "measure": "Acknowledgement; triage completion; unresolved-request follow-up",</a:t>
            </a:r>
          </a:p>
          <a:p>
            <a:r>
              <a:t>  "decision": "Sensitive concerns use the restricted route; the ordinary request form is not shown in the latest pack.",</a:t>
            </a:r>
          </a:p>
          <a:p>
            <a:r>
              <a:t>  "screen_evidence": [</a:t>
            </a:r>
          </a:p>
          <a:p>
            <a:r>
              <a:t>    "Seeker workspace"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"Member / service entry",</a:t>
            </a:r>
          </a:p>
          <a:p>
            <a:r>
              <a:t>      "starts",</a:t>
            </a:r>
          </a:p>
          <a:p>
            <a:r>
              <a:t>      "Private request intake"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"Consent &amp; privacy rules",</a:t>
            </a:r>
          </a:p>
          <a:p>
            <a:r>
              <a:t>      "protects",</a:t>
            </a:r>
          </a:p>
          <a:p>
            <a:r>
              <a:t>      "Private request intake"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"Private request intake",</a:t>
            </a:r>
          </a:p>
          <a:p>
            <a:r>
              <a:t>      "submits",</a:t>
            </a:r>
          </a:p>
          <a:p>
            <a:r>
              <a:t>      "MRM triage"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triage",</a:t>
            </a:r>
          </a:p>
          <a:p>
            <a:r>
              <a:t>      "routes",</a:t>
            </a:r>
          </a:p>
          <a:p>
            <a:r>
              <a:t>      "Eligible matching"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triage",</a:t>
            </a:r>
          </a:p>
          <a:p>
            <a:r>
              <a:t>      "updates",</a:t>
            </a:r>
          </a:p>
          <a:p>
            <a:r>
              <a:t>      "Case status / activity"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"Eligible matching",</a:t>
            </a:r>
          </a:p>
          <a:p>
            <a:r>
              <a:t>      "records",</a:t>
            </a:r>
          </a:p>
          <a:p>
            <a:r>
              <a:t>      "Case status / activity"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"vetting",</a:t>
            </a:r>
          </a:p>
          <a:p>
            <a:r>
              <a:t>  "owner": "MRM + Zylax",</a:t>
            </a:r>
          </a:p>
          <a:p>
            <a:r>
              <a:t>  "scope": "Observed Applicant progress \u00b7 verification policy still requires MRM approval",</a:t>
            </a:r>
          </a:p>
          <a:p>
            <a:r>
              <a:t>  "why": "Documents and interview decisions must change real eligibility, not merely add a badge to a profile.",</a:t>
            </a:r>
          </a:p>
          <a:p>
            <a:r>
              <a:t>  "measure": "Review completion; interview record; suspension and access tests",</a:t>
            </a:r>
          </a:p>
          <a:p>
            <a:r>
              <a:t>  "decision": "The prototype shows police-clearance steps. These do not replace the agreed document review and online interview or establish MRM policy.",</a:t>
            </a:r>
          </a:p>
          <a:p>
            <a:r>
              <a:t>  "screen_evidence": [</a:t>
            </a:r>
          </a:p>
          <a:p>
            <a:r>
              <a:t>    "Applicant verification progress"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"Volunteer application",</a:t>
            </a:r>
          </a:p>
          <a:p>
            <a:r>
              <a:t>      "applies",</a:t>
            </a:r>
          </a:p>
          <a:p>
            <a:r>
              <a:t>      "Evidence &amp; interview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"Protected verification files",</a:t>
            </a:r>
          </a:p>
          <a:p>
            <a:r>
              <a:t>      "supports",</a:t>
            </a:r>
          </a:p>
          <a:p>
            <a:r>
              <a:t>      "Evidence &amp; interview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"Evidence &amp; interview review",</a:t>
            </a:r>
          </a:p>
          <a:p>
            <a:r>
              <a:t>      "decides",</a:t>
            </a:r>
          </a:p>
          <a:p>
            <a:r>
              <a:t>      "Approved active volunteer"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active volunteer",</a:t>
            </a:r>
          </a:p>
          <a:p>
            <a:r>
              <a:t>      "enables",</a:t>
            </a:r>
          </a:p>
          <a:p>
            <a:r>
              <a:t>      "Eligible discovery / matching"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active volunteer",</a:t>
            </a:r>
          </a:p>
          <a:p>
            <a:r>
              <a:t>      "qualifies",</a:t>
            </a:r>
          </a:p>
          <a:p>
            <a:r>
              <a:t>      "Assigned work"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"Eligible discovery / matching",</a:t>
            </a:r>
          </a:p>
          <a:p>
            <a:r>
              <a:t>      "offers",</a:t>
            </a:r>
          </a:p>
          <a:p>
            <a:r>
              <a:t>      "Assigned work"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"gender",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"Consistent server filtering prevents a protected profile leaking through search, maps, alerts or direct detail requests.",</a:t>
            </a:r>
          </a:p>
          <a:p>
            <a:r>
              <a:t>  "measure": "Cross-gender API tests; restricted detail and location tests",</a:t>
            </a:r>
          </a:p>
          <a:p>
            <a:r>
              <a:t>  "decision": "MRM must define controlled staff / teacher exceptions and precise role applicability.",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role &amp; profile",</a:t>
            </a:r>
          </a:p>
          <a:p>
            <a:r>
              <a:t>      "checks",</a:t>
            </a:r>
          </a:p>
          <a:p>
            <a:r>
              <a:t>      "Visibility policy checks"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"Location consent",</a:t>
            </a:r>
          </a:p>
          <a:p>
            <a:r>
              <a:t>      "constrains",</a:t>
            </a:r>
          </a:p>
          <a:p>
            <a:r>
              <a:t>      "Visibility policy checks"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"Visibility policy checks",</a:t>
            </a:r>
          </a:p>
          <a:p>
            <a:r>
              <a:t>      "filters",</a:t>
            </a:r>
          </a:p>
          <a:p>
            <a:r>
              <a:t>      "Permitted discovery results"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"Visibility policy checks",</a:t>
            </a:r>
          </a:p>
          <a:p>
            <a:r>
              <a:t>      "limits",</a:t>
            </a:r>
          </a:p>
          <a:p>
            <a:r>
              <a:t>      "Eligible alerts / matching"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"Permitted discovery results",</a:t>
            </a:r>
          </a:p>
          <a:p>
            <a:r>
              <a:t>      "requests",</a:t>
            </a:r>
          </a:p>
          <a:p>
            <a:r>
              <a:t>      "Authorised case contact"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"Eligible alerts / matching",</a:t>
            </a:r>
          </a:p>
          <a:p>
            <a:r>
              <a:t>      "routes",</a:t>
            </a:r>
          </a:p>
          <a:p>
            <a:r>
              <a:t>      "Authorised case contact"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"matching",</a:t>
            </a:r>
          </a:p>
          <a:p>
            <a:r>
              <a:t>  "owner": "MRM + Zylax",</a:t>
            </a:r>
          </a:p>
          <a:p>
            <a:r>
              <a:t>  "scope": "Observed Volunteer on-duty workspace \u00b7 actual matching not tested",</a:t>
            </a:r>
          </a:p>
          <a:p>
            <a:r>
              <a:t>  "why": "Eligibility checks improve relevance and preserve confidentiality before any volunteer receives an offer.",</a:t>
            </a:r>
          </a:p>
          <a:p>
            <a:r>
              <a:t>  "measure": "Eligible-offer delivery; unanswered-case handling; access tests",</a:t>
            </a:r>
          </a:p>
          <a:p>
            <a:r>
              <a:t>  "decision": "Prototype \u201cnearest squad\u201d and 15-minute targets are not a guaranteed response service.",</a:t>
            </a:r>
          </a:p>
          <a:p>
            <a:r>
              <a:t>  "screen_evidence": [</a:t>
            </a:r>
          </a:p>
          <a:p>
            <a:r>
              <a:t>    "Volunteer on-duty workspace"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"Reviewed routine request",</a:t>
            </a:r>
          </a:p>
          <a:p>
            <a:r>
              <a:t>      "provides",</a:t>
            </a:r>
          </a:p>
          <a:p>
            <a:r>
              <a:t>      "Eligibility matching"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"Verified volunteer capacity",</a:t>
            </a:r>
          </a:p>
          <a:p>
            <a:r>
              <a:t>      "qualifies",</a:t>
            </a:r>
          </a:p>
          <a:p>
            <a:r>
              <a:t>      "Eligibility matching"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"Eligibility matching",</a:t>
            </a:r>
          </a:p>
          <a:p>
            <a:r>
              <a:t>      "offers",</a:t>
            </a:r>
          </a:p>
          <a:p>
            <a:r>
              <a:t>      "Limited volunteer offer"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"Limited volunteer offer",</a:t>
            </a:r>
          </a:p>
          <a:p>
            <a:r>
              <a:t>      "responds",</a:t>
            </a:r>
          </a:p>
          <a:p>
            <a:r>
              <a:t>      "Assignment confirmation"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"Limited volunteer offer",</a:t>
            </a:r>
          </a:p>
          <a:p>
            <a:r>
              <a:t>      "expires",</a:t>
            </a:r>
          </a:p>
          <a:p>
            <a:r>
              <a:t>      "Coordinator fallback"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"Assignment confirmation",</a:t>
            </a:r>
          </a:p>
          <a:p>
            <a:r>
              <a:t>      "escalates",</a:t>
            </a:r>
          </a:p>
          <a:p>
            <a:r>
              <a:t>      "Coordinator fallback"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"assignments",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"Confirmation creates accountable service access and lets MRM manage changes through to a verified outcome.",</a:t>
            </a:r>
          </a:p>
          <a:p>
            <a:r>
              <a:t>  "measure": "Confirmed assignment; reassignment; progress and closure records",</a:t>
            </a:r>
          </a:p>
          <a:p>
            <a:r>
              <a:t>  "decision": "Closure and any service credit require a defined confirmation process, not self-awarded completion.",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"Eligible volunteer offer",</a:t>
            </a:r>
          </a:p>
          <a:p>
            <a:r>
              <a:t>      "confirms",</a:t>
            </a:r>
          </a:p>
          <a:p>
            <a:r>
              <a:t>      "Confirmed assignment"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"Coordinator review",</a:t>
            </a:r>
          </a:p>
          <a:p>
            <a:r>
              <a:t>      "supervises",</a:t>
            </a:r>
          </a:p>
          <a:p>
            <a:r>
              <a:t>      "Confirmed assignment"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"Confirmed assignment",</a:t>
            </a:r>
          </a:p>
          <a:p>
            <a:r>
              <a:t>      "permits",</a:t>
            </a:r>
          </a:p>
          <a:p>
            <a:r>
              <a:t>      "Permitted case contact"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"Confirmed assignment",</a:t>
            </a:r>
          </a:p>
          <a:p>
            <a:r>
              <a:t>      "tracks",</a:t>
            </a:r>
          </a:p>
          <a:p>
            <a:r>
              <a:t>      "Case progress &amp; closure"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"Case progress &amp; closure",</a:t>
            </a:r>
          </a:p>
          <a:p>
            <a:r>
              <a:t>      "verifies",</a:t>
            </a:r>
          </a:p>
          <a:p>
            <a:r>
              <a:t>      "Verified recognition / reports"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"private",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"A restricted route protects sensitive faith and family information while retaining responsible follow-up.",</a:t>
            </a:r>
          </a:p>
          <a:p>
            <a:r>
              <a:t>  "measure": "Unrelated-account denial; assigned-staff access; closure history",</a:t>
            </a:r>
          </a:p>
          <a:p>
            <a:r>
              <a:t>  "decision": "No automated religious-status judgement and no general volunteer access to restricted cases.",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"Private concern",</a:t>
            </a:r>
          </a:p>
          <a:p>
            <a:r>
              <a:t>      "submits",</a:t>
            </a:r>
          </a:p>
          <a:p>
            <a:r>
              <a:t>      "Restricted case intake"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"Consent &amp; record permissions",</a:t>
            </a:r>
          </a:p>
          <a:p>
            <a:r>
              <a:t>      "restricts",</a:t>
            </a:r>
          </a:p>
          <a:p>
            <a:r>
              <a:t>      "Restricted case intake"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"Restricted case intake",</a:t>
            </a:r>
          </a:p>
          <a:p>
            <a:r>
              <a:t>      "assigns",</a:t>
            </a:r>
          </a:p>
          <a:p>
            <a:r>
              <a:t>      "Designated personnel"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"Restricted case intake",</a:t>
            </a:r>
          </a:p>
          <a:p>
            <a:r>
              <a:t>      "coordinates",</a:t>
            </a:r>
          </a:p>
          <a:p>
            <a:r>
              <a:t>      "Controlled follow-up"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"Designated personnel",</a:t>
            </a:r>
          </a:p>
          <a:p>
            <a:r>
              <a:t>      "records",</a:t>
            </a:r>
          </a:p>
          <a:p>
            <a:r>
              <a:t>      "Case history / closure"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"Controlled follow-up",</a:t>
            </a:r>
          </a:p>
          <a:p>
            <a:r>
              <a:t>      "closes",</a:t>
            </a:r>
          </a:p>
          <a:p>
            <a:r>
              <a:t>      "Case history / closure"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"safeguard",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"Reporting, restrictions and escalation protect participation without implying guaranteed emergency response.",</a:t>
            </a:r>
          </a:p>
          <a:p>
            <a:r>
              <a:t>  "measure": "Report handling; account restriction; open-assignment review",</a:t>
            </a:r>
          </a:p>
          <a:p>
            <a:r>
              <a:t>  "decision": "The app supports coordination; immediate danger still requires the appropriate emergency service.",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"Conduct / danger concern",</a:t>
            </a:r>
          </a:p>
          <a:p>
            <a:r>
              <a:t>      "reports",</a:t>
            </a:r>
          </a:p>
          <a:p>
            <a:r>
              <a:t>      "Safeguarding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escalation policy",</a:t>
            </a:r>
          </a:p>
          <a:p>
            <a:r>
              <a:t>      "guides",</a:t>
            </a:r>
          </a:p>
          <a:p>
            <a:r>
              <a:t>      "Safeguarding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"Safeguarding review",</a:t>
            </a:r>
          </a:p>
          <a:p>
            <a:r>
              <a:t>      "restricts",</a:t>
            </a:r>
          </a:p>
          <a:p>
            <a:r>
              <a:t>      "Account / contact restriction"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"Safeguarding review",</a:t>
            </a:r>
          </a:p>
          <a:p>
            <a:r>
              <a:t>      "reviews",</a:t>
            </a:r>
          </a:p>
          <a:p>
            <a:r>
              <a:t>      "Affected assignments"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"Account / contact restriction",</a:t>
            </a:r>
          </a:p>
          <a:p>
            <a:r>
              <a:t>      "records",</a:t>
            </a:r>
          </a:p>
          <a:p>
            <a:r>
              <a:t>      "Protected incident history"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"Affected assignments",</a:t>
            </a:r>
          </a:p>
          <a:p>
            <a:r>
              <a:t>      "follows up",</a:t>
            </a:r>
          </a:p>
          <a:p>
            <a:r>
              <a:t>      "Protected incident history"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"chat",</a:t>
            </a:r>
          </a:p>
          <a:p>
            <a:r>
              <a:t>  "owner": "MRM + Zylax",</a:t>
            </a:r>
          </a:p>
          <a:p>
            <a:r>
              <a:t>  "scope": "Observed caseworker chat concept \u00b7 implementation unverified",</a:t>
            </a:r>
          </a:p>
          <a:p>
            <a:r>
              <a:t>  "why": "Conversation is useful when the right case and participants govern access, continuity and escalation.",</a:t>
            </a:r>
          </a:p>
          <a:p>
            <a:r>
              <a:t>  "measure": "Participant access; case linkage; report and closure behaviour",</a:t>
            </a:r>
          </a:p>
          <a:p>
            <a:r>
              <a:t>  "decision": "The screen\u2019s end-to-end encryption and response claims are not verified technical guarantees.",</a:t>
            </a:r>
          </a:p>
          <a:p>
            <a:r>
              <a:t>  "screen_evidence": [</a:t>
            </a:r>
          </a:p>
          <a:p>
            <a:r>
              <a:t>    "Caseworker conversation"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"Authorised case / assignment",</a:t>
            </a:r>
          </a:p>
          <a:p>
            <a:r>
              <a:t>      "opens",</a:t>
            </a:r>
          </a:p>
          <a:p>
            <a:r>
              <a:t>      "Case conversation"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"Privacy &amp; participant checks",</a:t>
            </a:r>
          </a:p>
          <a:p>
            <a:r>
              <a:t>      "protects",</a:t>
            </a:r>
          </a:p>
          <a:p>
            <a:r>
              <a:t>      "Case conversation"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"Case conversation",</a:t>
            </a:r>
          </a:p>
          <a:p>
            <a:r>
              <a:t>      "updates",</a:t>
            </a:r>
          </a:p>
          <a:p>
            <a:r>
              <a:t>      "Progress / confirmation"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"Case conversation",</a:t>
            </a:r>
          </a:p>
          <a:p>
            <a:r>
              <a:t>      "reports",</a:t>
            </a:r>
          </a:p>
          <a:p>
            <a:r>
              <a:t>      "Conduct report / escalation"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"Progress / confirmation",</a:t>
            </a:r>
          </a:p>
          <a:p>
            <a:r>
              <a:t>      "informs",</a:t>
            </a:r>
          </a:p>
          <a:p>
            <a:r>
              <a:t>      "Case closure policy"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"Conduct report / escalation",</a:t>
            </a:r>
          </a:p>
          <a:p>
            <a:r>
              <a:t>      "records",</a:t>
            </a:r>
          </a:p>
          <a:p>
            <a:r>
              <a:t>      "Case closure policy"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"referral",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"A tracked handoff helps people follow an enquiry without presenting MRM as the eligibility or disbursement authority.",</a:t>
            </a:r>
          </a:p>
          <a:p>
            <a:r>
              <a:t>  "measure": "Complete referral record; permitted status update; partner response",</a:t>
            </a:r>
          </a:p>
          <a:p>
            <a:r>
              <a:t>  "decision": "Direct API integration depends on confirmed access; zakat collection / disbursement remains outside the earlier proposal.",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"Enquiry + referral consent",</a:t>
            </a:r>
          </a:p>
          <a:p>
            <a:r>
              <a:t>      "submits",</a:t>
            </a:r>
          </a:p>
          <a:p>
            <a:r>
              <a:t>      "MRM completeness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"Partner sharing agreement",</a:t>
            </a:r>
          </a:p>
          <a:p>
            <a:r>
              <a:t>      "governs",</a:t>
            </a:r>
          </a:p>
          <a:p>
            <a:r>
              <a:t>      "MRM completeness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completeness review",</a:t>
            </a:r>
          </a:p>
          <a:p>
            <a:r>
              <a:t>      "refers",</a:t>
            </a:r>
          </a:p>
          <a:p>
            <a:r>
              <a:t>      "Approved authority handoff"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completeness review",</a:t>
            </a:r>
          </a:p>
          <a:p>
            <a:r>
              <a:t>      "tracks",</a:t>
            </a:r>
          </a:p>
          <a:p>
            <a:r>
              <a:t>      "Referral status / follow-up"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authority handoff",</a:t>
            </a:r>
          </a:p>
          <a:p>
            <a:r>
              <a:t>      "responds",</a:t>
            </a:r>
          </a:p>
          <a:p>
            <a:r>
              <a:t>      "Referral status / follow-up"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"Referral status / follow-up",</a:t>
            </a:r>
          </a:p>
          <a:p>
            <a:r>
              <a:t>      "updates",</a:t>
            </a:r>
          </a:p>
          <a:p>
            <a:r>
              <a:t>      "User update / reports"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"recognition",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"Badges are credible when they reflect confirmed activity and do not override safeguarding or access rules.",</a:t>
            </a:r>
          </a:p>
          <a:p>
            <a:r>
              <a:t>  "measure": "Verified-credit accuracy; corrections; recognition visibility",</a:t>
            </a:r>
          </a:p>
          <a:p>
            <a:r>
              <a:t>  "decision": "Rank does not grant sensitive-case priority or administrator permissions.",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"Completed assignment / event",</a:t>
            </a:r>
          </a:p>
          <a:p>
            <a:r>
              <a:t>      "submits",</a:t>
            </a:r>
          </a:p>
          <a:p>
            <a:r>
              <a:t>      "Service verification"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recognition criteria",</a:t>
            </a:r>
          </a:p>
          <a:p>
            <a:r>
              <a:t>      "validates",</a:t>
            </a:r>
          </a:p>
          <a:p>
            <a:r>
              <a:t>      "Service verification"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"Service verification",</a:t>
            </a:r>
          </a:p>
          <a:p>
            <a:r>
              <a:t>      "awards",</a:t>
            </a:r>
          </a:p>
          <a:p>
            <a:r>
              <a:t>      "Badges &amp; service ranks"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"Service verification",</a:t>
            </a:r>
          </a:p>
          <a:p>
            <a:r>
              <a:t>      "records",</a:t>
            </a:r>
          </a:p>
          <a:p>
            <a:r>
              <a:t>      "Private service history"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"Badges &amp; service ranks",</a:t>
            </a:r>
          </a:p>
          <a:p>
            <a:r>
              <a:t>      "encourages",</a:t>
            </a:r>
          </a:p>
          <a:p>
            <a:r>
              <a:t>      "Volunteer engagement"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"Private service history",</a:t>
            </a:r>
          </a:p>
          <a:p>
            <a:r>
              <a:t>      "supports",</a:t>
            </a:r>
          </a:p>
          <a:p>
            <a:r>
              <a:t>      "Volunteer engagement"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"teacher",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"Learner trust depends on teacher review being independent of whether a person pays for publishing privileges.",</a:t>
            </a:r>
          </a:p>
          <a:p>
            <a:r>
              <a:t>  "measure": "Credential review; role approval; revoked-teacher access tests",</a:t>
            </a:r>
          </a:p>
          <a:p>
            <a:r>
              <a:t>  "decision": "There is no dedicated teacher approval capture in the latest pack.",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"Teacher application",</a:t>
            </a:r>
          </a:p>
          <a:p>
            <a:r>
              <a:t>      "applies",</a:t>
            </a:r>
          </a:p>
          <a:p>
            <a:r>
              <a:t>      "Credential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teaching standards",</a:t>
            </a:r>
          </a:p>
          <a:p>
            <a:r>
              <a:t>      "guides",</a:t>
            </a:r>
          </a:p>
          <a:p>
            <a:r>
              <a:t>      "Credential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"Credential review",</a:t>
            </a:r>
          </a:p>
          <a:p>
            <a:r>
              <a:t>      "approves",</a:t>
            </a:r>
          </a:p>
          <a:p>
            <a:r>
              <a:t>      "Approved teacher profile"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"Credential review",</a:t>
            </a:r>
          </a:p>
          <a:p>
            <a:r>
              <a:t>      "qualifies",</a:t>
            </a:r>
          </a:p>
          <a:p>
            <a:r>
              <a:t>      "Teacher plan entitlement"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teacher profile",</a:t>
            </a:r>
          </a:p>
          <a:p>
            <a:r>
              <a:t>      "submits",</a:t>
            </a:r>
          </a:p>
          <a:p>
            <a:r>
              <a:t>      "Moderated programme / posts"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"Teacher plan entitlement",</a:t>
            </a:r>
          </a:p>
          <a:p>
            <a:r>
              <a:t>      "allows",</a:t>
            </a:r>
          </a:p>
          <a:p>
            <a:r>
              <a:t>      "Moderated programme / posts"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"posts",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"Moderation, plan allowances and clear publication states turn teacher opportunity into controlled learner value.",</a:t>
            </a:r>
          </a:p>
          <a:p>
            <a:r>
              <a:t>  "measure": "Submission review; allowance enforcement; publication / withdrawal tests",</a:t>
            </a:r>
          </a:p>
          <a:p>
            <a:r>
              <a:t>  "decision": "Teaching ads are labelled and kept out of private assistance screens.",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teacher",</a:t>
            </a:r>
          </a:p>
          <a:p>
            <a:r>
              <a:t>      "submits",</a:t>
            </a:r>
          </a:p>
          <a:p>
            <a:r>
              <a:t>      "Educational submission"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"Valid plan entitlement",</a:t>
            </a:r>
          </a:p>
          <a:p>
            <a:r>
              <a:t>      "permits",</a:t>
            </a:r>
          </a:p>
          <a:p>
            <a:r>
              <a:t>      "Educational submission"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"Educational submission",</a:t>
            </a:r>
          </a:p>
          <a:p>
            <a:r>
              <a:t>      "reviews",</a:t>
            </a:r>
          </a:p>
          <a:p>
            <a:r>
              <a:t>      "MRM moderation"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moderation",</a:t>
            </a:r>
          </a:p>
          <a:p>
            <a:r>
              <a:t>      "approves",</a:t>
            </a:r>
          </a:p>
          <a:p>
            <a:r>
              <a:t>      "Approved publication"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publication",</a:t>
            </a:r>
          </a:p>
          <a:p>
            <a:r>
              <a:t>      "publishes",</a:t>
            </a:r>
          </a:p>
          <a:p>
            <a:r>
              <a:t>      "Search / website discovery"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"subscriptions",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"MRM can earn recurring teacher revenue while preserving free core assistance and volunteer participation.",</a:t>
            </a:r>
          </a:p>
          <a:p>
            <a:r>
              <a:t>  "measure": "Verified active plans; publishing-limit checks; correct expiry handling",</a:t>
            </a:r>
          </a:p>
          <a:p>
            <a:r>
              <a:t>  "decision": "No invented plan tiers or prices. A configured no-charge teacher plan can precede paid activation.",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teacher role",</a:t>
            </a:r>
          </a:p>
          <a:p>
            <a:r>
              <a:t>      "qualifies",</a:t>
            </a:r>
          </a:p>
          <a:p>
            <a:r>
              <a:t>      "Teacher plan selection"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commercial policy",</a:t>
            </a:r>
          </a:p>
          <a:p>
            <a:r>
              <a:t>      "defines",</a:t>
            </a:r>
          </a:p>
          <a:p>
            <a:r>
              <a:t>      "Teacher plan selection"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"Teacher plan selection",</a:t>
            </a:r>
          </a:p>
          <a:p>
            <a:r>
              <a:t>      "purchases",</a:t>
            </a:r>
          </a:p>
          <a:p>
            <a:r>
              <a:t>      "Applicable billing flow"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"Applicable billing flow",</a:t>
            </a:r>
          </a:p>
          <a:p>
            <a:r>
              <a:t>      "verifies",</a:t>
            </a:r>
          </a:p>
          <a:p>
            <a:r>
              <a:t>      "Verified entitlement"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"Verified entitlement",</a:t>
            </a:r>
          </a:p>
          <a:p>
            <a:r>
              <a:t>      "limits",</a:t>
            </a:r>
          </a:p>
          <a:p>
            <a:r>
              <a:t>      "Permitted publishing"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"billing",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"Payment success, renewal and expiry must change privileges reliably without deleting the teacher\u2019s identity or history.",</a:t>
            </a:r>
          </a:p>
          <a:p>
            <a:r>
              <a:t>  "measure": "Payment verification; renewal / cancellation; restore and expiry tests",</a:t>
            </a:r>
          </a:p>
          <a:p>
            <a:r>
              <a:t>  "decision": "Teacher billing is distinct from donation payment prototypes; historical-content visibility needs a policy decision.",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"Store purchase / renewal",</a:t>
            </a:r>
          </a:p>
          <a:p>
            <a:r>
              <a:t>      "verifies",</a:t>
            </a:r>
          </a:p>
          <a:p>
            <a:r>
              <a:t>      "Entitlement verification"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"Cancel / fail / restore",</a:t>
            </a:r>
          </a:p>
          <a:p>
            <a:r>
              <a:t>      "updates",</a:t>
            </a:r>
          </a:p>
          <a:p>
            <a:r>
              <a:t>      "Entitlement verification"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"Entitlement verification",</a:t>
            </a:r>
          </a:p>
          <a:p>
            <a:r>
              <a:t>      "enforces",</a:t>
            </a:r>
          </a:p>
          <a:p>
            <a:r>
              <a:t>      "Publishing permission"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"Entitlement verification",</a:t>
            </a:r>
          </a:p>
          <a:p>
            <a:r>
              <a:t>      "preserves",</a:t>
            </a:r>
          </a:p>
          <a:p>
            <a:r>
              <a:t>      "Account &amp; content history"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"Publishing permission",</a:t>
            </a:r>
          </a:p>
          <a:p>
            <a:r>
              <a:t>      "records",</a:t>
            </a:r>
          </a:p>
          <a:p>
            <a:r>
              <a:t>      "Billing oversight"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"Account &amp; content history",</a:t>
            </a:r>
          </a:p>
          <a:p>
            <a:r>
              <a:t>      "supports",</a:t>
            </a:r>
          </a:p>
          <a:p>
            <a:r>
              <a:t>      "Billing oversight"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"learning",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"Discovery becomes sustained learning when programme details, access, reminders and recordings form one journey.",</a:t>
            </a:r>
          </a:p>
          <a:p>
            <a:r>
              <a:t>  "measure": "Programme access; registration; attendance / recording access",</a:t>
            </a:r>
          </a:p>
          <a:p>
            <a:r>
              <a:t>  "decision": "Live teaching is not replaced with static posts; custom video infrastructure is not implied.",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teacher / content",</a:t>
            </a:r>
          </a:p>
          <a:p>
            <a:r>
              <a:t>      "publishes",</a:t>
            </a:r>
          </a:p>
          <a:p>
            <a:r>
              <a:t>      "Programme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"Daily tools / search / website",</a:t>
            </a:r>
          </a:p>
          <a:p>
            <a:r>
              <a:t>      "discovers",</a:t>
            </a:r>
          </a:p>
          <a:p>
            <a:r>
              <a:t>      "Programme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"Programme discovery",</a:t>
            </a:r>
          </a:p>
          <a:p>
            <a:r>
              <a:t>      "explains",</a:t>
            </a:r>
          </a:p>
          <a:p>
            <a:r>
              <a:t>      "Registration / access rules"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"Registration / access rules",</a:t>
            </a:r>
          </a:p>
          <a:p>
            <a:r>
              <a:t>      "registers",</a:t>
            </a:r>
          </a:p>
          <a:p>
            <a:r>
              <a:t>      "Calendar &amp; reminders"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"Calendar &amp; reminders",</a:t>
            </a:r>
          </a:p>
          <a:p>
            <a:r>
              <a:t>      "permits",</a:t>
            </a:r>
          </a:p>
          <a:p>
            <a:r>
              <a:t>      "Live session / recording"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"mentoring",</a:t>
            </a:r>
          </a:p>
          <a:p>
            <a:r>
              <a:t>  "owner": "MRM + Zylax",</a:t>
            </a:r>
          </a:p>
          <a:p>
            <a:r>
              <a:t>  "scope": "Observed Scholar / Mentor roster and Start Room control",</a:t>
            </a:r>
          </a:p>
          <a:p>
            <a:r>
              <a:t>  "why": "Matching the right mentor to a programme or authorised support relationship adds continuity without exposing unrelated cases.",</a:t>
            </a:r>
          </a:p>
          <a:p>
            <a:r>
              <a:t>  "measure": "Authorised mentor assignment; schedule access; confidential-record tests",</a:t>
            </a:r>
          </a:p>
          <a:p>
            <a:r>
              <a:t>  "decision": "This is a mentor workspace, not evidence of teacher subscriptions, credential approval or a working video room.",</a:t>
            </a:r>
          </a:p>
          <a:p>
            <a:r>
              <a:t>  "screen_evidence": [</a:t>
            </a:r>
          </a:p>
          <a:p>
            <a:r>
              <a:t>    "Scholar / Mentor roster"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"Learning / support need",</a:t>
            </a:r>
          </a:p>
          <a:p>
            <a:r>
              <a:t>      "requests",</a:t>
            </a:r>
          </a:p>
          <a:p>
            <a:r>
              <a:t>      "Approved mentor relationship"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"Role &amp; case permissions",</a:t>
            </a:r>
          </a:p>
          <a:p>
            <a:r>
              <a:t>      "authorises",</a:t>
            </a:r>
          </a:p>
          <a:p>
            <a:r>
              <a:t>      "Approved mentor relationship"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mentor relationship",</a:t>
            </a:r>
          </a:p>
          <a:p>
            <a:r>
              <a:t>      "schedules",</a:t>
            </a:r>
          </a:p>
          <a:p>
            <a:r>
              <a:t>      "Session / programme roster"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mentor relationship",</a:t>
            </a:r>
          </a:p>
          <a:p>
            <a:r>
              <a:t>      "permits",</a:t>
            </a:r>
          </a:p>
          <a:p>
            <a:r>
              <a:t>      "Permitted contact"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"Permitted contact",</a:t>
            </a:r>
          </a:p>
          <a:p>
            <a:r>
              <a:t>      "follows up",</a:t>
            </a:r>
          </a:p>
          <a:p>
            <a:r>
              <a:t>      "Follow-up / learning history"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"schedule",</a:t>
            </a:r>
          </a:p>
          <a:p>
            <a:r>
              <a:t>  "owner": "MRM + Zylax",</a:t>
            </a:r>
          </a:p>
          <a:p>
            <a:r>
              <a:t>  "scope": "Observed calendar list and slot-confirmation modal",</a:t>
            </a:r>
          </a:p>
          <a:p>
            <a:r>
              <a:t>  "why": "One calendar can coordinate participation while keeping a class enrolment separate from a volunteer duty assignment.",</a:t>
            </a:r>
          </a:p>
          <a:p>
            <a:r>
              <a:t>  "measure": "Slot availability; registration conflict; shift / class reminders",</a:t>
            </a:r>
          </a:p>
          <a:p>
            <a:r>
              <a:t>  "decision": "A calendar slot does not prove attendance, approval or a guaranteed dispatch time.",</a:t>
            </a:r>
          </a:p>
          <a:p>
            <a:r>
              <a:t>  "screen_evidence": [</a:t>
            </a:r>
          </a:p>
          <a:p>
            <a:r>
              <a:t>    "Halaqa &amp; duty calendar",</a:t>
            </a:r>
          </a:p>
          <a:p>
            <a:r>
              <a:t>    "Slot-confirmation modal"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class / duty event",</a:t>
            </a:r>
          </a:p>
          <a:p>
            <a:r>
              <a:t>      "schedules",</a:t>
            </a:r>
          </a:p>
          <a:p>
            <a:r>
              <a:t>      "Calendar &amp; availability"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"Role / capacity checks",</a:t>
            </a:r>
          </a:p>
          <a:p>
            <a:r>
              <a:t>      "constrains",</a:t>
            </a:r>
          </a:p>
          <a:p>
            <a:r>
              <a:t>      "Calendar &amp; availability"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"Calendar &amp; availability",</a:t>
            </a:r>
          </a:p>
          <a:p>
            <a:r>
              <a:t>      "selects",</a:t>
            </a:r>
          </a:p>
          <a:p>
            <a:r>
              <a:t>      "Registration / shift request"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"Registration / shift request",</a:t>
            </a:r>
          </a:p>
          <a:p>
            <a:r>
              <a:t>      "confirms",</a:t>
            </a:r>
          </a:p>
          <a:p>
            <a:r>
              <a:t>      "Confirmed participation"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"Confirmed participation",</a:t>
            </a:r>
          </a:p>
          <a:p>
            <a:r>
              <a:t>      "reminds",</a:t>
            </a:r>
          </a:p>
          <a:p>
            <a:r>
              <a:t>      "Reminder &amp; activity update"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"feed",</a:t>
            </a:r>
          </a:p>
          <a:p>
            <a:r>
              <a:t>  "owner": "MRM + Zylax",</a:t>
            </a:r>
          </a:p>
          <a:p>
            <a:r>
              <a:t>  "scope": "Observed feed and composer \u00b7 moderation controls proposed",</a:t>
            </a:r>
          </a:p>
          <a:p>
            <a:r>
              <a:t>  "why": "A moderated public update can build trust and point people toward programmes without exposing private cases.",</a:t>
            </a:r>
          </a:p>
          <a:p>
            <a:r>
              <a:t>  "measure": "Moderation decisions; privacy review; programme follow-through",</a:t>
            </a:r>
          </a:p>
          <a:p>
            <a:r>
              <a:t>  "decision": "The earlier proposal excludes unrestricted public social networking; comments and sharing controls need agreement.",</a:t>
            </a:r>
          </a:p>
          <a:p>
            <a:r>
              <a:t>  "screen_evidence": [</a:t>
            </a:r>
          </a:p>
          <a:p>
            <a:r>
              <a:t>    "Dawah &amp; Impact Feed",</a:t>
            </a:r>
          </a:p>
          <a:p>
            <a:r>
              <a:t>    "Community-post composer"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staff / teacher post",</a:t>
            </a:r>
          </a:p>
          <a:p>
            <a:r>
              <a:t>      "submits",</a:t>
            </a:r>
          </a:p>
          <a:p>
            <a:r>
              <a:t>      "Moderated community update"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"Privacy / beneficiary consent",</a:t>
            </a:r>
          </a:p>
          <a:p>
            <a:r>
              <a:t>      "protects",</a:t>
            </a:r>
          </a:p>
          <a:p>
            <a:r>
              <a:t>      "Moderated community update"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"Moderated community update",</a:t>
            </a:r>
          </a:p>
          <a:p>
            <a:r>
              <a:t>      "publishes",</a:t>
            </a:r>
          </a:p>
          <a:p>
            <a:r>
              <a:t>      "Public programme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"Moderated community update",</a:t>
            </a:r>
          </a:p>
          <a:p>
            <a:r>
              <a:t>      "labels",</a:t>
            </a:r>
          </a:p>
          <a:p>
            <a:r>
              <a:t>      "Approved sponsor recognition"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"Public programme discovery",</a:t>
            </a:r>
          </a:p>
          <a:p>
            <a:r>
              <a:t>      "invites",</a:t>
            </a:r>
          </a:p>
          <a:p>
            <a:r>
              <a:t>      "Participation / learning action"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"sponsors",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"Scheduled placements create accountable sponsor value without influencing private care or assistance decisions.",</a:t>
            </a:r>
          </a:p>
          <a:p>
            <a:r>
              <a:t>  "measure": "Placement start / expiry; approved asset use; aggregate delivery",</a:t>
            </a:r>
          </a:p>
          <a:p>
            <a:r>
              <a:t>  "decision": "External marketing posts and launch-day publication remain agreed MRM responsibilities.",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"Sponsor agreement &amp; assets",</a:t>
            </a:r>
          </a:p>
          <a:p>
            <a:r>
              <a:t>      "defines",</a:t>
            </a:r>
          </a:p>
          <a:p>
            <a:r>
              <a:t>      "Placement configuration"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"Content / privacy rules",</a:t>
            </a:r>
          </a:p>
          <a:p>
            <a:r>
              <a:t>      "restricts",</a:t>
            </a:r>
          </a:p>
          <a:p>
            <a:r>
              <a:t>      "Placement configuration"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"Placement configuration",</a:t>
            </a:r>
          </a:p>
          <a:p>
            <a:r>
              <a:t>      "publishes",</a:t>
            </a:r>
          </a:p>
          <a:p>
            <a:r>
              <a:t>      "App / website recognition"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 / website recognition",</a:t>
            </a:r>
          </a:p>
          <a:p>
            <a:r>
              <a:t>      "measures",</a:t>
            </a:r>
          </a:p>
          <a:p>
            <a:r>
              <a:t>      "Aggregate views / clicks"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 / website recognition",</a:t>
            </a:r>
          </a:p>
          <a:p>
            <a:r>
              <a:t>      "expires",</a:t>
            </a:r>
          </a:p>
          <a:p>
            <a:r>
              <a:t>      "Renewal / expiry"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"Aggregate views / clicks",</a:t>
            </a:r>
          </a:p>
          <a:p>
            <a:r>
              <a:t>      "informs",</a:t>
            </a:r>
          </a:p>
          <a:p>
            <a:r>
              <a:t>      "Renewal / expiry"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"website",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"Immediate link access introduces MRM\u2019s work and brings the right audience into learning, volunteering or support.",</a:t>
            </a:r>
          </a:p>
          <a:p>
            <a:r>
              <a:t>  "measure": "Public-route completion; content currency; app / service handoff",</a:t>
            </a:r>
          </a:p>
          <a:p>
            <a:r>
              <a:t>  "decision": "Legacy private-record or account migration needs assessment; public-page migration is separately inventoried.",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public content",</a:t>
            </a:r>
          </a:p>
          <a:p>
            <a:r>
              <a:t>      "publishes",</a:t>
            </a:r>
          </a:p>
          <a:p>
            <a:r>
              <a:t>      "Responsive website"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"CMS &amp; migration inventory",</a:t>
            </a:r>
          </a:p>
          <a:p>
            <a:r>
              <a:t>      "maintains",</a:t>
            </a:r>
          </a:p>
          <a:p>
            <a:r>
              <a:t>      "Responsive website"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"Responsive website",</a:t>
            </a:r>
          </a:p>
          <a:p>
            <a:r>
              <a:t>      "directs",</a:t>
            </a:r>
          </a:p>
          <a:p>
            <a:r>
              <a:t>      "Relevant participation route"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"Responsive website",</a:t>
            </a:r>
          </a:p>
          <a:p>
            <a:r>
              <a:t>      "explains",</a:t>
            </a:r>
          </a:p>
          <a:p>
            <a:r>
              <a:t>      "Programme / resource detail"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"Relevant participation route",</a:t>
            </a:r>
          </a:p>
          <a:p>
            <a:r>
              <a:t>      "hands off",</a:t>
            </a:r>
          </a:p>
          <a:p>
            <a:r>
              <a:t>      "App / account entry"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"Programme / resource detail",</a:t>
            </a:r>
          </a:p>
          <a:p>
            <a:r>
              <a:t>      "continues",</a:t>
            </a:r>
          </a:p>
          <a:p>
            <a:r>
              <a:t>      "App / account entry"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"alerts",</a:t>
            </a:r>
          </a:p>
          <a:p>
            <a:r>
              <a:t>  "owner": "MRM + Zylax",</a:t>
            </a:r>
          </a:p>
          <a:p>
            <a:r>
              <a:t>  "scope": "Observed notification list \u00b7 demo events / receipt claims unverified",</a:t>
            </a:r>
          </a:p>
          <a:p>
            <a:r>
              <a:t>  "why": "A useful alert opens the correct authorised case, programme or shift without exposing sensitive details on a lock screen.",</a:t>
            </a:r>
          </a:p>
          <a:p>
            <a:r>
              <a:t>  "measure": "Relevant delivery; consent; authorised deep link; failed-send handling",</a:t>
            </a:r>
          </a:p>
          <a:p>
            <a:r>
              <a:t>  "decision": "Prototype tax-receipt alerts are not proof of authority approval or a working donation service.",</a:t>
            </a:r>
          </a:p>
          <a:p>
            <a:r>
              <a:t>  "screen_evidence": [</a:t>
            </a:r>
          </a:p>
          <a:p>
            <a:r>
              <a:t>    "In-app notification list"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"Case / class / shift event",</a:t>
            </a:r>
          </a:p>
          <a:p>
            <a:r>
              <a:t>      "triggers",</a:t>
            </a:r>
          </a:p>
          <a:p>
            <a:r>
              <a:t>      "Eligibility &amp; preferences"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"Current role / record access",</a:t>
            </a:r>
          </a:p>
          <a:p>
            <a:r>
              <a:t>      "filters",</a:t>
            </a:r>
          </a:p>
          <a:p>
            <a:r>
              <a:t>      "Eligibility &amp; preferences"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"Eligibility &amp; preferences",</a:t>
            </a:r>
          </a:p>
          <a:p>
            <a:r>
              <a:t>      "sends",</a:t>
            </a:r>
          </a:p>
          <a:p>
            <a:r>
              <a:t>      "Privacy-safe notification"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"Eligibility &amp; preferences",</a:t>
            </a:r>
          </a:p>
          <a:p>
            <a:r>
              <a:t>      "links",</a:t>
            </a:r>
          </a:p>
          <a:p>
            <a:r>
              <a:t>      "Authorised destination"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"Privacy-safe notification",</a:t>
            </a:r>
          </a:p>
          <a:p>
            <a:r>
              <a:t>      "prompts",</a:t>
            </a:r>
          </a:p>
          <a:p>
            <a:r>
              <a:t>      "Personal activity / follow-up"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"Authorised destination",</a:t>
            </a:r>
          </a:p>
          <a:p>
            <a:r>
              <a:t>      "records",</a:t>
            </a:r>
          </a:p>
          <a:p>
            <a:r>
              <a:t>      "Personal activity / follow-up"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"activity",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"A coherent history reduces uncertainty and keeps users connected to the action that needs their attention.",</a:t>
            </a:r>
          </a:p>
          <a:p>
            <a:r>
              <a:t>  "measure": "Correct own-record visibility; status accuracy; actionable updates",</a:t>
            </a:r>
          </a:p>
          <a:p>
            <a:r>
              <a:t>  "decision": "An activity view is not a public record of sensitive cases or beneficiary identities.",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"Application / case changes",</a:t>
            </a:r>
          </a:p>
          <a:p>
            <a:r>
              <a:t>      "records",</a:t>
            </a:r>
          </a:p>
          <a:p>
            <a:r>
              <a:t>      "Authorised activity record"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"Role &amp; record permissions",</a:t>
            </a:r>
          </a:p>
          <a:p>
            <a:r>
              <a:t>      "filters",</a:t>
            </a:r>
          </a:p>
          <a:p>
            <a:r>
              <a:t>      "Authorised activity record"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"Authorised activity record",</a:t>
            </a:r>
          </a:p>
          <a:p>
            <a:r>
              <a:t>      "opens",</a:t>
            </a:r>
          </a:p>
          <a:p>
            <a:r>
              <a:t>      "Next action / detail"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"Authorised activity record",</a:t>
            </a:r>
          </a:p>
          <a:p>
            <a:r>
              <a:t>      "connects",</a:t>
            </a:r>
          </a:p>
          <a:p>
            <a:r>
              <a:t>      "Learning / volunteer schedule"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"Next action / detail",</a:t>
            </a:r>
          </a:p>
          <a:p>
            <a:r>
              <a:t>      "continues",</a:t>
            </a:r>
          </a:p>
          <a:p>
            <a:r>
              <a:t>      "Safe reminder / follow-up"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"Learning / volunteer schedule",</a:t>
            </a:r>
          </a:p>
          <a:p>
            <a:r>
              <a:t>      "reminds",</a:t>
            </a:r>
          </a:p>
          <a:p>
            <a:r>
              <a:t>      "Safe reminder / follow-up"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"admin",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"The staff system is the operating layer that turns applications, requests and content into accountable outcomes.",</a:t>
            </a:r>
          </a:p>
          <a:p>
            <a:r>
              <a:t>  "measure": "Decision history; queue ownership; correct role-limited staff actions",</a:t>
            </a:r>
          </a:p>
          <a:p>
            <a:r>
              <a:t>  "decision": "No staff permission is gained from paying, earning rank or switching a demo persona.",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"Applications / cases / content",</a:t>
            </a:r>
          </a:p>
          <a:p>
            <a:r>
              <a:t>      "enters",</a:t>
            </a:r>
          </a:p>
          <a:p>
            <a:r>
              <a:t>      "Duty-based staff queues"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policies &amp; responsibilities",</a:t>
            </a:r>
          </a:p>
          <a:p>
            <a:r>
              <a:t>      "governs",</a:t>
            </a:r>
          </a:p>
          <a:p>
            <a:r>
              <a:t>      "Duty-based staff queues"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"Duty-based staff queues",</a:t>
            </a:r>
          </a:p>
          <a:p>
            <a:r>
              <a:t>      "decides",</a:t>
            </a:r>
          </a:p>
          <a:p>
            <a:r>
              <a:t>      "Recorded staff decision"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"Recorded staff decision",</a:t>
            </a:r>
          </a:p>
          <a:p>
            <a:r>
              <a:t>      "changes",</a:t>
            </a:r>
          </a:p>
          <a:p>
            <a:r>
              <a:t>      "Updated feature state"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"Recorded staff decision",</a:t>
            </a:r>
          </a:p>
          <a:p>
            <a:r>
              <a:t>      "audits",</a:t>
            </a:r>
          </a:p>
          <a:p>
            <a:r>
              <a:t>      "User update / report"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"Updated feature state",</a:t>
            </a:r>
          </a:p>
          <a:p>
            <a:r>
              <a:t>      "updates",</a:t>
            </a:r>
          </a:p>
          <a:p>
            <a:r>
              <a:t>      "User update / report"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"reports",</a:t>
            </a:r>
          </a:p>
          <a:p>
            <a:r>
              <a:t>  "owner": "MRM + Zylax",</a:t>
            </a:r>
          </a:p>
          <a:p>
            <a:r>
              <a:t>  "scope": "Observed analytics + calculator concept \u00b7 figures illustrative",</a:t>
            </a:r>
          </a:p>
          <a:p>
            <a:r>
              <a:t>  "why": "Operational summaries are useful only when they derive from verified events and lead to a clear staff response.",</a:t>
            </a:r>
          </a:p>
          <a:p>
            <a:r>
              <a:t>  "measure": "Metric definitions; source reconciliation; restricted export tests",</a:t>
            </a:r>
          </a:p>
          <a:p>
            <a:r>
              <a:t>  "decision": "The demo\u2019s amounts, beneficiary counts, audit claims and SLA figures are not production evidence.",</a:t>
            </a:r>
          </a:p>
          <a:p>
            <a:r>
              <a:t>  "screen_evidence": [</a:t>
            </a:r>
          </a:p>
          <a:p>
            <a:r>
              <a:t>    "Analytics + calculator concept"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"Recorded case / programme events",</a:t>
            </a:r>
          </a:p>
          <a:p>
            <a:r>
              <a:t>      "aggregates",</a:t>
            </a:r>
          </a:p>
          <a:p>
            <a:r>
              <a:t>      "Agreed operational summaries"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"Data quality &amp; access rules",</a:t>
            </a:r>
          </a:p>
          <a:p>
            <a:r>
              <a:t>      "governs",</a:t>
            </a:r>
          </a:p>
          <a:p>
            <a:r>
              <a:t>      "Agreed operational summaries"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"Agreed operational summaries",</a:t>
            </a:r>
          </a:p>
          <a:p>
            <a:r>
              <a:t>      "informs",</a:t>
            </a:r>
          </a:p>
          <a:p>
            <a:r>
              <a:t>      "MRM review &amp; action"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"Agreed operational summaries",</a:t>
            </a:r>
          </a:p>
          <a:p>
            <a:r>
              <a:t>      "summarises",</a:t>
            </a:r>
          </a:p>
          <a:p>
            <a:r>
              <a:t>      "Learning / sponsor insight"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review &amp; action",</a:t>
            </a:r>
          </a:p>
          <a:p>
            <a:r>
              <a:t>      "acts",</a:t>
            </a:r>
          </a:p>
          <a:p>
            <a:r>
              <a:t>      "Documented improvement"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"Learning / sponsor insight",</a:t>
            </a:r>
          </a:p>
          <a:p>
            <a:r>
              <a:t>      "improves",</a:t>
            </a:r>
          </a:p>
          <a:p>
            <a:r>
              <a:t>      "Documented improvement"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"security",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"Access rules must remain effective in the API, files, exports and notifications, not only in visible screens.",</a:t>
            </a:r>
          </a:p>
          <a:p>
            <a:r>
              <a:t>  "measure": "Direct API denial; file permissions; audit / recovery checks",</a:t>
            </a:r>
          </a:p>
          <a:p>
            <a:r>
              <a:t>  "decision": "UI encryption badges or tax/audit labels are not independent security or compliance validation.",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"Authenticated identity",</a:t>
            </a:r>
          </a:p>
          <a:p>
            <a:r>
              <a:t>      "checks",</a:t>
            </a:r>
          </a:p>
          <a:p>
            <a:r>
              <a:t>      "Record-level authorisation"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privacy / retention policy",</a:t>
            </a:r>
          </a:p>
          <a:p>
            <a:r>
              <a:t>      "defines",</a:t>
            </a:r>
          </a:p>
          <a:p>
            <a:r>
              <a:t>      "Record-level authorisation"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"Record-level authorisation",</a:t>
            </a:r>
          </a:p>
          <a:p>
            <a:r>
              <a:t>      "protects",</a:t>
            </a:r>
          </a:p>
          <a:p>
            <a:r>
              <a:t>      "Protected case / evidence"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"Record-level authorisation",</a:t>
            </a:r>
          </a:p>
          <a:p>
            <a:r>
              <a:t>      "constrains",</a:t>
            </a:r>
          </a:p>
          <a:p>
            <a:r>
              <a:t>      "Safe notifications / exports"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"Protected case / evidence",</a:t>
            </a:r>
          </a:p>
          <a:p>
            <a:r>
              <a:t>      "audits",</a:t>
            </a:r>
          </a:p>
          <a:p>
            <a:r>
              <a:t>      "Audit / backup / recovery"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"Safe notifications / exports",</a:t>
            </a:r>
          </a:p>
          <a:p>
            <a:r>
              <a:t>      "records",</a:t>
            </a:r>
          </a:p>
          <a:p>
            <a:r>
              <a:t>      "Audit / backup / recovery"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"settings",</a:t>
            </a:r>
          </a:p>
          <a:p>
            <a:r>
              <a:t>  "owner": "MRM + Zylax",</a:t>
            </a:r>
          </a:p>
          <a:p>
            <a:r>
              <a:t>  "scope": "Observed Settings; distinct dark-theme Home is shown on the main cover",</a:t>
            </a:r>
          </a:p>
          <a:p>
            <a:r>
              <a:t>  "why": "Preferences should change the intended experience consistently without silently changing role or record permissions.",</a:t>
            </a:r>
          </a:p>
          <a:p>
            <a:r>
              <a:t>  "measure": "Prayer-zone changes; consent; cache and supported device-lock tests",</a:t>
            </a:r>
          </a:p>
          <a:p>
            <a:r>
              <a:t>  "decision": "The panic-disguise option is a concept needing policy and technical review; it does not itself establish safety.",</a:t>
            </a:r>
          </a:p>
          <a:p>
            <a:r>
              <a:t>  "screen_evidence": [</a:t>
            </a:r>
          </a:p>
          <a:p>
            <a:r>
              <a:t>    "Settings, zone, lock and cache"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"User preferences",</a:t>
            </a:r>
          </a:p>
          <a:p>
            <a:r>
              <a:t>      "sets",</a:t>
            </a:r>
          </a:p>
          <a:p>
            <a:r>
              <a:t>      "Settings &amp; consent"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"Supported offline content",</a:t>
            </a:r>
          </a:p>
          <a:p>
            <a:r>
              <a:t>      "manages",</a:t>
            </a:r>
          </a:p>
          <a:p>
            <a:r>
              <a:t>      "Settings &amp; consent"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"Settings &amp; consent",</a:t>
            </a:r>
          </a:p>
          <a:p>
            <a:r>
              <a:t>      "configures",</a:t>
            </a:r>
          </a:p>
          <a:p>
            <a:r>
              <a:t>      "Prayer / reminder behaviour"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"Settings &amp; consent",</a:t>
            </a:r>
          </a:p>
          <a:p>
            <a:r>
              <a:t>      "controls",</a:t>
            </a:r>
          </a:p>
          <a:p>
            <a:r>
              <a:t>      "Device / privacy controls"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"Prayer / reminder behaviour",</a:t>
            </a:r>
          </a:p>
          <a:p>
            <a:r>
              <a:t>      "tests",</a:t>
            </a:r>
          </a:p>
          <a:p>
            <a:r>
              <a:t>      "Reliable repeated use"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"Device / privacy controls",</a:t>
            </a:r>
          </a:p>
          <a:p>
            <a:r>
              <a:t>      "protects",</a:t>
            </a:r>
          </a:p>
          <a:p>
            <a:r>
              <a:t>      "Reliable repeated use"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"reliability",</a:t>
            </a:r>
          </a:p>
          <a:p>
            <a:r>
              <a:t>  "owner": "MRM + Zylax",</a:t>
            </a:r>
          </a:p>
          <a:p>
            <a:r>
              <a:t>  "scope": "Observed loading skeleton \u00b7 empty/error tabs visible",</a:t>
            </a:r>
          </a:p>
          <a:p>
            <a:r>
              <a:t>  "why": "A failed request must explain what happened and offer the right recovery path without duplicating work.",</a:t>
            </a:r>
          </a:p>
          <a:p>
            <a:r>
              <a:t>  "measure": "Retry correctness; no duplicate submissions; recoverable state tests",</a:t>
            </a:r>
          </a:p>
          <a:p>
            <a:r>
              <a:t>  "decision": "Source 20 demonstrates a loading skeleton. Separate empty and error screenshots are reviewed on their own feature pages.",</a:t>
            </a:r>
          </a:p>
          <a:p>
            <a:r>
              <a:t>  "screen_evidence": [</a:t>
            </a:r>
          </a:p>
          <a:p>
            <a:r>
              <a:t>    "Loading-state skeleton"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"API / content operation",</a:t>
            </a:r>
          </a:p>
          <a:p>
            <a:r>
              <a:t>      "loads",</a:t>
            </a:r>
          </a:p>
          <a:p>
            <a:r>
              <a:t>      "Visible state feedback"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"Permission / network outcome",</a:t>
            </a:r>
          </a:p>
          <a:p>
            <a:r>
              <a:t>      "explains",</a:t>
            </a:r>
          </a:p>
          <a:p>
            <a:r>
              <a:t>      "Visible state feedback"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"Visible state feedback",</a:t>
            </a:r>
          </a:p>
          <a:p>
            <a:r>
              <a:t>      "guides",</a:t>
            </a:r>
          </a:p>
          <a:p>
            <a:r>
              <a:t>      "Safe retry / next action"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"Visible state feedback",</a:t>
            </a:r>
          </a:p>
          <a:p>
            <a:r>
              <a:t>      "checks",</a:t>
            </a:r>
          </a:p>
          <a:p>
            <a:r>
              <a:t>      "Persistent operation status"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"Safe retry / next action",</a:t>
            </a:r>
          </a:p>
          <a:p>
            <a:r>
              <a:t>      "escalates",</a:t>
            </a:r>
          </a:p>
          <a:p>
            <a:r>
              <a:t>      "Support / staff follow-up"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"Persistent operation status",</a:t>
            </a:r>
          </a:p>
          <a:p>
            <a:r>
              <a:t>      "prevents loss",</a:t>
            </a:r>
          </a:p>
          <a:p>
            <a:r>
              <a:t>      "Support / staff follow-up"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"empty",</a:t>
            </a:r>
          </a:p>
          <a:p>
            <a:r>
              <a:t>  "owner": "MRM + Zylax",</a:t>
            </a:r>
          </a:p>
          <a:p>
            <a:r>
              <a:t>  "scope": "Observed \u201cNo Active Care Missions\u201d empty-state panel",</a:t>
            </a:r>
          </a:p>
          <a:p>
            <a:r>
              <a:t>  "why": "A genuine empty state reduces confusion without claiming that work is completed simply because nothing is displayed.",</a:t>
            </a:r>
          </a:p>
          <a:p>
            <a:r>
              <a:t>  "measure": "Correct zero-state wording; next-action eligibility; no false completion",</a:t>
            </a:r>
          </a:p>
          <a:p>
            <a:r>
              <a:t>  "decision": "\u201cAll dispatches completed\u201d is prototype copy, not a verified operational result.",</a:t>
            </a:r>
          </a:p>
          <a:p>
            <a:r>
              <a:t>  "screen_evidence": [</a:t>
            </a:r>
          </a:p>
          <a:p>
            <a:r>
              <a:t>    "Empty-state panel"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"Authorised query",</a:t>
            </a:r>
          </a:p>
          <a:p>
            <a:r>
              <a:t>      "returns",</a:t>
            </a:r>
          </a:p>
          <a:p>
            <a:r>
              <a:t>      "Confirmed empty result"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"Record / network checks",</a:t>
            </a:r>
          </a:p>
          <a:p>
            <a:r>
              <a:t>      "distinguishes",</a:t>
            </a:r>
          </a:p>
          <a:p>
            <a:r>
              <a:t>      "Confirmed empty result"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"Confirmed empty result",</a:t>
            </a:r>
          </a:p>
          <a:p>
            <a:r>
              <a:t>      "guides",</a:t>
            </a:r>
          </a:p>
          <a:p>
            <a:r>
              <a:t>      "Useful next action"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"Confirmed empty result",</a:t>
            </a:r>
          </a:p>
          <a:p>
            <a:r>
              <a:t>      "offers",</a:t>
            </a:r>
          </a:p>
          <a:p>
            <a:r>
              <a:t>      "Service / programme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"Service / programme discovery",</a:t>
            </a:r>
          </a:p>
          <a:p>
            <a:r>
              <a:t>      "starts",</a:t>
            </a:r>
          </a:p>
          <a:p>
            <a:r>
              <a:t>      "New valid activity"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"error",</a:t>
            </a:r>
          </a:p>
          <a:p>
            <a:r>
              <a:t>  "owner": "MRM + Zylax",</a:t>
            </a:r>
          </a:p>
          <a:p>
            <a:r>
              <a:t>  "scope": "Observed network-error panel with reconnect control",</a:t>
            </a:r>
          </a:p>
          <a:p>
            <a:r>
              <a:t>  "why": "A clear failure state should recover the correct operation and preserve data, rather than silently repeat a submission.",</a:t>
            </a:r>
          </a:p>
          <a:p>
            <a:r>
              <a:t>  "measure": "Reconnect; idempotent retry; cached access; status reconciliation",</a:t>
            </a:r>
          </a:p>
          <a:p>
            <a:r>
              <a:t>  "decision": "The screen says cached Quran and prayer remain available; actual offline behaviour still needs testing.",</a:t>
            </a:r>
          </a:p>
          <a:p>
            <a:r>
              <a:t>  "screen_evidence": [</a:t>
            </a:r>
          </a:p>
          <a:p>
            <a:r>
              <a:t>    "Network-error panel"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"Failed service operation",</a:t>
            </a:r>
          </a:p>
          <a:p>
            <a:r>
              <a:t>      "fails",</a:t>
            </a:r>
          </a:p>
          <a:p>
            <a:r>
              <a:t>      "Visible error explanation"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"Available offline content",</a:t>
            </a:r>
          </a:p>
          <a:p>
            <a:r>
              <a:t>      "offers fallback",</a:t>
            </a:r>
          </a:p>
          <a:p>
            <a:r>
              <a:t>      "Visible error explanation"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"Visible error explanation",</a:t>
            </a:r>
          </a:p>
          <a:p>
            <a:r>
              <a:t>      "guides",</a:t>
            </a:r>
          </a:p>
          <a:p>
            <a:r>
              <a:t>      "Safe reconnect / retry"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"Visible error explanation",</a:t>
            </a:r>
          </a:p>
          <a:p>
            <a:r>
              <a:t>      "checks",</a:t>
            </a:r>
          </a:p>
          <a:p>
            <a:r>
              <a:t>      "Persistent operation record"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"Safe reconnect / retry",</a:t>
            </a:r>
          </a:p>
          <a:p>
            <a:r>
              <a:t>      "recovers",</a:t>
            </a:r>
          </a:p>
          <a:p>
            <a:r>
              <a:t>      "Recovered permitted journey"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"Persistent operation record",</a:t>
            </a:r>
          </a:p>
          <a:p>
            <a:r>
              <a:t>      "reconciles",</a:t>
            </a:r>
          </a:p>
          <a:p>
            <a:r>
              <a:t>      "Recovered permitted journey"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"campaigns",</a:t>
            </a:r>
          </a:p>
          <a:p>
            <a:r>
              <a:t>  "owner": "MRM + Zylax",</a:t>
            </a:r>
          </a:p>
          <a:p>
            <a:r>
              <a:t>  "scope": "Extended concept \u00b7 fundraising / authority approval required",</a:t>
            </a:r>
          </a:p>
          <a:p>
            <a:r>
              <a:t>  "why": "A transparent campaign should explain its purpose and owner before a person considers a contribution.",</a:t>
            </a:r>
          </a:p>
          <a:p>
            <a:r>
              <a:t>  "measure": "Approved campaign information; correct status; purpose clarity",</a:t>
            </a:r>
          </a:p>
          <a:p>
            <a:r>
              <a:t>  "decision": "The filename says catalog; the visible screen is Infaq &amp; Relief Campaigns, not a marketplace.",</a:t>
            </a:r>
          </a:p>
          <a:p>
            <a:r>
              <a:t>  "screen_evidence": [</a:t>
            </a:r>
          </a:p>
          <a:p>
            <a:r>
              <a:t>    "Infaq &amp; Relief Campaigns"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programme / purpose",</a:t>
            </a:r>
          </a:p>
          <a:p>
            <a:r>
              <a:t>      "publishes",</a:t>
            </a:r>
          </a:p>
          <a:p>
            <a:r>
              <a:t>      "Campaign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"Authority &amp; claim review",</a:t>
            </a:r>
          </a:p>
          <a:p>
            <a:r>
              <a:t>      "approves",</a:t>
            </a:r>
          </a:p>
          <a:p>
            <a:r>
              <a:t>      "Campaign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"Campaign discovery",</a:t>
            </a:r>
          </a:p>
          <a:p>
            <a:r>
              <a:t>      "explains",</a:t>
            </a:r>
          </a:p>
          <a:p>
            <a:r>
              <a:t>      "Purpose / provisions detail"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"Purpose / provisions detail",</a:t>
            </a:r>
          </a:p>
          <a:p>
            <a:r>
              <a:t>      "selects",</a:t>
            </a:r>
          </a:p>
          <a:p>
            <a:r>
              <a:t>      "Contribution allocation"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"Contribution allocation",</a:t>
            </a:r>
          </a:p>
          <a:p>
            <a:r>
              <a:t>      "continues",</a:t>
            </a:r>
          </a:p>
          <a:p>
            <a:r>
              <a:t>      "Recorded contribution status"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"campaign_detail",</a:t>
            </a:r>
          </a:p>
          <a:p>
            <a:r>
              <a:t>  "owner": "MRM + Zylax",</a:t>
            </a:r>
          </a:p>
          <a:p>
            <a:r>
              <a:t>  "scope": "Extended concept \u00b7 distinct Overview and Provisions tabs",</a:t>
            </a:r>
          </a:p>
          <a:p>
            <a:r>
              <a:t>  "why": "Clear provisions and responsible ownership help supporters understand the intended purpose without relying on unsupported impact claims.",</a:t>
            </a:r>
          </a:p>
          <a:p>
            <a:r>
              <a:t>  "measure": "Approved provisions; amount calculation; correct purpose selection",</a:t>
            </a:r>
          </a:p>
          <a:p>
            <a:r>
              <a:t>  "decision": "\u201cProduct detail\u201d is a generic filename. These are relief-purpose tabs; delivery, tax and partnership claims are unverified.",</a:t>
            </a:r>
          </a:p>
          <a:p>
            <a:r>
              <a:t>  "screen_evidence": [</a:t>
            </a:r>
          </a:p>
          <a:p>
            <a:r>
              <a:t>    "Campaign detail \u00b7 Overview",</a:t>
            </a:r>
          </a:p>
          <a:p>
            <a:r>
              <a:t>    "Campaign detail \u00b7 Provisions"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"Campaign selection",</a:t>
            </a:r>
          </a:p>
          <a:p>
            <a:r>
              <a:t>      "opens",</a:t>
            </a:r>
          </a:p>
          <a:p>
            <a:r>
              <a:t>      "Purpose &amp; provision detail"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"Claims / rights approval",</a:t>
            </a:r>
          </a:p>
          <a:p>
            <a:r>
              <a:t>      "reviews",</a:t>
            </a:r>
          </a:p>
          <a:p>
            <a:r>
              <a:t>      "Purpose &amp; provision detail"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"Purpose &amp; provision detail",</a:t>
            </a:r>
          </a:p>
          <a:p>
            <a:r>
              <a:t>      "selects",</a:t>
            </a:r>
          </a:p>
          <a:p>
            <a:r>
              <a:t>      "Contribution selection"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"Purpose &amp; provision detail",</a:t>
            </a:r>
          </a:p>
          <a:p>
            <a:r>
              <a:t>      "explains",</a:t>
            </a:r>
          </a:p>
          <a:p>
            <a:r>
              <a:t>      "Permitted impact information"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"Contribution selection",</a:t>
            </a:r>
          </a:p>
          <a:p>
            <a:r>
              <a:t>      "continues",</a:t>
            </a:r>
          </a:p>
          <a:p>
            <a:r>
              <a:t>      "Verified status / confirmation"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"impact",</a:t>
            </a:r>
          </a:p>
          <a:p>
            <a:r>
              <a:t>  "owner": "MRM + Zylax",</a:t>
            </a:r>
          </a:p>
          <a:p>
            <a:r>
              <a:t>  "scope": "Extended concept \u00b7 sample Impact tab, not verified testimonials",</a:t>
            </a:r>
          </a:p>
          <a:p>
            <a:r>
              <a:t>  "why": "Verified and consented evidence can explain value; a sample testimonial must never be presented as a proven result.",</a:t>
            </a:r>
          </a:p>
          <a:p>
            <a:r>
              <a:t>  "measure": "Evidence traceability; consent; approval and correction records",</a:t>
            </a:r>
          </a:p>
          <a:p>
            <a:r>
              <a:t>  "decision": "The statements and verification badges in this capture are illustrative; no testimonial has been independently confirmed.",</a:t>
            </a:r>
          </a:p>
          <a:p>
            <a:r>
              <a:t>  "screen_evidence": [</a:t>
            </a:r>
          </a:p>
          <a:p>
            <a:r>
              <a:t>    "Campaign detail \u00b7 sample Impact"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"Verified service outcome",</a:t>
            </a:r>
          </a:p>
          <a:p>
            <a:r>
              <a:t>      "evidences",</a:t>
            </a:r>
          </a:p>
          <a:p>
            <a:r>
              <a:t>      "Approved impact record"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"Beneficiary consent &amp; privacy",</a:t>
            </a:r>
          </a:p>
          <a:p>
            <a:r>
              <a:t>      "permits",</a:t>
            </a:r>
          </a:p>
          <a:p>
            <a:r>
              <a:t>      "Approved impact record"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impact record",</a:t>
            </a:r>
          </a:p>
          <a:p>
            <a:r>
              <a:t>      "publishes",</a:t>
            </a:r>
          </a:p>
          <a:p>
            <a:r>
              <a:t>      "Public campaign / report"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impact record",</a:t>
            </a:r>
          </a:p>
          <a:p>
            <a:r>
              <a:t>      "aggregates",</a:t>
            </a:r>
          </a:p>
          <a:p>
            <a:r>
              <a:t>      "Aggregate programme insight"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"Public campaign / report",</a:t>
            </a:r>
          </a:p>
          <a:p>
            <a:r>
              <a:t>      "corrects",</a:t>
            </a:r>
          </a:p>
          <a:p>
            <a:r>
              <a:t>      "Content correction / withdrawal"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"allocation",</a:t>
            </a:r>
          </a:p>
          <a:p>
            <a:r>
              <a:t>  "owner": "MRM + Zylax",</a:t>
            </a:r>
          </a:p>
          <a:p>
            <a:r>
              <a:t>  "scope": "Extended concept \u00b7 Sadaqah / Infaq allocation, not retail cart",</a:t>
            </a:r>
          </a:p>
          <a:p>
            <a:r>
              <a:t>  "why": "An explicit allocation and transparent total reduce confusion between donations, business sponsorship and teacher subscriptions.",</a:t>
            </a:r>
          </a:p>
          <a:p>
            <a:r>
              <a:t>  "measure": "Amount consistency; purpose consent; valid financial-state transition",</a:t>
            </a:r>
          </a:p>
          <a:p>
            <a:r>
              <a:t>  "decision": "Prototype amounts are examples. Religious purpose, handling and tax wording require approval; this is not goods checkout.",</a:t>
            </a:r>
          </a:p>
          <a:p>
            <a:r>
              <a:t>  "screen_evidence": [</a:t>
            </a:r>
          </a:p>
          <a:p>
            <a:r>
              <a:t>    "Sadaqah &amp; Infaq Allocation"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campaign / provision",</a:t>
            </a:r>
          </a:p>
          <a:p>
            <a:r>
              <a:t>      "selects",</a:t>
            </a:r>
          </a:p>
          <a:p>
            <a:r>
              <a:t>      "Contribution allocation"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"Financial policy &amp; permission",</a:t>
            </a:r>
          </a:p>
          <a:p>
            <a:r>
              <a:t>      "governs",</a:t>
            </a:r>
          </a:p>
          <a:p>
            <a:r>
              <a:t>      "Contribution allocation"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"Contribution allocation",</a:t>
            </a:r>
          </a:p>
          <a:p>
            <a:r>
              <a:t>      "calculates",</a:t>
            </a:r>
          </a:p>
          <a:p>
            <a:r>
              <a:t>      "Amount / purpose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"Amount / purpose review",</a:t>
            </a:r>
          </a:p>
          <a:p>
            <a:r>
              <a:t>      "confirms",</a:t>
            </a:r>
          </a:p>
          <a:p>
            <a:r>
              <a:t>      "Conditional payment journey"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"Conditional payment journey",</a:t>
            </a:r>
          </a:p>
          <a:p>
            <a:r>
              <a:t>      "verifies",</a:t>
            </a:r>
          </a:p>
          <a:p>
            <a:r>
              <a:t>      "Receipt / status record"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"donation_payment",</a:t>
            </a:r>
          </a:p>
          <a:p>
            <a:r>
              <a:t>  "owner": "MRM + Zylax",</a:t>
            </a:r>
          </a:p>
          <a:p>
            <a:r>
              <a:t>  "scope": "Extended concept \u00b7 earlier proposal excludes zakat collection / disbursement",</a:t>
            </a:r>
          </a:p>
          <a:p>
            <a:r>
              <a:t>  "why": "Financial confirmation needs verified transactions, approved authority wording and reconciliation before any receipt or disbursement claim.",</a:t>
            </a:r>
          </a:p>
          <a:p>
            <a:r>
              <a:t>  "measure": "Payment verification; failed / duplicate handling; reconciliation",</a:t>
            </a:r>
          </a:p>
          <a:p>
            <a:r>
              <a:t>  "decision": "The visible image is onboarding pillar 2, not checkout. Payment / receipt captures are withheld; gateway, tax and transfer claims remain unverified.",</a:t>
            </a:r>
          </a:p>
          <a:p>
            <a:r>
              <a:t>  "screen_evidence": [</a:t>
            </a:r>
          </a:p>
          <a:p>
            <a:r>
              <a:t>    "Onboarding \u00b7 welfare / aid pillar"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allocation",</a:t>
            </a:r>
          </a:p>
          <a:p>
            <a:r>
              <a:t>      "initiates",</a:t>
            </a:r>
          </a:p>
          <a:p>
            <a:r>
              <a:t>      "Authorised payment process"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"Authority / financial approval",</a:t>
            </a:r>
          </a:p>
          <a:p>
            <a:r>
              <a:t>      "authorises",</a:t>
            </a:r>
          </a:p>
          <a:p>
            <a:r>
              <a:t>      "Authorised payment process"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"Authorised payment process",</a:t>
            </a:r>
          </a:p>
          <a:p>
            <a:r>
              <a:t>      "verifies",</a:t>
            </a:r>
          </a:p>
          <a:p>
            <a:r>
              <a:t>      "Verified transaction state"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"Verified transaction state",</a:t>
            </a:r>
          </a:p>
          <a:p>
            <a:r>
              <a:t>      "confirms",</a:t>
            </a:r>
          </a:p>
          <a:p>
            <a:r>
              <a:t>      "Permitted receipt / update"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"Permitted receipt / update",</a:t>
            </a:r>
          </a:p>
          <a:p>
            <a:r>
              <a:t>      "reconciles",</a:t>
            </a:r>
          </a:p>
          <a:p>
            <a:r>
              <a:t>      "Reconciliation / staff oversight"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" Target="slide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53.xml"/><Relationship Id="rId9" Type="http://schemas.openxmlformats.org/officeDocument/2006/relationships/slide" Target="slide57.xml"/><Relationship Id="rId10" Type="http://schemas.openxmlformats.org/officeDocument/2006/relationships/slide" Target="slide62.xml"/><Relationship Id="rId11" Type="http://schemas.openxmlformats.org/officeDocument/2006/relationships/slide" Target="slide6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Relationship Id="rId6" Type="http://schemas.openxmlformats.org/officeDocument/2006/relationships/slide" Target="slide12.xml"/><Relationship Id="rId7" Type="http://schemas.openxmlformats.org/officeDocument/2006/relationships/slide" Target="slide24.xml"/><Relationship Id="rId8" Type="http://schemas.openxmlformats.org/officeDocument/2006/relationships/slide" Target="slide25.xml"/><Relationship Id="rId9" Type="http://schemas.openxmlformats.org/officeDocument/2006/relationships/slide" Target="slide34.xml"/><Relationship Id="rId10" Type="http://schemas.openxmlformats.org/officeDocument/2006/relationships/slide" Target="slide46.xml"/><Relationship Id="rId11" Type="http://schemas.openxmlformats.org/officeDocument/2006/relationships/slide" Target="slide4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Relationship Id="rId6" Type="http://schemas.openxmlformats.org/officeDocument/2006/relationships/slide" Target="slide9.xml"/><Relationship Id="rId7" Type="http://schemas.openxmlformats.org/officeDocument/2006/relationships/slide" Target="slide27.xml"/><Relationship Id="rId8" Type="http://schemas.openxmlformats.org/officeDocument/2006/relationships/slide" Target="slide28.xml"/><Relationship Id="rId9" Type="http://schemas.openxmlformats.org/officeDocument/2006/relationships/slide" Target="slide45.xml"/><Relationship Id="rId10" Type="http://schemas.openxmlformats.org/officeDocument/2006/relationships/slide" Target="slide34.xml"/><Relationship Id="rId11" Type="http://schemas.openxmlformats.org/officeDocument/2006/relationships/slide" Target="slide37.xml"/><Relationship Id="rId12" Type="http://schemas.openxmlformats.org/officeDocument/2006/relationships/slide" Target="slide35.xml"/><Relationship Id="rId13" Type="http://schemas.openxmlformats.org/officeDocument/2006/relationships/slide" Target="slide40.xml"/><Relationship Id="rId14" Type="http://schemas.openxmlformats.org/officeDocument/2006/relationships/slide" Target="slide10.xml"/><Relationship Id="rId15" Type="http://schemas.openxmlformats.org/officeDocument/2006/relationships/slide" Target="slide11.xml"/><Relationship Id="rId16" Type="http://schemas.openxmlformats.org/officeDocument/2006/relationships/slide" Target="slide24.xml"/><Relationship Id="rId17" Type="http://schemas.openxmlformats.org/officeDocument/2006/relationships/slide" Target="slide4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notesSlide" Target="../notesSlides/notesSlide1.xml"/><Relationship Id="rId8" Type="http://schemas.openxmlformats.org/officeDocument/2006/relationships/slide" Target="slide3.xml"/><Relationship Id="rId9" Type="http://schemas.openxmlformats.org/officeDocument/2006/relationships/slide" Target="slide43.xml"/><Relationship Id="rId10" Type="http://schemas.openxmlformats.org/officeDocument/2006/relationships/slide" Target="slide6.xml"/><Relationship Id="rId11" Type="http://schemas.openxmlformats.org/officeDocument/2006/relationships/slide" Target="slide11.xml"/><Relationship Id="rId12" Type="http://schemas.openxmlformats.org/officeDocument/2006/relationships/slide" Target="slide49.xml"/><Relationship Id="rId13" Type="http://schemas.openxmlformats.org/officeDocument/2006/relationships/slide" Target="slide7.xml"/><Relationship Id="rId14" Type="http://schemas.openxmlformats.org/officeDocument/2006/relationships/slide" Target="slide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2.xml"/><Relationship Id="rId7" Type="http://schemas.openxmlformats.org/officeDocument/2006/relationships/slide" Target="slide3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9.xml"/><Relationship Id="rId11" Type="http://schemas.openxmlformats.org/officeDocument/2006/relationships/slide" Target="slide48.xml"/><Relationship Id="rId12" Type="http://schemas.openxmlformats.org/officeDocument/2006/relationships/slide" Target="slide25.xml"/><Relationship Id="rId13" Type="http://schemas.openxmlformats.org/officeDocument/2006/relationships/slide" Target="slide3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3.xml"/><Relationship Id="rId7" Type="http://schemas.openxmlformats.org/officeDocument/2006/relationships/slide" Target="slide3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slide" Target="slide10.xml"/><Relationship Id="rId11" Type="http://schemas.openxmlformats.org/officeDocument/2006/relationships/slide" Target="slide48.xml"/><Relationship Id="rId12" Type="http://schemas.openxmlformats.org/officeDocument/2006/relationships/slide" Target="slide4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notesSlide" Target="../notesSlides/notesSlide4.xml"/><Relationship Id="rId8" Type="http://schemas.openxmlformats.org/officeDocument/2006/relationships/slide" Target="slide3.xml"/><Relationship Id="rId9" Type="http://schemas.openxmlformats.org/officeDocument/2006/relationships/slide" Target="slide7.xml"/><Relationship Id="rId10" Type="http://schemas.openxmlformats.org/officeDocument/2006/relationships/slide" Target="slide9.xml"/><Relationship Id="rId11" Type="http://schemas.openxmlformats.org/officeDocument/2006/relationships/slide" Target="slide10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4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5.xml"/><Relationship Id="rId8" Type="http://schemas.openxmlformats.org/officeDocument/2006/relationships/slide" Target="slide3.xml"/><Relationship Id="rId9" Type="http://schemas.openxmlformats.org/officeDocument/2006/relationships/slide" Target="slide49.xml"/><Relationship Id="rId10" Type="http://schemas.openxmlformats.org/officeDocument/2006/relationships/slide" Target="slide10.xml"/><Relationship Id="rId11" Type="http://schemas.openxmlformats.org/officeDocument/2006/relationships/slide" Target="slide12.xml"/><Relationship Id="rId12" Type="http://schemas.openxmlformats.org/officeDocument/2006/relationships/slide" Target="slide9.xml"/><Relationship Id="rId13" Type="http://schemas.openxmlformats.org/officeDocument/2006/relationships/slide" Target="slide24.xml"/><Relationship Id="rId14" Type="http://schemas.openxmlformats.org/officeDocument/2006/relationships/slide" Target="slide2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6.xml"/><Relationship Id="rId7" Type="http://schemas.openxmlformats.org/officeDocument/2006/relationships/slide" Target="slide3.xml"/><Relationship Id="rId8" Type="http://schemas.openxmlformats.org/officeDocument/2006/relationships/slide" Target="slide10.xml"/><Relationship Id="rId9" Type="http://schemas.openxmlformats.org/officeDocument/2006/relationships/slide" Target="slide11.xml"/><Relationship Id="rId10" Type="http://schemas.openxmlformats.org/officeDocument/2006/relationships/slide" Target="slide14.xml"/><Relationship Id="rId11" Type="http://schemas.openxmlformats.org/officeDocument/2006/relationships/slide" Target="slide48.xml"/><Relationship Id="rId12" Type="http://schemas.openxmlformats.org/officeDocument/2006/relationships/slide" Target="slide38.xml"/><Relationship Id="rId13" Type="http://schemas.openxmlformats.org/officeDocument/2006/relationships/slide" Target="slide2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4.png"/><Relationship Id="rId6" Type="http://schemas.openxmlformats.org/officeDocument/2006/relationships/notesSlide" Target="../notesSlides/notesSlide7.xml"/><Relationship Id="rId7" Type="http://schemas.openxmlformats.org/officeDocument/2006/relationships/slide" Target="slide3.xml"/><Relationship Id="rId8" Type="http://schemas.openxmlformats.org/officeDocument/2006/relationships/slide" Target="slide49.xml"/><Relationship Id="rId9" Type="http://schemas.openxmlformats.org/officeDocument/2006/relationships/slide" Target="slide12.xml"/><Relationship Id="rId10" Type="http://schemas.openxmlformats.org/officeDocument/2006/relationships/slide" Target="slide10.xml"/><Relationship Id="rId11" Type="http://schemas.openxmlformats.org/officeDocument/2006/relationships/slide" Target="slide44.xml"/><Relationship Id="rId12" Type="http://schemas.openxmlformats.org/officeDocument/2006/relationships/slide" Target="slide2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8.xml"/><Relationship Id="rId7" Type="http://schemas.openxmlformats.org/officeDocument/2006/relationships/slide" Target="slide3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45.xml"/><Relationship Id="rId11" Type="http://schemas.openxmlformats.org/officeDocument/2006/relationships/slide" Target="slide48.xml"/><Relationship Id="rId12" Type="http://schemas.openxmlformats.org/officeDocument/2006/relationships/slide" Target="slide19.xml"/><Relationship Id="rId13" Type="http://schemas.openxmlformats.org/officeDocument/2006/relationships/slide" Target="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9.xml"/><Relationship Id="rId7" Type="http://schemas.openxmlformats.org/officeDocument/2006/relationships/slide" Target="slide3.xml"/><Relationship Id="rId8" Type="http://schemas.openxmlformats.org/officeDocument/2006/relationships/slide" Target="slide49.xml"/><Relationship Id="rId9" Type="http://schemas.openxmlformats.org/officeDocument/2006/relationships/slide" Target="slide14.xml"/><Relationship Id="rId10" Type="http://schemas.openxmlformats.org/officeDocument/2006/relationships/slide" Target="slide11.xml"/><Relationship Id="rId11" Type="http://schemas.openxmlformats.org/officeDocument/2006/relationships/slide" Target="slide48.xml"/><Relationship Id="rId12" Type="http://schemas.openxmlformats.org/officeDocument/2006/relationships/slide" Target="slide12.xml"/><Relationship Id="rId13" Type="http://schemas.openxmlformats.org/officeDocument/2006/relationships/slide" Target="slide3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7.png"/><Relationship Id="rId6" Type="http://schemas.openxmlformats.org/officeDocument/2006/relationships/notesSlide" Target="../notesSlides/notesSlide10.xml"/><Relationship Id="rId7" Type="http://schemas.openxmlformats.org/officeDocument/2006/relationships/slide" Target="slide3.xml"/><Relationship Id="rId8" Type="http://schemas.openxmlformats.org/officeDocument/2006/relationships/slide" Target="slide48.xml"/><Relationship Id="rId9" Type="http://schemas.openxmlformats.org/officeDocument/2006/relationships/slide" Target="slide15.xml"/><Relationship Id="rId10" Type="http://schemas.openxmlformats.org/officeDocument/2006/relationships/slide" Target="slide38.xml"/><Relationship Id="rId11" Type="http://schemas.openxmlformats.org/officeDocument/2006/relationships/slide" Target="slide46.xml"/><Relationship Id="rId12" Type="http://schemas.openxmlformats.org/officeDocument/2006/relationships/slide" Target="slide49.xml"/><Relationship Id="rId13" Type="http://schemas.openxmlformats.org/officeDocument/2006/relationships/slide" Target="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notesSlide" Target="../notesSlides/notesSlide11.xml"/><Relationship Id="rId7" Type="http://schemas.openxmlformats.org/officeDocument/2006/relationships/slide" Target="slide3.xml"/><Relationship Id="rId8" Type="http://schemas.openxmlformats.org/officeDocument/2006/relationships/slide" Target="slide18.xml"/><Relationship Id="rId9" Type="http://schemas.openxmlformats.org/officeDocument/2006/relationships/slide" Target="slide16.xml"/><Relationship Id="rId10" Type="http://schemas.openxmlformats.org/officeDocument/2006/relationships/slide" Target="slide45.xml"/><Relationship Id="rId11" Type="http://schemas.openxmlformats.org/officeDocument/2006/relationships/slide" Target="slide49.xml"/><Relationship Id="rId12" Type="http://schemas.openxmlformats.org/officeDocument/2006/relationships/slide" Target="slide17.xml"/><Relationship Id="rId13" Type="http://schemas.openxmlformats.org/officeDocument/2006/relationships/slide" Target="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9.png"/><Relationship Id="rId6" Type="http://schemas.openxmlformats.org/officeDocument/2006/relationships/notesSlide" Target="../notesSlides/notesSlide12.xml"/><Relationship Id="rId7" Type="http://schemas.openxmlformats.org/officeDocument/2006/relationships/slide" Target="slide3.xml"/><Relationship Id="rId8" Type="http://schemas.openxmlformats.org/officeDocument/2006/relationships/slide" Target="slide11.xml"/><Relationship Id="rId9" Type="http://schemas.openxmlformats.org/officeDocument/2006/relationships/slide" Target="slide17.xml"/><Relationship Id="rId10" Type="http://schemas.openxmlformats.org/officeDocument/2006/relationships/slide" Target="slide38.xml"/><Relationship Id="rId11" Type="http://schemas.openxmlformats.org/officeDocument/2006/relationships/slide" Target="slide46.xml"/><Relationship Id="rId12" Type="http://schemas.openxmlformats.org/officeDocument/2006/relationships/slide" Target="slide13.xml"/><Relationship Id="rId13" Type="http://schemas.openxmlformats.org/officeDocument/2006/relationships/slide" Target="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3.xml"/><Relationship Id="rId6" Type="http://schemas.openxmlformats.org/officeDocument/2006/relationships/slide" Target="slide3.xml"/><Relationship Id="rId7" Type="http://schemas.openxmlformats.org/officeDocument/2006/relationships/slide" Target="slide48.xml"/><Relationship Id="rId8" Type="http://schemas.openxmlformats.org/officeDocument/2006/relationships/slide" Target="slide18.xml"/><Relationship Id="rId9" Type="http://schemas.openxmlformats.org/officeDocument/2006/relationships/slide" Target="slide38.xml"/><Relationship Id="rId10" Type="http://schemas.openxmlformats.org/officeDocument/2006/relationships/slide" Target="slide46.xml"/><Relationship Id="rId11" Type="http://schemas.openxmlformats.org/officeDocument/2006/relationships/slide" Target="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0.png"/><Relationship Id="rId6" Type="http://schemas.openxmlformats.org/officeDocument/2006/relationships/notesSlide" Target="../notesSlides/notesSlide14.xml"/><Relationship Id="rId7" Type="http://schemas.openxmlformats.org/officeDocument/2006/relationships/slide" Target="slide3.xml"/><Relationship Id="rId8" Type="http://schemas.openxmlformats.org/officeDocument/2006/relationships/slide" Target="slide38.xml"/><Relationship Id="rId9" Type="http://schemas.openxmlformats.org/officeDocument/2006/relationships/slide" Target="slide19.xml"/><Relationship Id="rId10" Type="http://schemas.openxmlformats.org/officeDocument/2006/relationships/slide" Target="slide12.xml"/><Relationship Id="rId11" Type="http://schemas.openxmlformats.org/officeDocument/2006/relationships/slide" Target="slide14.xml"/><Relationship Id="rId12" Type="http://schemas.openxmlformats.org/officeDocument/2006/relationships/slide" Target="slide39.xml"/><Relationship Id="rId13" Type="http://schemas.openxmlformats.org/officeDocument/2006/relationships/slide" Target="slide4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1.png"/><Relationship Id="rId6" Type="http://schemas.openxmlformats.org/officeDocument/2006/relationships/notesSlide" Target="../notesSlides/notesSlide15.xml"/><Relationship Id="rId7" Type="http://schemas.openxmlformats.org/officeDocument/2006/relationships/slide" Target="slide3.xml"/><Relationship Id="rId8" Type="http://schemas.openxmlformats.org/officeDocument/2006/relationships/slide" Target="slide46.xml"/><Relationship Id="rId9" Type="http://schemas.openxmlformats.org/officeDocument/2006/relationships/slide" Target="slide20.xml"/><Relationship Id="rId10" Type="http://schemas.openxmlformats.org/officeDocument/2006/relationships/slide" Target="slide38.xml"/><Relationship Id="rId11" Type="http://schemas.openxmlformats.org/officeDocument/2006/relationships/slide" Target="slide11.xml"/><Relationship Id="rId12" Type="http://schemas.openxmlformats.org/officeDocument/2006/relationships/slide" Target="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2.png"/><Relationship Id="rId6" Type="http://schemas.openxmlformats.org/officeDocument/2006/relationships/notesSlide" Target="../notesSlides/notesSlide16.xml"/><Relationship Id="rId7" Type="http://schemas.openxmlformats.org/officeDocument/2006/relationships/slide" Target="slide3.xml"/><Relationship Id="rId8" Type="http://schemas.openxmlformats.org/officeDocument/2006/relationships/slide" Target="slide11.xml"/><Relationship Id="rId9" Type="http://schemas.openxmlformats.org/officeDocument/2006/relationships/slide" Target="slide21.xml"/><Relationship Id="rId10" Type="http://schemas.openxmlformats.org/officeDocument/2006/relationships/slide" Target="slide10.xml"/><Relationship Id="rId11" Type="http://schemas.openxmlformats.org/officeDocument/2006/relationships/slide" Target="slide46.xml"/><Relationship Id="rId12" Type="http://schemas.openxmlformats.org/officeDocument/2006/relationships/slide" Target="slide3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3.png"/><Relationship Id="rId6" Type="http://schemas.openxmlformats.org/officeDocument/2006/relationships/notesSlide" Target="../notesSlides/notesSlide17.xml"/><Relationship Id="rId7" Type="http://schemas.openxmlformats.org/officeDocument/2006/relationships/slide" Target="slide3.xml"/><Relationship Id="rId8" Type="http://schemas.openxmlformats.org/officeDocument/2006/relationships/slide" Target="slide49.xml"/><Relationship Id="rId9" Type="http://schemas.openxmlformats.org/officeDocument/2006/relationships/slide" Target="slide22.xml"/><Relationship Id="rId10" Type="http://schemas.openxmlformats.org/officeDocument/2006/relationships/slide" Target="slide38.xml"/><Relationship Id="rId11" Type="http://schemas.openxmlformats.org/officeDocument/2006/relationships/slide" Target="slide12.xml"/><Relationship Id="rId12" Type="http://schemas.openxmlformats.org/officeDocument/2006/relationships/slide" Target="slide40.xml"/><Relationship Id="rId13" Type="http://schemas.openxmlformats.org/officeDocument/2006/relationships/slide" Target="slide4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8.xml"/><Relationship Id="rId6" Type="http://schemas.openxmlformats.org/officeDocument/2006/relationships/slide" Target="slide3.xml"/><Relationship Id="rId7" Type="http://schemas.openxmlformats.org/officeDocument/2006/relationships/slide" Target="slide48.xml"/><Relationship Id="rId8" Type="http://schemas.openxmlformats.org/officeDocument/2006/relationships/slide" Target="slide23.xml"/><Relationship Id="rId9" Type="http://schemas.openxmlformats.org/officeDocument/2006/relationships/slide" Target="slide38.xml"/><Relationship Id="rId10" Type="http://schemas.openxmlformats.org/officeDocument/2006/relationships/slide" Target="slide49.xml"/><Relationship Id="rId11" Type="http://schemas.openxmlformats.org/officeDocument/2006/relationships/slide" Target="slide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notesSlide" Target="../notesSlides/notesSlide19.xml"/><Relationship Id="rId7" Type="http://schemas.openxmlformats.org/officeDocument/2006/relationships/slide" Target="slide3.xml"/><Relationship Id="rId8" Type="http://schemas.openxmlformats.org/officeDocument/2006/relationships/slide" Target="slide10.xml"/><Relationship Id="rId9" Type="http://schemas.openxmlformats.org/officeDocument/2006/relationships/slide" Target="slide24.xml"/><Relationship Id="rId10" Type="http://schemas.openxmlformats.org/officeDocument/2006/relationships/slide" Target="slide46.xml"/><Relationship Id="rId11" Type="http://schemas.openxmlformats.org/officeDocument/2006/relationships/slide" Target="slide48.xml"/><Relationship Id="rId12" Type="http://schemas.openxmlformats.org/officeDocument/2006/relationships/slide" Target="slide27.xml"/><Relationship Id="rId13" Type="http://schemas.openxmlformats.org/officeDocument/2006/relationships/slide" Target="slide4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5.png"/><Relationship Id="rId6" Type="http://schemas.openxmlformats.org/officeDocument/2006/relationships/notesSlide" Target="../notesSlides/notesSlide20.xml"/><Relationship Id="rId7" Type="http://schemas.openxmlformats.org/officeDocument/2006/relationships/slide" Target="slide3.xml"/><Relationship Id="rId8" Type="http://schemas.openxmlformats.org/officeDocument/2006/relationships/slide" Target="slide7.xml"/><Relationship Id="rId9" Type="http://schemas.openxmlformats.org/officeDocument/2006/relationships/slide" Target="slide25.xml"/><Relationship Id="rId10" Type="http://schemas.openxmlformats.org/officeDocument/2006/relationships/slide" Target="slide9.xml"/><Relationship Id="rId11" Type="http://schemas.openxmlformats.org/officeDocument/2006/relationships/slide" Target="slide48.xml"/><Relationship Id="rId12" Type="http://schemas.openxmlformats.org/officeDocument/2006/relationships/slide" Target="slide27.xml"/><Relationship Id="rId13" Type="http://schemas.openxmlformats.org/officeDocument/2006/relationships/slide" Target="slide2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1.xml"/><Relationship Id="rId6" Type="http://schemas.openxmlformats.org/officeDocument/2006/relationships/slide" Target="slide3.xml"/><Relationship Id="rId7" Type="http://schemas.openxmlformats.org/officeDocument/2006/relationships/slide" Target="slide9.xml"/><Relationship Id="rId8" Type="http://schemas.openxmlformats.org/officeDocument/2006/relationships/slide" Target="slide26.xml"/><Relationship Id="rId9" Type="http://schemas.openxmlformats.org/officeDocument/2006/relationships/slide" Target="slide11.xml"/><Relationship Id="rId10" Type="http://schemas.openxmlformats.org/officeDocument/2006/relationships/slide" Target="slide49.xml"/><Relationship Id="rId11" Type="http://schemas.openxmlformats.org/officeDocument/2006/relationships/slide" Target="slide27.xml"/><Relationship Id="rId12" Type="http://schemas.openxmlformats.org/officeDocument/2006/relationships/slide" Target="slide3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6.png"/><Relationship Id="rId6" Type="http://schemas.openxmlformats.org/officeDocument/2006/relationships/notesSlide" Target="../notesSlides/notesSlide22.xml"/><Relationship Id="rId7" Type="http://schemas.openxmlformats.org/officeDocument/2006/relationships/slide" Target="slide3.xml"/><Relationship Id="rId8" Type="http://schemas.openxmlformats.org/officeDocument/2006/relationships/slide" Target="slide24.xml"/><Relationship Id="rId9" Type="http://schemas.openxmlformats.org/officeDocument/2006/relationships/slide" Target="slide27.xml"/><Relationship Id="rId10" Type="http://schemas.openxmlformats.org/officeDocument/2006/relationships/slide" Target="slide44.xml"/><Relationship Id="rId11" Type="http://schemas.openxmlformats.org/officeDocument/2006/relationships/slide" Target="slide25.xml"/><Relationship Id="rId12" Type="http://schemas.openxmlformats.org/officeDocument/2006/relationships/slide" Target="slide28.xml"/><Relationship Id="rId13" Type="http://schemas.openxmlformats.org/officeDocument/2006/relationships/slide" Target="slide4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3.xml"/><Relationship Id="rId6" Type="http://schemas.openxmlformats.org/officeDocument/2006/relationships/slide" Target="slide3.xml"/><Relationship Id="rId7" Type="http://schemas.openxmlformats.org/officeDocument/2006/relationships/slide" Target="slide27.xml"/><Relationship Id="rId8" Type="http://schemas.openxmlformats.org/officeDocument/2006/relationships/slide" Target="slide28.xml"/><Relationship Id="rId9" Type="http://schemas.openxmlformats.org/officeDocument/2006/relationships/slide" Target="slide31.xml"/><Relationship Id="rId10" Type="http://schemas.openxmlformats.org/officeDocument/2006/relationships/slide" Target="slide46.xml"/><Relationship Id="rId11" Type="http://schemas.openxmlformats.org/officeDocument/2006/relationships/slide" Target="slide45.xml"/><Relationship Id="rId12" Type="http://schemas.openxmlformats.org/officeDocument/2006/relationships/slide" Target="slide3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4.xml"/><Relationship Id="rId6" Type="http://schemas.openxmlformats.org/officeDocument/2006/relationships/slide" Target="slide3.xml"/><Relationship Id="rId7" Type="http://schemas.openxmlformats.org/officeDocument/2006/relationships/slide" Target="slide24.xml"/><Relationship Id="rId8" Type="http://schemas.openxmlformats.org/officeDocument/2006/relationships/slide" Target="slide29.xml"/><Relationship Id="rId9" Type="http://schemas.openxmlformats.org/officeDocument/2006/relationships/slide" Target="slide46.xml"/><Relationship Id="rId10" Type="http://schemas.openxmlformats.org/officeDocument/2006/relationships/slide" Target="slide48.xml"/><Relationship Id="rId11" Type="http://schemas.openxmlformats.org/officeDocument/2006/relationships/slide" Target="slide31.xml"/><Relationship Id="rId12" Type="http://schemas.openxmlformats.org/officeDocument/2006/relationships/slide" Target="slide4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5.xml"/><Relationship Id="rId6" Type="http://schemas.openxmlformats.org/officeDocument/2006/relationships/slide" Target="slide3.xml"/><Relationship Id="rId7" Type="http://schemas.openxmlformats.org/officeDocument/2006/relationships/slide" Target="slide31.xml"/><Relationship Id="rId8" Type="http://schemas.openxmlformats.org/officeDocument/2006/relationships/slide" Target="slide30.xml"/><Relationship Id="rId9" Type="http://schemas.openxmlformats.org/officeDocument/2006/relationships/slide" Target="slide9.xml"/><Relationship Id="rId10" Type="http://schemas.openxmlformats.org/officeDocument/2006/relationships/slide" Target="slide48.xml"/><Relationship Id="rId11" Type="http://schemas.openxmlformats.org/officeDocument/2006/relationships/slide" Target="slide28.xml"/><Relationship Id="rId12" Type="http://schemas.openxmlformats.org/officeDocument/2006/relationships/slide" Target="slide4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7.png"/><Relationship Id="rId6" Type="http://schemas.openxmlformats.org/officeDocument/2006/relationships/notesSlide" Target="../notesSlides/notesSlide26.xml"/><Relationship Id="rId7" Type="http://schemas.openxmlformats.org/officeDocument/2006/relationships/slide" Target="slide3.xml"/><Relationship Id="rId8" Type="http://schemas.openxmlformats.org/officeDocument/2006/relationships/slide" Target="slide28.xml"/><Relationship Id="rId9" Type="http://schemas.openxmlformats.org/officeDocument/2006/relationships/slide" Target="slide31.xml"/><Relationship Id="rId10" Type="http://schemas.openxmlformats.org/officeDocument/2006/relationships/slide" Target="slide45.xml"/><Relationship Id="rId11" Type="http://schemas.openxmlformats.org/officeDocument/2006/relationships/slide" Target="slide48.xml"/><Relationship Id="rId12" Type="http://schemas.openxmlformats.org/officeDocument/2006/relationships/slide" Target="slide30.xml"/><Relationship Id="rId13" Type="http://schemas.openxmlformats.org/officeDocument/2006/relationships/slide" Target="slide4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7.xml"/><Relationship Id="rId6" Type="http://schemas.openxmlformats.org/officeDocument/2006/relationships/slide" Target="slide3.xml"/><Relationship Id="rId7" Type="http://schemas.openxmlformats.org/officeDocument/2006/relationships/slide" Target="slide24.xml"/><Relationship Id="rId8" Type="http://schemas.openxmlformats.org/officeDocument/2006/relationships/slide" Target="slide32.xml"/><Relationship Id="rId9" Type="http://schemas.openxmlformats.org/officeDocument/2006/relationships/slide" Target="slide46.xml"/><Relationship Id="rId10" Type="http://schemas.openxmlformats.org/officeDocument/2006/relationships/slide" Target="slide48.xml"/><Relationship Id="rId11" Type="http://schemas.openxmlformats.org/officeDocument/2006/relationships/slide" Target="slide45.xml"/><Relationship Id="rId12" Type="http://schemas.openxmlformats.org/officeDocument/2006/relationships/slide" Target="slide4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8.xml"/><Relationship Id="rId6" Type="http://schemas.openxmlformats.org/officeDocument/2006/relationships/slide" Target="slide3.xml"/><Relationship Id="rId7" Type="http://schemas.openxmlformats.org/officeDocument/2006/relationships/slide" Target="slide28.xml"/><Relationship Id="rId8" Type="http://schemas.openxmlformats.org/officeDocument/2006/relationships/slide" Target="slide33.xml"/><Relationship Id="rId9" Type="http://schemas.openxmlformats.org/officeDocument/2006/relationships/slide" Target="slide9.xml"/><Relationship Id="rId10" Type="http://schemas.openxmlformats.org/officeDocument/2006/relationships/slide" Target="slide46.xml"/><Relationship Id="rId11" Type="http://schemas.openxmlformats.org/officeDocument/2006/relationships/slide" Target="slide45.xml"/><Relationship Id="rId12" Type="http://schemas.openxmlformats.org/officeDocument/2006/relationships/slide" Target="slide4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9.xml"/><Relationship Id="rId6" Type="http://schemas.openxmlformats.org/officeDocument/2006/relationships/slide" Target="slide3.xml"/><Relationship Id="rId7" Type="http://schemas.openxmlformats.org/officeDocument/2006/relationships/slide" Target="slide7.xml"/><Relationship Id="rId8" Type="http://schemas.openxmlformats.org/officeDocument/2006/relationships/slide" Target="slide34.xml"/><Relationship Id="rId9" Type="http://schemas.openxmlformats.org/officeDocument/2006/relationships/slide" Target="slide9.xml"/><Relationship Id="rId10" Type="http://schemas.openxmlformats.org/officeDocument/2006/relationships/slide" Target="slide46.xml"/><Relationship Id="rId11" Type="http://schemas.openxmlformats.org/officeDocument/2006/relationships/slide" Target="slide36.xml"/><Relationship Id="rId12" Type="http://schemas.openxmlformats.org/officeDocument/2006/relationships/slide" Target="slide3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0.xml"/><Relationship Id="rId6" Type="http://schemas.openxmlformats.org/officeDocument/2006/relationships/slide" Target="slide3.xml"/><Relationship Id="rId7" Type="http://schemas.openxmlformats.org/officeDocument/2006/relationships/slide" Target="slide34.xml"/><Relationship Id="rId8" Type="http://schemas.openxmlformats.org/officeDocument/2006/relationships/slide" Target="slide35.xml"/><Relationship Id="rId9" Type="http://schemas.openxmlformats.org/officeDocument/2006/relationships/slide" Target="slide46.xml"/><Relationship Id="rId10" Type="http://schemas.openxmlformats.org/officeDocument/2006/relationships/slide" Target="slide36.xml"/><Relationship Id="rId11" Type="http://schemas.openxmlformats.org/officeDocument/2006/relationships/slide" Target="slide38.xml"/><Relationship Id="rId12" Type="http://schemas.openxmlformats.org/officeDocument/2006/relationships/slide" Target="slide1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1.xml"/><Relationship Id="rId6" Type="http://schemas.openxmlformats.org/officeDocument/2006/relationships/slide" Target="slide3.xml"/><Relationship Id="rId7" Type="http://schemas.openxmlformats.org/officeDocument/2006/relationships/slide" Target="slide34.xml"/><Relationship Id="rId8" Type="http://schemas.openxmlformats.org/officeDocument/2006/relationships/slide" Target="slide36.xml"/><Relationship Id="rId9" Type="http://schemas.openxmlformats.org/officeDocument/2006/relationships/slide" Target="slide37.xml"/><Relationship Id="rId10" Type="http://schemas.openxmlformats.org/officeDocument/2006/relationships/slide" Target="slide46.xml"/><Relationship Id="rId11" Type="http://schemas.openxmlformats.org/officeDocument/2006/relationships/slide" Target="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2.xml"/><Relationship Id="rId6" Type="http://schemas.openxmlformats.org/officeDocument/2006/relationships/slide" Target="slide3.xml"/><Relationship Id="rId7" Type="http://schemas.openxmlformats.org/officeDocument/2006/relationships/slide" Target="slide36.xml"/><Relationship Id="rId8" Type="http://schemas.openxmlformats.org/officeDocument/2006/relationships/slide" Target="slide37.xml"/><Relationship Id="rId9" Type="http://schemas.openxmlformats.org/officeDocument/2006/relationships/slide" Target="slide35.xml"/><Relationship Id="rId10" Type="http://schemas.openxmlformats.org/officeDocument/2006/relationships/slide" Target="slide9.xml"/><Relationship Id="rId11" Type="http://schemas.openxmlformats.org/officeDocument/2006/relationships/slide" Target="slide4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3.xml"/><Relationship Id="rId6" Type="http://schemas.openxmlformats.org/officeDocument/2006/relationships/slide" Target="slide3.xml"/><Relationship Id="rId7" Type="http://schemas.openxmlformats.org/officeDocument/2006/relationships/slide" Target="slide35.xml"/><Relationship Id="rId8" Type="http://schemas.openxmlformats.org/officeDocument/2006/relationships/slide" Target="slide38.xml"/><Relationship Id="rId9" Type="http://schemas.openxmlformats.org/officeDocument/2006/relationships/slide" Target="slide40.xml"/><Relationship Id="rId10" Type="http://schemas.openxmlformats.org/officeDocument/2006/relationships/slide" Target="slide11.xml"/><Relationship Id="rId11" Type="http://schemas.openxmlformats.org/officeDocument/2006/relationships/slide" Target="slide44.xml"/><Relationship Id="rId12" Type="http://schemas.openxmlformats.org/officeDocument/2006/relationships/slide" Target="slide4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notesSlide" Target="../notesSlides/notesSlide34.xml"/><Relationship Id="rId7" Type="http://schemas.openxmlformats.org/officeDocument/2006/relationships/slide" Target="slide3.xml"/><Relationship Id="rId8" Type="http://schemas.openxmlformats.org/officeDocument/2006/relationships/slide" Target="slide38.xml"/><Relationship Id="rId9" Type="http://schemas.openxmlformats.org/officeDocument/2006/relationships/slide" Target="slide39.xml"/><Relationship Id="rId10" Type="http://schemas.openxmlformats.org/officeDocument/2006/relationships/slide" Target="slide40.xml"/><Relationship Id="rId11" Type="http://schemas.openxmlformats.org/officeDocument/2006/relationships/slide" Target="slide48.xml"/><Relationship Id="rId12" Type="http://schemas.openxmlformats.org/officeDocument/2006/relationships/slide" Target="slide31.xml"/><Relationship Id="rId13" Type="http://schemas.openxmlformats.org/officeDocument/2006/relationships/slide" Target="slide4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notesSlide" Target="../notesSlides/notesSlide35.xml"/><Relationship Id="rId8" Type="http://schemas.openxmlformats.org/officeDocument/2006/relationships/slide" Target="slide3.xml"/><Relationship Id="rId9" Type="http://schemas.openxmlformats.org/officeDocument/2006/relationships/slide" Target="slide38.xml"/><Relationship Id="rId10" Type="http://schemas.openxmlformats.org/officeDocument/2006/relationships/slide" Target="slide40.xml"/><Relationship Id="rId11" Type="http://schemas.openxmlformats.org/officeDocument/2006/relationships/slide" Target="slide9.xml"/><Relationship Id="rId12" Type="http://schemas.openxmlformats.org/officeDocument/2006/relationships/slide" Target="slide26.xml"/><Relationship Id="rId13" Type="http://schemas.openxmlformats.org/officeDocument/2006/relationships/slide" Target="slide28.xml"/><Relationship Id="rId14" Type="http://schemas.openxmlformats.org/officeDocument/2006/relationships/slide" Target="slide4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notesSlide" Target="../notesSlides/notesSlide36.xml"/><Relationship Id="rId8" Type="http://schemas.openxmlformats.org/officeDocument/2006/relationships/slide" Target="slide3.xml"/><Relationship Id="rId9" Type="http://schemas.openxmlformats.org/officeDocument/2006/relationships/slide" Target="slide35.xml"/><Relationship Id="rId10" Type="http://schemas.openxmlformats.org/officeDocument/2006/relationships/slide" Target="slide41.xml"/><Relationship Id="rId11" Type="http://schemas.openxmlformats.org/officeDocument/2006/relationships/slide" Target="slide38.xml"/><Relationship Id="rId12" Type="http://schemas.openxmlformats.org/officeDocument/2006/relationships/slide" Target="slide48.xml"/><Relationship Id="rId13" Type="http://schemas.openxmlformats.org/officeDocument/2006/relationships/slide" Target="slide42.xml"/><Relationship Id="rId14" Type="http://schemas.openxmlformats.org/officeDocument/2006/relationships/slide" Target="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7.xml"/><Relationship Id="rId6" Type="http://schemas.openxmlformats.org/officeDocument/2006/relationships/slide" Target="slide3.xml"/><Relationship Id="rId7" Type="http://schemas.openxmlformats.org/officeDocument/2006/relationships/slide" Target="slide46.xml"/><Relationship Id="rId8" Type="http://schemas.openxmlformats.org/officeDocument/2006/relationships/slide" Target="slide42.xml"/><Relationship Id="rId9" Type="http://schemas.openxmlformats.org/officeDocument/2006/relationships/slide" Target="slide43.xml"/><Relationship Id="rId10" Type="http://schemas.openxmlformats.org/officeDocument/2006/relationships/slide" Target="slide48.xml"/><Relationship Id="rId11" Type="http://schemas.openxmlformats.org/officeDocument/2006/relationships/slide" Target="slide4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8.xml"/><Relationship Id="rId6" Type="http://schemas.openxmlformats.org/officeDocument/2006/relationships/slide" Target="slide3.xml"/><Relationship Id="rId7" Type="http://schemas.openxmlformats.org/officeDocument/2006/relationships/slide" Target="slide35.xml"/><Relationship Id="rId8" Type="http://schemas.openxmlformats.org/officeDocument/2006/relationships/slide" Target="slide43.xml"/><Relationship Id="rId9" Type="http://schemas.openxmlformats.org/officeDocument/2006/relationships/slide" Target="slide6.xml"/><Relationship Id="rId10" Type="http://schemas.openxmlformats.org/officeDocument/2006/relationships/slide" Target="slide46.xml"/><Relationship Id="rId11" Type="http://schemas.openxmlformats.org/officeDocument/2006/relationships/slide" Target="slide38.xml"/><Relationship Id="rId12" Type="http://schemas.openxmlformats.org/officeDocument/2006/relationships/slide" Target="slide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3.png"/><Relationship Id="rId6" Type="http://schemas.openxmlformats.org/officeDocument/2006/relationships/notesSlide" Target="../notesSlides/notesSlide39.xml"/><Relationship Id="rId7" Type="http://schemas.openxmlformats.org/officeDocument/2006/relationships/slide" Target="slide3.xml"/><Relationship Id="rId8" Type="http://schemas.openxmlformats.org/officeDocument/2006/relationships/slide" Target="slide45.xml"/><Relationship Id="rId9" Type="http://schemas.openxmlformats.org/officeDocument/2006/relationships/slide" Target="slide44.xml"/><Relationship Id="rId10" Type="http://schemas.openxmlformats.org/officeDocument/2006/relationships/slide" Target="slide48.xml"/><Relationship Id="rId11" Type="http://schemas.openxmlformats.org/officeDocument/2006/relationships/slide" Target="slide9.xml"/><Relationship Id="rId12" Type="http://schemas.openxmlformats.org/officeDocument/2006/relationships/slide" Target="slide2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0.xml"/><Relationship Id="rId6" Type="http://schemas.openxmlformats.org/officeDocument/2006/relationships/slide" Target="slide3.xml"/><Relationship Id="rId7" Type="http://schemas.openxmlformats.org/officeDocument/2006/relationships/slide" Target="slide24.xml"/><Relationship Id="rId8" Type="http://schemas.openxmlformats.org/officeDocument/2006/relationships/slide" Target="slide45.xml"/><Relationship Id="rId9" Type="http://schemas.openxmlformats.org/officeDocument/2006/relationships/slide" Target="slide10.xml"/><Relationship Id="rId10" Type="http://schemas.openxmlformats.org/officeDocument/2006/relationships/slide" Target="slide48.xml"/><Relationship Id="rId11" Type="http://schemas.openxmlformats.org/officeDocument/2006/relationships/slide" Target="slide40.xml"/><Relationship Id="rId12" Type="http://schemas.openxmlformats.org/officeDocument/2006/relationships/slide" Target="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1.xml"/><Relationship Id="rId6" Type="http://schemas.openxmlformats.org/officeDocument/2006/relationships/slide" Target="slide3.xml"/><Relationship Id="rId7" Type="http://schemas.openxmlformats.org/officeDocument/2006/relationships/slide" Target="slide24.xml"/><Relationship Id="rId8" Type="http://schemas.openxmlformats.org/officeDocument/2006/relationships/slide" Target="slide46.xml"/><Relationship Id="rId9" Type="http://schemas.openxmlformats.org/officeDocument/2006/relationships/slide" Target="slide48.xml"/><Relationship Id="rId10" Type="http://schemas.openxmlformats.org/officeDocument/2006/relationships/slide" Target="slide9.xml"/><Relationship Id="rId11" Type="http://schemas.openxmlformats.org/officeDocument/2006/relationships/slide" Target="slide28.xml"/><Relationship Id="rId12" Type="http://schemas.openxmlformats.org/officeDocument/2006/relationships/slide" Target="slide4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4.png"/><Relationship Id="rId6" Type="http://schemas.openxmlformats.org/officeDocument/2006/relationships/notesSlide" Target="../notesSlides/notesSlide42.xml"/><Relationship Id="rId7" Type="http://schemas.openxmlformats.org/officeDocument/2006/relationships/slide" Target="slide3.xml"/><Relationship Id="rId8" Type="http://schemas.openxmlformats.org/officeDocument/2006/relationships/slide" Target="slide45.xml"/><Relationship Id="rId9" Type="http://schemas.openxmlformats.org/officeDocument/2006/relationships/slide" Target="slide47.xml"/><Relationship Id="rId10" Type="http://schemas.openxmlformats.org/officeDocument/2006/relationships/slide" Target="slide46.xml"/><Relationship Id="rId11" Type="http://schemas.openxmlformats.org/officeDocument/2006/relationships/slide" Target="slide48.xml"/><Relationship Id="rId12" Type="http://schemas.openxmlformats.org/officeDocument/2006/relationships/slide" Target="slide42.xml"/><Relationship Id="rId13" Type="http://schemas.openxmlformats.org/officeDocument/2006/relationships/slide" Target="slide4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3.xml"/><Relationship Id="rId6" Type="http://schemas.openxmlformats.org/officeDocument/2006/relationships/slide" Target="slide3.xml"/><Relationship Id="rId7" Type="http://schemas.openxmlformats.org/officeDocument/2006/relationships/slide" Target="slide8.xml"/><Relationship Id="rId8" Type="http://schemas.openxmlformats.org/officeDocument/2006/relationships/slide" Target="slide48.xml"/><Relationship Id="rId9" Type="http://schemas.openxmlformats.org/officeDocument/2006/relationships/slide" Target="slide29.xml"/><Relationship Id="rId10" Type="http://schemas.openxmlformats.org/officeDocument/2006/relationships/slide" Target="slide46.xml"/><Relationship Id="rId11" Type="http://schemas.openxmlformats.org/officeDocument/2006/relationships/slide" Target="slide44.xml"/><Relationship Id="rId12" Type="http://schemas.openxmlformats.org/officeDocument/2006/relationships/slide" Target="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5.png"/><Relationship Id="rId6" Type="http://schemas.openxmlformats.org/officeDocument/2006/relationships/notesSlide" Target="../notesSlides/notesSlide44.xml"/><Relationship Id="rId7" Type="http://schemas.openxmlformats.org/officeDocument/2006/relationships/slide" Target="slide3.xml"/><Relationship Id="rId8" Type="http://schemas.openxmlformats.org/officeDocument/2006/relationships/slide" Target="slide9.xml"/><Relationship Id="rId9" Type="http://schemas.openxmlformats.org/officeDocument/2006/relationships/slide" Target="slide49.xml"/><Relationship Id="rId10" Type="http://schemas.openxmlformats.org/officeDocument/2006/relationships/slide" Target="slide12.xml"/><Relationship Id="rId11" Type="http://schemas.openxmlformats.org/officeDocument/2006/relationships/slide" Target="slide15.xml"/><Relationship Id="rId12" Type="http://schemas.openxmlformats.org/officeDocument/2006/relationships/slide" Target="slide48.xml"/><Relationship Id="rId13" Type="http://schemas.openxmlformats.org/officeDocument/2006/relationships/slide" Target="slide5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6.png"/><Relationship Id="rId6" Type="http://schemas.openxmlformats.org/officeDocument/2006/relationships/notesSlide" Target="../notesSlides/notesSlide45.xml"/><Relationship Id="rId7" Type="http://schemas.openxmlformats.org/officeDocument/2006/relationships/slide" Target="slide3.xml"/><Relationship Id="rId8" Type="http://schemas.openxmlformats.org/officeDocument/2006/relationships/slide" Target="slide46.xml"/><Relationship Id="rId9" Type="http://schemas.openxmlformats.org/officeDocument/2006/relationships/slide" Target="slide50.xml"/><Relationship Id="rId10" Type="http://schemas.openxmlformats.org/officeDocument/2006/relationships/slide" Target="slide10.xml"/><Relationship Id="rId11" Type="http://schemas.openxmlformats.org/officeDocument/2006/relationships/slide" Target="slide48.xml"/><Relationship Id="rId12" Type="http://schemas.openxmlformats.org/officeDocument/2006/relationships/slide" Target="slide45.xml"/><Relationship Id="rId13" Type="http://schemas.openxmlformats.org/officeDocument/2006/relationships/slide" Target="slide3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7.png"/><Relationship Id="rId6" Type="http://schemas.openxmlformats.org/officeDocument/2006/relationships/notesSlide" Target="../notesSlides/notesSlide46.xml"/><Relationship Id="rId7" Type="http://schemas.openxmlformats.org/officeDocument/2006/relationships/slide" Target="slide3.xml"/><Relationship Id="rId8" Type="http://schemas.openxmlformats.org/officeDocument/2006/relationships/slide" Target="slide48.xml"/><Relationship Id="rId9" Type="http://schemas.openxmlformats.org/officeDocument/2006/relationships/slide" Target="slide51.xml"/><Relationship Id="rId10" Type="http://schemas.openxmlformats.org/officeDocument/2006/relationships/slide" Target="slide10.xml"/><Relationship Id="rId11" Type="http://schemas.openxmlformats.org/officeDocument/2006/relationships/slide" Target="slide50.xml"/><Relationship Id="rId12" Type="http://schemas.openxmlformats.org/officeDocument/2006/relationships/slide" Target="slide11.xml"/><Relationship Id="rId13" Type="http://schemas.openxmlformats.org/officeDocument/2006/relationships/slide" Target="slide4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8.png"/><Relationship Id="rId6" Type="http://schemas.openxmlformats.org/officeDocument/2006/relationships/notesSlide" Target="../notesSlides/notesSlide47.xml"/><Relationship Id="rId7" Type="http://schemas.openxmlformats.org/officeDocument/2006/relationships/slide" Target="slide3.xml"/><Relationship Id="rId8" Type="http://schemas.openxmlformats.org/officeDocument/2006/relationships/slide" Target="slide46.xml"/><Relationship Id="rId9" Type="http://schemas.openxmlformats.org/officeDocument/2006/relationships/slide" Target="slide52.xml"/><Relationship Id="rId10" Type="http://schemas.openxmlformats.org/officeDocument/2006/relationships/slide" Target="slide50.xml"/><Relationship Id="rId11" Type="http://schemas.openxmlformats.org/officeDocument/2006/relationships/slide" Target="slide15.xml"/><Relationship Id="rId12" Type="http://schemas.openxmlformats.org/officeDocument/2006/relationships/slide" Target="slide45.xml"/><Relationship Id="rId13" Type="http://schemas.openxmlformats.org/officeDocument/2006/relationships/slide" Target="slide10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9.png"/><Relationship Id="rId6" Type="http://schemas.openxmlformats.org/officeDocument/2006/relationships/slide" Target="slide3.xml"/><Relationship Id="rId7" Type="http://schemas.openxmlformats.org/officeDocument/2006/relationships/slide" Target="slide24.xml"/><Relationship Id="rId8" Type="http://schemas.openxmlformats.org/officeDocument/2006/relationships/slide" Target="slide27.xml"/><Relationship Id="rId9" Type="http://schemas.openxmlformats.org/officeDocument/2006/relationships/slide" Target="slide28.xml"/><Relationship Id="rId10" Type="http://schemas.openxmlformats.org/officeDocument/2006/relationships/slide" Target="slide25.xml"/><Relationship Id="rId11" Type="http://schemas.openxmlformats.org/officeDocument/2006/relationships/slide" Target="slide31.xml"/><Relationship Id="rId12" Type="http://schemas.openxmlformats.org/officeDocument/2006/relationships/slide" Target="slide3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Relationship Id="rId6" Type="http://schemas.openxmlformats.org/officeDocument/2006/relationships/slide" Target="slide34.xml"/><Relationship Id="rId7" Type="http://schemas.openxmlformats.org/officeDocument/2006/relationships/slide" Target="slide37.xml"/><Relationship Id="rId8" Type="http://schemas.openxmlformats.org/officeDocument/2006/relationships/slide" Target="slide35.xml"/><Relationship Id="rId9" Type="http://schemas.openxmlformats.org/officeDocument/2006/relationships/slide" Target="slide11.xml"/><Relationship Id="rId10" Type="http://schemas.openxmlformats.org/officeDocument/2006/relationships/slide" Target="slide40.xml"/><Relationship Id="rId11" Type="http://schemas.openxmlformats.org/officeDocument/2006/relationships/slide" Target="slide3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Relationship Id="rId6" Type="http://schemas.openxmlformats.org/officeDocument/2006/relationships/slide" Target="slide49.xml"/><Relationship Id="rId7" Type="http://schemas.openxmlformats.org/officeDocument/2006/relationships/slide" Target="slide12.xml"/><Relationship Id="rId8" Type="http://schemas.openxmlformats.org/officeDocument/2006/relationships/slide" Target="slide38.xml"/><Relationship Id="rId9" Type="http://schemas.openxmlformats.org/officeDocument/2006/relationships/slide" Target="slide13.xml"/><Relationship Id="rId10" Type="http://schemas.openxmlformats.org/officeDocument/2006/relationships/slide" Target="slide11.xml"/><Relationship Id="rId11" Type="http://schemas.openxmlformats.org/officeDocument/2006/relationships/slide" Target="slide4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Relationship Id="rId6" Type="http://schemas.openxmlformats.org/officeDocument/2006/relationships/slide" Target="slide45.xml"/><Relationship Id="rId7" Type="http://schemas.openxmlformats.org/officeDocument/2006/relationships/slide" Target="slide48.xml"/><Relationship Id="rId8" Type="http://schemas.openxmlformats.org/officeDocument/2006/relationships/slide" Target="slide44.xml"/><Relationship Id="rId9" Type="http://schemas.openxmlformats.org/officeDocument/2006/relationships/slide" Target="slide46.xml"/><Relationship Id="rId10" Type="http://schemas.openxmlformats.org/officeDocument/2006/relationships/slide" Target="slide28.xml"/><Relationship Id="rId11" Type="http://schemas.openxmlformats.org/officeDocument/2006/relationships/slide" Target="slide4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0.png"/><Relationship Id="rId6" Type="http://schemas.openxmlformats.org/officeDocument/2006/relationships/notesSlide" Target="../notesSlides/notesSlide48.xml"/><Relationship Id="rId7" Type="http://schemas.openxmlformats.org/officeDocument/2006/relationships/slide" Target="slide3.xml"/><Relationship Id="rId8" Type="http://schemas.openxmlformats.org/officeDocument/2006/relationships/slide" Target="slide46.xml"/><Relationship Id="rId9" Type="http://schemas.openxmlformats.org/officeDocument/2006/relationships/slide" Target="slide57.xml"/><Relationship Id="rId10" Type="http://schemas.openxmlformats.org/officeDocument/2006/relationships/slide" Target="slide58.xml"/><Relationship Id="rId11" Type="http://schemas.openxmlformats.org/officeDocument/2006/relationships/slide" Target="slide48.xml"/><Relationship Id="rId12" Type="http://schemas.openxmlformats.org/officeDocument/2006/relationships/slide" Target="slide60.xml"/><Relationship Id="rId13" Type="http://schemas.openxmlformats.org/officeDocument/2006/relationships/slide" Target="slide6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notesSlide" Target="../notesSlides/notesSlide49.xml"/><Relationship Id="rId8" Type="http://schemas.openxmlformats.org/officeDocument/2006/relationships/slide" Target="slide3.xml"/><Relationship Id="rId9" Type="http://schemas.openxmlformats.org/officeDocument/2006/relationships/slide" Target="slide57.xml"/><Relationship Id="rId10" Type="http://schemas.openxmlformats.org/officeDocument/2006/relationships/slide" Target="slide58.xml"/><Relationship Id="rId11" Type="http://schemas.openxmlformats.org/officeDocument/2006/relationships/slide" Target="slide60.xml"/><Relationship Id="rId12" Type="http://schemas.openxmlformats.org/officeDocument/2006/relationships/slide" Target="slide48.xml"/><Relationship Id="rId13" Type="http://schemas.openxmlformats.org/officeDocument/2006/relationships/slide" Target="slide59.xml"/><Relationship Id="rId14" Type="http://schemas.openxmlformats.org/officeDocument/2006/relationships/slide" Target="slide6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3.png"/><Relationship Id="rId6" Type="http://schemas.openxmlformats.org/officeDocument/2006/relationships/notesSlide" Target="../notesSlides/notesSlide50.xml"/><Relationship Id="rId7" Type="http://schemas.openxmlformats.org/officeDocument/2006/relationships/slide" Target="slide3.xml"/><Relationship Id="rId8" Type="http://schemas.openxmlformats.org/officeDocument/2006/relationships/slide" Target="slide28.xml"/><Relationship Id="rId9" Type="http://schemas.openxmlformats.org/officeDocument/2006/relationships/slide" Target="slide59.xml"/><Relationship Id="rId10" Type="http://schemas.openxmlformats.org/officeDocument/2006/relationships/slide" Target="slide57.xml"/><Relationship Id="rId11" Type="http://schemas.openxmlformats.org/officeDocument/2006/relationships/slide" Target="slide48.xml"/><Relationship Id="rId12" Type="http://schemas.openxmlformats.org/officeDocument/2006/relationships/slide" Target="slide47.xml"/><Relationship Id="rId13" Type="http://schemas.openxmlformats.org/officeDocument/2006/relationships/slide" Target="slide4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4.png"/><Relationship Id="rId6" Type="http://schemas.openxmlformats.org/officeDocument/2006/relationships/notesSlide" Target="../notesSlides/notesSlide51.xml"/><Relationship Id="rId7" Type="http://schemas.openxmlformats.org/officeDocument/2006/relationships/slide" Target="slide3.xml"/><Relationship Id="rId8" Type="http://schemas.openxmlformats.org/officeDocument/2006/relationships/slide" Target="slide58.xml"/><Relationship Id="rId9" Type="http://schemas.openxmlformats.org/officeDocument/2006/relationships/slide" Target="slide60.xml"/><Relationship Id="rId10" Type="http://schemas.openxmlformats.org/officeDocument/2006/relationships/slide" Target="slide61.xml"/><Relationship Id="rId11" Type="http://schemas.openxmlformats.org/officeDocument/2006/relationships/slide" Target="slide48.xml"/><Relationship Id="rId12" Type="http://schemas.openxmlformats.org/officeDocument/2006/relationships/slide" Target="slide4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5.png"/><Relationship Id="rId6" Type="http://schemas.openxmlformats.org/officeDocument/2006/relationships/notesSlide" Target="../notesSlides/notesSlide52.xml"/><Relationship Id="rId7" Type="http://schemas.openxmlformats.org/officeDocument/2006/relationships/slide" Target="slide3.xml"/><Relationship Id="rId8" Type="http://schemas.openxmlformats.org/officeDocument/2006/relationships/slide" Target="slide60.xml"/><Relationship Id="rId9" Type="http://schemas.openxmlformats.org/officeDocument/2006/relationships/slide" Target="slide61.xml"/><Relationship Id="rId10" Type="http://schemas.openxmlformats.org/officeDocument/2006/relationships/slide" Target="slide46.xml"/><Relationship Id="rId11" Type="http://schemas.openxmlformats.org/officeDocument/2006/relationships/slide" Target="slide48.xml"/><Relationship Id="rId12" Type="http://schemas.openxmlformats.org/officeDocument/2006/relationships/slide" Target="slide45.xml"/><Relationship Id="rId13" Type="http://schemas.openxmlformats.org/officeDocument/2006/relationships/slide" Target="slide4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6.png"/><Relationship Id="rId6" Type="http://schemas.openxmlformats.org/officeDocument/2006/relationships/slide" Target="slide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slide" Target="slide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" Target="slide9.xml"/><Relationship Id="rId10" Type="http://schemas.openxmlformats.org/officeDocument/2006/relationships/slide" Target="slide10.xml"/><Relationship Id="rId11" Type="http://schemas.openxmlformats.org/officeDocument/2006/relationships/slide" Target="slide11.xml"/><Relationship Id="rId12" Type="http://schemas.openxmlformats.org/officeDocument/2006/relationships/slide" Target="slide12.xml"/><Relationship Id="rId13" Type="http://schemas.openxmlformats.org/officeDocument/2006/relationships/slide" Target="slide13.xml"/><Relationship Id="rId14" Type="http://schemas.openxmlformats.org/officeDocument/2006/relationships/slide" Target="slide14.xml"/><Relationship Id="rId15" Type="http://schemas.openxmlformats.org/officeDocument/2006/relationships/slide" Target="slide15.xml"/><Relationship Id="rId16" Type="http://schemas.openxmlformats.org/officeDocument/2006/relationships/slide" Target="slide16.xml"/><Relationship Id="rId17" Type="http://schemas.openxmlformats.org/officeDocument/2006/relationships/slide" Target="slide17.xml"/><Relationship Id="rId18" Type="http://schemas.openxmlformats.org/officeDocument/2006/relationships/slide" Target="slide18.xml"/><Relationship Id="rId19" Type="http://schemas.openxmlformats.org/officeDocument/2006/relationships/slide" Target="slide19.xml"/><Relationship Id="rId20" Type="http://schemas.openxmlformats.org/officeDocument/2006/relationships/slide" Target="slide20.xml"/><Relationship Id="rId21" Type="http://schemas.openxmlformats.org/officeDocument/2006/relationships/slide" Target="slide21.xml"/><Relationship Id="rId22" Type="http://schemas.openxmlformats.org/officeDocument/2006/relationships/slide" Target="slide22.xml"/><Relationship Id="rId23" Type="http://schemas.openxmlformats.org/officeDocument/2006/relationships/slide" Target="slide23.xml"/><Relationship Id="rId24" Type="http://schemas.openxmlformats.org/officeDocument/2006/relationships/slide" Target="slide24.xml"/><Relationship Id="rId25" Type="http://schemas.openxmlformats.org/officeDocument/2006/relationships/slide" Target="slide25.xml"/><Relationship Id="rId26" Type="http://schemas.openxmlformats.org/officeDocument/2006/relationships/slide" Target="slide26.xml"/><Relationship Id="rId27" Type="http://schemas.openxmlformats.org/officeDocument/2006/relationships/slide" Target="slide27.xml"/><Relationship Id="rId28" Type="http://schemas.openxmlformats.org/officeDocument/2006/relationships/slide" Target="slide28.xml"/><Relationship Id="rId29" Type="http://schemas.openxmlformats.org/officeDocument/2006/relationships/slide" Target="slide29.xml"/><Relationship Id="rId30" Type="http://schemas.openxmlformats.org/officeDocument/2006/relationships/slide" Target="slide30.xml"/><Relationship Id="rId31" Type="http://schemas.openxmlformats.org/officeDocument/2006/relationships/slide" Target="slide3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Relationship Id="rId6" Type="http://schemas.openxmlformats.org/officeDocument/2006/relationships/slide" Target="slide32.xml"/><Relationship Id="rId7" Type="http://schemas.openxmlformats.org/officeDocument/2006/relationships/slide" Target="slide33.xml"/><Relationship Id="rId8" Type="http://schemas.openxmlformats.org/officeDocument/2006/relationships/slide" Target="slide34.xml"/><Relationship Id="rId9" Type="http://schemas.openxmlformats.org/officeDocument/2006/relationships/slide" Target="slide35.xml"/><Relationship Id="rId10" Type="http://schemas.openxmlformats.org/officeDocument/2006/relationships/slide" Target="slide36.xml"/><Relationship Id="rId11" Type="http://schemas.openxmlformats.org/officeDocument/2006/relationships/slide" Target="slide37.xml"/><Relationship Id="rId12" Type="http://schemas.openxmlformats.org/officeDocument/2006/relationships/slide" Target="slide38.xml"/><Relationship Id="rId13" Type="http://schemas.openxmlformats.org/officeDocument/2006/relationships/slide" Target="slide39.xml"/><Relationship Id="rId14" Type="http://schemas.openxmlformats.org/officeDocument/2006/relationships/slide" Target="slide40.xml"/><Relationship Id="rId15" Type="http://schemas.openxmlformats.org/officeDocument/2006/relationships/slide" Target="slide41.xml"/><Relationship Id="rId16" Type="http://schemas.openxmlformats.org/officeDocument/2006/relationships/slide" Target="slide42.xml"/><Relationship Id="rId17" Type="http://schemas.openxmlformats.org/officeDocument/2006/relationships/slide" Target="slide43.xml"/><Relationship Id="rId18" Type="http://schemas.openxmlformats.org/officeDocument/2006/relationships/slide" Target="slide44.xml"/><Relationship Id="rId19" Type="http://schemas.openxmlformats.org/officeDocument/2006/relationships/slide" Target="slide45.xml"/><Relationship Id="rId20" Type="http://schemas.openxmlformats.org/officeDocument/2006/relationships/slide" Target="slide46.xml"/><Relationship Id="rId21" Type="http://schemas.openxmlformats.org/officeDocument/2006/relationships/slide" Target="slide47.xml"/><Relationship Id="rId22" Type="http://schemas.openxmlformats.org/officeDocument/2006/relationships/slide" Target="slide48.xml"/><Relationship Id="rId23" Type="http://schemas.openxmlformats.org/officeDocument/2006/relationships/slide" Target="slide49.xml"/><Relationship Id="rId24" Type="http://schemas.openxmlformats.org/officeDocument/2006/relationships/slide" Target="slide50.xml"/><Relationship Id="rId25" Type="http://schemas.openxmlformats.org/officeDocument/2006/relationships/slide" Target="slide51.xml"/><Relationship Id="rId26" Type="http://schemas.openxmlformats.org/officeDocument/2006/relationships/slide" Target="slide52.xml"/><Relationship Id="rId27" Type="http://schemas.openxmlformats.org/officeDocument/2006/relationships/slide" Target="slide57.xml"/><Relationship Id="rId28" Type="http://schemas.openxmlformats.org/officeDocument/2006/relationships/slide" Target="slide58.xml"/><Relationship Id="rId29" Type="http://schemas.openxmlformats.org/officeDocument/2006/relationships/slide" Target="slide59.xml"/><Relationship Id="rId30" Type="http://schemas.openxmlformats.org/officeDocument/2006/relationships/slide" Target="slide60.xml"/><Relationship Id="rId31" Type="http://schemas.openxmlformats.org/officeDocument/2006/relationships/slide" Target="slide6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PLATFORM VISION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MRM: faith, learning and care, connected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digital platform for all Muslims, with dedicated support for reverts and people who need assistance.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 / 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23160"/>
            <a:ext cx="9144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E8C578"/>
                </a:solidFill>
                <a:latin typeface="DejaVu Sans"/>
              </a:defRPr>
            </a:pPr>
            <a:r>
              <a:t>Bismillahirrahmanirrahim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99232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500" b="1">
                <a:solidFill>
                  <a:srgbClr val="F7F9FF"/>
                </a:solidFill>
                <a:latin typeface="DejaVu Sans"/>
              </a:defRPr>
            </a:pPr>
            <a:r>
              <a:t>Every feature should make</a:t>
            </a:r>
          </a:p>
          <a:p>
            <a:pPr algn="l">
              <a:spcAft>
                <a:spcPts val="200"/>
              </a:spcAft>
              <a:defRPr sz="3500" b="1">
                <a:solidFill>
                  <a:srgbClr val="F7F9FF"/>
                </a:solidFill>
                <a:latin typeface="DejaVu Sans"/>
              </a:defRPr>
            </a:pPr>
            <a:r>
              <a:t>the next experience better.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736592"/>
            <a:ext cx="98755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000" b="0">
                <a:solidFill>
                  <a:srgbClr val="BBC8DF"/>
                </a:solidFill>
                <a:latin typeface="DejaVu Sans"/>
              </a:defRPr>
            </a:pPr>
            <a:r>
              <a:t>Daily practice opens the door. Trusted learning builds participation.</a:t>
            </a:r>
          </a:p>
          <a:p>
            <a:pPr algn="l">
              <a:spcAft>
                <a:spcPts val="200"/>
              </a:spcAft>
              <a:defRPr sz="2000" b="0">
                <a:solidFill>
                  <a:srgbClr val="BBC8DF"/>
                </a:solidFill>
                <a:latin typeface="DejaVu Sans"/>
              </a:defRPr>
            </a:pPr>
            <a:r>
              <a:t>Connected service turns a need into accountable care.</a:t>
            </a:r>
          </a:p>
        </p:txBody>
      </p:sp>
      <p:pic>
        <p:nvPicPr>
          <p:cNvPr id="17" name="Picture 16" descr="48-home_dark_mode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5720" y="2423160"/>
            <a:ext cx="2130278" cy="4343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420856" y="6839712"/>
            <a:ext cx="2240005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48 · Admin Home · dark-theme state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989320"/>
            <a:ext cx="4773168" cy="420624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E8C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094476"/>
            <a:ext cx="44988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E8C578"/>
                </a:solidFill>
                <a:latin typeface="DejaVu Sans"/>
              </a:defRPr>
            </a:pPr>
            <a:r>
              <a:t>FAITH  /  Useful every day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0" y="5989320"/>
            <a:ext cx="4773168" cy="420624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C2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6094476"/>
            <a:ext cx="44988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C2A3FF"/>
                </a:solidFill>
                <a:latin typeface="DejaVu Sans"/>
              </a:defRPr>
            </a:pPr>
            <a:r>
              <a:t>LEARNING  /  Approved knowledge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6528816"/>
            <a:ext cx="4773168" cy="420624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8DD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6633972"/>
            <a:ext cx="44988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8DD8B1"/>
                </a:solidFill>
                <a:latin typeface="DejaVu Sans"/>
              </a:defRPr>
            </a:pPr>
            <a:r>
              <a:t>CARE  /  Responsible follow-up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6528816"/>
            <a:ext cx="4773168" cy="420624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0" y="6633972"/>
            <a:ext cx="44988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OPERATIONS  /  A service MRM can run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7132320"/>
            <a:ext cx="1005840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7191756"/>
            <a:ext cx="980236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A connected specification, supported by audited MVP visuals and explicit feature relationships.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WHY THIS PLATFORM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The value comes from the connections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The proposal creates an operating service across mobile apps, a public website, administration and shared backend.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68880"/>
            <a:ext cx="6537960" cy="1947672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615184"/>
            <a:ext cx="32004" cy="1655063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651760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Useful every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355848"/>
            <a:ext cx="6135624" cy="9692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Prayer, Quran and daily guidance give Muslims reasons to return beyond a one-off request.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2468880"/>
            <a:ext cx="6537960" cy="1947672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70648" y="2615184"/>
            <a:ext cx="32004" cy="1655063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3528" y="2651760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Trusted participation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8" y="3355848"/>
            <a:ext cx="6135624" cy="9692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Reviewed teachers, verified volunteers and controlled publication make the next action clearer.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45152"/>
            <a:ext cx="6537960" cy="1947672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791456"/>
            <a:ext cx="32004" cy="1655063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4828032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Accountable care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5532120"/>
            <a:ext cx="6135624" cy="9692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 request leads to triage, a confirmed assignment, follow-up and an auditable outcome.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4645152"/>
            <a:ext cx="6537960" cy="1947672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70648" y="4791456"/>
            <a:ext cx="32004" cy="1655063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53528" y="4828032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Sustainable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3528" y="5532120"/>
            <a:ext cx="6135624" cy="9692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Teacher entitlements and sponsor placements support revenue without gating core assistance.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Success should be measured through real participation, reliable service completion and MRM’s operational capacity.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NAVIGATION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A presentation you can explore by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Start with the overall network, then follow a feature into its detailed dependencies, users and value.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 / 72</a:t>
            </a:r>
          </a:p>
        </p:txBody>
      </p:sp>
      <p:sp>
        <p:nvSpPr>
          <p:cNvPr id="14" name="Rounded Rectangle 13">
            <a:hlinkClick action="ppaction://hlinksldjump" r:id="rId6"/>
          </p:cNvPr>
          <p:cNvSpPr/>
          <p:nvPr/>
        </p:nvSpPr>
        <p:spPr>
          <a:xfrm>
            <a:off x="640080" y="2423160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569464"/>
            <a:ext cx="32004" cy="1664208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>
            <a:hlinkClick action="ppaction://hlinksldjump" r:id="rId6"/>
          </p:cNvPr>
          <p:cNvSpPr txBox="1"/>
          <p:nvPr/>
        </p:nvSpPr>
        <p:spPr>
          <a:xfrm>
            <a:off x="841247" y="260604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01  Overall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310128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Page 05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The principal cross-feature paths.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5157216" y="2423160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75504" y="2569464"/>
            <a:ext cx="32004" cy="1664208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5358384" y="260604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02  Individual feature maps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310128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Pages 06–52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47 primary capability networks and their importance.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9674352" y="2423160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92640" y="2569464"/>
            <a:ext cx="32004" cy="1664208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9875520" y="260604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03  End-to-end journeys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3310128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Pages 53–56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Care, learning, daily use and event delivery.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640080" y="4581144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727448"/>
            <a:ext cx="32004" cy="1664208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841247" y="4764024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04  Extended concepts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5468112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Pages 57–61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Five financial / impact concepts, clearly qualified.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5157216" y="4581144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75504" y="4727448"/>
            <a:ext cx="32004" cy="1664208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5358384" y="4764024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05  Delivery &amp; acceptance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58384" y="5468112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Pages 62–65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Sequencing, ownership, checks and decisions.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9674352" y="4581144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92640" y="4727448"/>
            <a:ext cx="32004" cy="1664208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9875520" y="4764024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67" b="1">
                <a:solidFill>
                  <a:srgbClr val="F7F9FF"/>
                </a:solidFill>
                <a:latin typeface="DejaVu Sans"/>
              </a:defRPr>
            </a:pPr>
            <a:r>
              <a:t>06  Evidence &amp; connection index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5468112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Pages 66–72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Source review, traceability and next steps.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Feature nodes and index entries are clickable in PowerPoint and PDF. Every footer returns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AUDIENCE &amp; VALUE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98" b="1">
                <a:solidFill>
                  <a:srgbClr val="F7F9FF"/>
                </a:solidFill>
                <a:latin typeface="DejaVu Sans"/>
              </a:defRPr>
            </a:pPr>
            <a:r>
              <a:t>All Muslims can benefit; specialised support stays focused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Different journeys share an identity foundation while keeping permissions and personal information separate.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 / 72</a:t>
            </a:r>
          </a:p>
        </p:txBody>
      </p:sp>
      <p:sp>
        <p:nvSpPr>
          <p:cNvPr id="14" name="Rounded Rectangle 13">
            <a:hlinkClick action="ppaction://hlinksldjump" r:id="rId6"/>
          </p:cNvPr>
          <p:cNvSpPr/>
          <p:nvPr/>
        </p:nvSpPr>
        <p:spPr>
          <a:xfrm>
            <a:off x="640080" y="2423160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569464"/>
            <a:ext cx="32004" cy="1664208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>
            <a:hlinkClick action="ppaction://hlinksldjump" r:id="rId6"/>
          </p:cNvPr>
          <p:cNvSpPr txBox="1"/>
          <p:nvPr/>
        </p:nvSpPr>
        <p:spPr>
          <a:xfrm>
            <a:off x="841247" y="260604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Everyday Muslim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310128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Daily tools, approved resources and programme discovery.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5157216" y="2423160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75504" y="2569464"/>
            <a:ext cx="32004" cy="1664208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5358384" y="260604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Members / support seekers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310128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Safe requests, personal updates and relevant guidance.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9674352" y="2423160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92640" y="2569464"/>
            <a:ext cx="32004" cy="1664208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9875520" y="260604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Volunteers / applicants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3310128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 defined approval route and suitable service opportunities.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640080" y="4581144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727448"/>
            <a:ext cx="32004" cy="1664208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841247" y="4764024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Teachers / mentors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5468112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Approved teaching and explicit publishing entitlements.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5157216" y="4581144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75504" y="4727448"/>
            <a:ext cx="32004" cy="1664208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5358384" y="4764024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MRM staff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58384" y="5468112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Duty-based queues, decisions, oversight and controlled reports.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9674352" y="4581144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92640" y="4727448"/>
            <a:ext cx="32004" cy="1664208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9875520" y="4764024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Partners / sponsors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5468112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Approved referral coordination and accountable recognition.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A role is not a paywall. Paying, earning rank or choosing a demo persona does not create staff privileges.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 flipH="1">
            <a:off x="13990320" y="6227064"/>
            <a:ext cx="24688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4237208" y="3008376"/>
            <a:ext cx="0" cy="3218688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3990320" y="3008376"/>
            <a:ext cx="24688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2595860" y="5138928"/>
            <a:ext cx="0" cy="56692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34539" y="3529584"/>
            <a:ext cx="0" cy="56692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469880" y="6227064"/>
            <a:ext cx="73152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949440" y="6227064"/>
            <a:ext cx="73152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429000" y="6227064"/>
            <a:ext cx="73152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469880" y="4617720"/>
            <a:ext cx="73152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949440" y="4617720"/>
            <a:ext cx="73152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429000" y="4617720"/>
            <a:ext cx="73152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469880" y="3008376"/>
            <a:ext cx="73152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949440" y="3008376"/>
            <a:ext cx="73152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429000" y="3008376"/>
            <a:ext cx="73152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OVERALL 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The overall network: features hand off real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Identity, publishing and participation converge through permission checks, accountable records and relevant updates.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05 / 72</a:t>
            </a:r>
          </a:p>
        </p:txBody>
      </p:sp>
      <p:sp>
        <p:nvSpPr>
          <p:cNvPr id="14" name="Rounded Rectangle 13">
            <a:hlinkClick action="ppaction://hlinksldjump" r:id="rId6"/>
          </p:cNvPr>
          <p:cNvSpPr/>
          <p:nvPr/>
        </p:nvSpPr>
        <p:spPr>
          <a:xfrm>
            <a:off x="640080" y="2487168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606040"/>
            <a:ext cx="32004" cy="804671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>
            <a:hlinkClick action="ppaction://hlinksldjump" r:id="rId6"/>
          </p:cNvPr>
          <p:cNvSpPr txBox="1"/>
          <p:nvPr/>
        </p:nvSpPr>
        <p:spPr>
          <a:xfrm>
            <a:off x="804671" y="2633472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54" b="1">
                <a:solidFill>
                  <a:srgbClr val="F7F9FF"/>
                </a:solidFill>
                <a:latin typeface="DejaVu Sans"/>
              </a:defRPr>
            </a:pPr>
            <a:r>
              <a:t>Identity &amp; verified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3090672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Account, approval and visibility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4160520" y="2487168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78807" y="2606040"/>
            <a:ext cx="32004" cy="804671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4325112" y="2633472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Request &amp; matching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3090672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Triage and eligible volunteer offer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7680960" y="2487168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99248" y="2606040"/>
            <a:ext cx="32004" cy="804671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845552" y="2633472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33" b="1">
                <a:solidFill>
                  <a:srgbClr val="F7F9FF"/>
                </a:solidFill>
                <a:latin typeface="DejaVu Sans"/>
              </a:defRPr>
            </a:pPr>
            <a:r>
              <a:t>Confirmed assignment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2" y="3090672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Permitted contact and progress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1201400" y="2487168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219688" y="2606040"/>
            <a:ext cx="32004" cy="804671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11365992" y="2633472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Case / service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5992" y="3090672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Outcome, closure and follow-up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640080" y="4096512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215384"/>
            <a:ext cx="32004" cy="804671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804671" y="4242816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Approved teacher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1" y="4700016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Credentials and professional role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4160520" y="4096512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78807" y="4215384"/>
            <a:ext cx="32004" cy="804671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4325112" y="4242816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Verified plan rights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5112" y="4700016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Teacher-only publishing privileges</a:t>
            </a:r>
          </a:p>
        </p:txBody>
      </p:sp>
      <p:sp>
        <p:nvSpPr>
          <p:cNvPr id="38" name="Rounded Rectangle 37">
            <a:hlinkClick action="ppaction://hlinksldjump" r:id="rId12"/>
          </p:cNvPr>
          <p:cNvSpPr/>
          <p:nvPr/>
        </p:nvSpPr>
        <p:spPr>
          <a:xfrm>
            <a:off x="7680960" y="4096512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99248" y="4215384"/>
            <a:ext cx="32004" cy="804671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7845552" y="4242816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Moderated publishing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45552" y="4700016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posts and programmes</a:t>
            </a:r>
          </a:p>
        </p:txBody>
      </p:sp>
      <p:sp>
        <p:nvSpPr>
          <p:cNvPr id="42" name="Rounded Rectangle 41">
            <a:hlinkClick action="ppaction://hlinksldjump" r:id="rId13"/>
          </p:cNvPr>
          <p:cNvSpPr/>
          <p:nvPr/>
        </p:nvSpPr>
        <p:spPr>
          <a:xfrm>
            <a:off x="11201400" y="4096512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19688" y="4215384"/>
            <a:ext cx="32004" cy="804671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>
            <a:hlinkClick action="ppaction://hlinksldjump" r:id="rId13"/>
          </p:cNvPr>
          <p:cNvSpPr txBox="1"/>
          <p:nvPr/>
        </p:nvSpPr>
        <p:spPr>
          <a:xfrm>
            <a:off x="11365992" y="4242816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Classes &amp; calendar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65992" y="4700016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Registration, sessions and updates</a:t>
            </a:r>
          </a:p>
        </p:txBody>
      </p:sp>
      <p:sp>
        <p:nvSpPr>
          <p:cNvPr id="46" name="Rounded Rectangle 45">
            <a:hlinkClick action="ppaction://hlinksldjump" r:id="rId14"/>
          </p:cNvPr>
          <p:cNvSpPr/>
          <p:nvPr/>
        </p:nvSpPr>
        <p:spPr>
          <a:xfrm>
            <a:off x="640080" y="5705856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368" y="5824728"/>
            <a:ext cx="32004" cy="804671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>
            <a:hlinkClick action="ppaction://hlinksldjump" r:id="rId14"/>
          </p:cNvPr>
          <p:cNvSpPr txBox="1"/>
          <p:nvPr/>
        </p:nvSpPr>
        <p:spPr>
          <a:xfrm>
            <a:off x="804671" y="5852160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Daily tools / website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1" y="6309360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Relevant public entry points</a:t>
            </a:r>
          </a:p>
        </p:txBody>
      </p:sp>
      <p:sp>
        <p:nvSpPr>
          <p:cNvPr id="50" name="Rounded Rectangle 49">
            <a:hlinkClick action="ppaction://hlinksldjump" r:id="rId15"/>
          </p:cNvPr>
          <p:cNvSpPr/>
          <p:nvPr/>
        </p:nvSpPr>
        <p:spPr>
          <a:xfrm>
            <a:off x="4160520" y="5705856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78807" y="5824728"/>
            <a:ext cx="32004" cy="804671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>
            <a:hlinkClick action="ppaction://hlinksldjump" r:id="rId15"/>
          </p:cNvPr>
          <p:cNvSpPr txBox="1"/>
          <p:nvPr/>
        </p:nvSpPr>
        <p:spPr>
          <a:xfrm>
            <a:off x="4325112" y="5852160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Search &amp; discovery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25112" y="6309360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Find approved content / services</a:t>
            </a:r>
          </a:p>
        </p:txBody>
      </p:sp>
      <p:sp>
        <p:nvSpPr>
          <p:cNvPr id="54" name="Rounded Rectangle 53">
            <a:hlinkClick action="ppaction://hlinksldjump" r:id="rId16"/>
          </p:cNvPr>
          <p:cNvSpPr/>
          <p:nvPr/>
        </p:nvSpPr>
        <p:spPr>
          <a:xfrm>
            <a:off x="7680960" y="5705856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99248" y="5824728"/>
            <a:ext cx="32004" cy="804671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>
            <a:hlinkClick action="ppaction://hlinksldjump" r:id="rId16"/>
          </p:cNvPr>
          <p:cNvSpPr txBox="1"/>
          <p:nvPr/>
        </p:nvSpPr>
        <p:spPr>
          <a:xfrm>
            <a:off x="7845552" y="5852160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Join, apply or request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45552" y="6309360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Take the relevant permitted action</a:t>
            </a:r>
          </a:p>
        </p:txBody>
      </p:sp>
      <p:sp>
        <p:nvSpPr>
          <p:cNvPr id="58" name="Rounded Rectangle 57">
            <a:hlinkClick action="ppaction://hlinksldjump" r:id="rId17"/>
          </p:cNvPr>
          <p:cNvSpPr/>
          <p:nvPr/>
        </p:nvSpPr>
        <p:spPr>
          <a:xfrm>
            <a:off x="11201400" y="5705856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219688" y="5824728"/>
            <a:ext cx="32004" cy="804671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>
            <a:hlinkClick action="ppaction://hlinksldjump" r:id="rId17"/>
          </p:cNvPr>
          <p:cNvSpPr txBox="1"/>
          <p:nvPr/>
        </p:nvSpPr>
        <p:spPr>
          <a:xfrm>
            <a:off x="11365992" y="5852160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Safe alerts &amp; activity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65992" y="6309360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Open the authorised next step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465576" y="2697480"/>
            <a:ext cx="658367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93008" y="273405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gates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986016" y="2697480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013448" y="2734056"/>
            <a:ext cx="603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confirms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506455" y="2697480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533887" y="2734056"/>
            <a:ext cx="603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465576" y="4306824"/>
            <a:ext cx="658367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493008" y="4343400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qualifies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986016" y="4306824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13448" y="4343400"/>
            <a:ext cx="603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permits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506455" y="4306824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533887" y="4343400"/>
            <a:ext cx="603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25" b="1">
                <a:solidFill>
                  <a:srgbClr val="62DAE8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465576" y="5916168"/>
            <a:ext cx="658367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493008" y="5952744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986016" y="5916168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013448" y="5952744"/>
            <a:ext cx="603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finds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506455" y="5916168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533887" y="5952744"/>
            <a:ext cx="603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triggers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705355" y="3694176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732787" y="3730752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binds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2266676" y="5303520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2294108" y="534009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reminds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3908024" y="4498848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3935456" y="4535424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Cross-cutting checks: consent • role / record permissions • content approval • audit • recoverable state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0823448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582912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999476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999476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656576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823448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656576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Welcome people into the right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Clear entry paths turn public interest into learning, participation or a safe request for help.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8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06 / 72</a:t>
            </a:r>
          </a:p>
        </p:txBody>
      </p:sp>
      <p:pic>
        <p:nvPicPr>
          <p:cNvPr id="14" name="Picture 13" descr="02-onboarding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423160"/>
            <a:ext cx="2085430" cy="4251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5215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02 · Onboarding · care pillar</a:t>
            </a:r>
          </a:p>
        </p:txBody>
      </p:sp>
      <p:pic>
        <p:nvPicPr>
          <p:cNvPr id="16" name="Picture 15" descr="03-welcome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2423160"/>
            <a:ext cx="2085430" cy="4251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98064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03 · Welcome and guest entry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75504" y="2240280"/>
            <a:ext cx="8814816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66944" y="2290572"/>
            <a:ext cx="863193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entry screens · proposed routing</a:t>
            </a:r>
          </a:p>
        </p:txBody>
      </p:sp>
      <p:sp>
        <p:nvSpPr>
          <p:cNvPr id="20" name="Rounded Rectangle 19">
            <a:hlinkClick action="ppaction://hlinksldjump" r:id="rId9"/>
          </p:cNvPr>
          <p:cNvSpPr/>
          <p:nvPr/>
        </p:nvSpPr>
        <p:spPr>
          <a:xfrm>
            <a:off x="5175504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93792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9"/>
          </p:cNvPr>
          <p:cNvSpPr txBox="1"/>
          <p:nvPr/>
        </p:nvSpPr>
        <p:spPr>
          <a:xfrm>
            <a:off x="5340096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Public website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Mission, programmes and participation routes</a:t>
            </a:r>
          </a:p>
        </p:txBody>
      </p:sp>
      <p:sp>
        <p:nvSpPr>
          <p:cNvPr id="24" name="Rounded Rectangle 23">
            <a:hlinkClick action="ppaction://hlinksldjump" r:id="rId10"/>
          </p:cNvPr>
          <p:cNvSpPr/>
          <p:nvPr/>
        </p:nvSpPr>
        <p:spPr>
          <a:xfrm>
            <a:off x="8342376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60663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10"/>
          </p:cNvPr>
          <p:cNvSpPr txBox="1"/>
          <p:nvPr/>
        </p:nvSpPr>
        <p:spPr>
          <a:xfrm>
            <a:off x="8506968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14" b="1">
                <a:solidFill>
                  <a:srgbClr val="F7F9FF"/>
                </a:solidFill>
                <a:latin typeface="DejaVu Sans"/>
              </a:defRPr>
            </a:pPr>
            <a:r>
              <a:t>Welcome &amp; onboarding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6968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Explain benefits and entry choices</a:t>
            </a:r>
          </a:p>
        </p:txBody>
      </p:sp>
      <p:sp>
        <p:nvSpPr>
          <p:cNvPr id="28" name="Rounded Rectangle 27">
            <a:hlinkClick action="ppaction://hlinksldjump" r:id="rId11"/>
          </p:cNvPr>
          <p:cNvSpPr/>
          <p:nvPr/>
        </p:nvSpPr>
        <p:spPr>
          <a:xfrm>
            <a:off x="11509248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7535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1"/>
          </p:cNvPr>
          <p:cNvSpPr txBox="1"/>
          <p:nvPr/>
        </p:nvSpPr>
        <p:spPr>
          <a:xfrm>
            <a:off x="11673840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Guest discovery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73840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public tools and resources</a:t>
            </a:r>
          </a:p>
        </p:txBody>
      </p:sp>
      <p:sp>
        <p:nvSpPr>
          <p:cNvPr id="32" name="Rounded Rectangle 31">
            <a:hlinkClick action="ppaction://hlinksldjump" r:id="rId12"/>
          </p:cNvPr>
          <p:cNvSpPr/>
          <p:nvPr/>
        </p:nvSpPr>
        <p:spPr>
          <a:xfrm>
            <a:off x="5175504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93792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2"/>
          </p:cNvPr>
          <p:cNvSpPr txBox="1"/>
          <p:nvPr/>
        </p:nvSpPr>
        <p:spPr>
          <a:xfrm>
            <a:off x="5340096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24" b="1">
                <a:solidFill>
                  <a:srgbClr val="F7F9FF"/>
                </a:solidFill>
                <a:latin typeface="DejaVu Sans"/>
              </a:defRPr>
            </a:pPr>
            <a:r>
              <a:t>Language preference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0096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 approved EN / BM content</a:t>
            </a:r>
          </a:p>
        </p:txBody>
      </p:sp>
      <p:sp>
        <p:nvSpPr>
          <p:cNvPr id="36" name="Rounded Rectangle 35">
            <a:hlinkClick action="ppaction://hlinksldjump" r:id="rId13"/>
          </p:cNvPr>
          <p:cNvSpPr/>
          <p:nvPr/>
        </p:nvSpPr>
        <p:spPr>
          <a:xfrm>
            <a:off x="8342376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60663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3"/>
          </p:cNvPr>
          <p:cNvSpPr txBox="1"/>
          <p:nvPr/>
        </p:nvSpPr>
        <p:spPr>
          <a:xfrm>
            <a:off x="8506968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74" b="1">
                <a:solidFill>
                  <a:srgbClr val="F7F9FF"/>
                </a:solidFill>
                <a:latin typeface="DejaVu Sans"/>
              </a:defRPr>
            </a:pPr>
            <a:r>
              <a:t>Account registration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6968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Create identity for personal services</a:t>
            </a:r>
          </a:p>
        </p:txBody>
      </p:sp>
      <p:sp>
        <p:nvSpPr>
          <p:cNvPr id="40" name="Rounded Rectangle 39">
            <a:hlinkClick action="ppaction://hlinksldjump" r:id="rId14"/>
          </p:cNvPr>
          <p:cNvSpPr/>
          <p:nvPr/>
        </p:nvSpPr>
        <p:spPr>
          <a:xfrm>
            <a:off x="11509248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27535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>
            <a:hlinkClick action="ppaction://hlinksldjump" r:id="rId14"/>
          </p:cNvPr>
          <p:cNvSpPr txBox="1"/>
          <p:nvPr/>
        </p:nvSpPr>
        <p:spPr>
          <a:xfrm>
            <a:off x="11673840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Role application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73840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Choose seeker, volunteer or teacher route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93151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20583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87" b="1">
                <a:solidFill>
                  <a:srgbClr val="62DAE8"/>
                </a:solidFill>
                <a:latin typeface="DejaVu Sans"/>
              </a:defRPr>
            </a:pPr>
            <a:r>
              <a:t>introduces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860023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87455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32548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59980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localises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53728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81160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invites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860023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887455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routes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175504" y="6382512"/>
            <a:ext cx="8814816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40096" y="6473952"/>
            <a:ext cx="848563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40096" y="6647688"/>
            <a:ext cx="848563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Language preference → Welcome &amp; onboarding → Guest discovery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175504" y="7214616"/>
            <a:ext cx="8814816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03520" y="7274052"/>
            <a:ext cx="8558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Guest-to-service progression; onboarding completion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 flipV="1"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Registration connects identity, consent and participation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single identity supports several authorised roles without duplicating accounts or exposing private records.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07 / 72</a:t>
            </a:r>
          </a:p>
        </p:txBody>
      </p:sp>
      <p:pic>
        <p:nvPicPr>
          <p:cNvPr id="14" name="Picture 13" descr="04-signup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04 · Registration · participation tracks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participation-track form · approval flow proposed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Welcome / guest route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Personal service needs a registered identity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Account registration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Contact details and required verification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Account &amp; profile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Maintain the person’s ordinary details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54" b="1">
                <a:solidFill>
                  <a:srgbClr val="F7F9FF"/>
                </a:solidFill>
                <a:latin typeface="DejaVu Sans"/>
              </a:defRPr>
            </a:pPr>
            <a:r>
              <a:t>Terms &amp; privacy consent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notice and participation conditions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Role application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Apply for volunteer or teacher privileges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MRM verification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 privileged roles independently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starts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requires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creates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enables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reviews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Terms &amp; privacy consent → Account registration → Account &amp; profile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Registration completion; consent capture; duplicate-account handling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Sign-in connects the person to authorised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Secure recovery and session checks preserve access to ongoing cases and learning without weakening permissions.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08 / 72</a:t>
            </a:r>
          </a:p>
        </p:txBody>
      </p:sp>
      <p:pic>
        <p:nvPicPr>
          <p:cNvPr id="14" name="Picture 13" descr="05-login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05 · Sign-in 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sign-in UI · Face ID not independently verified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Registered 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Existing account and recovery channel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Sign-in &amp; recovery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Authenticate or recover the account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Role-aware workspace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Show permitted services and actions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30" b="1">
                <a:solidFill>
                  <a:srgbClr val="F7F9FF"/>
                </a:solidFill>
                <a:latin typeface="DejaVu Sans"/>
              </a:defRPr>
            </a:pPr>
            <a:r>
              <a:t>Recovery / device checks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Re-establish the legitimate user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Authenticated session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Expiry, sign-out and supported device lock</a:t>
            </a:r>
          </a:p>
        </p:txBody>
      </p:sp>
      <p:sp>
        <p:nvSpPr>
          <p:cNvPr id="38" name="Rounded Rectangle 37">
            <a:hlinkClick action="ppaction://hlinksldjump" r:id="rId11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1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Record authorisation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Check each requested case or file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81" b="1">
                <a:solidFill>
                  <a:srgbClr val="62DAE8"/>
                </a:solidFill>
                <a:latin typeface="DejaVu Sans"/>
              </a:defRPr>
            </a:pPr>
            <a:r>
              <a:t>identifies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restores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creates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checks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requests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Recovery / device checks → Sign-in &amp; recovery → Role-aware workspace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Successful recovery; session expiry; denied-access tests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2749784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823448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582912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823448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999476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999476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656576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656576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Profile and roles connect trust to the right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Role approval controls service access; changing the visible persona must never grant new privileges.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8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09 / 72</a:t>
            </a:r>
          </a:p>
        </p:txBody>
      </p:sp>
      <p:pic>
        <p:nvPicPr>
          <p:cNvPr id="14" name="Picture 13" descr="12-profile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423160"/>
            <a:ext cx="2085430" cy="4251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5215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12 · Profile / role summary</a:t>
            </a:r>
          </a:p>
        </p:txBody>
      </p:sp>
      <p:pic>
        <p:nvPicPr>
          <p:cNvPr id="16" name="Picture 15" descr="45-modal_role_picker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2423160"/>
            <a:ext cx="2085430" cy="4251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98064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45 · Role-picker modal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75504" y="2240280"/>
            <a:ext cx="8814816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66944" y="2290572"/>
            <a:ext cx="863193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profile and role-picker modal · server permissions unverified</a:t>
            </a:r>
          </a:p>
        </p:txBody>
      </p:sp>
      <p:sp>
        <p:nvSpPr>
          <p:cNvPr id="20" name="Rounded Rectangle 19">
            <a:hlinkClick action="ppaction://hlinksldjump" r:id="rId9"/>
          </p:cNvPr>
          <p:cNvSpPr/>
          <p:nvPr/>
        </p:nvSpPr>
        <p:spPr>
          <a:xfrm>
            <a:off x="5175504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93792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9"/>
          </p:cNvPr>
          <p:cNvSpPr txBox="1"/>
          <p:nvPr/>
        </p:nvSpPr>
        <p:spPr>
          <a:xfrm>
            <a:off x="5340096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Account identity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One person may hold several roles</a:t>
            </a:r>
          </a:p>
        </p:txBody>
      </p:sp>
      <p:sp>
        <p:nvSpPr>
          <p:cNvPr id="24" name="Rounded Rectangle 23">
            <a:hlinkClick action="ppaction://hlinksldjump" r:id="rId10"/>
          </p:cNvPr>
          <p:cNvSpPr/>
          <p:nvPr/>
        </p:nvSpPr>
        <p:spPr>
          <a:xfrm>
            <a:off x="8342376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60663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10"/>
          </p:cNvPr>
          <p:cNvSpPr txBox="1"/>
          <p:nvPr/>
        </p:nvSpPr>
        <p:spPr>
          <a:xfrm>
            <a:off x="8506968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28" b="1">
                <a:solidFill>
                  <a:srgbClr val="F7F9FF"/>
                </a:solidFill>
                <a:latin typeface="DejaVu Sans"/>
              </a:defRPr>
            </a:pPr>
            <a:r>
              <a:t>Approved role 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6968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MRM decisions govern privileged access</a:t>
            </a:r>
          </a:p>
        </p:txBody>
      </p:sp>
      <p:sp>
        <p:nvSpPr>
          <p:cNvPr id="28" name="Rounded Rectangle 27">
            <a:hlinkClick action="ppaction://hlinksldjump" r:id="rId11"/>
          </p:cNvPr>
          <p:cNvSpPr/>
          <p:nvPr/>
        </p:nvSpPr>
        <p:spPr>
          <a:xfrm>
            <a:off x="11509248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7535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1"/>
          </p:cNvPr>
          <p:cNvSpPr txBox="1"/>
          <p:nvPr/>
        </p:nvSpPr>
        <p:spPr>
          <a:xfrm>
            <a:off x="11673840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2" b="1">
                <a:solidFill>
                  <a:srgbClr val="F7F9FF"/>
                </a:solidFill>
                <a:latin typeface="DejaVu Sans"/>
              </a:defRPr>
            </a:pPr>
            <a:r>
              <a:t>Relevant workspace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73840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Member, teacher, volunteer or staff view</a:t>
            </a:r>
          </a:p>
        </p:txBody>
      </p:sp>
      <p:sp>
        <p:nvSpPr>
          <p:cNvPr id="32" name="Rounded Rectangle 31">
            <a:hlinkClick action="ppaction://hlinksldjump" r:id="rId12"/>
          </p:cNvPr>
          <p:cNvSpPr/>
          <p:nvPr/>
        </p:nvSpPr>
        <p:spPr>
          <a:xfrm>
            <a:off x="5175504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93792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2"/>
          </p:cNvPr>
          <p:cNvSpPr txBox="1"/>
          <p:nvPr/>
        </p:nvSpPr>
        <p:spPr>
          <a:xfrm>
            <a:off x="5340096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19" b="1">
                <a:solidFill>
                  <a:srgbClr val="F7F9FF"/>
                </a:solidFill>
                <a:latin typeface="DejaVu Sans"/>
              </a:defRPr>
            </a:pPr>
            <a:r>
              <a:t>Verification decisions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0096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Volunteer / teacher / staff authority</a:t>
            </a:r>
          </a:p>
        </p:txBody>
      </p:sp>
      <p:sp>
        <p:nvSpPr>
          <p:cNvPr id="36" name="Rounded Rectangle 35">
            <a:hlinkClick action="ppaction://hlinksldjump" r:id="rId13"/>
          </p:cNvPr>
          <p:cNvSpPr/>
          <p:nvPr/>
        </p:nvSpPr>
        <p:spPr>
          <a:xfrm>
            <a:off x="8342376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60663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3"/>
          </p:cNvPr>
          <p:cNvSpPr txBox="1"/>
          <p:nvPr/>
        </p:nvSpPr>
        <p:spPr>
          <a:xfrm>
            <a:off x="8506968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Visibility rules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6968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Role, gender and record sensitivity</a:t>
            </a:r>
          </a:p>
        </p:txBody>
      </p:sp>
      <p:sp>
        <p:nvSpPr>
          <p:cNvPr id="40" name="Rounded Rectangle 39">
            <a:hlinkClick action="ppaction://hlinksldjump" r:id="rId14"/>
          </p:cNvPr>
          <p:cNvSpPr/>
          <p:nvPr/>
        </p:nvSpPr>
        <p:spPr>
          <a:xfrm>
            <a:off x="11509248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27535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>
            <a:hlinkClick action="ppaction://hlinksldjump" r:id="rId14"/>
          </p:cNvPr>
          <p:cNvSpPr txBox="1"/>
          <p:nvPr/>
        </p:nvSpPr>
        <p:spPr>
          <a:xfrm>
            <a:off x="11673840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43" b="1">
                <a:solidFill>
                  <a:srgbClr val="F7F9FF"/>
                </a:solidFill>
                <a:latin typeface="DejaVu Sans"/>
              </a:defRPr>
            </a:pPr>
            <a:r>
              <a:t>Permitted case / content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73840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Return only authorised information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93151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20583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binds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32548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59980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approves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860023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87455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selects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53728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81160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59" b="1">
                <a:solidFill>
                  <a:srgbClr val="62DAE8"/>
                </a:solidFill>
                <a:latin typeface="DejaVu Sans"/>
              </a:defRPr>
            </a:pPr>
            <a:r>
              <a:t>constrains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860023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887455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filters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2420600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448032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requests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175504" y="6382512"/>
            <a:ext cx="8814816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40096" y="6473952"/>
            <a:ext cx="848563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40096" y="6647688"/>
            <a:ext cx="848563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Verification decisions → Approved role record → Relevant workspace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175504" y="7214616"/>
            <a:ext cx="8814816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03520" y="7274052"/>
            <a:ext cx="8558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Correct role activation; revoked-access and profile-change tests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0823448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656576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582912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823448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999476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999476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656576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656576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Home connects daily value to meaningful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relevant home screen helps people move from routine practice into learning or contribution without navigating separate systems.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8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10 / 72</a:t>
            </a:r>
          </a:p>
        </p:txBody>
      </p:sp>
      <p:pic>
        <p:nvPicPr>
          <p:cNvPr id="14" name="Picture 13" descr="06-home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423160"/>
            <a:ext cx="2085430" cy="4251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5215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06 · Admin Ops Home</a:t>
            </a:r>
          </a:p>
        </p:txBody>
      </p:sp>
      <p:pic>
        <p:nvPicPr>
          <p:cNvPr id="16" name="Picture 15" descr="34-role_member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2423160"/>
            <a:ext cx="2085430" cy="4251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98064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34 · Member workspace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75504" y="2240280"/>
            <a:ext cx="8814816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66944" y="2290572"/>
            <a:ext cx="863193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Admin Ops and Member home states · role differences shown</a:t>
            </a:r>
          </a:p>
        </p:txBody>
      </p:sp>
      <p:sp>
        <p:nvSpPr>
          <p:cNvPr id="20" name="Rounded Rectangle 19">
            <a:hlinkClick action="ppaction://hlinksldjump" r:id="rId9"/>
          </p:cNvPr>
          <p:cNvSpPr/>
          <p:nvPr/>
        </p:nvSpPr>
        <p:spPr>
          <a:xfrm>
            <a:off x="5175504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93792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9"/>
          </p:cNvPr>
          <p:cNvSpPr txBox="1"/>
          <p:nvPr/>
        </p:nvSpPr>
        <p:spPr>
          <a:xfrm>
            <a:off x="5340096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13" b="1">
                <a:solidFill>
                  <a:srgbClr val="F7F9FF"/>
                </a:solidFill>
                <a:latin typeface="DejaVu Sans"/>
              </a:defRPr>
            </a:pPr>
            <a:r>
              <a:t>Location &amp; preferences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area and display choices</a:t>
            </a:r>
          </a:p>
        </p:txBody>
      </p:sp>
      <p:sp>
        <p:nvSpPr>
          <p:cNvPr id="24" name="Rounded Rectangle 23">
            <a:hlinkClick action="ppaction://hlinksldjump" r:id="rId10"/>
          </p:cNvPr>
          <p:cNvSpPr/>
          <p:nvPr/>
        </p:nvSpPr>
        <p:spPr>
          <a:xfrm>
            <a:off x="8342376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60663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10"/>
          </p:cNvPr>
          <p:cNvSpPr txBox="1"/>
          <p:nvPr/>
        </p:nvSpPr>
        <p:spPr>
          <a:xfrm>
            <a:off x="8506968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Role-aware home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6968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Present appropriate daily and service entries</a:t>
            </a:r>
          </a:p>
        </p:txBody>
      </p:sp>
      <p:sp>
        <p:nvSpPr>
          <p:cNvPr id="28" name="Rounded Rectangle 27">
            <a:hlinkClick action="ppaction://hlinksldjump" r:id="rId11"/>
          </p:cNvPr>
          <p:cNvSpPr/>
          <p:nvPr/>
        </p:nvSpPr>
        <p:spPr>
          <a:xfrm>
            <a:off x="11509248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7535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1"/>
          </p:cNvPr>
          <p:cNvSpPr txBox="1"/>
          <p:nvPr/>
        </p:nvSpPr>
        <p:spPr>
          <a:xfrm>
            <a:off x="11673840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Daily Islamic 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73840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Prayer, Quran and approved guidance</a:t>
            </a:r>
          </a:p>
        </p:txBody>
      </p:sp>
      <p:sp>
        <p:nvSpPr>
          <p:cNvPr id="32" name="Rounded Rectangle 31">
            <a:hlinkClick action="ppaction://hlinksldjump" r:id="rId12"/>
          </p:cNvPr>
          <p:cNvSpPr/>
          <p:nvPr/>
        </p:nvSpPr>
        <p:spPr>
          <a:xfrm>
            <a:off x="5175504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93792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2"/>
          </p:cNvPr>
          <p:cNvSpPr txBox="1"/>
          <p:nvPr/>
        </p:nvSpPr>
        <p:spPr>
          <a:xfrm>
            <a:off x="5340096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47" b="1">
                <a:solidFill>
                  <a:srgbClr val="F7F9FF"/>
                </a:solidFill>
                <a:latin typeface="DejaVu Sans"/>
              </a:defRPr>
            </a:pPr>
            <a:r>
              <a:t>Approved role / access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0096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Limit operational actions to eligible accounts</a:t>
            </a:r>
          </a:p>
        </p:txBody>
      </p:sp>
      <p:sp>
        <p:nvSpPr>
          <p:cNvPr id="36" name="Rounded Rectangle 35">
            <a:hlinkClick action="ppaction://hlinksldjump" r:id="rId13"/>
          </p:cNvPr>
          <p:cNvSpPr/>
          <p:nvPr/>
        </p:nvSpPr>
        <p:spPr>
          <a:xfrm>
            <a:off x="8342376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60663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3"/>
          </p:cNvPr>
          <p:cNvSpPr txBox="1"/>
          <p:nvPr/>
        </p:nvSpPr>
        <p:spPr>
          <a:xfrm>
            <a:off x="8506968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97" b="1">
                <a:solidFill>
                  <a:srgbClr val="F7F9FF"/>
                </a:solidFill>
                <a:latin typeface="DejaVu Sans"/>
              </a:defRPr>
            </a:pPr>
            <a:r>
              <a:t>Service entry points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6968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Request help, learn or contribute</a:t>
            </a:r>
          </a:p>
        </p:txBody>
      </p:sp>
      <p:sp>
        <p:nvSpPr>
          <p:cNvPr id="40" name="Rounded Rectangle 39">
            <a:hlinkClick action="ppaction://hlinksldjump" r:id="rId14"/>
          </p:cNvPr>
          <p:cNvSpPr/>
          <p:nvPr/>
        </p:nvSpPr>
        <p:spPr>
          <a:xfrm>
            <a:off x="11509248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27535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>
            <a:hlinkClick action="ppaction://hlinksldjump" r:id="rId14"/>
          </p:cNvPr>
          <p:cNvSpPr txBox="1"/>
          <p:nvPr/>
        </p:nvSpPr>
        <p:spPr>
          <a:xfrm>
            <a:off x="11673840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4" b="1">
                <a:solidFill>
                  <a:srgbClr val="F7F9FF"/>
                </a:solidFill>
                <a:latin typeface="DejaVu Sans"/>
              </a:defRPr>
            </a:pPr>
            <a:r>
              <a:t>Assigned work / programme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73840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Open the authorised next task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93151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20583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96" b="1">
                <a:solidFill>
                  <a:srgbClr val="62DAE8"/>
                </a:solidFill>
                <a:latin typeface="DejaVu Sans"/>
              </a:defRPr>
            </a:pPr>
            <a:r>
              <a:t>configures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32548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59980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controls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860023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87455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53728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81160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routes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93151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20583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limits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860023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87455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49" b="1">
                <a:solidFill>
                  <a:srgbClr val="62DAE8"/>
                </a:solidFill>
                <a:latin typeface="DejaVu Sans"/>
              </a:defRPr>
            </a:pPr>
            <a:r>
              <a:t>continues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175504" y="6382512"/>
            <a:ext cx="8814816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40096" y="6473952"/>
            <a:ext cx="848563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40096" y="6647688"/>
            <a:ext cx="848563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Approved role / access → Role-aware home → Daily Islamic tools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175504" y="7214616"/>
            <a:ext cx="8814816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03520" y="7274052"/>
            <a:ext cx="8558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Entry-point use; task completion by authorised role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Discovery connects a need to an approved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One search route can help a user find relevant learning, a mosque or support while respecting private-profile restrictions.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11 / 72</a:t>
            </a:r>
          </a:p>
        </p:txBody>
      </p:sp>
      <p:pic>
        <p:nvPicPr>
          <p:cNvPr id="14" name="Picture 13" descr="09-search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09 · Search: utilities and local places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utility / mosque search · programme links proposed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User need /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Topic, area or type of support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Search &amp; discovery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Apply relevant categories and filters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96" b="1">
                <a:solidFill>
                  <a:srgbClr val="F7F9FF"/>
                </a:solidFill>
                <a:latin typeface="DejaVu Sans"/>
              </a:defRPr>
            </a:pPr>
            <a:r>
              <a:t>Approved public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Mosques, programmes and resources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Visibility / moderation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Exclude private or unapproved records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32" b="1">
                <a:solidFill>
                  <a:srgbClr val="F7F9FF"/>
                </a:solidFill>
                <a:latin typeface="DejaVu Sans"/>
              </a:defRPr>
            </a:pPr>
            <a:r>
              <a:t>Programme / service detail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Understand eligibility and next action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Registration / request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Join a class or enter the correct support route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queries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filters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returns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selects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49" b="1">
                <a:solidFill>
                  <a:srgbClr val="62DAE8"/>
                </a:solidFill>
                <a:latin typeface="DejaVu Sans"/>
              </a:defRPr>
            </a:pPr>
            <a:r>
              <a:t>continues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Visibility / moderation → Search &amp; discovery → Approved public results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Relevant-result selection; zero-result recovery; visibility tests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255776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006840" y="4370831"/>
            <a:ext cx="355092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006840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Prayer times connect location, calendar and reminders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Consistent local settings make daily practice useful and prevent conflicting times across the app.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12 / 72</a:t>
            </a:r>
          </a:p>
        </p:txBody>
      </p:sp>
      <p:pic>
        <p:nvPicPr>
          <p:cNvPr id="14" name="Picture 13" descr="21-utility_waqt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21 · Waqt, fasting and prayer windows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Waqt, fasting and prayer-window interface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Location preference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Permission or supported manual area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65" b="1">
                <a:solidFill>
                  <a:srgbClr val="F7F9FF"/>
                </a:solidFill>
                <a:latin typeface="DejaVu Sans"/>
              </a:defRPr>
            </a:pPr>
            <a:r>
              <a:t>Approved prayer schedule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MRM-approved local source / method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Daily prayer display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Relevant local times and guidance</a:t>
            </a:r>
          </a:p>
        </p:txBody>
      </p:sp>
      <p:sp>
        <p:nvSpPr>
          <p:cNvPr id="30" name="Rounded Rectangle 29">
            <a:hlinkClick action="ppaction://hlinksldjump" r:id="rId8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8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72" b="1">
                <a:solidFill>
                  <a:srgbClr val="F7F9FF"/>
                </a:solidFill>
                <a:latin typeface="DejaVu Sans"/>
              </a:defRPr>
            </a:pPr>
            <a:r>
              <a:t>Calculation / local policy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adjustments and conventions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98" b="1">
                <a:solidFill>
                  <a:srgbClr val="F7F9FF"/>
                </a:solidFill>
                <a:latin typeface="DejaVu Sans"/>
              </a:defRPr>
            </a:pPr>
            <a:r>
              <a:t>Prayer reminder scheduling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User preference and approved local schedule</a:t>
            </a:r>
          </a:p>
        </p:txBody>
      </p:sp>
      <p:sp>
        <p:nvSpPr>
          <p:cNvPr id="38" name="Rounded Rectangle 37">
            <a:hlinkClick action="ppaction://hlinksldjump" r:id="rId12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Ramadan timetable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 consistent approved local times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selects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validates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feeds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94" b="1">
                <a:solidFill>
                  <a:srgbClr val="62DAE8"/>
                </a:solidFill>
                <a:latin typeface="DejaVu Sans"/>
              </a:defRPr>
            </a:pPr>
            <a:r>
              <a:t>schedules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256520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83952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aligns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Calculation / local policy → Approved prayer schedule → Daily prayer display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Source accuracy; denied-location fallback; reminder accuracy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806" b="1">
                <a:solidFill>
                  <a:srgbClr val="F7F9FF"/>
                </a:solidFill>
                <a:latin typeface="DejaVu Sans"/>
              </a:defRPr>
            </a:pPr>
            <a:r>
              <a:t>Prayer tracking connects practice to a private personal 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private log supports consistency without exposing personal worship or turning it into a public ranking.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13 / 72</a:t>
            </a:r>
          </a:p>
        </p:txBody>
      </p:sp>
      <p:pic>
        <p:nvPicPr>
          <p:cNvPr id="14" name="Picture 13" descr="22-utility_tracker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22 · Private Salah / Qaza tracker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private check-in, sunnah and Qaza-counter UI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Daily prayer schedule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 the same local prayer context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Private Salah tracker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User-chosen Farz, Sunnah and Qaza check-ins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27" b="1">
                <a:solidFill>
                  <a:srgbClr val="F7F9FF"/>
                </a:solidFill>
                <a:latin typeface="DejaVu Sans"/>
              </a:defRPr>
            </a:pPr>
            <a:r>
              <a:t>Personal practice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Private, correctable progress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Privacy &amp; user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No public worship score or role privilege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Salah / dua guidance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Relevant approved learning support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63" b="1">
                <a:solidFill>
                  <a:srgbClr val="F7F9FF"/>
                </a:solidFill>
                <a:latin typeface="DejaVu Sans"/>
              </a:defRPr>
            </a:pPr>
            <a:r>
              <a:t>Continued daily practice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Return to tools at the person’s choice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context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protects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links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26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Privacy &amp; user control → Private Salah tracker → Personal practice history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Log persistence; private visibility; daily reset and correction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Qibla and mosque discovery connect practice to 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Useful local guidance makes the app relevant beyond assistance, while keeping volunteer-location data separately protected.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14 / 72</a:t>
            </a:r>
          </a:p>
        </p:txBody>
      </p:sp>
      <p:pic>
        <p:nvPicPr>
          <p:cNvPr id="14" name="Picture 13" descr="23-utility_qibla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23 · Compass simulation + place list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compass simulation and nearby-place list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Location / manual area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User-authorised geographic context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Qibla &amp; mosque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Device capability and approved place data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43" b="1">
                <a:solidFill>
                  <a:srgbClr val="F7F9FF"/>
                </a:solidFill>
                <a:latin typeface="DejaVu Sans"/>
              </a:defRPr>
            </a:pPr>
            <a:r>
              <a:t>Nearby mosque details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General place information, not private profiles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15" b="1">
                <a:solidFill>
                  <a:srgbClr val="F7F9FF"/>
                </a:solidFill>
                <a:latin typeface="DejaVu Sans"/>
              </a:defRPr>
            </a:pPr>
            <a:r>
              <a:t>Approved data / calibration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Source and sensor limitations are explicit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Prayer guidance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Link to appropriate daily practice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Programme discovery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Find relevant approved learning or events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locates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validates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shows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34" b="1">
                <a:solidFill>
                  <a:srgbClr val="62DAE8"/>
                </a:solidFill>
                <a:latin typeface="DejaVu Sans"/>
              </a:defRPr>
            </a:pPr>
            <a:r>
              <a:t>discovers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17" b="1">
                <a:solidFill>
                  <a:srgbClr val="62DAE8"/>
                </a:solidFill>
                <a:latin typeface="DejaVu Sans"/>
              </a:defRPr>
            </a:pPr>
            <a:r>
              <a:t>connects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Approved data / calibration → Qibla &amp; mosque tools → Nearby mosque details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Direction guidance; permission fallback; place-data accuracy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Quran connects trusted content to continued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Reading and recitation become more valuable when users can continue into approved explanations and classes.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15 / 72</a:t>
            </a:r>
          </a:p>
        </p:txBody>
      </p:sp>
      <p:pic>
        <p:nvPicPr>
          <p:cNvPr id="14" name="Picture 13" descr="24-utility_quran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24 · Al-Fatihah text / reciter controls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Al-Fatihah text, reciter and tajweed controls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68" b="1">
                <a:solidFill>
                  <a:srgbClr val="F7F9FF"/>
                </a:solidFill>
                <a:latin typeface="DejaVu Sans"/>
              </a:defRPr>
            </a:pPr>
            <a:r>
              <a:t>Religious sources &amp; rights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text, translation and audio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Quran &amp; recitation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Reading, approved tajweed, translation and recitation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49" b="1">
                <a:solidFill>
                  <a:srgbClr val="F7F9FF"/>
                </a:solidFill>
                <a:latin typeface="DejaVu Sans"/>
              </a:defRPr>
            </a:pPr>
            <a:r>
              <a:t>Approved learning resources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Related lessons and programme details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30" b="1">
                <a:solidFill>
                  <a:srgbClr val="F7F9FF"/>
                </a:solidFill>
                <a:latin typeface="DejaVu Sans"/>
              </a:defRPr>
            </a:pPr>
            <a:r>
              <a:t>Content administration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Review references, edits and availability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48" b="1">
                <a:solidFill>
                  <a:srgbClr val="F7F9FF"/>
                </a:solidFill>
                <a:latin typeface="DejaVu Sans"/>
              </a:defRPr>
            </a:pPr>
            <a:r>
              <a:t>Offline / cache settings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supported content and rights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Repeat daily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Reliable access to approved material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91" b="1">
                <a:solidFill>
                  <a:srgbClr val="62DAE8"/>
                </a:solidFill>
                <a:latin typeface="DejaVu Sans"/>
              </a:defRPr>
            </a:pPr>
            <a:r>
              <a:t>authorises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links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enables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83" b="1">
                <a:solidFill>
                  <a:srgbClr val="62DAE8"/>
                </a:solidFill>
                <a:latin typeface="DejaVu Sans"/>
              </a:defRPr>
            </a:pPr>
            <a:r>
              <a:t>encourages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Content administration → Quran &amp; recitation → Approved learning resources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Content-source validation; recitation delivery; learning continuation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598" b="1">
                <a:solidFill>
                  <a:srgbClr val="F7F9FF"/>
                </a:solidFill>
                <a:latin typeface="DejaVu Sans"/>
              </a:defRPr>
            </a:pPr>
            <a:r>
              <a:t>Digital tasbih connects remembrance to simple, private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focused counter supports repeated practice while relevant guidance remains grounded in approved content.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16 / 72</a:t>
            </a:r>
          </a:p>
        </p:txBody>
      </p:sp>
      <p:pic>
        <p:nvPicPr>
          <p:cNvPr id="14" name="Picture 13" descr="25-utility_tasbih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25 · Digital tasbih counter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tasbih phrase and counter view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75" b="1">
                <a:solidFill>
                  <a:srgbClr val="F7F9FF"/>
                </a:solidFill>
                <a:latin typeface="DejaVu Sans"/>
              </a:defRPr>
            </a:pPr>
            <a:r>
              <a:t>Approved dhikr wording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Religious references and translations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Digital tasbih counter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Selected phrase, target and reset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Private local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supported, user-controlled state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73" b="1">
                <a:solidFill>
                  <a:srgbClr val="F7F9FF"/>
                </a:solidFill>
                <a:latin typeface="DejaVu Sans"/>
              </a:defRPr>
            </a:pPr>
            <a:r>
              <a:t>User target / preference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Choose supported repetition controls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39" b="1">
                <a:solidFill>
                  <a:srgbClr val="F7F9FF"/>
                </a:solidFill>
                <a:latin typeface="DejaVu Sans"/>
              </a:defRPr>
            </a:pPr>
            <a:r>
              <a:t>Dua / remembrance library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Find related approved material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Daily utility return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Resume personal practice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grounds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26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User target / preference → Digital tasbih counter → Private local history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Counter increment / reset; selected phrase; private state persistence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865" b="1">
                <a:solidFill>
                  <a:srgbClr val="F7F9FF"/>
                </a:solidFill>
                <a:latin typeface="DejaVu Sans"/>
              </a:defRPr>
            </a:pPr>
            <a:r>
              <a:t>Dua discovery connects a situation to an approved 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Searchable, categorised supplications make the daily library useful and keep correction and source review visible.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17 / 72</a:t>
            </a:r>
          </a:p>
        </p:txBody>
      </p:sp>
      <p:pic>
        <p:nvPicPr>
          <p:cNvPr id="14" name="Picture 13" descr="26-utility_dua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26 · Dua categories and references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dua categories, text and reference labels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Situation /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Daily need, prayer or fasting context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Dua / adhkar library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Topic, wording, translation and reference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37" b="1">
                <a:solidFill>
                  <a:srgbClr val="F7F9FF"/>
                </a:solidFill>
                <a:latin typeface="DejaVu Sans"/>
              </a:defRPr>
            </a:pPr>
            <a:r>
              <a:t>Approved learning detail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Understand the relevant guidance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99" b="1">
                <a:solidFill>
                  <a:srgbClr val="F7F9FF"/>
                </a:solidFill>
                <a:latin typeface="DejaVu Sans"/>
              </a:defRPr>
            </a:pPr>
            <a:r>
              <a:t>Religious source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References, translations and corrections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4" b="1">
                <a:solidFill>
                  <a:srgbClr val="F7F9FF"/>
                </a:solidFill>
                <a:latin typeface="DejaVu Sans"/>
              </a:defRPr>
            </a:pPr>
            <a:r>
              <a:t>Optional personal practice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Supported counter or saved state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Relevant daily tool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Return to prayer, fasting or remembrance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finds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approves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returns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Religious source review → Dua / adhkar library → Approved learning detail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Search relevance; source approval; recitation-state behaviour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36" b="1">
                <a:solidFill>
                  <a:srgbClr val="F7F9FF"/>
                </a:solidFill>
                <a:latin typeface="DejaVu Sans"/>
              </a:defRPr>
            </a:pPr>
            <a:r>
              <a:t>Hadith and references connect content to accountable approval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governed content library keeps daily tools consistent and gives learners a route to deeper understanding.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18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Arabic, translations and source decisions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Dua / dhikr / hadith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Organised daily guidance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Relevant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Approved explanation or class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Content categories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Find material by topic and purpose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Correction / withdrawal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 can remove inaccurate material</a:t>
            </a:r>
          </a:p>
        </p:txBody>
      </p:sp>
      <p:sp>
        <p:nvSpPr>
          <p:cNvPr id="36" name="Rounded Rectangle 35">
            <a:hlinkClick action="ppaction://hlinksldjump" r:id="rId11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Published utility library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Visible content follows approval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grounds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organises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deepens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reports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Content categories → Dua / dhikr / hadith → Relevant learning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Source review; content correction; relevant-resource access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Salah guidance connects learning to daily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step-by-step guide gives beginners a practical next step and links learning to the same prayer and direction context.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19 / 72</a:t>
            </a:r>
          </a:p>
        </p:txBody>
      </p:sp>
      <p:pic>
        <p:nvPicPr>
          <p:cNvPr id="14" name="Picture 13" descr="27-utility_salah_guide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27 · Salah guide · posture 1 of 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posture 1 of 7 · pronounce control visible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22" b="1">
                <a:solidFill>
                  <a:srgbClr val="F7F9FF"/>
                </a:solidFill>
                <a:latin typeface="DejaVu Sans"/>
              </a:defRPr>
            </a:pPr>
            <a:r>
              <a:t>Beginner / learning entry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 person seeks practical prayer guidance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17" b="1">
                <a:solidFill>
                  <a:srgbClr val="F7F9FF"/>
                </a:solidFill>
                <a:latin typeface="DejaVu Sans"/>
              </a:defRPr>
            </a:pPr>
            <a:r>
              <a:t>Step-by-step Salah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postures, wording and meanings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Daily prayer practice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 the correct local time context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33" b="1">
                <a:solidFill>
                  <a:srgbClr val="F7F9FF"/>
                </a:solidFill>
                <a:latin typeface="DejaVu Sans"/>
              </a:defRPr>
            </a:pPr>
            <a:r>
              <a:t>Qibla &amp; content references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Direction guidance and approved material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Mentor / class support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An authorised teacher can explain further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4" b="1">
                <a:solidFill>
                  <a:srgbClr val="F7F9FF"/>
                </a:solidFill>
                <a:latin typeface="DejaVu Sans"/>
              </a:defRPr>
            </a:pPr>
            <a:r>
              <a:t>Private learning progress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agreed, consented progress visibility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learns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99" b="1">
                <a:solidFill>
                  <a:srgbClr val="62DAE8"/>
                </a:solidFill>
                <a:latin typeface="DejaVu Sans"/>
              </a:defRPr>
            </a:pPr>
            <a:r>
              <a:t>practises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asks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26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Qibla &amp; content references → Step-by-step Salah guide → Daily prayer practice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Posture navigation; approved text / audio; guidance-to-practice access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526" b="1">
                <a:solidFill>
                  <a:srgbClr val="F7F9FF"/>
                </a:solidFill>
                <a:latin typeface="DejaVu Sans"/>
              </a:defRPr>
            </a:pPr>
            <a:r>
              <a:t>Asma-ul-Husna connects reference content to reflection and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reviewed names library supports daily learning without inventing religious explanations or unsupported source claims.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20 / 72</a:t>
            </a:r>
          </a:p>
        </p:txBody>
      </p:sp>
      <p:pic>
        <p:nvPicPr>
          <p:cNvPr id="14" name="Picture 13" descr="28-utility_sifat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28 · Asma-ul-Husna names / meanings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Asma-ul-Husna names and meanings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Approved references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MRM reviews names, Arabic and meanings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7" b="1">
                <a:solidFill>
                  <a:srgbClr val="F7F9FF"/>
                </a:solidFill>
                <a:latin typeface="DejaVu Sans"/>
              </a:defRPr>
            </a:pPr>
            <a:r>
              <a:t>Names &amp; meanings library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Readable, searchable reference content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48" b="1">
                <a:solidFill>
                  <a:srgbClr val="F7F9FF"/>
                </a:solidFill>
                <a:latin typeface="DejaVu Sans"/>
              </a:defRPr>
            </a:pPr>
            <a:r>
              <a:t>Related approved learning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Appropriate explanation or programme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46" b="1">
                <a:solidFill>
                  <a:srgbClr val="F7F9FF"/>
                </a:solidFill>
                <a:latin typeface="DejaVu Sans"/>
              </a:defRPr>
            </a:pPr>
            <a:r>
              <a:t>Content categorisation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Organise entries without altering meaning</a:t>
            </a:r>
          </a:p>
        </p:txBody>
      </p:sp>
      <p:sp>
        <p:nvSpPr>
          <p:cNvPr id="34" name="Rounded Rectangle 33">
            <a:hlinkClick action="ppaction://hlinksldjump" r:id="rId8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8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17" b="1">
                <a:solidFill>
                  <a:srgbClr val="F7F9FF"/>
                </a:solidFill>
                <a:latin typeface="DejaVu Sans"/>
              </a:defRPr>
            </a:pPr>
            <a:r>
              <a:t>Correction / withdrawal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Fix unapproved or inaccurate copy</a:t>
            </a:r>
          </a:p>
        </p:txBody>
      </p:sp>
      <p:sp>
        <p:nvSpPr>
          <p:cNvPr id="38" name="Rounded Rectangle 37">
            <a:hlinkClick action="ppaction://hlinksldjump" r:id="rId12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10" b="1">
                <a:solidFill>
                  <a:srgbClr val="F7F9FF"/>
                </a:solidFill>
                <a:latin typeface="DejaVu Sans"/>
              </a:defRPr>
            </a:pPr>
            <a:r>
              <a:t>Published utility library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reviewed content remains visible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92" b="1">
                <a:solidFill>
                  <a:srgbClr val="62DAE8"/>
                </a:solidFill>
                <a:latin typeface="DejaVu Sans"/>
              </a:defRPr>
            </a:pPr>
            <a:r>
              <a:t>approves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finds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deepens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reports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Content categorisation → Names &amp; meanings library → Related approved learning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Approved names / meanings; search relevance; content correction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834" b="1">
                <a:solidFill>
                  <a:srgbClr val="F7F9FF"/>
                </a:solidFill>
                <a:latin typeface="DejaVu Sans"/>
              </a:defRPr>
            </a:pPr>
            <a:r>
              <a:t>Ingredient guidance connects search to reviewed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Useful ingredient information needs clear sourcing and limits; a prototype label cannot replace an authority’s certification.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21 / 72</a:t>
            </a:r>
          </a:p>
        </p:txBody>
      </p:sp>
      <p:pic>
        <p:nvPicPr>
          <p:cNvPr id="14" name="Picture 13" descr="29-utility_halal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29 · Ingredient reference + Fitrah concept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E-code list + Fitrah / Fidyah calculator concept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9" b="1">
                <a:solidFill>
                  <a:srgbClr val="F7F9FF"/>
                </a:solidFill>
                <a:latin typeface="DejaVu Sans"/>
              </a:defRPr>
            </a:pPr>
            <a:r>
              <a:t>Ingredient / E-code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Search a named additive or ingredient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76" b="1">
                <a:solidFill>
                  <a:srgbClr val="F7F9FF"/>
                </a:solidFill>
                <a:latin typeface="DejaVu Sans"/>
              </a:defRPr>
            </a:pPr>
            <a:r>
              <a:t>Reviewed ingredient reference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source and contextual wording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Informational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Show source and applicable limitations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45" b="1">
                <a:solidFill>
                  <a:srgbClr val="F7F9FF"/>
                </a:solidFill>
                <a:latin typeface="DejaVu Sans"/>
              </a:defRPr>
            </a:pPr>
            <a:r>
              <a:t>MRM content / source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Correct origin and context-dependent claims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05" b="1">
                <a:solidFill>
                  <a:srgbClr val="F7F9FF"/>
                </a:solidFill>
                <a:latin typeface="DejaVu Sans"/>
              </a:defRPr>
            </a:pPr>
            <a:r>
              <a:t>Religious learning / enquiry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Explain uncertainty and next steps</a:t>
            </a:r>
          </a:p>
        </p:txBody>
      </p:sp>
      <p:sp>
        <p:nvSpPr>
          <p:cNvPr id="38" name="Rounded Rectangle 37">
            <a:hlinkClick action="ppaction://hlinksldjump" r:id="rId11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1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Content correction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Update or withdraw inaccurate guidance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queries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validates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returns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reports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MRM content / source review → Reviewed ingredient reference → Informational result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Source currency; query accuracy; visible qualification of results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89" b="1">
                <a:solidFill>
                  <a:srgbClr val="F7F9FF"/>
                </a:solidFill>
                <a:latin typeface="DejaVu Sans"/>
              </a:defRPr>
            </a:pPr>
            <a:r>
              <a:t>Hijri and Ramadan connect dates, prayer and programmes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Shared calendar conventions keep seasonal guidance and programme communication coherent.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22 / 72</a:t>
            </a:r>
          </a:p>
        </p:txBody>
      </p:sp>
      <p:pic>
        <p:nvPicPr>
          <p:cNvPr id="14" name="Picture 13" descr="39-calendar_almanac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39 · Calendar almanac / prayer schedule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calendar almanac and local timetable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70" b="1">
                <a:solidFill>
                  <a:srgbClr val="F7F9FF"/>
                </a:solidFill>
                <a:latin typeface="DejaVu Sans"/>
              </a:defRPr>
            </a:pPr>
            <a:r>
              <a:t>Local calendar convention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Hijri / local adjustments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Hijri &amp; Ramadan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Show the appropriate dates and schedule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58" b="1">
                <a:solidFill>
                  <a:srgbClr val="F7F9FF"/>
                </a:solidFill>
                <a:latin typeface="DejaVu Sans"/>
              </a:defRPr>
            </a:pPr>
            <a:r>
              <a:t>Seasonal programme discovery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Relevant classes and community events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Approved prayer times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 the same local schedule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Event / class calendar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Programme dates and access details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Permitted reminders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Notify registered or eligible participants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aligns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28" b="1">
                <a:solidFill>
                  <a:srgbClr val="62DAE8"/>
                </a:solidFill>
                <a:latin typeface="DejaVu Sans"/>
              </a:defRPr>
            </a:pPr>
            <a:r>
              <a:t>highlights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informs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registers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34" b="1">
                <a:solidFill>
                  <a:srgbClr val="62DAE8"/>
                </a:solidFill>
                <a:latin typeface="DejaVu Sans"/>
              </a:defRPr>
            </a:pPr>
            <a:r>
              <a:t>schedules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Approved prayer times → Hijri &amp; Ramadan tools → Seasonal programme discovery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Local-date review; timetable consistency; event reminder delivery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289" b="1">
                <a:solidFill>
                  <a:srgbClr val="F7F9FF"/>
                </a:solidFill>
                <a:latin typeface="DejaVu Sans"/>
              </a:defRPr>
            </a:pPr>
            <a:r>
              <a:t>Zakat, Fitrah and Fidyah estimates connect guidance to responsible referral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Clear assumptions and method-specific inputs make estimates useful, while the authority retains every assistance eligibility decision.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23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Method-specific 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Approved income/savings or Fitrah/Fidyah rules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Informational estimate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Apply the selected, approved calculation method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Guidance /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Understand the estimate and its limits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Necessary calculator inputs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Income/savings or household / missed-fast data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Assistance enquiry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 separate route for people needing help</a:t>
            </a:r>
          </a:p>
        </p:txBody>
      </p:sp>
      <p:sp>
        <p:nvSpPr>
          <p:cNvPr id="36" name="Rounded Rectangle 35">
            <a:hlinkClick action="ppaction://hlinksldjump" r:id="rId11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Authority follow-up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Eligibility and disbursement stay external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governs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calculates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21" b="1">
                <a:solidFill>
                  <a:srgbClr val="62DAE8"/>
                </a:solidFill>
                <a:latin typeface="DejaVu Sans"/>
              </a:defRPr>
            </a:pPr>
            <a:r>
              <a:t>signposts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refers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Necessary calculator inputs → Informational estimate → Guidance / learning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Approved calculation checks; referral consent; correct authority wording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00684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9006840" y="4370831"/>
            <a:ext cx="355092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557760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30" b="1">
                <a:solidFill>
                  <a:srgbClr val="F7F9FF"/>
                </a:solidFill>
                <a:latin typeface="DejaVu Sans"/>
              </a:defRPr>
            </a:pPr>
            <a:r>
              <a:t>Help requests connect a personal need to a controlled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complete request lifecycle prevents the app becoming a contact form with no accountable follow-up.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24 / 72</a:t>
            </a:r>
          </a:p>
        </p:txBody>
      </p:sp>
      <p:pic>
        <p:nvPicPr>
          <p:cNvPr id="14" name="Picture 13" descr="31-role_seeker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31 · Seeker workspace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Seeker workspace · full request intake not shown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37" b="1">
                <a:solidFill>
                  <a:srgbClr val="F7F9FF"/>
                </a:solidFill>
                <a:latin typeface="DejaVu Sans"/>
              </a:defRPr>
            </a:pPr>
            <a:r>
              <a:t>Member / service entry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 person seeks assistance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Private request intake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Category, urgency and safe contact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MRM triage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Check sensitivity and required response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94" b="1">
                <a:solidFill>
                  <a:srgbClr val="F7F9FF"/>
                </a:solidFill>
                <a:latin typeface="DejaVu Sans"/>
              </a:defRPr>
            </a:pPr>
            <a:r>
              <a:t>Consent &amp; privacy 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Minimum necessary information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Eligible matching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routine permitted work is offered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Case status / activity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The requester follows authorised progress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starts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protects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submits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56520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83952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routes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Consent &amp; privacy rules → Private request intake → MRM triage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Acknowledgement; triage completion; unresolved-request follow-up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00684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9006840" y="4370831"/>
            <a:ext cx="355092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557760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848" b="1">
                <a:solidFill>
                  <a:srgbClr val="F7F9FF"/>
                </a:solidFill>
                <a:latin typeface="DejaVu Sans"/>
              </a:defRPr>
            </a:pPr>
            <a:r>
              <a:t>Volunteer verification connects willingness to trusted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Documents and interview decisions must change real eligibility, not merely add a badge to a profile.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25 / 72</a:t>
            </a:r>
          </a:p>
        </p:txBody>
      </p:sp>
      <p:pic>
        <p:nvPicPr>
          <p:cNvPr id="14" name="Picture 13" descr="33-role_applicant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33 · Applicant verification progress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Applicant progress · verification policy still requires MRM approval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Volunteer 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Skills, languages, area and availability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70" b="1">
                <a:solidFill>
                  <a:srgbClr val="F7F9FF"/>
                </a:solidFill>
                <a:latin typeface="DejaVu Sans"/>
              </a:defRPr>
            </a:pPr>
            <a:r>
              <a:t>Evidence &amp; interview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MRM checks documents and online interview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3" b="1">
                <a:solidFill>
                  <a:srgbClr val="F7F9FF"/>
                </a:solidFill>
                <a:latin typeface="DejaVu Sans"/>
              </a:defRPr>
            </a:pPr>
            <a:r>
              <a:t>Approved active volunteer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Decision, reason and review history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2" b="1">
                <a:solidFill>
                  <a:srgbClr val="F7F9FF"/>
                </a:solidFill>
                <a:latin typeface="DejaVu Sans"/>
              </a:defRPr>
            </a:pPr>
            <a:r>
              <a:t>Protected verification files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Restricted staff access and retention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54" b="1">
                <a:solidFill>
                  <a:srgbClr val="F7F9FF"/>
                </a:solidFill>
                <a:latin typeface="DejaVu Sans"/>
              </a:defRPr>
            </a:pPr>
            <a:r>
              <a:t>Eligible discovery / matching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Return only permitted service profiles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Assigned 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Approval alone does not expose all cases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applies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decides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56520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83952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enables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qualifies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offers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Protected verification files → Evidence &amp; interview review → Approved active volunteer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Review completion; interview record; suspension and access tests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83" b="1">
                <a:solidFill>
                  <a:srgbClr val="F7F9FF"/>
                </a:solidFill>
                <a:latin typeface="DejaVu Sans"/>
              </a:defRPr>
            </a:pPr>
            <a:r>
              <a:t>Gender and nearby visibility connect policy to every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Consistent server filtering prevents a protected profile leaking through search, maps, alerts or direct detail requests.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26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role &amp; 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Verified access attributes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Visibility policy checks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Agreed gender / role / record rules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Permitted discovery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Approximate area and approved fields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Location consent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No automatic exact-location sharing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Eligible alerts / matching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Apply the same access boundary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Authorised case contact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Assignment and policy govern disclosure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checks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constrains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filters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limits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requests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routes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Location consent → Visibility policy checks → Permitted discovery results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Cross-gender API tests; restricted detail and location tests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00684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9006840" y="4370831"/>
            <a:ext cx="355092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557760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65" b="1">
                <a:solidFill>
                  <a:srgbClr val="F7F9FF"/>
                </a:solidFill>
                <a:latin typeface="DejaVu Sans"/>
              </a:defRPr>
            </a:pPr>
            <a:r>
              <a:t>Matching connects a reviewed request to suitable 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Eligibility checks improve relevance and preserve confidentiality before any volunteer receives an offer.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27 / 72</a:t>
            </a:r>
          </a:p>
        </p:txBody>
      </p:sp>
      <p:pic>
        <p:nvPicPr>
          <p:cNvPr id="14" name="Picture 13" descr="30-role_volunteer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30 · Volunteer on-duty workspace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Volunteer on-duty workspace · actual matching not tested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86" b="1">
                <a:solidFill>
                  <a:srgbClr val="F7F9FF"/>
                </a:solidFill>
                <a:latin typeface="DejaVu Sans"/>
              </a:defRPr>
            </a:pPr>
            <a:r>
              <a:t>Reviewed routine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Category, area, language and urgency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Eligibility matching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Approved, active, available and permitted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39" b="1">
                <a:solidFill>
                  <a:srgbClr val="F7F9FF"/>
                </a:solidFill>
                <a:latin typeface="DejaVu Sans"/>
              </a:defRPr>
            </a:pPr>
            <a:r>
              <a:t>Limited volunteer offer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Safe summary and approximate area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33" b="1">
                <a:solidFill>
                  <a:srgbClr val="F7F9FF"/>
                </a:solidFill>
                <a:latin typeface="DejaVu Sans"/>
              </a:defRPr>
            </a:pPr>
            <a:r>
              <a:t>Verified volunteer capacity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Skills, availability and gender rules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25" b="1">
                <a:solidFill>
                  <a:srgbClr val="F7F9FF"/>
                </a:solidFill>
                <a:latin typeface="DejaVu Sans"/>
              </a:defRPr>
            </a:pPr>
            <a:r>
              <a:t>Assignment confirmation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Seeker / coordinator accepts the match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Coordinator fallback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Unanswered or unsuitable work is reviewed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45" b="1">
                <a:solidFill>
                  <a:srgbClr val="62DAE8"/>
                </a:solidFill>
                <a:latin typeface="DejaVu Sans"/>
              </a:defRPr>
            </a:pPr>
            <a:r>
              <a:t>provides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qualifies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offers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56520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83952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responds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expires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77" b="1">
                <a:solidFill>
                  <a:srgbClr val="E8C578"/>
                </a:solidFill>
                <a:latin typeface="DejaVu Sans"/>
              </a:defRPr>
            </a:pPr>
            <a:r>
              <a:t>escalates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Verified volunteer capacity → Eligibility matching → Limited volunteer offer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Eligible-offer delivery; unanswered-case handling; access tests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76" b="1">
                <a:solidFill>
                  <a:srgbClr val="F7F9FF"/>
                </a:solidFill>
                <a:latin typeface="DejaVu Sans"/>
              </a:defRPr>
            </a:pPr>
            <a:r>
              <a:t>Assignments connect offers, contact, progress and closure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Confirmation creates accountable service access and lets MRM manage changes through to a verified outcome.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28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Eligible volunteer offer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An approved volunteer responds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Confirmed assignment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Record the responsible participants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Permitted case contact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Only authorised details and conversation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Coordinator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Resolve reassignment or safety concerns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Case progress &amp; closure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Record follow-up and the service outcome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Verified recognition / reports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Award valid credit; aggregate outcomes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confirms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supervises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permits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tracks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verifies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Coordinator review → Confirmed assignment → Permitted case contact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Confirmed assignment; reassignment; progress and closure records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75" b="1">
                <a:solidFill>
                  <a:srgbClr val="F7F9FF"/>
                </a:solidFill>
                <a:latin typeface="DejaVu Sans"/>
              </a:defRPr>
            </a:pPr>
            <a:r>
              <a:t>Confidential support connects concern to designated expertise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restricted route protects sensitive faith and family information while retaining responsible follow-up.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29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Private concern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Safe contact and permitted description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Restricted case intake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Keep outside public discovery / broadcasts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Designated personnel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MRM-authorised adviser or caseworker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73" b="1">
                <a:solidFill>
                  <a:srgbClr val="F7F9FF"/>
                </a:solidFill>
                <a:latin typeface="DejaVu Sans"/>
              </a:defRPr>
            </a:pPr>
            <a:r>
              <a:t>Consent &amp; record permissions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Access only for the agreed duty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Controlled follow-up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Guidance, referral and case updates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Case history / closure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Record only the permitted outcome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submits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restricts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assigns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71" b="1">
                <a:solidFill>
                  <a:srgbClr val="62DAE8"/>
                </a:solidFill>
                <a:latin typeface="DejaVu Sans"/>
              </a:defRPr>
            </a:pPr>
            <a:r>
              <a:t>coordinates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closes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Consent &amp; record permissions → Restricted case intake → Designated personnel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Unrelated-account denial; assigned-staff access; closure history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Safeguarding connects a concern to a responsible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Reporting, restrictions and escalation protect participation without implying guaranteed emergency response.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30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Conduct / danger concern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Report from an authorised service journey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Safeguarding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Designated staff assess and record action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Account / contact restriction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Stop unsafe contact or new work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MRM escalation policy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Coverage, contacts and urgent guidance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Affected assignments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Reassign or follow up existing work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Protected incident history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Retain authorised evidence and outcome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reports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guides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restricts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reviews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18" b="1">
                <a:solidFill>
                  <a:srgbClr val="62DAE8"/>
                </a:solidFill>
                <a:latin typeface="DejaVu Sans"/>
              </a:defRPr>
            </a:pPr>
            <a:r>
              <a:t>follows up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MRM escalation policy → Safeguarding review → Account / contact restriction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Report handling; account restriction; open-assignment review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Case communication connects an assignment to follow-up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Conversation is useful when the right case and participants govern access, continuity and escalation.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31 / 72</a:t>
            </a:r>
          </a:p>
        </p:txBody>
      </p:sp>
      <p:pic>
        <p:nvPicPr>
          <p:cNvPr id="14" name="Picture 13" descr="16-chat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16 · Caseworker conversation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caseworker chat concept · implementation unverified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24" b="1">
                <a:solidFill>
                  <a:srgbClr val="F7F9FF"/>
                </a:solidFill>
                <a:latin typeface="DejaVu Sans"/>
              </a:defRPr>
            </a:pPr>
            <a:r>
              <a:t>Authorised case / assignment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 defined support relationship exists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Case conversation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participants exchange updates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20" b="1">
                <a:solidFill>
                  <a:srgbClr val="F7F9FF"/>
                </a:solidFill>
                <a:latin typeface="DejaVu Sans"/>
              </a:defRPr>
            </a:pPr>
            <a:r>
              <a:t>Progress / confirmation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Relevant messages support follow-up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64" b="1">
                <a:solidFill>
                  <a:srgbClr val="F7F9FF"/>
                </a:solidFill>
                <a:latin typeface="DejaVu Sans"/>
              </a:defRPr>
            </a:pPr>
            <a:r>
              <a:t>Privacy &amp; participant checks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Recheck access after role / case changes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21" b="1">
                <a:solidFill>
                  <a:srgbClr val="F7F9FF"/>
                </a:solidFill>
                <a:latin typeface="DejaVu Sans"/>
              </a:defRPr>
            </a:pPr>
            <a:r>
              <a:t>Conduct report / escalation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Route concerns to designated staff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Case closure policy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Decide retention and further access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protects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reports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informs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Privacy &amp; participant checks → Case conversation → Progress / confirmation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Participant access; case linkage; report and closure behaviour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31520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7315200" y="4370831"/>
            <a:ext cx="4706111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644" b="1">
                <a:solidFill>
                  <a:srgbClr val="F7F9FF"/>
                </a:solidFill>
                <a:latin typeface="DejaVu Sans"/>
              </a:defRPr>
            </a:pPr>
            <a:r>
              <a:t>Zakat referrals connect consent, review and an external authority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tracked handoff helps people follow an enquiry without presenting MRM as the eligibility or disbursement authority.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32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Enquiry + referral consent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Need, region and safe contact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MRM completeness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Check required information and evidence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authority handoff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Document recipient, reference and method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Partner sharing agreement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Forms, permissions and authorised access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Referral status / follow-up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Record received, reviewed, referred or closed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User update / reports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Disclose permitted status; aggregate outcomes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submits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governs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refers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tracks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responds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Partner sharing agreement → MRM completeness review → Approved authority handoff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Complete referral record; permitted status update; partner response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49" b="1">
                <a:solidFill>
                  <a:srgbClr val="F7F9FF"/>
                </a:solidFill>
                <a:latin typeface="DejaVu Sans"/>
              </a:defRPr>
            </a:pPr>
            <a:r>
              <a:t>Recognition connects verified service to continued contribution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Badges are credible when they reflect confirmed activity and do not override safeguarding or access rules.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33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50" b="1">
                <a:solidFill>
                  <a:srgbClr val="F7F9FF"/>
                </a:solidFill>
                <a:latin typeface="DejaVu Sans"/>
              </a:defRPr>
            </a:pPr>
            <a:r>
              <a:t>Completed assignment / event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 qualifying contribution is recorded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Service 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Authorised confirmation under MRM criteria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Badges &amp; service ranks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Apply approved thresholds and periods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MRM recognition criteria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Eligibility, correction and appeal process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Private service 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Show contribution without beneficiary details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Volunteer engagement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Encourage responsible continued service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submits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validates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awards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83" b="1">
                <a:solidFill>
                  <a:srgbClr val="62DAE8"/>
                </a:solidFill>
                <a:latin typeface="DejaVu Sans"/>
              </a:defRPr>
            </a:pPr>
            <a:r>
              <a:t>encourages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MRM recognition criteria → Service verification → Badges &amp; service ranks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Verified-credit accuracy; corrections; recognition visibility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617" b="1">
                <a:solidFill>
                  <a:srgbClr val="F7F9FF"/>
                </a:solidFill>
                <a:latin typeface="DejaVu Sans"/>
              </a:defRPr>
            </a:pPr>
            <a:r>
              <a:t>Teacher approval connects credentials to a governed teaching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Learner trust depends on teacher review being independent of whether a person pays for publishing privileges.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34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Teacher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Subjects, language, experience and evidence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Credential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 approves, declines or requests detail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teacher 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Professional role; no private-case access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MRM teaching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Religious review and evidence requirements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Teacher plan entitlement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Publishing privileges remain separate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58" b="1">
                <a:solidFill>
                  <a:srgbClr val="F7F9FF"/>
                </a:solidFill>
                <a:latin typeface="DejaVu Sans"/>
              </a:defRPr>
            </a:pPr>
            <a:r>
              <a:t>Moderated programme / posts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Content needs a publication decision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applies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guides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approves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qualifies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submits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allows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MRM teaching standards → Credential review → Approved teacher profile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Credential review; role approval; revoked-teacher access tests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1520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315200" y="4370831"/>
            <a:ext cx="4706111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021311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65" b="1">
                <a:solidFill>
                  <a:srgbClr val="F7F9FF"/>
                </a:solidFill>
                <a:latin typeface="DejaVu Sans"/>
              </a:defRPr>
            </a:pPr>
            <a:r>
              <a:t>Teacher publishing connects expertise to discoverable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Moderation, plan allowances and clear publication states turn teacher opportunity into controlled learner value.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35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teacher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Teaching role and profile are active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Educational submission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Post, teaching ad, class or recording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MRM moderation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Review rights, quality and religious content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Valid plan entitlement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Enforce designated publishing allowances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publication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Schedule, publish, revise or withdraw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Search / website discovery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Only approved visible material is returned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submits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permits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reviews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approves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Valid plan entitlement → Educational submission → MRM moderation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Submission review; allowance enforcement; publication / withdrawal tests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1520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315200" y="4370831"/>
            <a:ext cx="4706111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021311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09" b="1">
                <a:solidFill>
                  <a:srgbClr val="F7F9FF"/>
                </a:solidFill>
                <a:latin typeface="DejaVu Sans"/>
              </a:defRPr>
            </a:pPr>
            <a:r>
              <a:t>Teacher subscriptions connect revenue to explicit privileges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MRM can earn recurring teacher revenue while preserving free core assistance and volunteer participation.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36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teacher 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Credentials approved before paid privileges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Teacher plan selection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 defines period and allowances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Applicable billing 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Use the required client-owned store setup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MRM commercial policy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Plan terms, prices and moderation rules</a:t>
            </a:r>
          </a:p>
        </p:txBody>
      </p:sp>
      <p:sp>
        <p:nvSpPr>
          <p:cNvPr id="32" name="Rounded Rectangle 31">
            <a:hlinkClick action="ppaction://hlinksldjump" r:id="rId9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9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Verified entitlement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Check current rights on the server</a:t>
            </a:r>
          </a:p>
        </p:txBody>
      </p:sp>
      <p:sp>
        <p:nvSpPr>
          <p:cNvPr id="36" name="Rounded Rectangle 35">
            <a:hlinkClick action="ppaction://hlinksldjump" r:id="rId11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Permitted publishing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Content still requires moderation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qualifies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defines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21" b="1">
                <a:solidFill>
                  <a:srgbClr val="62DAE8"/>
                </a:solidFill>
                <a:latin typeface="DejaVu Sans"/>
              </a:defRPr>
            </a:pPr>
            <a:r>
              <a:t>purchases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verifies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limits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MRM commercial policy → Teacher plan selection → Applicable billing flow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Verified active plans; publishing-limit checks; correct expiry handling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693" b="1">
                <a:solidFill>
                  <a:srgbClr val="F7F9FF"/>
                </a:solidFill>
                <a:latin typeface="DejaVu Sans"/>
              </a:defRPr>
            </a:pPr>
            <a:r>
              <a:t>Billing state connects payment events to the correct entitlement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Payment success, renewal and expiry must change privileges reliably without deleting the teacher’s identity or history.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37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Store purchase / renewal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Applicable verified transaction event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Entitlement 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Resolve current teacher-plan rights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Publishing permission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Allow or pause the designated privileges</a:t>
            </a:r>
          </a:p>
        </p:txBody>
      </p:sp>
      <p:sp>
        <p:nvSpPr>
          <p:cNvPr id="28" name="Rounded Rectangle 27">
            <a:hlinkClick action="ppaction://hlinksldjump" r:id="rId7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7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Cancel / fail / restore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Handle supported lifecycle events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Account &amp; content 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Preserve records under agreed policy</a:t>
            </a:r>
          </a:p>
        </p:txBody>
      </p:sp>
      <p:sp>
        <p:nvSpPr>
          <p:cNvPr id="36" name="Rounded Rectangle 35">
            <a:hlinkClick action="ppaction://hlinksldjump" r:id="rId11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Billing oversight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 reviews available reconciliation data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verifies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enforces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1">
                <a:solidFill>
                  <a:srgbClr val="62DAE8"/>
                </a:solidFill>
                <a:latin typeface="DejaVu Sans"/>
              </a:defRPr>
            </a:pPr>
            <a:r>
              <a:t>preserves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Cancel / fail / restore → Entitlement verification → Publishing permission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Payment verification; renewal / cancellation; restore and expiry tests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1520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315200" y="4370831"/>
            <a:ext cx="4706111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021311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497" b="1">
                <a:solidFill>
                  <a:srgbClr val="F7F9FF"/>
                </a:solidFill>
                <a:latin typeface="DejaVu Sans"/>
              </a:defRPr>
            </a:pPr>
            <a:r>
              <a:t>Learning connects approved content to participation and return visits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Discovery becomes sustained learning when programme details, access, reminders and recordings form one journey.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38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teacher /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MRM-approved learning material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Programme discovery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Topic, language, teacher and schedule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Registration / access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Clearly state who can join and how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Daily tools / search / website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Multiple relevant entry points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Calendar &amp; reminders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Registered participants receive updates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Live session / recording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Use approved links or hosted resources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discovers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registers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permits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Daily tools / search / website → Programme discovery → Registration / access rules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Programme access; registration; attendance / recording access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533" b="1">
                <a:solidFill>
                  <a:srgbClr val="F7F9FF"/>
                </a:solidFill>
                <a:latin typeface="DejaVu Sans"/>
              </a:defRPr>
            </a:pPr>
            <a:r>
              <a:t>Mentorship connects an approved adviser to a defined learning 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Matching the right mentor to a programme or authorised support relationship adds continuity without exposing unrelated cases.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39 / 72</a:t>
            </a:r>
          </a:p>
        </p:txBody>
      </p:sp>
      <p:pic>
        <p:nvPicPr>
          <p:cNvPr id="14" name="Picture 13" descr="32-role_teacher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32 · Scholar / Mentor roster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Scholar / Mentor roster and Start Room control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84" b="1">
                <a:solidFill>
                  <a:srgbClr val="F7F9FF"/>
                </a:solidFill>
                <a:latin typeface="DejaVu Sans"/>
              </a:defRPr>
            </a:pPr>
            <a:r>
              <a:t>Learning / support need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Class need or permitted case referral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4" b="1">
                <a:solidFill>
                  <a:srgbClr val="F7F9FF"/>
                </a:solidFill>
                <a:latin typeface="DejaVu Sans"/>
              </a:defRPr>
            </a:pPr>
            <a:r>
              <a:t>Approved mentor relationship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Defined assignment and permitted purpose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94" b="1">
                <a:solidFill>
                  <a:srgbClr val="F7F9FF"/>
                </a:solidFill>
                <a:latin typeface="DejaVu Sans"/>
              </a:defRPr>
            </a:pPr>
            <a:r>
              <a:t>Session / programme roster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relevant learner and timing details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66" b="1">
                <a:solidFill>
                  <a:srgbClr val="F7F9FF"/>
                </a:solidFill>
                <a:latin typeface="DejaVu Sans"/>
              </a:defRPr>
            </a:pPr>
            <a:r>
              <a:t>Role &amp; case permissions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Teacher approval alone is insufficient for cases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Permitted contact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session link or case communication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10" b="1">
                <a:solidFill>
                  <a:srgbClr val="F7F9FF"/>
                </a:solidFill>
                <a:latin typeface="DejaVu Sans"/>
              </a:defRPr>
            </a:pPr>
            <a:r>
              <a:t>Follow-up / learning history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Record only the agreed information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34" b="1">
                <a:solidFill>
                  <a:srgbClr val="62DAE8"/>
                </a:solidFill>
                <a:latin typeface="DejaVu Sans"/>
              </a:defRPr>
            </a:pPr>
            <a:r>
              <a:t>requests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authorises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34" b="1">
                <a:solidFill>
                  <a:srgbClr val="62DAE8"/>
                </a:solidFill>
                <a:latin typeface="DejaVu Sans"/>
              </a:defRPr>
            </a:pPr>
            <a:r>
              <a:t>schedules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permits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13" b="1">
                <a:solidFill>
                  <a:srgbClr val="62DAE8"/>
                </a:solidFill>
                <a:latin typeface="DejaVu Sans"/>
              </a:defRPr>
            </a:pPr>
            <a:r>
              <a:t>follows up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Role &amp; case permissions → Approved mentor relationship → Session / programme roster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Authorised mentor assignment; schedule access; confidential-record tests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10823448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582912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9582912" y="4370831"/>
            <a:ext cx="3166872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2749784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823448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999476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999476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656576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656576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11" b="1">
                <a:solidFill>
                  <a:srgbClr val="F7F9FF"/>
                </a:solidFill>
                <a:latin typeface="DejaVu Sans"/>
              </a:defRPr>
            </a:pPr>
            <a:r>
              <a:t>Scheduling connects learning, volunteer capacity and reminders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One calendar can coordinate participation while keeping a class enrolment separate from a volunteer duty assignment.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8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40 / 72</a:t>
            </a:r>
          </a:p>
        </p:txBody>
      </p:sp>
      <p:pic>
        <p:nvPicPr>
          <p:cNvPr id="14" name="Picture 13" descr="14-calendar_booking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423160"/>
            <a:ext cx="2085430" cy="4251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5215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14 · Halaqa &amp; duty calendar</a:t>
            </a:r>
          </a:p>
        </p:txBody>
      </p:sp>
      <p:pic>
        <p:nvPicPr>
          <p:cNvPr id="16" name="Picture 15" descr="40-calendar_confirm_modal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2423160"/>
            <a:ext cx="2085430" cy="4251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98064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40 · Slot-confirmation modal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75504" y="2240280"/>
            <a:ext cx="8814816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66944" y="2290572"/>
            <a:ext cx="863193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calendar list and slot-confirmation modal</a:t>
            </a:r>
          </a:p>
        </p:txBody>
      </p:sp>
      <p:sp>
        <p:nvSpPr>
          <p:cNvPr id="20" name="Rounded Rectangle 19">
            <a:hlinkClick action="ppaction://hlinksldjump" r:id="rId9"/>
          </p:cNvPr>
          <p:cNvSpPr/>
          <p:nvPr/>
        </p:nvSpPr>
        <p:spPr>
          <a:xfrm>
            <a:off x="5175504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93792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9"/>
          </p:cNvPr>
          <p:cNvSpPr txBox="1"/>
          <p:nvPr/>
        </p:nvSpPr>
        <p:spPr>
          <a:xfrm>
            <a:off x="5340096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11" b="1">
                <a:solidFill>
                  <a:srgbClr val="F7F9FF"/>
                </a:solidFill>
                <a:latin typeface="DejaVu Sans"/>
              </a:defRPr>
            </a:pPr>
            <a:r>
              <a:t>Approved class / duty event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Programme or service opportunity</a:t>
            </a:r>
          </a:p>
        </p:txBody>
      </p:sp>
      <p:sp>
        <p:nvSpPr>
          <p:cNvPr id="24" name="Rounded Rectangle 23">
            <a:hlinkClick action="ppaction://hlinksldjump" r:id="rId10"/>
          </p:cNvPr>
          <p:cNvSpPr/>
          <p:nvPr/>
        </p:nvSpPr>
        <p:spPr>
          <a:xfrm>
            <a:off x="8342376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60663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10"/>
          </p:cNvPr>
          <p:cNvSpPr txBox="1"/>
          <p:nvPr/>
        </p:nvSpPr>
        <p:spPr>
          <a:xfrm>
            <a:off x="8506968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41" b="1">
                <a:solidFill>
                  <a:srgbClr val="F7F9FF"/>
                </a:solidFill>
                <a:latin typeface="DejaVu Sans"/>
              </a:defRPr>
            </a:pPr>
            <a:r>
              <a:t>Calendar &amp; availability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6968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Dates, tracks and available places</a:t>
            </a:r>
          </a:p>
        </p:txBody>
      </p:sp>
      <p:sp>
        <p:nvSpPr>
          <p:cNvPr id="28" name="Rounded Rectangle 27">
            <a:hlinkClick action="ppaction://hlinksldjump" r:id="rId11"/>
          </p:cNvPr>
          <p:cNvSpPr/>
          <p:nvPr/>
        </p:nvSpPr>
        <p:spPr>
          <a:xfrm>
            <a:off x="11509248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7535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1"/>
          </p:cNvPr>
          <p:cNvSpPr txBox="1"/>
          <p:nvPr/>
        </p:nvSpPr>
        <p:spPr>
          <a:xfrm>
            <a:off x="11673840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41" b="1">
                <a:solidFill>
                  <a:srgbClr val="F7F9FF"/>
                </a:solidFill>
                <a:latin typeface="DejaVu Sans"/>
              </a:defRPr>
            </a:pPr>
            <a:r>
              <a:t>Registration / shift request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73840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Capture the person’s participation</a:t>
            </a:r>
          </a:p>
        </p:txBody>
      </p:sp>
      <p:sp>
        <p:nvSpPr>
          <p:cNvPr id="32" name="Rounded Rectangle 31">
            <a:hlinkClick action="ppaction://hlinksldjump" r:id="rId12"/>
          </p:cNvPr>
          <p:cNvSpPr/>
          <p:nvPr/>
        </p:nvSpPr>
        <p:spPr>
          <a:xfrm>
            <a:off x="5175504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93792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2"/>
          </p:cNvPr>
          <p:cNvSpPr txBox="1"/>
          <p:nvPr/>
        </p:nvSpPr>
        <p:spPr>
          <a:xfrm>
            <a:off x="5340096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79" b="1">
                <a:solidFill>
                  <a:srgbClr val="F7F9FF"/>
                </a:solidFill>
                <a:latin typeface="DejaVu Sans"/>
              </a:defRPr>
            </a:pPr>
            <a:r>
              <a:t>Role / capacity checks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0096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Apply access rules and available capacity</a:t>
            </a:r>
          </a:p>
        </p:txBody>
      </p:sp>
      <p:sp>
        <p:nvSpPr>
          <p:cNvPr id="36" name="Rounded Rectangle 35">
            <a:hlinkClick action="ppaction://hlinksldjump" r:id="rId13"/>
          </p:cNvPr>
          <p:cNvSpPr/>
          <p:nvPr/>
        </p:nvSpPr>
        <p:spPr>
          <a:xfrm>
            <a:off x="8342376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60663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3"/>
          </p:cNvPr>
          <p:cNvSpPr txBox="1"/>
          <p:nvPr/>
        </p:nvSpPr>
        <p:spPr>
          <a:xfrm>
            <a:off x="8506968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88" b="1">
                <a:solidFill>
                  <a:srgbClr val="F7F9FF"/>
                </a:solidFill>
                <a:latin typeface="DejaVu Sans"/>
              </a:defRPr>
            </a:pPr>
            <a:r>
              <a:t>Confirmed participation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6968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Record the class or duty relationship</a:t>
            </a:r>
          </a:p>
        </p:txBody>
      </p:sp>
      <p:sp>
        <p:nvSpPr>
          <p:cNvPr id="40" name="Rounded Rectangle 39">
            <a:hlinkClick action="ppaction://hlinksldjump" r:id="rId14"/>
          </p:cNvPr>
          <p:cNvSpPr/>
          <p:nvPr/>
        </p:nvSpPr>
        <p:spPr>
          <a:xfrm>
            <a:off x="11509248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27535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>
            <a:hlinkClick action="ppaction://hlinksldjump" r:id="rId14"/>
          </p:cNvPr>
          <p:cNvSpPr txBox="1"/>
          <p:nvPr/>
        </p:nvSpPr>
        <p:spPr>
          <a:xfrm>
            <a:off x="11673840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25" b="1">
                <a:solidFill>
                  <a:srgbClr val="F7F9FF"/>
                </a:solidFill>
                <a:latin typeface="DejaVu Sans"/>
              </a:defRPr>
            </a:pPr>
            <a:r>
              <a:t>Reminder &amp; activity update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73840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Open the right programme or shift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93151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20583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34" b="1">
                <a:solidFill>
                  <a:srgbClr val="62DAE8"/>
                </a:solidFill>
                <a:latin typeface="DejaVu Sans"/>
              </a:defRPr>
            </a:pPr>
            <a:r>
              <a:t>schedules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32548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59980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constrains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860023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87455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selects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640568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668000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confirms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860023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887455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reminds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175504" y="6382512"/>
            <a:ext cx="8814816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40096" y="6473952"/>
            <a:ext cx="848563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40096" y="6647688"/>
            <a:ext cx="848563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Role / capacity checks → Calendar &amp; availability → Registration / shift request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175504" y="7214616"/>
            <a:ext cx="8814816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03520" y="7274052"/>
            <a:ext cx="8558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Slot availability; registration conflict; shift / class reminders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2749784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582912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823448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999476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999476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656576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656576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812" b="1">
                <a:solidFill>
                  <a:srgbClr val="F7F9FF"/>
                </a:solidFill>
                <a:latin typeface="DejaVu Sans"/>
              </a:defRPr>
            </a:pPr>
            <a:r>
              <a:t>Community updates connect approved stories to participation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moderated public update can build trust and point people toward programmes without exposing private cases.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8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41 / 72</a:t>
            </a:r>
          </a:p>
        </p:txBody>
      </p:sp>
      <p:pic>
        <p:nvPicPr>
          <p:cNvPr id="14" name="Picture 13" descr="15-feed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423160"/>
            <a:ext cx="2085430" cy="4251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5215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15 · Dawah &amp; Impact Feed</a:t>
            </a:r>
          </a:p>
        </p:txBody>
      </p:sp>
      <p:pic>
        <p:nvPicPr>
          <p:cNvPr id="16" name="Picture 15" descr="41-feed_composer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2423160"/>
            <a:ext cx="2085430" cy="4251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98064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41 · Community-post composer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75504" y="2240280"/>
            <a:ext cx="8814816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66944" y="2290572"/>
            <a:ext cx="863193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feed and composer · moderation controls proposed</a:t>
            </a:r>
          </a:p>
        </p:txBody>
      </p:sp>
      <p:sp>
        <p:nvSpPr>
          <p:cNvPr id="20" name="Rounded Rectangle 19">
            <a:hlinkClick action="ppaction://hlinksldjump" r:id="rId9"/>
          </p:cNvPr>
          <p:cNvSpPr/>
          <p:nvPr/>
        </p:nvSpPr>
        <p:spPr>
          <a:xfrm>
            <a:off x="5175504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93792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9"/>
          </p:cNvPr>
          <p:cNvSpPr txBox="1"/>
          <p:nvPr/>
        </p:nvSpPr>
        <p:spPr>
          <a:xfrm>
            <a:off x="5340096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63" b="1">
                <a:solidFill>
                  <a:srgbClr val="F7F9FF"/>
                </a:solidFill>
                <a:latin typeface="DejaVu Sans"/>
              </a:defRPr>
            </a:pPr>
            <a:r>
              <a:t>Approved staff / teacher 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Author and publication rights are checked</a:t>
            </a:r>
          </a:p>
        </p:txBody>
      </p:sp>
      <p:sp>
        <p:nvSpPr>
          <p:cNvPr id="24" name="Rounded Rectangle 23">
            <a:hlinkClick action="ppaction://hlinksldjump" r:id="rId10"/>
          </p:cNvPr>
          <p:cNvSpPr/>
          <p:nvPr/>
        </p:nvSpPr>
        <p:spPr>
          <a:xfrm>
            <a:off x="8342376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60663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10"/>
          </p:cNvPr>
          <p:cNvSpPr txBox="1"/>
          <p:nvPr/>
        </p:nvSpPr>
        <p:spPr>
          <a:xfrm>
            <a:off x="8506968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34" b="1">
                <a:solidFill>
                  <a:srgbClr val="F7F9FF"/>
                </a:solidFill>
                <a:latin typeface="DejaVu Sans"/>
              </a:defRPr>
            </a:pPr>
            <a:r>
              <a:t>Moderated community update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6968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Review text, media and consent</a:t>
            </a:r>
          </a:p>
        </p:txBody>
      </p:sp>
      <p:sp>
        <p:nvSpPr>
          <p:cNvPr id="28" name="Rounded Rectangle 27">
            <a:hlinkClick action="ppaction://hlinksldjump" r:id="rId11"/>
          </p:cNvPr>
          <p:cNvSpPr/>
          <p:nvPr/>
        </p:nvSpPr>
        <p:spPr>
          <a:xfrm>
            <a:off x="11509248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7535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1"/>
          </p:cNvPr>
          <p:cNvSpPr txBox="1"/>
          <p:nvPr/>
        </p:nvSpPr>
        <p:spPr>
          <a:xfrm>
            <a:off x="11673840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90" b="1">
                <a:solidFill>
                  <a:srgbClr val="F7F9FF"/>
                </a:solidFill>
                <a:latin typeface="DejaVu Sans"/>
              </a:defRPr>
            </a:pPr>
            <a:r>
              <a:t>Public programme discovery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73840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Link to approved participation information</a:t>
            </a:r>
          </a:p>
        </p:txBody>
      </p:sp>
      <p:sp>
        <p:nvSpPr>
          <p:cNvPr id="32" name="Rounded Rectangle 31">
            <a:hlinkClick action="ppaction://hlinksldjump" r:id="rId12"/>
          </p:cNvPr>
          <p:cNvSpPr/>
          <p:nvPr/>
        </p:nvSpPr>
        <p:spPr>
          <a:xfrm>
            <a:off x="5175504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93792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2"/>
          </p:cNvPr>
          <p:cNvSpPr txBox="1"/>
          <p:nvPr/>
        </p:nvSpPr>
        <p:spPr>
          <a:xfrm>
            <a:off x="5340096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77" b="1">
                <a:solidFill>
                  <a:srgbClr val="F7F9FF"/>
                </a:solidFill>
                <a:latin typeface="DejaVu Sans"/>
              </a:defRPr>
            </a:pPr>
            <a:r>
              <a:t>Privacy / beneficiary consent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0096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Never expose private case circumstances</a:t>
            </a:r>
          </a:p>
        </p:txBody>
      </p:sp>
      <p:sp>
        <p:nvSpPr>
          <p:cNvPr id="36" name="Rounded Rectangle 35">
            <a:hlinkClick action="ppaction://hlinksldjump" r:id="rId13"/>
          </p:cNvPr>
          <p:cNvSpPr/>
          <p:nvPr/>
        </p:nvSpPr>
        <p:spPr>
          <a:xfrm>
            <a:off x="8342376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60663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3"/>
          </p:cNvPr>
          <p:cNvSpPr txBox="1"/>
          <p:nvPr/>
        </p:nvSpPr>
        <p:spPr>
          <a:xfrm>
            <a:off x="8506968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33" b="1">
                <a:solidFill>
                  <a:srgbClr val="F7F9FF"/>
                </a:solidFill>
                <a:latin typeface="DejaVu Sans"/>
              </a:defRPr>
            </a:pPr>
            <a:r>
              <a:t>Approved sponsor recognition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6968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 agreed creatives and display period</a:t>
            </a:r>
          </a:p>
        </p:txBody>
      </p:sp>
      <p:sp>
        <p:nvSpPr>
          <p:cNvPr id="40" name="Rounded Rectangle 39">
            <a:hlinkClick action="ppaction://hlinksldjump" r:id="rId14"/>
          </p:cNvPr>
          <p:cNvSpPr/>
          <p:nvPr/>
        </p:nvSpPr>
        <p:spPr>
          <a:xfrm>
            <a:off x="11509248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27535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>
            <a:hlinkClick action="ppaction://hlinksldjump" r:id="rId14"/>
          </p:cNvPr>
          <p:cNvSpPr txBox="1"/>
          <p:nvPr/>
        </p:nvSpPr>
        <p:spPr>
          <a:xfrm>
            <a:off x="11673840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47" b="1">
                <a:solidFill>
                  <a:srgbClr val="F7F9FF"/>
                </a:solidFill>
                <a:latin typeface="DejaVu Sans"/>
              </a:defRPr>
            </a:pPr>
            <a:r>
              <a:t>Participation / learning action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73840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 clear destination beyond the post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93151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20583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submits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32548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59980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protects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860023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87455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63" b="1">
                <a:solidFill>
                  <a:srgbClr val="62DAE8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53728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81160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labels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420600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448032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invites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175504" y="6382512"/>
            <a:ext cx="8814816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40096" y="6473952"/>
            <a:ext cx="848563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40096" y="6647688"/>
            <a:ext cx="848563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F7F9FF"/>
                </a:solidFill>
                <a:latin typeface="DejaVu Sans"/>
              </a:defRPr>
            </a:pPr>
            <a:r>
              <a:t>Privacy / beneficiary consent → Moderated community update → Public programme discovery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175504" y="7214616"/>
            <a:ext cx="8814816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03520" y="7274052"/>
            <a:ext cx="8558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Moderation decisions; privacy review; programme follow-through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1520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315200" y="4370831"/>
            <a:ext cx="4706111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021311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494" b="1">
                <a:solidFill>
                  <a:srgbClr val="F7F9FF"/>
                </a:solidFill>
                <a:latin typeface="DejaVu Sans"/>
              </a:defRPr>
            </a:pPr>
            <a:r>
              <a:t>Sponsor recognition connects approved support to visible placements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Scheduled placements create accountable sponsor value without influencing private care or assistance decisions.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42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Sponsor agreement &amp; assets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 confirms claims, creatives and terms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Placement configuration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Location, link, dates and approval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 / website recognition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Clearly identify sponsored material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Content / privacy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No targeting from sensitive case data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Aggregate views / clicks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Report agreed non-identifying performance</a:t>
            </a:r>
          </a:p>
        </p:txBody>
      </p:sp>
      <p:sp>
        <p:nvSpPr>
          <p:cNvPr id="36" name="Rounded Rectangle 35">
            <a:hlinkClick action="ppaction://hlinksldjump" r:id="rId7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7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Renewal / expiry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Remove or renew under MRM configuration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defines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restricts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measures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expires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informs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Content / privacy rules → Placement configuration → App / website recognition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Placement start / expiry; approved asset use; aggregate delivery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675" b="1">
                <a:solidFill>
                  <a:srgbClr val="F7F9FF"/>
                </a:solidFill>
                <a:latin typeface="DejaVu Sans"/>
              </a:defRPr>
            </a:pPr>
            <a:r>
              <a:t>The website connects public discovery to the correct app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Immediate link access introduces MRM’s work and brings the right audience into learning, volunteering or support.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43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public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Mission, resources, programmes and policies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Responsive website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Discover MRM without app installation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Relevant participation route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Support, volunteer or teacher information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CMS &amp; migration inventory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Agree pages, assets and accessible content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Programme / resource detail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Public information matches approved records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 / account entry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Continue when a personal service is needed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maintains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directs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hands off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continues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CMS &amp; migration inventory → Responsive website → Relevant participation route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Public-route completion; content currency; app / service handoff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899" b="1">
                <a:solidFill>
                  <a:srgbClr val="F7F9FF"/>
                </a:solidFill>
                <a:latin typeface="DejaVu Sans"/>
              </a:defRPr>
            </a:pPr>
            <a:r>
              <a:t>Notifications connect a service event to the next safe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useful alert opens the correct authorised case, programme or shift without exposing sensitive details on a lock screen.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44 / 72</a:t>
            </a:r>
          </a:p>
        </p:txBody>
      </p:sp>
      <p:pic>
        <p:nvPicPr>
          <p:cNvPr id="14" name="Picture 13" descr="19-notifications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19 · In-app notification list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notification list · demo events / receipt claims unverified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68" b="1">
                <a:solidFill>
                  <a:srgbClr val="F7F9FF"/>
                </a:solidFill>
                <a:latin typeface="DejaVu Sans"/>
              </a:defRPr>
            </a:pPr>
            <a:r>
              <a:t>Case / class / shift event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 relevant state or schedule changes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78" b="1">
                <a:solidFill>
                  <a:srgbClr val="F7F9FF"/>
                </a:solidFill>
                <a:latin typeface="DejaVu Sans"/>
              </a:defRPr>
            </a:pPr>
            <a:r>
              <a:t>Eligibility &amp; preferences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Select the permitted recipient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66" b="1">
                <a:solidFill>
                  <a:srgbClr val="F7F9FF"/>
                </a:solidFill>
                <a:latin typeface="DejaVu Sans"/>
              </a:defRPr>
            </a:pPr>
            <a:r>
              <a:t>Privacy-safe notification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Minimal context and approved wording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99" b="1">
                <a:solidFill>
                  <a:srgbClr val="F7F9FF"/>
                </a:solidFill>
                <a:latin typeface="DejaVu Sans"/>
              </a:defRPr>
            </a:pPr>
            <a:r>
              <a:t>Current role / record 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Recheck permission at send and open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49" b="1">
                <a:solidFill>
                  <a:srgbClr val="F7F9FF"/>
                </a:solidFill>
                <a:latin typeface="DejaVu Sans"/>
              </a:defRPr>
            </a:pPr>
            <a:r>
              <a:t>Authorised destination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Case, programme, shift or account status</a:t>
            </a:r>
          </a:p>
        </p:txBody>
      </p:sp>
      <p:sp>
        <p:nvSpPr>
          <p:cNvPr id="38" name="Rounded Rectangle 37">
            <a:hlinkClick action="ppaction://hlinksldjump" r:id="rId8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8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87" b="1">
                <a:solidFill>
                  <a:srgbClr val="F7F9FF"/>
                </a:solidFill>
                <a:latin typeface="DejaVu Sans"/>
              </a:defRPr>
            </a:pPr>
            <a:r>
              <a:t>Personal activity / follow-up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Record state and review unattended work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triggers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filters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sends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links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prompts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Current role / record access → Eligibility &amp; preferences → Privacy-safe notification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Relevant delivery; consent; authorised deep link; failed-send handling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562" b="1">
                <a:solidFill>
                  <a:srgbClr val="F7F9FF"/>
                </a:solidFill>
                <a:latin typeface="DejaVu Sans"/>
              </a:defRPr>
            </a:pPr>
            <a:r>
              <a:t>Personal activity connects applications and service status over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coherent history reduces uncertainty and keeps users connected to the action that needs their attention.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45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Application / case changes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Verification, assignment or referral updates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Authorised activity 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Store the person’s relevant event history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Next action / detail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Open the current permitted record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Role &amp; record permissions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Only the correct person can see it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86" b="1">
                <a:solidFill>
                  <a:srgbClr val="F7F9FF"/>
                </a:solidFill>
                <a:latin typeface="DejaVu Sans"/>
              </a:defRPr>
            </a:pPr>
            <a:r>
              <a:t>Learning / volunteer schedule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Programme and duty updates stay relevant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Safe reminder / follow-up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Notify or route overdue work appropriately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filters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connects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10" b="1">
                <a:solidFill>
                  <a:srgbClr val="62DAE8"/>
                </a:solidFill>
                <a:latin typeface="DejaVu Sans"/>
              </a:defRPr>
            </a:pPr>
            <a:r>
              <a:t>continues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reminds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Role &amp; record permissions → Authorised activity record → Next action / detail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Correct own-record visibility; status accuracy; actionable updates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1520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315200" y="4370831"/>
            <a:ext cx="4706111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021311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46" b="1">
                <a:solidFill>
                  <a:srgbClr val="F7F9FF"/>
                </a:solidFill>
                <a:latin typeface="DejaVu Sans"/>
              </a:defRPr>
            </a:pPr>
            <a:r>
              <a:t>Administration connects decisions to real operational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The staff system is the operating layer that turns applications, requests and content into accountable outcomes.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46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Applications / cases /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Work arrives through approved journeys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Duty-based staff queues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Verification, triage and moderation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Recorded staff 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Reason, responsible staff and time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14" b="1">
                <a:solidFill>
                  <a:srgbClr val="F7F9FF"/>
                </a:solidFill>
                <a:latin typeface="DejaVu Sans"/>
              </a:defRPr>
            </a:pPr>
            <a:r>
              <a:t>MRM policies &amp; responsibilities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Define decision rights and coverage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Updated feature state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Approval, assignment or publication changes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User update / 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Communicate permitted outcomes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enters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governs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decides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changes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audits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MRM policies &amp; responsibilities → Duty-based staff queues → Recorded staff decision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Decision history; queue ownership; correct role-limited staff actions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Reports connect recorded activity to better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Operational summaries are useful only when they derive from verified events and lead to a clear staff response.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47 / 72</a:t>
            </a:r>
          </a:p>
        </p:txBody>
      </p:sp>
      <p:pic>
        <p:nvPicPr>
          <p:cNvPr id="14" name="Picture 13" descr="08-dashboard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08 · Analytics + calculator concept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analytics + calculator concept · figures illustrative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40" b="1">
                <a:solidFill>
                  <a:srgbClr val="F7F9FF"/>
                </a:solidFill>
                <a:latin typeface="DejaVu Sans"/>
              </a:defRPr>
            </a:pPr>
            <a:r>
              <a:t>Recorded case / programme 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Outcome, status and participation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77" b="1">
                <a:solidFill>
                  <a:srgbClr val="F7F9FF"/>
                </a:solidFill>
                <a:latin typeface="DejaVu Sans"/>
              </a:defRPr>
            </a:pPr>
            <a:r>
              <a:t>Agreed operational summaries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Service queues, capacity and referrals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MRM review &amp; 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Investigate bottlenecks and plan resources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19" b="1">
                <a:solidFill>
                  <a:srgbClr val="F7F9FF"/>
                </a:solidFill>
                <a:latin typeface="DejaVu Sans"/>
              </a:defRPr>
            </a:pPr>
            <a:r>
              <a:t>Data quality &amp; access 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Aggregate by default; restrict personal exports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71" b="1">
                <a:solidFill>
                  <a:srgbClr val="F7F9FF"/>
                </a:solidFill>
                <a:latin typeface="DejaVu Sans"/>
              </a:defRPr>
            </a:pPr>
            <a:r>
              <a:t>Learning / sponsor insight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Agreed programme and placement measures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1" b="1">
                <a:solidFill>
                  <a:srgbClr val="F7F9FF"/>
                </a:solidFill>
                <a:latin typeface="DejaVu Sans"/>
              </a:defRPr>
            </a:pPr>
            <a:r>
              <a:t>Documented improvement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Adjust policy, capacity or configuration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43" b="1">
                <a:solidFill>
                  <a:srgbClr val="62DAE8"/>
                </a:solidFill>
                <a:latin typeface="DejaVu Sans"/>
              </a:defRPr>
            </a:pPr>
            <a:r>
              <a:t>aggregates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governs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informs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59" b="1">
                <a:solidFill>
                  <a:srgbClr val="62DAE8"/>
                </a:solidFill>
                <a:latin typeface="DejaVu Sans"/>
              </a:defRPr>
            </a:pPr>
            <a:r>
              <a:t>summarises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acts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92" b="1">
                <a:solidFill>
                  <a:srgbClr val="62DAE8"/>
                </a:solidFill>
                <a:latin typeface="DejaVu Sans"/>
              </a:defRPr>
            </a:pPr>
            <a:r>
              <a:t>improves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Data quality &amp; access rules → Agreed operational summaries → MRM review &amp; action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Metric definitions; source reconciliation; restricted export tests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Privacy and audit connect policy to every data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Access rules must remain effective in the API, files, exports and notifications, not only in visible screens.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48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Authenticated identity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Current roles and approved attributes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Record-level authorisation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Check role, case and gender boundary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Protected case /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Restrict identity files and sensitive records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49" b="1">
                <a:solidFill>
                  <a:srgbClr val="F7F9FF"/>
                </a:solidFill>
                <a:latin typeface="DejaVu Sans"/>
              </a:defRPr>
            </a:pPr>
            <a:r>
              <a:t>MRM privacy / retention policy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Consent, sharing and retention decisions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Safe notifications / exports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Minimise disclosure outside the record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Audit / backup / recovery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Accountable action and agreed recovery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checks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defines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protects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59" b="1">
                <a:solidFill>
                  <a:srgbClr val="62DAE8"/>
                </a:solidFill>
                <a:latin typeface="DejaVu Sans"/>
              </a:defRPr>
            </a:pPr>
            <a:r>
              <a:t>constrains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audits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MRM privacy / retention policy → Record-level authorisation → Protected case / evidence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Direct API denial; file permissions; audit / recovery checks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Settings connect local choices to reliable, private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Preferences should change the intended experience consistently without silently changing role or record permissions.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49 / 72</a:t>
            </a:r>
          </a:p>
        </p:txBody>
      </p:sp>
      <p:pic>
        <p:nvPicPr>
          <p:cNvPr id="14" name="Picture 13" descr="13-settings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13 · Settings, zone, lock and cache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Settings; distinct dark-theme Home is shown on the main cover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User preferences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Language, theme and local area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Settings &amp; consent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Explicit choices and clear effects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78" b="1">
                <a:solidFill>
                  <a:srgbClr val="F7F9FF"/>
                </a:solidFill>
                <a:latin typeface="DejaVu Sans"/>
              </a:defRPr>
            </a:pPr>
            <a:r>
              <a:t>Prayer / reminder behaviour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 the approved zone and notification choice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95" b="1">
                <a:solidFill>
                  <a:srgbClr val="F7F9FF"/>
                </a:solidFill>
                <a:latin typeface="DejaVu Sans"/>
              </a:defRPr>
            </a:pPr>
            <a:r>
              <a:t>Supported offline content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Cache only approved / permitted material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50" b="1">
                <a:solidFill>
                  <a:srgbClr val="F7F9FF"/>
                </a:solidFill>
                <a:latin typeface="DejaVu Sans"/>
              </a:defRPr>
            </a:pPr>
            <a:r>
              <a:t>Device / privacy controls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Supported lock and safe local handling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Reliable repeated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Respect denied permissions and changed settings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manages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96" b="1">
                <a:solidFill>
                  <a:srgbClr val="62DAE8"/>
                </a:solidFill>
                <a:latin typeface="DejaVu Sans"/>
              </a:defRPr>
            </a:pPr>
            <a:r>
              <a:t>configures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controls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tests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protects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Supported offline content → Settings &amp; consent → Prayer / reminder behaviour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Prayer-zone changes; consent; cache and supported device-lock tests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97" b="1">
                <a:solidFill>
                  <a:srgbClr val="F7F9FF"/>
                </a:solidFill>
                <a:latin typeface="DejaVu Sans"/>
              </a:defRPr>
            </a:pPr>
            <a:r>
              <a:t>Loading, empty and error states connect trust to recovery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failed request must explain what happened and offer the right recovery path without duplicating 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50 / 72</a:t>
            </a:r>
          </a:p>
        </p:txBody>
      </p:sp>
      <p:pic>
        <p:nvPicPr>
          <p:cNvPr id="14" name="Picture 13" descr="20-empty_loading_error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20 · Loading-state skeleton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loading skeleton · empty/error tabs visible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33" b="1">
                <a:solidFill>
                  <a:srgbClr val="F7F9FF"/>
                </a:solidFill>
                <a:latin typeface="DejaVu Sans"/>
              </a:defRPr>
            </a:pPr>
            <a:r>
              <a:t>API / content operation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Load or submit a real service action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Visible state 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Loading, empty, success or error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37" b="1">
                <a:solidFill>
                  <a:srgbClr val="F7F9FF"/>
                </a:solidFill>
                <a:latin typeface="DejaVu Sans"/>
              </a:defRPr>
            </a:pPr>
            <a:r>
              <a:t>Safe retry / next 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Retry, correct input or return to a valid route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94" b="1">
                <a:solidFill>
                  <a:srgbClr val="F7F9FF"/>
                </a:solidFill>
                <a:latin typeface="DejaVu Sans"/>
              </a:defRPr>
            </a:pPr>
            <a:r>
              <a:t>Permission / network outcome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Distinguish denied access from unavailable data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12" b="1">
                <a:solidFill>
                  <a:srgbClr val="F7F9FF"/>
                </a:solidFill>
                <a:latin typeface="DejaVu Sans"/>
              </a:defRPr>
            </a:pPr>
            <a:r>
              <a:t>Persistent operation status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Check whether the action already completed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64" b="1">
                <a:solidFill>
                  <a:srgbClr val="F7F9FF"/>
                </a:solidFill>
                <a:latin typeface="DejaVu Sans"/>
              </a:defRPr>
            </a:pPr>
            <a:r>
              <a:t>Support / staff follow-up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Escalate a genuine unresolved problem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loads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guides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checks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41" b="1">
                <a:solidFill>
                  <a:srgbClr val="E8C578"/>
                </a:solidFill>
                <a:latin typeface="DejaVu Sans"/>
              </a:defRPr>
            </a:pPr>
            <a:r>
              <a:t>escalates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545" b="1">
                <a:solidFill>
                  <a:srgbClr val="62DAE8"/>
                </a:solidFill>
                <a:latin typeface="DejaVu Sans"/>
              </a:defRPr>
            </a:pPr>
            <a:r>
              <a:t>prevents loss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Permission / network outcome → Visible state feedback → Safe retry / next action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Retry correctness; no duplicate submissions; recoverable state tests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59" b="1">
                <a:solidFill>
                  <a:srgbClr val="F7F9FF"/>
                </a:solidFill>
                <a:latin typeface="DejaVu Sans"/>
              </a:defRPr>
            </a:pPr>
            <a:r>
              <a:t>Empty states connect a valid zero result to a useful next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genuine empty state reduces confusion without claiming that work is completed simply because nothing is displayed.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51 / 72</a:t>
            </a:r>
          </a:p>
        </p:txBody>
      </p:sp>
      <p:pic>
        <p:nvPicPr>
          <p:cNvPr id="14" name="Picture 13" descr="43-state_empty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43 · Empty-state panel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“No Active Care Missions” empty-state panel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Authorised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 permitted case or content list is loaded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4" b="1">
                <a:solidFill>
                  <a:srgbClr val="F7F9FF"/>
                </a:solidFill>
                <a:latin typeface="DejaVu Sans"/>
              </a:defRPr>
            </a:pPr>
            <a:r>
              <a:t>Confirmed empty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Distinguish no data from network failure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Useful next 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Return to relevant tools or participation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58" b="1">
                <a:solidFill>
                  <a:srgbClr val="F7F9FF"/>
                </a:solidFill>
                <a:latin typeface="DejaVu Sans"/>
              </a:defRPr>
            </a:pPr>
            <a:r>
              <a:t>Record / network checks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Do not treat an error as an empty list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71" b="1">
                <a:solidFill>
                  <a:srgbClr val="F7F9FF"/>
                </a:solidFill>
                <a:latin typeface="DejaVu Sans"/>
              </a:defRPr>
            </a:pPr>
            <a:r>
              <a:t>Service / programme discovery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Offer only an appropriate permitted route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New valid activity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An explicit user action starts a real journey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returns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distinguishes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guides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offers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starts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Record / network checks → Confirmed empty result → Useful next action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Correct zero-state wording; next-action eligibility; no false completion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68" b="1">
                <a:solidFill>
                  <a:srgbClr val="F7F9FF"/>
                </a:solidFill>
                <a:latin typeface="DejaVu Sans"/>
              </a:defRPr>
            </a:pPr>
            <a:r>
              <a:t>Error recovery connects service continuity to truthful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clear failure state should recover the correct operation and preserve data, rather than silently repeat a submission.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52 / 72</a:t>
            </a:r>
          </a:p>
        </p:txBody>
      </p:sp>
      <p:pic>
        <p:nvPicPr>
          <p:cNvPr id="14" name="Picture 13" descr="44-state_error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44 · Network-error panel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network-error panel with reconnect control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82" b="1">
                <a:solidFill>
                  <a:srgbClr val="F7F9FF"/>
                </a:solidFill>
                <a:latin typeface="DejaVu Sans"/>
              </a:defRPr>
            </a:pPr>
            <a:r>
              <a:t>Failed service operation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Network or backend did not complete normally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42" b="1">
                <a:solidFill>
                  <a:srgbClr val="F7F9FF"/>
                </a:solidFill>
                <a:latin typeface="DejaVu Sans"/>
              </a:defRPr>
            </a:pPr>
            <a:r>
              <a:t>Visible error explanation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State what is unavailable without overclaiming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Safe reconnect / retry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Reconcile status before resubmitting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66" b="1">
                <a:solidFill>
                  <a:srgbClr val="F7F9FF"/>
                </a:solidFill>
                <a:latin typeface="DejaVu Sans"/>
              </a:defRPr>
            </a:pPr>
            <a:r>
              <a:t>Available offline content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previously permitted cached material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02" b="1">
                <a:solidFill>
                  <a:srgbClr val="F7F9FF"/>
                </a:solidFill>
                <a:latin typeface="DejaVu Sans"/>
              </a:defRPr>
            </a:pPr>
            <a:r>
              <a:t>Persistent operation record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Check whether submission already succeeded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34" b="1">
                <a:solidFill>
                  <a:srgbClr val="F7F9FF"/>
                </a:solidFill>
                <a:latin typeface="DejaVu Sans"/>
              </a:defRPr>
            </a:pPr>
            <a:r>
              <a:t>Recovered permitted journey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Resume or route to support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fails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offers fallback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guides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checks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recovers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22" b="1">
                <a:solidFill>
                  <a:srgbClr val="62DAE8"/>
                </a:solidFill>
                <a:latin typeface="DejaVu Sans"/>
              </a:defRPr>
            </a:pPr>
            <a:r>
              <a:t>reconciles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Available offline content → Visible error explanation → Safe reconnect / retry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Reconnect; idempotent retry; cached access; status reconciliation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424159" y="5372100"/>
            <a:ext cx="777241" cy="0"/>
          </a:xfrm>
          <a:prstGeom prst="line">
            <a:avLst/>
          </a:prstGeom>
          <a:ln w="17780">
            <a:solidFill>
              <a:srgbClr val="8DD8B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029700" y="4389120"/>
            <a:ext cx="0" cy="365760"/>
          </a:xfrm>
          <a:prstGeom prst="line">
            <a:avLst/>
          </a:prstGeom>
          <a:ln w="17780">
            <a:solidFill>
              <a:srgbClr val="8DD8B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9029700" y="4389120"/>
            <a:ext cx="3566160" cy="0"/>
          </a:xfrm>
          <a:prstGeom prst="line">
            <a:avLst/>
          </a:prstGeom>
          <a:ln w="17780">
            <a:solidFill>
              <a:srgbClr val="8DD8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595860" y="4023360"/>
            <a:ext cx="0" cy="365760"/>
          </a:xfrm>
          <a:prstGeom prst="line">
            <a:avLst/>
          </a:prstGeom>
          <a:ln w="17780">
            <a:solidFill>
              <a:srgbClr val="8DD8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595860" y="4023360"/>
            <a:ext cx="0" cy="731520"/>
          </a:xfrm>
          <a:prstGeom prst="line">
            <a:avLst/>
          </a:prstGeom>
          <a:ln w="17780">
            <a:solidFill>
              <a:srgbClr val="8DD8B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246620" y="3406139"/>
            <a:ext cx="388620" cy="0"/>
          </a:xfrm>
          <a:prstGeom prst="line">
            <a:avLst/>
          </a:prstGeom>
          <a:ln w="17780">
            <a:solidFill>
              <a:srgbClr val="8DD8B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246620" y="3406139"/>
            <a:ext cx="0" cy="1965961"/>
          </a:xfrm>
          <a:prstGeom prst="line">
            <a:avLst/>
          </a:prstGeom>
          <a:ln w="17780">
            <a:solidFill>
              <a:srgbClr val="8DD8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858000" y="5372100"/>
            <a:ext cx="388620" cy="0"/>
          </a:xfrm>
          <a:prstGeom prst="line">
            <a:avLst/>
          </a:prstGeom>
          <a:ln w="17780">
            <a:solidFill>
              <a:srgbClr val="8DD8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424159" y="3406139"/>
            <a:ext cx="777241" cy="0"/>
          </a:xfrm>
          <a:prstGeom prst="line">
            <a:avLst/>
          </a:prstGeom>
          <a:ln w="17780">
            <a:solidFill>
              <a:srgbClr val="8DD8B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858000" y="3406139"/>
            <a:ext cx="777240" cy="0"/>
          </a:xfrm>
          <a:prstGeom prst="line">
            <a:avLst/>
          </a:prstGeom>
          <a:ln w="17780">
            <a:solidFill>
              <a:srgbClr val="8DD8B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END-TO-END CARE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Care is a connected service, not a dispatch button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Verification, matching, contact, closure and recognition have distinct responsibilities and access boundaries.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53 / 72</a:t>
            </a:r>
          </a:p>
        </p:txBody>
      </p:sp>
      <p:pic>
        <p:nvPicPr>
          <p:cNvPr id="14" name="Picture 13" descr="36-onboarding_slide3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2376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36 · Onboarding · volunteer pillar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4069080" y="2788920"/>
            <a:ext cx="2788920" cy="12344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87368" y="2907791"/>
            <a:ext cx="32004" cy="996696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4233672" y="2935224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Private request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3672" y="3392424"/>
            <a:ext cx="24597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Triage selects the routine or restricted route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7635240" y="2788920"/>
            <a:ext cx="2788920" cy="12344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53527" y="2907791"/>
            <a:ext cx="32004" cy="996696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7799831" y="2935224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Eligible matching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9831" y="3392424"/>
            <a:ext cx="24597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active volunteer + access rules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1201400" y="2788920"/>
            <a:ext cx="2788920" cy="12344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219688" y="2907791"/>
            <a:ext cx="32004" cy="996696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1365992" y="2935224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33" b="1">
                <a:solidFill>
                  <a:srgbClr val="F7F9FF"/>
                </a:solidFill>
                <a:latin typeface="DejaVu Sans"/>
              </a:defRPr>
            </a:pPr>
            <a:r>
              <a:t>Confirmed assignment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3392424"/>
            <a:ext cx="24597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Record who is responsible for the work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4069080" y="4754880"/>
            <a:ext cx="2788920" cy="12344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87368" y="4873752"/>
            <a:ext cx="32004" cy="996696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4233672" y="4901184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65" b="1">
                <a:solidFill>
                  <a:srgbClr val="F7F9FF"/>
                </a:solidFill>
                <a:latin typeface="DejaVu Sans"/>
              </a:defRPr>
            </a:pPr>
            <a:r>
              <a:t>Verification &amp; interview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33672" y="5358384"/>
            <a:ext cx="24597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Review evidence before eligible service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7635240" y="4754880"/>
            <a:ext cx="2788920" cy="12344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53527" y="4873752"/>
            <a:ext cx="32004" cy="996696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7799831" y="4901184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90" b="1">
                <a:solidFill>
                  <a:srgbClr val="F7F9FF"/>
                </a:solidFill>
                <a:latin typeface="DejaVu Sans"/>
              </a:defRPr>
            </a:pPr>
            <a:r>
              <a:t>Permitted case contact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99831" y="5358384"/>
            <a:ext cx="24597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Progress, report concerns and follow up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1201400" y="4754880"/>
            <a:ext cx="2788920" cy="12344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219688" y="4873752"/>
            <a:ext cx="32004" cy="996696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1365992" y="4901184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Closure &amp; recognition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65992" y="5358384"/>
            <a:ext cx="24597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Verify outcome before service credit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94576" y="3095244"/>
            <a:ext cx="704087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22008" y="3131820"/>
            <a:ext cx="64922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8DD8B1"/>
                </a:solidFill>
                <a:latin typeface="DejaVu Sans"/>
              </a:defRPr>
            </a:pPr>
            <a:r>
              <a:t>triages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60735" y="3095244"/>
            <a:ext cx="70408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88167" y="3131820"/>
            <a:ext cx="64922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8DD8B1"/>
                </a:solidFill>
                <a:latin typeface="DejaVu Sans"/>
              </a:defRPr>
            </a:pPr>
            <a:r>
              <a:t>offers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79692" y="4270248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07124" y="4306824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8DD8B1"/>
                </a:solidFill>
                <a:latin typeface="DejaVu Sans"/>
              </a:defRPr>
            </a:pPr>
            <a:r>
              <a:t>qualifies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266676" y="4270248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294108" y="4306824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8DD8B1"/>
                </a:solidFill>
                <a:latin typeface="DejaVu Sans"/>
              </a:defRPr>
            </a:pPr>
            <a:r>
              <a:t>confirms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287000" y="4078224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314432" y="4114800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8DD8B1"/>
                </a:solidFill>
                <a:latin typeface="DejaVu Sans"/>
              </a:defRPr>
            </a:pPr>
            <a:r>
              <a:t>permits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60735" y="5061204"/>
            <a:ext cx="70408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88167" y="5097780"/>
            <a:ext cx="64922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8DD8B1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69080" y="7132320"/>
            <a:ext cx="9921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97096" y="7191756"/>
            <a:ext cx="9665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Restricted faith / family cases go to designated personnel, not the general volunteer broadcast route.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7315200" y="4288536"/>
            <a:ext cx="0" cy="402336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7315200" y="4288536"/>
            <a:ext cx="4709160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024360" y="3886200"/>
            <a:ext cx="0" cy="402336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281159" y="5330952"/>
            <a:ext cx="777241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72000" y="5330952"/>
            <a:ext cx="77724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2024360" y="3886200"/>
            <a:ext cx="0" cy="804672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281159" y="3246120"/>
            <a:ext cx="777241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72000" y="3246120"/>
            <a:ext cx="77724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END-TO-END LEARNING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66" b="1">
                <a:solidFill>
                  <a:srgbClr val="F7F9FF"/>
                </a:solidFill>
                <a:latin typeface="DejaVu Sans"/>
              </a:defRPr>
            </a:pPr>
            <a:r>
              <a:t>Learning connects content, entitlement, time and participation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Teacher approval, payment verification and moderation are independent controls serving one learner journey.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54 / 72</a:t>
            </a:r>
          </a:p>
        </p:txBody>
      </p:sp>
      <p:sp>
        <p:nvSpPr>
          <p:cNvPr id="14" name="Rounded Rectangle 13">
            <a:hlinkClick action="ppaction://hlinksldjump" r:id="rId6"/>
          </p:cNvPr>
          <p:cNvSpPr/>
          <p:nvPr/>
        </p:nvSpPr>
        <p:spPr>
          <a:xfrm>
            <a:off x="640080" y="2606040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724912"/>
            <a:ext cx="32004" cy="1042415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>
            <a:hlinkClick action="ppaction://hlinksldjump" r:id="rId6"/>
          </p:cNvPr>
          <p:cNvSpPr txBox="1"/>
          <p:nvPr/>
        </p:nvSpPr>
        <p:spPr>
          <a:xfrm>
            <a:off x="804671" y="2752344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Teacher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3209544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 confirms credentials and role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5349240" y="2606040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67527" y="2724912"/>
            <a:ext cx="32004" cy="1042415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5513831" y="2752344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Plan entitlement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3831" y="3209544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Verify designated publishing privileges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10058400" y="2606040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76688" y="2724912"/>
            <a:ext cx="32004" cy="1042415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10222992" y="2752344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Content moderation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2992" y="3209544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Religious / rights and publication review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640080" y="4690872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09744"/>
            <a:ext cx="32004" cy="1042415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804671" y="4837176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Discovery &amp; guidance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" y="5294376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Daily tools and public content open learning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5349240" y="4690872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7527" y="4809744"/>
            <a:ext cx="32004" cy="1042415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5513831" y="4837176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Programme registration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13831" y="5294376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Schedule and access rules are explicit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10058400" y="4690872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76688" y="4809744"/>
            <a:ext cx="32004" cy="1042415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10222992" y="4837176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Session / recording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22992" y="5294376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Permitted access, reminders and continuation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08576" y="2935224"/>
            <a:ext cx="704087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36008" y="2971800"/>
            <a:ext cx="64922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qualifies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17735" y="2935224"/>
            <a:ext cx="70408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45167" y="2971800"/>
            <a:ext cx="64922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468" b="1">
                <a:solidFill>
                  <a:srgbClr val="C2A3FF"/>
                </a:solidFill>
                <a:latin typeface="DejaVu Sans"/>
              </a:defRPr>
            </a:pPr>
            <a:r>
              <a:t>allows submission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695176" y="4169663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722608" y="4206240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25" b="1">
                <a:solidFill>
                  <a:srgbClr val="C2A3FF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08576" y="5020056"/>
            <a:ext cx="704087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36008" y="5056632"/>
            <a:ext cx="64922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registers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17735" y="5020056"/>
            <a:ext cx="70408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45167" y="5056632"/>
            <a:ext cx="64922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permits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0" y="3977639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71432" y="4014215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lists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No teacher payment grants private-case access. No proposed subscription paywall for ordinary members or volunteers.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9281159" y="5330952"/>
            <a:ext cx="777241" cy="0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2024360" y="3886200"/>
            <a:ext cx="0" cy="804672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315200" y="3886200"/>
            <a:ext cx="0" cy="804672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960620" y="3246120"/>
            <a:ext cx="388620" cy="0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960620" y="3246120"/>
            <a:ext cx="0" cy="2084832"/>
          </a:xfrm>
          <a:prstGeom prst="line">
            <a:avLst/>
          </a:prstGeom>
          <a:ln w="17780">
            <a:solidFill>
              <a:srgbClr val="E8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72000" y="5330952"/>
            <a:ext cx="388620" cy="0"/>
          </a:xfrm>
          <a:prstGeom prst="line">
            <a:avLst/>
          </a:prstGeom>
          <a:ln w="17780">
            <a:solidFill>
              <a:srgbClr val="E8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281159" y="3246120"/>
            <a:ext cx="777241" cy="0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72000" y="3246120"/>
            <a:ext cx="777240" cy="0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EVERYDAY MUSLIM JOURNEY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70" b="1">
                <a:solidFill>
                  <a:srgbClr val="F7F9FF"/>
                </a:solidFill>
                <a:latin typeface="DejaVu Sans"/>
              </a:defRPr>
            </a:pPr>
            <a:r>
              <a:t>Daily tools make the platform valuable between service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person can practise, learn and discover relevant participation without needing an assistance case.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55 / 72</a:t>
            </a:r>
          </a:p>
        </p:txBody>
      </p:sp>
      <p:sp>
        <p:nvSpPr>
          <p:cNvPr id="14" name="Rounded Rectangle 13">
            <a:hlinkClick action="ppaction://hlinksldjump" r:id="rId6"/>
          </p:cNvPr>
          <p:cNvSpPr/>
          <p:nvPr/>
        </p:nvSpPr>
        <p:spPr>
          <a:xfrm>
            <a:off x="640080" y="2606040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724912"/>
            <a:ext cx="32004" cy="1042415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>
            <a:hlinkClick action="ppaction://hlinksldjump" r:id="rId6"/>
          </p:cNvPr>
          <p:cNvSpPr txBox="1"/>
          <p:nvPr/>
        </p:nvSpPr>
        <p:spPr>
          <a:xfrm>
            <a:off x="804671" y="2752344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Location / source settings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3209544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Approved local and content conventions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5349240" y="2606040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67527" y="2724912"/>
            <a:ext cx="32004" cy="1042415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5513831" y="2752344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Daily Islamic utilities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3831" y="3209544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Prayer, Quran, Qibla and remembrance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10058400" y="2606040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76688" y="2724912"/>
            <a:ext cx="32004" cy="1042415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10222992" y="2752344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explanations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2992" y="3209544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Guides, references and programmes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640080" y="4690872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09744"/>
            <a:ext cx="32004" cy="1042415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804671" y="4837176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Private personal choices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" y="5294376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Consent, logs and supported cache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5349240" y="4690872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7527" y="4809744"/>
            <a:ext cx="32004" cy="1042415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5513831" y="4837176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Relevant discovery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13831" y="5294376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Mosques, classes and support routes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10058400" y="4690872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76688" y="4809744"/>
            <a:ext cx="32004" cy="1042415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10222992" y="4837176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Voluntary participation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22992" y="5294376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Join a programme or begin a request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08576" y="2935224"/>
            <a:ext cx="704087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36008" y="2971800"/>
            <a:ext cx="64922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10" b="1">
                <a:solidFill>
                  <a:srgbClr val="E8C578"/>
                </a:solidFill>
                <a:latin typeface="DejaVu Sans"/>
              </a:defRPr>
            </a:pPr>
            <a:r>
              <a:t>configures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17735" y="2935224"/>
            <a:ext cx="70408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45167" y="2971800"/>
            <a:ext cx="64922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93692" y="4169663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21124" y="4206240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personalises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86016" y="4169663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13448" y="4206240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34" b="1">
                <a:solidFill>
                  <a:srgbClr val="E8C578"/>
                </a:solidFill>
                <a:latin typeface="DejaVu Sans"/>
              </a:defRPr>
            </a:pPr>
            <a:r>
              <a:t>discovers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695176" y="4169663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722608" y="4206240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invites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17735" y="5020056"/>
            <a:ext cx="70408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45167" y="5056632"/>
            <a:ext cx="64922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continues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Personal worship logs stay private. Community participation is a choice, not a condition of using daily tools.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9281159" y="5330952"/>
            <a:ext cx="777241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572000" y="5330952"/>
            <a:ext cx="77724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315200" y="4288536"/>
            <a:ext cx="0" cy="402336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7315200" y="4288536"/>
            <a:ext cx="470916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2024360" y="3886200"/>
            <a:ext cx="0" cy="402336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2024360" y="3886200"/>
            <a:ext cx="0" cy="804672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606039" y="3886200"/>
            <a:ext cx="0" cy="804672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281159" y="3246120"/>
            <a:ext cx="777241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72000" y="3246120"/>
            <a:ext cx="77724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SHARED EVENT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679" b="1">
                <a:solidFill>
                  <a:srgbClr val="F7F9FF"/>
                </a:solidFill>
                <a:latin typeface="DejaVu Sans"/>
              </a:defRPr>
            </a:pPr>
            <a:r>
              <a:t>One event connects state, notification and accountable follow-up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An alert is useful only when it points to the right record and preserves the current access boundary.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56 / 72</a:t>
            </a:r>
          </a:p>
        </p:txBody>
      </p:sp>
      <p:sp>
        <p:nvSpPr>
          <p:cNvPr id="14" name="Rounded Rectangle 13">
            <a:hlinkClick action="ppaction://hlinksldjump" r:id="rId6"/>
          </p:cNvPr>
          <p:cNvSpPr/>
          <p:nvPr/>
        </p:nvSpPr>
        <p:spPr>
          <a:xfrm>
            <a:off x="640080" y="2606040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724912"/>
            <a:ext cx="32004" cy="1042415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>
            <a:hlinkClick action="ppaction://hlinksldjump" r:id="rId6"/>
          </p:cNvPr>
          <p:cNvSpPr txBox="1"/>
          <p:nvPr/>
        </p:nvSpPr>
        <p:spPr>
          <a:xfrm>
            <a:off x="804671" y="2752344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Application / case / 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3209544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 legitimate service state changes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5349240" y="2606040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67527" y="2724912"/>
            <a:ext cx="32004" cy="1042415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5513831" y="2752344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Recipient &amp; privacy checks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3831" y="3209544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Role, record and notification preference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10058400" y="2606040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76688" y="2724912"/>
            <a:ext cx="32004" cy="1042415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10222992" y="2752344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Safe alert 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2992" y="3209544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Minimal copy and relevant destination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640080" y="4690872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09744"/>
            <a:ext cx="32004" cy="1042415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804671" y="4837176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Persistent event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" y="5294376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Record the actual transition and owner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5349240" y="4690872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7527" y="4809744"/>
            <a:ext cx="32004" cy="1042415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5513831" y="4837176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Authorised next 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13831" y="5294376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Recheck access when the user opens it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10058400" y="4690872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76688" y="4809744"/>
            <a:ext cx="32004" cy="1042415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10222992" y="4837176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Follow-up &amp; reports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22992" y="5294376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Review unattended work; aggregate outcomes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08576" y="2935224"/>
            <a:ext cx="704087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36008" y="2971800"/>
            <a:ext cx="64922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triggers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17735" y="2935224"/>
            <a:ext cx="70408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45167" y="2971800"/>
            <a:ext cx="64922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filters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76856" y="4169663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04287" y="4206240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695176" y="4169663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722608" y="4206240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prompts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0" y="3977639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71432" y="4014215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08576" y="5020056"/>
            <a:ext cx="704087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36008" y="5056632"/>
            <a:ext cx="64922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40" b="1">
                <a:solidFill>
                  <a:srgbClr val="62DAE8"/>
                </a:solidFill>
                <a:latin typeface="DejaVu Sans"/>
              </a:defRPr>
            </a:pPr>
            <a:r>
              <a:t>reconciles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17735" y="5020056"/>
            <a:ext cx="70408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45167" y="5056632"/>
            <a:ext cx="64922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Failed notification delivery does not erase the case; application state and staff follow-up remain authoritative.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006840" y="4370831"/>
            <a:ext cx="0" cy="329185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9006840" y="4370831"/>
            <a:ext cx="3550920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557760" y="4041648"/>
            <a:ext cx="0" cy="329183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EXTENDED CONCEPT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814" b="1">
                <a:solidFill>
                  <a:srgbClr val="F7F9FF"/>
                </a:solidFill>
                <a:latin typeface="DejaVu Sans"/>
              </a:defRPr>
            </a:pPr>
            <a:r>
              <a:t>Relief campaigns connect public interest to a defined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transparent campaign should explain its purpose and owner before a person considers a contribution.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57 / 72</a:t>
            </a:r>
          </a:p>
        </p:txBody>
      </p:sp>
      <p:pic>
        <p:nvPicPr>
          <p:cNvPr id="14" name="Picture 13" descr="10-catalog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10 · Infaq &amp; Relief Campaigns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E8C578"/>
                </a:solidFill>
                <a:latin typeface="DejaVu Sans"/>
              </a:defRPr>
            </a:pPr>
            <a:r>
              <a:t>Extended concept · fundraising / authority approval required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43" b="1">
                <a:solidFill>
                  <a:srgbClr val="F7F9FF"/>
                </a:solidFill>
                <a:latin typeface="DejaVu Sans"/>
              </a:defRPr>
            </a:pPr>
            <a:r>
              <a:t>Approved programme / purpose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MRM defines the intended relief initiative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C2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Campaign discovery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Categories, information and display period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44" b="1">
                <a:solidFill>
                  <a:srgbClr val="F7F9FF"/>
                </a:solidFill>
                <a:latin typeface="DejaVu Sans"/>
              </a:defRPr>
            </a:pPr>
            <a:r>
              <a:t>Purpose / provisions detail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Explain what is being supported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39" b="1">
                <a:solidFill>
                  <a:srgbClr val="F7F9FF"/>
                </a:solidFill>
                <a:latin typeface="DejaVu Sans"/>
              </a:defRPr>
            </a:pPr>
            <a:r>
              <a:t>Authority &amp; claim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Check permissions, tax wording and rights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46" b="1">
                <a:solidFill>
                  <a:srgbClr val="F7F9FF"/>
                </a:solidFill>
                <a:latin typeface="DejaVu Sans"/>
              </a:defRPr>
            </a:pPr>
            <a:r>
              <a:t>Contribution allocation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 separate conditional financial journey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36" b="1">
                <a:solidFill>
                  <a:srgbClr val="F7F9FF"/>
                </a:solidFill>
                <a:latin typeface="DejaVu Sans"/>
              </a:defRPr>
            </a:pPr>
            <a:r>
              <a:t>Recorded contribution status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verified transaction outcomes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63" b="1">
                <a:solidFill>
                  <a:srgbClr val="C2A3FF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approves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56520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83952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selects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49" b="1">
                <a:solidFill>
                  <a:srgbClr val="C2A3FF"/>
                </a:solidFill>
                <a:latin typeface="DejaVu Sans"/>
              </a:defRPr>
            </a:pPr>
            <a:r>
              <a:t>continues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Authority &amp; claim review → Campaign discovery → Purpose / provisions detail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Approved campaign information; correct status; purpose clarity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2749784" y="4041648"/>
            <a:ext cx="0" cy="658368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582912" y="4041648"/>
            <a:ext cx="0" cy="658368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823448" y="3429000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999476" y="3429000"/>
            <a:ext cx="3429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999476" y="3429000"/>
            <a:ext cx="0" cy="1883664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656576" y="5312664"/>
            <a:ext cx="342900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656576" y="3429000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EXTENDED CONCEPT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Campaign detail connects a pledge to explicit provisions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Clear provisions and responsible ownership help supporters understand the intended purpose without relying on unsupported impact claims.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8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58 / 72</a:t>
            </a:r>
          </a:p>
        </p:txBody>
      </p:sp>
      <p:pic>
        <p:nvPicPr>
          <p:cNvPr id="14" name="Picture 13" descr="11-product_detail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423160"/>
            <a:ext cx="2085430" cy="4251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5215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11 · Campaign detail · Overview</a:t>
            </a:r>
          </a:p>
        </p:txBody>
      </p:sp>
      <p:pic>
        <p:nvPicPr>
          <p:cNvPr id="16" name="Picture 15" descr="37-product_provisions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2423160"/>
            <a:ext cx="2085430" cy="4251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98064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37 · Campaign detail · Provisions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75504" y="2240280"/>
            <a:ext cx="8814816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66944" y="2290572"/>
            <a:ext cx="863193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E8C578"/>
                </a:solidFill>
                <a:latin typeface="DejaVu Sans"/>
              </a:defRPr>
            </a:pPr>
            <a:r>
              <a:t>Extended concept · distinct Overview and Provisions tabs</a:t>
            </a:r>
          </a:p>
        </p:txBody>
      </p:sp>
      <p:sp>
        <p:nvSpPr>
          <p:cNvPr id="20" name="Rounded Rectangle 19">
            <a:hlinkClick action="ppaction://hlinksldjump" r:id="rId9"/>
          </p:cNvPr>
          <p:cNvSpPr/>
          <p:nvPr/>
        </p:nvSpPr>
        <p:spPr>
          <a:xfrm>
            <a:off x="5175504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93792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9"/>
          </p:cNvPr>
          <p:cNvSpPr txBox="1"/>
          <p:nvPr/>
        </p:nvSpPr>
        <p:spPr>
          <a:xfrm>
            <a:off x="5340096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39" b="1">
                <a:solidFill>
                  <a:srgbClr val="F7F9FF"/>
                </a:solidFill>
                <a:latin typeface="DejaVu Sans"/>
              </a:defRPr>
            </a:pPr>
            <a:r>
              <a:t>Campaign selection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Choose an approved relief initiative</a:t>
            </a:r>
          </a:p>
        </p:txBody>
      </p:sp>
      <p:sp>
        <p:nvSpPr>
          <p:cNvPr id="24" name="Rounded Rectangle 23">
            <a:hlinkClick action="ppaction://hlinksldjump" r:id="rId10"/>
          </p:cNvPr>
          <p:cNvSpPr/>
          <p:nvPr/>
        </p:nvSpPr>
        <p:spPr>
          <a:xfrm>
            <a:off x="8342376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C2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60663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10"/>
          </p:cNvPr>
          <p:cNvSpPr txBox="1"/>
          <p:nvPr/>
        </p:nvSpPr>
        <p:spPr>
          <a:xfrm>
            <a:off x="8506968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62" b="1">
                <a:solidFill>
                  <a:srgbClr val="F7F9FF"/>
                </a:solidFill>
                <a:latin typeface="DejaVu Sans"/>
              </a:defRPr>
            </a:pPr>
            <a:r>
              <a:t>Purpose &amp; provision detail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6968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Overview, contents and responsible contact</a:t>
            </a:r>
          </a:p>
        </p:txBody>
      </p:sp>
      <p:sp>
        <p:nvSpPr>
          <p:cNvPr id="28" name="Rounded Rectangle 27">
            <a:hlinkClick action="ppaction://hlinksldjump" r:id="rId11"/>
          </p:cNvPr>
          <p:cNvSpPr/>
          <p:nvPr/>
        </p:nvSpPr>
        <p:spPr>
          <a:xfrm>
            <a:off x="11509248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7535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1"/>
          </p:cNvPr>
          <p:cNvSpPr txBox="1"/>
          <p:nvPr/>
        </p:nvSpPr>
        <p:spPr>
          <a:xfrm>
            <a:off x="11673840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69" b="1">
                <a:solidFill>
                  <a:srgbClr val="F7F9FF"/>
                </a:solidFill>
                <a:latin typeface="DejaVu Sans"/>
              </a:defRPr>
            </a:pPr>
            <a:r>
              <a:t>Contribution selection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73840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Quantity or supported allocation choice</a:t>
            </a:r>
          </a:p>
        </p:txBody>
      </p:sp>
      <p:sp>
        <p:nvSpPr>
          <p:cNvPr id="32" name="Rounded Rectangle 31">
            <a:hlinkClick action="ppaction://hlinksldjump" r:id="rId12"/>
          </p:cNvPr>
          <p:cNvSpPr/>
          <p:nvPr/>
        </p:nvSpPr>
        <p:spPr>
          <a:xfrm>
            <a:off x="5175504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93792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2"/>
          </p:cNvPr>
          <p:cNvSpPr txBox="1"/>
          <p:nvPr/>
        </p:nvSpPr>
        <p:spPr>
          <a:xfrm>
            <a:off x="5340096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85" b="1">
                <a:solidFill>
                  <a:srgbClr val="F7F9FF"/>
                </a:solidFill>
                <a:latin typeface="DejaVu Sans"/>
              </a:defRPr>
            </a:pPr>
            <a:r>
              <a:t>Claims / rights approval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0096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No assumed tax status or guaranteed delivery</a:t>
            </a:r>
          </a:p>
        </p:txBody>
      </p:sp>
      <p:sp>
        <p:nvSpPr>
          <p:cNvPr id="36" name="Rounded Rectangle 35">
            <a:hlinkClick action="ppaction://hlinksldjump" r:id="rId13"/>
          </p:cNvPr>
          <p:cNvSpPr/>
          <p:nvPr/>
        </p:nvSpPr>
        <p:spPr>
          <a:xfrm>
            <a:off x="8342376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60663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3"/>
          </p:cNvPr>
          <p:cNvSpPr txBox="1"/>
          <p:nvPr/>
        </p:nvSpPr>
        <p:spPr>
          <a:xfrm>
            <a:off x="8506968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48" b="1">
                <a:solidFill>
                  <a:srgbClr val="F7F9FF"/>
                </a:solidFill>
                <a:latin typeface="DejaVu Sans"/>
              </a:defRPr>
            </a:pPr>
            <a:r>
              <a:t>Permitted impact information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6968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approved, consented and evidenced material</a:t>
            </a:r>
          </a:p>
        </p:txBody>
      </p:sp>
      <p:sp>
        <p:nvSpPr>
          <p:cNvPr id="40" name="Rounded Rectangle 39">
            <a:hlinkClick action="ppaction://hlinksldjump" r:id="rId14"/>
          </p:cNvPr>
          <p:cNvSpPr/>
          <p:nvPr/>
        </p:nvSpPr>
        <p:spPr>
          <a:xfrm>
            <a:off x="11509248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27535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>
            <a:hlinkClick action="ppaction://hlinksldjump" r:id="rId14"/>
          </p:cNvPr>
          <p:cNvSpPr txBox="1"/>
          <p:nvPr/>
        </p:nvSpPr>
        <p:spPr>
          <a:xfrm>
            <a:off x="11673840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66" b="1">
                <a:solidFill>
                  <a:srgbClr val="F7F9FF"/>
                </a:solidFill>
                <a:latin typeface="DejaVu Sans"/>
              </a:defRPr>
            </a:pPr>
            <a:r>
              <a:t>Verified status / confirmation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73840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Do not claim completion before verification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93151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20583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32548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59980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reviews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860023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87455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selects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53728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81160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420600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448032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10" b="1">
                <a:solidFill>
                  <a:srgbClr val="C2A3FF"/>
                </a:solidFill>
                <a:latin typeface="DejaVu Sans"/>
              </a:defRPr>
            </a:pPr>
            <a:r>
              <a:t>continues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175504" y="6382512"/>
            <a:ext cx="8814816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40096" y="6473952"/>
            <a:ext cx="848563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40096" y="6647688"/>
            <a:ext cx="848563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Claims / rights approval → Purpose &amp; provision detail → Contribution selection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175504" y="7214616"/>
            <a:ext cx="8814816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03520" y="7274052"/>
            <a:ext cx="8558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Approved provisions; amount calculation; correct purpose selection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EXTENDED CONCEPT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426" b="1">
                <a:solidFill>
                  <a:srgbClr val="F7F9FF"/>
                </a:solidFill>
                <a:latin typeface="DejaVu Sans"/>
              </a:defRPr>
            </a:pPr>
            <a:r>
              <a:t>Impact information connects an outcome to trustworthy 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Verified and consented evidence can explain value; a sample testimonial must never be presented as a proven result.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59 / 72</a:t>
            </a:r>
          </a:p>
        </p:txBody>
      </p:sp>
      <p:pic>
        <p:nvPicPr>
          <p:cNvPr id="14" name="Picture 13" descr="38-product_impact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38 · Campaign detail · sample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E8C578"/>
                </a:solidFill>
                <a:latin typeface="DejaVu Sans"/>
              </a:defRPr>
            </a:pPr>
            <a:r>
              <a:t>Extended concept · sample Impact tab, not verified testimonials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43" b="1">
                <a:solidFill>
                  <a:srgbClr val="F7F9FF"/>
                </a:solidFill>
                <a:latin typeface="DejaVu Sans"/>
              </a:defRPr>
            </a:pPr>
            <a:r>
              <a:t>Verified service 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An accountable event and confirmation exist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C2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76" b="1">
                <a:solidFill>
                  <a:srgbClr val="F7F9FF"/>
                </a:solidFill>
                <a:latin typeface="DejaVu Sans"/>
              </a:defRPr>
            </a:pPr>
            <a:r>
              <a:t>Approved impact record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Check evidence, privacy and consent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53" b="1">
                <a:solidFill>
                  <a:srgbClr val="F7F9FF"/>
                </a:solidFill>
                <a:latin typeface="DejaVu Sans"/>
              </a:defRPr>
            </a:pPr>
            <a:r>
              <a:t>Public campaign /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 only permitted, supported statements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15" b="1">
                <a:solidFill>
                  <a:srgbClr val="F7F9FF"/>
                </a:solidFill>
                <a:latin typeface="DejaVu Sans"/>
              </a:defRPr>
            </a:pPr>
            <a:r>
              <a:t>Beneficiary consent &amp; privacy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Exclude identifying private case details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F7F9FF"/>
                </a:solidFill>
                <a:latin typeface="DejaVu Sans"/>
              </a:defRPr>
            </a:pPr>
            <a:r>
              <a:t>Aggregate programme insight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MRM reviews responsible summaries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46" b="1">
                <a:solidFill>
                  <a:srgbClr val="F7F9FF"/>
                </a:solidFill>
                <a:latin typeface="DejaVu Sans"/>
              </a:defRPr>
            </a:pPr>
            <a:r>
              <a:t>Content correction / withdrawal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Remove material when permission changes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31" b="1">
                <a:solidFill>
                  <a:srgbClr val="C2A3FF"/>
                </a:solidFill>
                <a:latin typeface="DejaVu Sans"/>
              </a:defRPr>
            </a:pPr>
            <a:r>
              <a:t>evidences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permits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63" b="1">
                <a:solidFill>
                  <a:srgbClr val="C2A3FF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95" b="1">
                <a:solidFill>
                  <a:srgbClr val="C2A3FF"/>
                </a:solidFill>
                <a:latin typeface="DejaVu Sans"/>
              </a:defRPr>
            </a:pPr>
            <a:r>
              <a:t>aggregates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corrects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Beneficiary consent &amp; privacy → Approved impact record → Public campaign / report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Evidence traceability; consent; approval and correction records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006840" y="4370831"/>
            <a:ext cx="0" cy="329185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9006840" y="4370831"/>
            <a:ext cx="3550920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557760" y="4041648"/>
            <a:ext cx="0" cy="329183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EXTENDED CONCEPT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22" b="1">
                <a:solidFill>
                  <a:srgbClr val="F7F9FF"/>
                </a:solidFill>
                <a:latin typeface="DejaVu Sans"/>
              </a:defRPr>
            </a:pPr>
            <a:r>
              <a:t>Contribution allocation connects intention, purpose and amount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An explicit allocation and transparent total reduce confusion between donations, business sponsorship and teacher subscriptions.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60 / 72</a:t>
            </a:r>
          </a:p>
        </p:txBody>
      </p:sp>
      <p:pic>
        <p:nvPicPr>
          <p:cNvPr id="14" name="Picture 13" descr="17-cart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17 · Sadaqah &amp; Infaq Allocation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E8C578"/>
                </a:solidFill>
                <a:latin typeface="DejaVu Sans"/>
              </a:defRPr>
            </a:pPr>
            <a:r>
              <a:t>Extended concept · Sadaqah / Infaq allocation, not retail cart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70" b="1">
                <a:solidFill>
                  <a:srgbClr val="F7F9FF"/>
                </a:solidFill>
                <a:latin typeface="DejaVu Sans"/>
              </a:defRPr>
            </a:pPr>
            <a:r>
              <a:t>Approved campaign / provision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An authorised purpose is selected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C2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46" b="1">
                <a:solidFill>
                  <a:srgbClr val="F7F9FF"/>
                </a:solidFill>
                <a:latin typeface="DejaVu Sans"/>
              </a:defRPr>
            </a:pPr>
            <a:r>
              <a:t>Contribution allocation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Purpose, quantity and optional support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23" b="1">
                <a:solidFill>
                  <a:srgbClr val="F7F9FF"/>
                </a:solidFill>
                <a:latin typeface="DejaVu Sans"/>
              </a:defRPr>
            </a:pPr>
            <a:r>
              <a:t>Amount / purpose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Make the intended commitment clear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35" b="1">
                <a:solidFill>
                  <a:srgbClr val="F7F9FF"/>
                </a:solidFill>
                <a:latin typeface="DejaVu Sans"/>
              </a:defRPr>
            </a:pPr>
            <a:r>
              <a:t>Financial policy &amp; permission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Terms, handling and authority requirements</a:t>
            </a:r>
          </a:p>
        </p:txBody>
      </p:sp>
      <p:sp>
        <p:nvSpPr>
          <p:cNvPr id="34" name="Rounded Rectangle 33">
            <a:hlinkClick action="ppaction://hlinksldjump" r:id="rId10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0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49" b="1">
                <a:solidFill>
                  <a:srgbClr val="F7F9FF"/>
                </a:solidFill>
                <a:latin typeface="DejaVu Sans"/>
              </a:defRPr>
            </a:pPr>
            <a:r>
              <a:t>Conditional payment journey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 separately authorised financial service</a:t>
            </a:r>
          </a:p>
        </p:txBody>
      </p:sp>
      <p:sp>
        <p:nvSpPr>
          <p:cNvPr id="38" name="Rounded Rectangle 37">
            <a:hlinkClick action="ppaction://hlinksldjump" r:id="rId12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Receipt / status record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after verified transaction evidence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selects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governs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26" b="1">
                <a:solidFill>
                  <a:srgbClr val="C2A3FF"/>
                </a:solidFill>
                <a:latin typeface="DejaVu Sans"/>
              </a:defRPr>
            </a:pPr>
            <a:r>
              <a:t>calculates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56520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83952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confirms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verifies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Financial policy &amp; permission → Contribution allocation → Amount / purpose review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Amount consistency; purpose consent; valid financial-state transition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006840" y="4370831"/>
            <a:ext cx="0" cy="329185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9006840" y="4370831"/>
            <a:ext cx="3550920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557760" y="4041648"/>
            <a:ext cx="0" cy="329183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EXTENDED CONCEPT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530" b="1">
                <a:solidFill>
                  <a:srgbClr val="F7F9FF"/>
                </a:solidFill>
                <a:latin typeface="DejaVu Sans"/>
              </a:defRPr>
            </a:pPr>
            <a:r>
              <a:t>Donation payment is separate from teacher billing and zakat referral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Financial confirmation needs verified transactions, approved authority wording and reconciliation before any receipt or disbursement claim.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61 / 72</a:t>
            </a:r>
          </a:p>
        </p:txBody>
      </p:sp>
      <p:pic>
        <p:nvPicPr>
          <p:cNvPr id="14" name="Picture 13" descr="35-onboarding_slide2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35 · Onboarding · welfare / aid pillar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E8C578"/>
                </a:solidFill>
                <a:latin typeface="DejaVu Sans"/>
              </a:defRPr>
            </a:pPr>
            <a:r>
              <a:t>Extended concept · earlier proposal excludes zakat collection / disbursement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Approved allocation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 permitted purpose and amount are confirmed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C2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61" b="1">
                <a:solidFill>
                  <a:srgbClr val="F7F9FF"/>
                </a:solidFill>
                <a:latin typeface="DejaVu Sans"/>
              </a:defRPr>
            </a:pPr>
            <a:r>
              <a:t>Authorised payment process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Provider, account ownership and controls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2" b="1">
                <a:solidFill>
                  <a:srgbClr val="F7F9FF"/>
                </a:solidFill>
                <a:latin typeface="DejaVu Sans"/>
              </a:defRPr>
            </a:pPr>
            <a:r>
              <a:t>Verified transaction state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Resolve success, failure or pending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38" b="1">
                <a:solidFill>
                  <a:srgbClr val="F7F9FF"/>
                </a:solidFill>
                <a:latin typeface="DejaVu Sans"/>
              </a:defRPr>
            </a:pPr>
            <a:r>
              <a:t>Authority / financial approval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Collection, tax and disbursement permissions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1" b="1">
                <a:solidFill>
                  <a:srgbClr val="F7F9FF"/>
                </a:solidFill>
                <a:latin typeface="DejaVu Sans"/>
              </a:defRPr>
            </a:pPr>
            <a:r>
              <a:t>Permitted receipt / update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issue what is legally authorised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86" b="1">
                <a:solidFill>
                  <a:srgbClr val="F7F9FF"/>
                </a:solidFill>
                <a:latin typeface="DejaVu Sans"/>
              </a:defRPr>
            </a:pPr>
            <a:r>
              <a:t>Reconciliation / staff oversight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Track the verified financial state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initiates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authorises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verifies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56520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83952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confirms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22" b="1">
                <a:solidFill>
                  <a:srgbClr val="C2A3FF"/>
                </a:solidFill>
                <a:latin typeface="DejaVu Sans"/>
              </a:defRPr>
            </a:pPr>
            <a:r>
              <a:t>reconciles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Authority / financial approval → Authorised payment process → Verified transaction state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Payment verification; failed / duplicate handling; reconciliation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DELIVERY STRATEGY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54" b="1">
                <a:solidFill>
                  <a:srgbClr val="F7F9FF"/>
                </a:solidFill>
                <a:latin typeface="DejaVu Sans"/>
              </a:defRPr>
            </a:pPr>
            <a:r>
              <a:t>Delivery follows dependencies, not disconnected screen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The earlier proposal estimates 3–4 months for agreed scope, subject to required inputs and external readiness.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62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68880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615184"/>
            <a:ext cx="32004" cy="16459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651760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Foundation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355848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Source / licence audit, journeys, access matrix, content and acceptance specification.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2468880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70648" y="2615184"/>
            <a:ext cx="32004" cy="1645920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3528" y="2651760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Working service 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8" y="3355848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Identity, verification, requests, teachers, learning and private records as complete vertical journeys.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36008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782312"/>
            <a:ext cx="32004" cy="1645920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4818888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Connected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5522976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Utilities, website, sponsors, notifications, reports and operational configuration.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4636008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70648" y="4782312"/>
            <a:ext cx="32004" cy="1645920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53528" y="4818888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Acceptance &amp; release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3528" y="5522976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Meaningful permissions / device / billing checks, MRM UAT, training and client-owned submissions.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Extended collection / payment / receipt concepts require separate authority, technical assessment and written scope decisions.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OPERATING MODEL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96" b="1">
                <a:solidFill>
                  <a:srgbClr val="F7F9FF"/>
                </a:solidFill>
                <a:latin typeface="DejaVu Sans"/>
              </a:defRPr>
            </a:pPr>
            <a:r>
              <a:t>The software and the operating service need clear owners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MRM defines policies and owns its operational decisions; Zylax implements and verifies the agreed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63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68880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615184"/>
            <a:ext cx="32004" cy="1645920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651760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MRM programme owners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355848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Approval criteria, safeguarding policy, content rights, teacher terms and sponsor agreements.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2468880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70648" y="2615184"/>
            <a:ext cx="32004" cy="1645920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3528" y="2651760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MRM service operators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8" y="3355848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Case queues, interviews, follow-up, moderation, learning programmes and partner relationships.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36008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782312"/>
            <a:ext cx="32004" cy="16459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4818888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Zylax delivery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5522976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Template-consistent implementation, server permissions, persistence, testing, documentation and training.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4636008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70648" y="4782312"/>
            <a:ext cx="32004" cy="1645920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53528" y="4818888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Client-owned accounts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3528" y="5522976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Hosting, domain, store verification, billing setup and third-party access with authorised collaboration.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Store submission is a delivery milestone. Public approval and release dates remain controlled by the stores.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ACCEPTANCE EVIDENCE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Acceptance should prove the connections actually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Each check follows an end-to-end journey and attempts the important denied, failed and recovery paths.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64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23160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569464"/>
            <a:ext cx="32004" cy="1664208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60604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Identity → correct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310128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Recovery, role activation and direct API denial.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423160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75504" y="2569464"/>
            <a:ext cx="32004" cy="1664208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58384" y="260604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Applicant → eligible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310128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Evidence / interview / decision and immediate suspension.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74352" y="2423160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92640" y="2569464"/>
            <a:ext cx="32004" cy="1664208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260604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87" b="1">
                <a:solidFill>
                  <a:srgbClr val="F7F9FF"/>
                </a:solidFill>
                <a:latin typeface="DejaVu Sans"/>
              </a:defRPr>
            </a:pPr>
            <a:r>
              <a:t>Request → confirmed 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3310128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Triage, matching, assignment, reassignment and closure.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581144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727448"/>
            <a:ext cx="32004" cy="1664208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" y="4764024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80" b="1">
                <a:solidFill>
                  <a:srgbClr val="F7F9FF"/>
                </a:solidFill>
                <a:latin typeface="DejaVu Sans"/>
              </a:defRPr>
            </a:pPr>
            <a:r>
              <a:t>Teacher → permitted publication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5468112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Approval, billing state, allowance and independent moderation.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57216" y="4581144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75504" y="4727448"/>
            <a:ext cx="32004" cy="1664208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58384" y="4764024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63" b="1">
                <a:solidFill>
                  <a:srgbClr val="F7F9FF"/>
                </a:solidFill>
                <a:latin typeface="DejaVu Sans"/>
              </a:defRPr>
            </a:pPr>
            <a:r>
              <a:t>Programme → participant 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58384" y="5468112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Registration, reminder, session and recording rights.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74352" y="4581144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92640" y="4727448"/>
            <a:ext cx="32004" cy="1664208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0" y="4764024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95" b="1">
                <a:solidFill>
                  <a:srgbClr val="F7F9FF"/>
                </a:solidFill>
                <a:latin typeface="DejaVu Sans"/>
              </a:defRPr>
            </a:pPr>
            <a:r>
              <a:t>Confidential case → safe follow-up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5468112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Unrelated accounts, evidence files, exports and safe notifications.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Acceptance follows proven journeys, permission boundaries and recoverable failures, with findings recorded and retested.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IMPORTANCE &amp; PRIORITIES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Why every capability belongs in the overall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Different features create different kinds of value; their dependencies determine the implementation sequence.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65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68880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615184"/>
            <a:ext cx="32004" cy="16459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651760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Trust foundation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355848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Identity, permissions, approved sources, file access, reliable state and audit make other features safe to operate.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2468880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70648" y="2615184"/>
            <a:ext cx="32004" cy="1645920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3528" y="2651760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Service outcomes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8" y="3355848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Triage, verification, assignment and follow-up turn a need into an accountable outcome.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36008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782312"/>
            <a:ext cx="32004" cy="1645920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4818888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Everyday engagement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5522976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Prayer, Quran, guidance, search and programmes keep the platform useful for the wider Muslim community.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4636008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70648" y="4782312"/>
            <a:ext cx="32004" cy="1645920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53528" y="4818888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Sustainable growth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3528" y="5522976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Teacher entitlements and sponsor delivery connect revenue to explicit privileges and accountable recognition.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Sequence by dependency and operational readiness; keep approved modules visible rather than silently dropping difficult work.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SCREENSHOT EVIDENCE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What the MVP images establish, and what they do not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All 48 corrected Drive captures were reviewed as UI states, not as independent proof of operational results.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66 / 72</a:t>
            </a:r>
          </a:p>
        </p:txBody>
      </p:sp>
      <p:pic>
        <p:nvPicPr>
          <p:cNvPr id="14" name="Picture 13" descr="01-splash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468880"/>
            <a:ext cx="2134763" cy="43525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2376" y="6894576"/>
            <a:ext cx="224449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01 · Brand / loading screen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2450592"/>
            <a:ext cx="9875520" cy="129844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33087" y="2596896"/>
            <a:ext cx="32004" cy="1005839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5968" y="2633472"/>
            <a:ext cx="947318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Visible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3054096"/>
            <a:ext cx="9473184" cy="603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The images establish labels, screen structure, selected tabs, role states and the controls that are visible.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3913632"/>
            <a:ext cx="9875520" cy="129844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33087" y="4059936"/>
            <a:ext cx="32004" cy="1005839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4096512"/>
            <a:ext cx="947318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Not yet verified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5968" y="4517136"/>
            <a:ext cx="9473184" cy="603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Persistence, working APIs, live biometrics, encrypted chat, payments, tax status and operational impact need separate checks.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0" y="5376672"/>
            <a:ext cx="9875520" cy="129844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33087" y="5522976"/>
            <a:ext cx="32004" cy="1005839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5559552"/>
            <a:ext cx="947318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Religious / policy approval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5980176"/>
            <a:ext cx="9473184" cy="603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Sources, local conventions, classifications, verification rules and safeguarding coverage require responsible approval.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0" y="7132320"/>
            <a:ext cx="987552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42816" y="7191756"/>
            <a:ext cx="961948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No statistics, audit badge, testimonial or “sync” label in a prototype is represented here as a proven result.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SOURCE / ARCHITECTURE REVIEW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Internal navigation is not a new technology commitment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The directory and menu are useful audit views; development helpers do not establish the delivered app framework.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67 / 72</a:t>
            </a:r>
          </a:p>
        </p:txBody>
      </p:sp>
      <p:pic>
        <p:nvPicPr>
          <p:cNvPr id="14" name="Picture 13" descr="07-menu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450592"/>
            <a:ext cx="2098884" cy="42793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0936" y="6803136"/>
            <a:ext cx="2208612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07 · Menu and utility directory</a:t>
            </a:r>
          </a:p>
        </p:txBody>
      </p:sp>
      <p:pic>
        <p:nvPicPr>
          <p:cNvPr id="16" name="Picture 15" descr="46-modal_navigator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6080" y="2450592"/>
            <a:ext cx="2098884" cy="42793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871216" y="6803136"/>
            <a:ext cx="2208612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46 · Screen-directory modal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2468880"/>
            <a:ext cx="850392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04688" y="2615184"/>
            <a:ext cx="32004" cy="16459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87568" y="2651760"/>
            <a:ext cx="810158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Preserve the chosen source 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3355848"/>
            <a:ext cx="810158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The prior requirement is Zabi v4.3 / Flutter and template preservation. A menu saying Kotlin or a PWA helper is not approval to replace 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4626864"/>
            <a:ext cx="850392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04688" y="4773168"/>
            <a:ext cx="32004" cy="1645920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87568" y="4809744"/>
            <a:ext cx="810158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Audit before implementation claims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87568" y="5513831"/>
            <a:ext cx="810158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Inspect the actual source, licence, dependencies, routes, backend and platform targets before reconciling the prototype with release requirements.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Capture 47 is developer installation help and is excluded from client feature imagery. No source architecture was validated here.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IMAGE AUDIT &amp; COVERAGE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03" b="1">
                <a:solidFill>
                  <a:srgbClr val="F7F9FF"/>
                </a:solidFill>
                <a:latin typeface="DejaVu Sans"/>
              </a:defRPr>
            </a:pPr>
            <a:r>
              <a:t>Every corrected capture has one deliberate use or exclusion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Variants are identified by what changes on screen; no image is relabelled to imply a different completed feature.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68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68880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615184"/>
            <a:ext cx="32004" cy="16459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651760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48 images reviewed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355848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Content labels, hashes, selected states and use locations are recorded in the accompanying screen register.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2468880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70648" y="2615184"/>
            <a:ext cx="32004" cy="1645920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3528" y="2651760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45 distinct visual uses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8" y="3355848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Distinct screens, roles, tabs, modals and theme states are used once each in this deck.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36008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782312"/>
            <a:ext cx="32004" cy="1645920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4818888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3 explicit exclusions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5522976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Payment form 18 and receipt 42 contain a full identity number. Image 47 is developer installation help.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4636008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70648" y="4782312"/>
            <a:ext cx="32004" cy="1645920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53528" y="4818888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Corrected explanations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3528" y="5522976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Catalog / product / cart are relief-purpose views. Mentor roster is not subscription approval; a simulation is not a live sensor test.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See Screen_Audit.json / Screen_Audit.md for the full file-to-page register and capture-specific findings.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TRACEABLE FEATURE INDEX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Feature connection index 1 /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Choose an entry to open its individual network; each page explains the connection value and what to verify.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69 / 72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77440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>
            <a:hlinkClick action="ppaction://hlinksldjump" r:id="rId6"/>
          </p:cNvPr>
          <p:cNvSpPr txBox="1"/>
          <p:nvPr/>
        </p:nvSpPr>
        <p:spPr>
          <a:xfrm>
            <a:off x="749808" y="2436876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06   Entry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729484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>
            <a:hlinkClick action="ppaction://hlinksldjump" r:id="rId7"/>
          </p:cNvPr>
          <p:cNvSpPr txBox="1"/>
          <p:nvPr/>
        </p:nvSpPr>
        <p:spPr>
          <a:xfrm>
            <a:off x="749808" y="2788920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07   Registration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081528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>
            <a:hlinkClick action="ppaction://hlinksldjump" r:id="rId8"/>
          </p:cNvPr>
          <p:cNvSpPr txBox="1"/>
          <p:nvPr/>
        </p:nvSpPr>
        <p:spPr>
          <a:xfrm>
            <a:off x="749808" y="3140964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08   Authentication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433572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>
            <a:hlinkClick action="ppaction://hlinksldjump" r:id="rId9"/>
          </p:cNvPr>
          <p:cNvSpPr txBox="1"/>
          <p:nvPr/>
        </p:nvSpPr>
        <p:spPr>
          <a:xfrm>
            <a:off x="749808" y="3493008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09   Roles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785616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>
            <a:hlinkClick action="ppaction://hlinksldjump" r:id="rId10"/>
          </p:cNvPr>
          <p:cNvSpPr txBox="1"/>
          <p:nvPr/>
        </p:nvSpPr>
        <p:spPr>
          <a:xfrm>
            <a:off x="749808" y="3845052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10   Home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137660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>
            <a:hlinkClick action="ppaction://hlinksldjump" r:id="rId11"/>
          </p:cNvPr>
          <p:cNvSpPr txBox="1"/>
          <p:nvPr/>
        </p:nvSpPr>
        <p:spPr>
          <a:xfrm>
            <a:off x="749808" y="4197096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11   Search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489704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>
            <a:hlinkClick action="ppaction://hlinksldjump" r:id="rId12"/>
          </p:cNvPr>
          <p:cNvSpPr txBox="1"/>
          <p:nvPr/>
        </p:nvSpPr>
        <p:spPr>
          <a:xfrm>
            <a:off x="749808" y="4549140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12   Prayer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841748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>
            <a:hlinkClick action="ppaction://hlinksldjump" r:id="rId13"/>
          </p:cNvPr>
          <p:cNvSpPr txBox="1"/>
          <p:nvPr/>
        </p:nvSpPr>
        <p:spPr>
          <a:xfrm>
            <a:off x="749808" y="4901184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13   Tracker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193792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>
            <a:hlinkClick action="ppaction://hlinksldjump" r:id="rId14"/>
          </p:cNvPr>
          <p:cNvSpPr txBox="1"/>
          <p:nvPr/>
        </p:nvSpPr>
        <p:spPr>
          <a:xfrm>
            <a:off x="749808" y="5253228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14   Mosques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545836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>
            <a:hlinkClick action="ppaction://hlinksldjump" r:id="rId15"/>
          </p:cNvPr>
          <p:cNvSpPr txBox="1"/>
          <p:nvPr/>
        </p:nvSpPr>
        <p:spPr>
          <a:xfrm>
            <a:off x="749808" y="5605272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15   Quran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897880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>
            <a:hlinkClick action="ppaction://hlinksldjump" r:id="rId16"/>
          </p:cNvPr>
          <p:cNvSpPr txBox="1"/>
          <p:nvPr/>
        </p:nvSpPr>
        <p:spPr>
          <a:xfrm>
            <a:off x="749808" y="5957316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16   Tasbih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6249924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>
            <a:hlinkClick action="ppaction://hlinksldjump" r:id="rId17"/>
          </p:cNvPr>
          <p:cNvSpPr txBox="1"/>
          <p:nvPr/>
        </p:nvSpPr>
        <p:spPr>
          <a:xfrm>
            <a:off x="749808" y="6309360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17   Dua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6601968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>
            <a:hlinkClick action="ppaction://hlinksldjump" r:id="rId18"/>
          </p:cNvPr>
          <p:cNvSpPr txBox="1"/>
          <p:nvPr/>
        </p:nvSpPr>
        <p:spPr>
          <a:xfrm>
            <a:off x="749808" y="6661404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18   Remembrance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52360" y="2377440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>
            <a:hlinkClick action="ppaction://hlinksldjump" r:id="rId19"/>
          </p:cNvPr>
          <p:cNvSpPr txBox="1"/>
          <p:nvPr/>
        </p:nvSpPr>
        <p:spPr>
          <a:xfrm>
            <a:off x="7562088" y="2436876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19   Salahguide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52360" y="2729484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>
            <a:hlinkClick action="ppaction://hlinksldjump" r:id="rId20"/>
          </p:cNvPr>
          <p:cNvSpPr txBox="1"/>
          <p:nvPr/>
        </p:nvSpPr>
        <p:spPr>
          <a:xfrm>
            <a:off x="7562088" y="2788920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20   Asma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52360" y="3081528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>
            <a:hlinkClick action="ppaction://hlinksldjump" r:id="rId21"/>
          </p:cNvPr>
          <p:cNvSpPr txBox="1"/>
          <p:nvPr/>
        </p:nvSpPr>
        <p:spPr>
          <a:xfrm>
            <a:off x="7562088" y="3140964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21   Halal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52360" y="3433572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>
            <a:hlinkClick action="ppaction://hlinksldjump" r:id="rId22"/>
          </p:cNvPr>
          <p:cNvSpPr txBox="1"/>
          <p:nvPr/>
        </p:nvSpPr>
        <p:spPr>
          <a:xfrm>
            <a:off x="7562088" y="3493008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22   Islamic Calendar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52360" y="3785616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>
            <a:hlinkClick action="ppaction://hlinksldjump" r:id="rId23"/>
          </p:cNvPr>
          <p:cNvSpPr txBox="1"/>
          <p:nvPr/>
        </p:nvSpPr>
        <p:spPr>
          <a:xfrm>
            <a:off x="7562088" y="3845052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23   Estimate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52360" y="4137660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>
            <a:hlinkClick action="ppaction://hlinksldjump" r:id="rId24"/>
          </p:cNvPr>
          <p:cNvSpPr txBox="1"/>
          <p:nvPr/>
        </p:nvSpPr>
        <p:spPr>
          <a:xfrm>
            <a:off x="7562088" y="4197096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24   Requests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52360" y="4489704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>
            <a:hlinkClick action="ppaction://hlinksldjump" r:id="rId25"/>
          </p:cNvPr>
          <p:cNvSpPr txBox="1"/>
          <p:nvPr/>
        </p:nvSpPr>
        <p:spPr>
          <a:xfrm>
            <a:off x="7562088" y="4549140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25   Vetting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52360" y="4841748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>
            <a:hlinkClick action="ppaction://hlinksldjump" r:id="rId26"/>
          </p:cNvPr>
          <p:cNvSpPr txBox="1"/>
          <p:nvPr/>
        </p:nvSpPr>
        <p:spPr>
          <a:xfrm>
            <a:off x="7562088" y="4901184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26   Gender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52360" y="5193792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>
            <a:hlinkClick action="ppaction://hlinksldjump" r:id="rId27"/>
          </p:cNvPr>
          <p:cNvSpPr txBox="1"/>
          <p:nvPr/>
        </p:nvSpPr>
        <p:spPr>
          <a:xfrm>
            <a:off x="7562088" y="5253228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27   Matching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52360" y="5545836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>
            <a:hlinkClick action="ppaction://hlinksldjump" r:id="rId28"/>
          </p:cNvPr>
          <p:cNvSpPr txBox="1"/>
          <p:nvPr/>
        </p:nvSpPr>
        <p:spPr>
          <a:xfrm>
            <a:off x="7562088" y="5605272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28   Assignments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52360" y="5897880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>
            <a:hlinkClick action="ppaction://hlinksldjump" r:id="rId29"/>
          </p:cNvPr>
          <p:cNvSpPr txBox="1"/>
          <p:nvPr/>
        </p:nvSpPr>
        <p:spPr>
          <a:xfrm>
            <a:off x="7562088" y="5957316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29   Private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52360" y="6249924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>
            <a:hlinkClick action="ppaction://hlinksldjump" r:id="rId30"/>
          </p:cNvPr>
          <p:cNvSpPr txBox="1"/>
          <p:nvPr/>
        </p:nvSpPr>
        <p:spPr>
          <a:xfrm>
            <a:off x="7562088" y="6309360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30   Safeguard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52360" y="6601968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>
            <a:hlinkClick action="ppaction://hlinksldjump" r:id="rId31"/>
          </p:cNvPr>
          <p:cNvSpPr txBox="1"/>
          <p:nvPr/>
        </p:nvSpPr>
        <p:spPr>
          <a:xfrm>
            <a:off x="7562088" y="6661404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31   Chat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The separate 52-map atlas uses the same connection model, with larger diagrams and its own feature navigation.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TRACEABLE FEATURE INDEX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Feature connection index 2 /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Choose an entry to open its individual network; each page explains the connection value and what to verify.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70 / 72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77440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>
            <a:hlinkClick action="ppaction://hlinksldjump" r:id="rId6"/>
          </p:cNvPr>
          <p:cNvSpPr txBox="1"/>
          <p:nvPr/>
        </p:nvSpPr>
        <p:spPr>
          <a:xfrm>
            <a:off x="749808" y="2436876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32   Referral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729484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>
            <a:hlinkClick action="ppaction://hlinksldjump" r:id="rId7"/>
          </p:cNvPr>
          <p:cNvSpPr txBox="1"/>
          <p:nvPr/>
        </p:nvSpPr>
        <p:spPr>
          <a:xfrm>
            <a:off x="749808" y="2788920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33   Recognition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081528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>
            <a:hlinkClick action="ppaction://hlinksldjump" r:id="rId8"/>
          </p:cNvPr>
          <p:cNvSpPr txBox="1"/>
          <p:nvPr/>
        </p:nvSpPr>
        <p:spPr>
          <a:xfrm>
            <a:off x="749808" y="3140964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34   Teacher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433572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>
            <a:hlinkClick action="ppaction://hlinksldjump" r:id="rId9"/>
          </p:cNvPr>
          <p:cNvSpPr txBox="1"/>
          <p:nvPr/>
        </p:nvSpPr>
        <p:spPr>
          <a:xfrm>
            <a:off x="749808" y="3493008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35   Posts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785616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>
            <a:hlinkClick action="ppaction://hlinksldjump" r:id="rId10"/>
          </p:cNvPr>
          <p:cNvSpPr txBox="1"/>
          <p:nvPr/>
        </p:nvSpPr>
        <p:spPr>
          <a:xfrm>
            <a:off x="749808" y="3845052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36   Subscriptions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137660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>
            <a:hlinkClick action="ppaction://hlinksldjump" r:id="rId11"/>
          </p:cNvPr>
          <p:cNvSpPr txBox="1"/>
          <p:nvPr/>
        </p:nvSpPr>
        <p:spPr>
          <a:xfrm>
            <a:off x="749808" y="4197096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37   Billing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489704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>
            <a:hlinkClick action="ppaction://hlinksldjump" r:id="rId12"/>
          </p:cNvPr>
          <p:cNvSpPr txBox="1"/>
          <p:nvPr/>
        </p:nvSpPr>
        <p:spPr>
          <a:xfrm>
            <a:off x="749808" y="4549140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38   Learning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841748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>
            <a:hlinkClick action="ppaction://hlinksldjump" r:id="rId13"/>
          </p:cNvPr>
          <p:cNvSpPr txBox="1"/>
          <p:nvPr/>
        </p:nvSpPr>
        <p:spPr>
          <a:xfrm>
            <a:off x="749808" y="4901184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39   Mentoring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193792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>
            <a:hlinkClick action="ppaction://hlinksldjump" r:id="rId14"/>
          </p:cNvPr>
          <p:cNvSpPr txBox="1"/>
          <p:nvPr/>
        </p:nvSpPr>
        <p:spPr>
          <a:xfrm>
            <a:off x="749808" y="5253228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40   Schedule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545836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>
            <a:hlinkClick action="ppaction://hlinksldjump" r:id="rId15"/>
          </p:cNvPr>
          <p:cNvSpPr txBox="1"/>
          <p:nvPr/>
        </p:nvSpPr>
        <p:spPr>
          <a:xfrm>
            <a:off x="749808" y="5605272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41   Feed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897880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>
            <a:hlinkClick action="ppaction://hlinksldjump" r:id="rId16"/>
          </p:cNvPr>
          <p:cNvSpPr txBox="1"/>
          <p:nvPr/>
        </p:nvSpPr>
        <p:spPr>
          <a:xfrm>
            <a:off x="749808" y="5957316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42   Sponsors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6249924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>
            <a:hlinkClick action="ppaction://hlinksldjump" r:id="rId17"/>
          </p:cNvPr>
          <p:cNvSpPr txBox="1"/>
          <p:nvPr/>
        </p:nvSpPr>
        <p:spPr>
          <a:xfrm>
            <a:off x="749808" y="6309360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43   Website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6601968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>
            <a:hlinkClick action="ppaction://hlinksldjump" r:id="rId18"/>
          </p:cNvPr>
          <p:cNvSpPr txBox="1"/>
          <p:nvPr/>
        </p:nvSpPr>
        <p:spPr>
          <a:xfrm>
            <a:off x="749808" y="6661404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44   Alerts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52360" y="2377440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>
            <a:hlinkClick action="ppaction://hlinksldjump" r:id="rId19"/>
          </p:cNvPr>
          <p:cNvSpPr txBox="1"/>
          <p:nvPr/>
        </p:nvSpPr>
        <p:spPr>
          <a:xfrm>
            <a:off x="7562088" y="2436876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45   Activity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52360" y="2729484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>
            <a:hlinkClick action="ppaction://hlinksldjump" r:id="rId20"/>
          </p:cNvPr>
          <p:cNvSpPr txBox="1"/>
          <p:nvPr/>
        </p:nvSpPr>
        <p:spPr>
          <a:xfrm>
            <a:off x="7562088" y="2788920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46   Admin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52360" y="3081528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>
            <a:hlinkClick action="ppaction://hlinksldjump" r:id="rId21"/>
          </p:cNvPr>
          <p:cNvSpPr txBox="1"/>
          <p:nvPr/>
        </p:nvSpPr>
        <p:spPr>
          <a:xfrm>
            <a:off x="7562088" y="3140964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47   Reports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52360" y="3433572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>
            <a:hlinkClick action="ppaction://hlinksldjump" r:id="rId22"/>
          </p:cNvPr>
          <p:cNvSpPr txBox="1"/>
          <p:nvPr/>
        </p:nvSpPr>
        <p:spPr>
          <a:xfrm>
            <a:off x="7562088" y="3493008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48   Security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52360" y="3785616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>
            <a:hlinkClick action="ppaction://hlinksldjump" r:id="rId23"/>
          </p:cNvPr>
          <p:cNvSpPr txBox="1"/>
          <p:nvPr/>
        </p:nvSpPr>
        <p:spPr>
          <a:xfrm>
            <a:off x="7562088" y="3845052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49   Settings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52360" y="4137660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>
            <a:hlinkClick action="ppaction://hlinksldjump" r:id="rId24"/>
          </p:cNvPr>
          <p:cNvSpPr txBox="1"/>
          <p:nvPr/>
        </p:nvSpPr>
        <p:spPr>
          <a:xfrm>
            <a:off x="7562088" y="4197096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50   Reliability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52360" y="4489704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>
            <a:hlinkClick action="ppaction://hlinksldjump" r:id="rId25"/>
          </p:cNvPr>
          <p:cNvSpPr txBox="1"/>
          <p:nvPr/>
        </p:nvSpPr>
        <p:spPr>
          <a:xfrm>
            <a:off x="7562088" y="4549140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51   Empty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52360" y="4841748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>
            <a:hlinkClick action="ppaction://hlinksldjump" r:id="rId26"/>
          </p:cNvPr>
          <p:cNvSpPr txBox="1"/>
          <p:nvPr/>
        </p:nvSpPr>
        <p:spPr>
          <a:xfrm>
            <a:off x="7562088" y="4901184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52   Error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52360" y="5193792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>
            <a:hlinkClick action="ppaction://hlinksldjump" r:id="rId27"/>
          </p:cNvPr>
          <p:cNvSpPr txBox="1"/>
          <p:nvPr/>
        </p:nvSpPr>
        <p:spPr>
          <a:xfrm>
            <a:off x="7562088" y="5253228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E8C578"/>
                </a:solidFill>
                <a:latin typeface="DejaVu Sans"/>
              </a:defRPr>
            </a:pPr>
            <a:r>
              <a:t>57   Campaigns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52360" y="5545836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>
            <a:hlinkClick action="ppaction://hlinksldjump" r:id="rId28"/>
          </p:cNvPr>
          <p:cNvSpPr txBox="1"/>
          <p:nvPr/>
        </p:nvSpPr>
        <p:spPr>
          <a:xfrm>
            <a:off x="7562088" y="5605272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E8C578"/>
                </a:solidFill>
                <a:latin typeface="DejaVu Sans"/>
              </a:defRPr>
            </a:pPr>
            <a:r>
              <a:t>58   Campaign Detail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52360" y="5897880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>
            <a:hlinkClick action="ppaction://hlinksldjump" r:id="rId29"/>
          </p:cNvPr>
          <p:cNvSpPr txBox="1"/>
          <p:nvPr/>
        </p:nvSpPr>
        <p:spPr>
          <a:xfrm>
            <a:off x="7562088" y="5957316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E8C578"/>
                </a:solidFill>
                <a:latin typeface="DejaVu Sans"/>
              </a:defRPr>
            </a:pPr>
            <a:r>
              <a:t>59   Impact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52360" y="6249924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>
            <a:hlinkClick action="ppaction://hlinksldjump" r:id="rId30"/>
          </p:cNvPr>
          <p:cNvSpPr txBox="1"/>
          <p:nvPr/>
        </p:nvSpPr>
        <p:spPr>
          <a:xfrm>
            <a:off x="7562088" y="6309360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E8C578"/>
                </a:solidFill>
                <a:latin typeface="DejaVu Sans"/>
              </a:defRPr>
            </a:pPr>
            <a:r>
              <a:t>60   Allocation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52360" y="6601968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>
            <a:hlinkClick action="ppaction://hlinksldjump" r:id="rId31"/>
          </p:cNvPr>
          <p:cNvSpPr txBox="1"/>
          <p:nvPr/>
        </p:nvSpPr>
        <p:spPr>
          <a:xfrm>
            <a:off x="7562088" y="6661404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E8C578"/>
                </a:solidFill>
                <a:latin typeface="DejaVu Sans"/>
              </a:defRPr>
            </a:pPr>
            <a:r>
              <a:t>61   Donation Payment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The separate 52-map atlas uses the same connection model, with larger diagrams and its own feature navigation.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DECISION RECORD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Resolve the remaining decisions without inventing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strong delivery specification separates agreed capabilities, operating configuration and genuinely new obligations.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71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68880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615184"/>
            <a:ext cx="32004" cy="16459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651760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Source &amp;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355848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Confirm current Zabi source, licence, template reference and Android / iOS release architecture.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2468880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70648" y="2615184"/>
            <a:ext cx="32004" cy="1645920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3528" y="2651760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Service &amp; teaching policies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8" y="3355848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Agree access exceptions, interview evidence, case escalation, mentor permissions, teacher plans and historical-content visibility.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36008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782312"/>
            <a:ext cx="32004" cy="1645920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4818888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External inputs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5522976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Confirm religious sources, partner sharing, mapping, streaming / recordings and applicable store billing.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4636008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70648" y="4782312"/>
            <a:ext cx="32004" cy="1645920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53528" y="4818888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Extended financial concepts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3528" y="5522976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Confirm collection authority, payment provider, reconciliation, disbursement and lawful receipt wording before a scope commitment.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Screen concepts inform discussion. They do not by themselves amend an approved SOW or establish authority access.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NEXT STEPS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A platform MRM can use, govern and grow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The goal is a coherent service for the wider Muslim community, with focused care and accountable delivery.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72 / 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87752"/>
            <a:ext cx="1271016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300" b="1">
                <a:solidFill>
                  <a:srgbClr val="F7F9FF"/>
                </a:solidFill>
                <a:latin typeface="DejaVu Sans"/>
              </a:defRPr>
            </a:pPr>
            <a:r>
              <a:t>Useful daily. Trusted in learning.</a:t>
            </a:r>
          </a:p>
          <a:p>
            <a:pPr algn="l">
              <a:spcAft>
                <a:spcPts val="200"/>
              </a:spcAft>
              <a:defRPr sz="3300" b="1">
                <a:solidFill>
                  <a:srgbClr val="F7F9FF"/>
                </a:solidFill>
                <a:latin typeface="DejaVu Sans"/>
              </a:defRPr>
            </a:pPr>
            <a:r>
              <a:t>Responsible in care.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79392"/>
            <a:ext cx="3200400" cy="224028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4425696"/>
            <a:ext cx="32004" cy="194767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4462272"/>
            <a:ext cx="279806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Confirm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5166359"/>
            <a:ext cx="2798064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Agree journeys, policy owners and acceptance criteria.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4279392"/>
            <a:ext cx="3200400" cy="224028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41648" y="4425696"/>
            <a:ext cx="32004" cy="1947672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24528" y="4462272"/>
            <a:ext cx="279806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Implement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4528" y="5166359"/>
            <a:ext cx="2798064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Build the connected flows with real permissions and persistence.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4279392"/>
            <a:ext cx="3200400" cy="224028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4425696"/>
            <a:ext cx="32004" cy="194767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07808" y="4462272"/>
            <a:ext cx="279806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Demonstrate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7808" y="5166359"/>
            <a:ext cx="2798064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Review evidence against meaningful end-to-end checks.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89920" y="4279392"/>
            <a:ext cx="3200400" cy="224028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808208" y="4425696"/>
            <a:ext cx="32004" cy="1947672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91088" y="4462272"/>
            <a:ext cx="279806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Launch responsibly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91088" y="5166359"/>
            <a:ext cx="2798064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Train MRM staff and submit through client-owned accounts.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Next step: nominate MRM’s decision makers and conduct the source, service-policy and implementation workshop.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