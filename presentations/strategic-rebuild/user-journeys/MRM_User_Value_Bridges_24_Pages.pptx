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"purpose": "Supplement the existing feature explanations with actor motivation and reciprocal value.",</a:t>
            </a:r>
          </a:p>
          <a:p>
            <a:r>
              <a:t>  "status": "All new cross-feature invitations and rules are proposals requiring product validation."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"reading": "Each row shows actor motivation and an actionable handoff. Nodes are not unrestricted data access."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"key": "teacher_support",</a:t>
            </a:r>
          </a:p>
          <a:p>
            <a:r>
              <a:t>  "title": "A teacher can turn expertise into relevant care",</a:t>
            </a:r>
          </a:p>
          <a:p>
            <a:r>
              <a:t>  "pair": "Learning centre → Volunteer support",</a:t>
            </a:r>
          </a:p>
          <a:p>
            <a:r>
              <a:t>  "person": "An approved Quran teacher",</a:t>
            </a:r>
          </a:p>
          <a:p>
            <a:r>
              <a:t>  "need": "“I teach Quran. I would also like to help someone who needs personal guidance.”",</a:t>
            </a:r>
          </a:p>
          <a:p>
            <a:r>
              <a:t>  "yes": "Offer volunteering when the teacher wants to give support beyond scheduled classes.",</a:t>
            </a:r>
          </a:p>
          <a:p>
            <a:r>
              <a:t>  "no": "A teacher may only publish and teach. Volunteering stays optional.",</a:t>
            </a:r>
          </a:p>
          <a:p>
            <a:r>
              <a:t>  "steps": [</a:t>
            </a:r>
          </a:p>
          <a:p>
            <a:r>
              <a:t>    [</a:t>
            </a:r>
          </a:p>
          <a:p>
            <a:r>
              <a:t>      "Teaching profile",</a:t>
            </a:r>
          </a:p>
          <a:p>
            <a:r>
              <a:t>      "Approved topics and languages establish relevant expertise."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"Choose to help",</a:t>
            </a:r>
          </a:p>
          <a:p>
            <a:r>
              <a:t>      "An invitation offers Quran-related support; the teacher opts in."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"Volunteer approval",</a:t>
            </a:r>
          </a:p>
          <a:p>
            <a:r>
              <a:t>      "MRM checks suitability, training, capacity and case boundaries."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"Relevant support match",</a:t>
            </a:r>
          </a:p>
          <a:p>
            <a:r>
              <a:t>      "The seeker sees approved teaching credentials and accepts the offer."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"carry": "With consent: approved teacher status, verified subject, languages and public profile.",</a:t>
            </a:r>
          </a:p>
          <a:p>
            <a:r>
              <a:t>  "separate": "Teacher payment does not buy case access. No private student records are shared.",</a:t>
            </a:r>
          </a:p>
          <a:p>
            <a:r>
              <a:t>  "benefit": "The seeker can judge relevant expertise; the teacher gains a meaningful way to serve. Credentials support confidence, not a guarantee of safety.",</a:t>
            </a:r>
          </a:p>
          <a:p>
            <a:r>
              <a:t>  "signal": "Eligible teachers opting in → approved volunteers → accepted subject-relevant matches.",</a:t>
            </a:r>
          </a:p>
          <a:p>
            <a:r>
              <a:t>  "priority": "FIRST",</a:t>
            </a:r>
          </a:p>
          <a:p>
            <a:r>
              <a:t>  "related": [</a:t>
            </a:r>
          </a:p>
          <a:p>
            <a:r>
              <a:t>    "volunteer_training",</a:t>
            </a:r>
          </a:p>
          <a:p>
            <a:r>
              <a:t>    "seeker_class",</a:t>
            </a:r>
          </a:p>
          <a:p>
            <a:r>
              <a:t>    "mentoring_support"</a:t>
            </a:r>
          </a:p>
          <a:p>
            <a:r>
              <a:t>  ],</a:t>
            </a:r>
          </a:p>
          <a:p>
            <a:r>
              <a:t>  "page": 5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"key": "volunteer_training",</a:t>
            </a:r>
          </a:p>
          <a:p>
            <a:r>
              <a:t>  "title": "A volunteer can learn before accepting a new task",</a:t>
            </a:r>
          </a:p>
          <a:p>
            <a:r>
              <a:t>  "pair": "Volunteer support → Learning centre",</a:t>
            </a:r>
          </a:p>
          <a:p>
            <a:r>
              <a:t>  "person": "A volunteer offered unfamiliar work",</a:t>
            </a:r>
          </a:p>
          <a:p>
            <a:r>
              <a:t>  "need": "“I want to help, but I need preparation for this kind of support.”",</a:t>
            </a:r>
          </a:p>
          <a:p>
            <a:r>
              <a:t>  "yes": "Recommend an approved course when a real duty requires a skill or refresher.",</a:t>
            </a:r>
          </a:p>
          <a:p>
            <a:r>
              <a:t>  "no": "Existing qualified volunteers do not repeat irrelevant classes; no blanket course requirement.",</a:t>
            </a:r>
          </a:p>
          <a:p>
            <a:r>
              <a:t>  "steps": [</a:t>
            </a:r>
          </a:p>
          <a:p>
            <a:r>
              <a:t>    [</a:t>
            </a:r>
          </a:p>
          <a:p>
            <a:r>
              <a:t>      "Readiness gap",</a:t>
            </a:r>
          </a:p>
          <a:p>
            <a:r>
              <a:t>      "The volunteer or coordinator identifies a specific skill gap."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"Relevant training",</a:t>
            </a:r>
          </a:p>
          <a:p>
            <a:r>
              <a:t>      "Open the approved course with topic and required outcome explained."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"Learning evidence",</a:t>
            </a:r>
          </a:p>
          <a:p>
            <a:r>
              <a:t>      "Record completion; assess readiness separately where needed."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"Return to duty",</a:t>
            </a:r>
          </a:p>
          <a:p>
            <a:r>
              <a:t>      "MRM updates eligibility and offers suitable work after approval."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"carry": "Course reference, completion and separately assessed competencies, with appropriate visibility.",</a:t>
            </a:r>
          </a:p>
          <a:p>
            <a:r>
              <a:t>  "separate": "Completion alone is not volunteer approval. Private learning notes stay private.",</a:t>
            </a:r>
          </a:p>
          <a:p>
            <a:r>
              <a:t>  "benefit": "Volunteers get practical preparation; seekers receive help from people approved for the task.",</a:t>
            </a:r>
          </a:p>
          <a:p>
            <a:r>
              <a:t>  "signal": "Training completion → assessed readiness → eligible task acceptance; monitor support quality.",</a:t>
            </a:r>
          </a:p>
          <a:p>
            <a:r>
              <a:t>  "priority": "FIRST",</a:t>
            </a:r>
          </a:p>
          <a:p>
            <a:r>
              <a:t>  "related": [</a:t>
            </a:r>
          </a:p>
          <a:p>
            <a:r>
              <a:t>    "teacher_support",</a:t>
            </a:r>
          </a:p>
          <a:p>
            <a:r>
              <a:t>    "learner_volunteer",</a:t>
            </a:r>
          </a:p>
          <a:p>
            <a:r>
              <a:t>    "capacity_learning"</a:t>
            </a:r>
          </a:p>
          <a:p>
            <a:r>
              <a:t>  ],</a:t>
            </a:r>
          </a:p>
          <a:p>
            <a:r>
              <a:t>  "page": 6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"key": "seeker_class",</a:t>
            </a:r>
          </a:p>
          <a:p>
            <a:r>
              <a:t>  "title": "A support conversation can open the right learning path",</a:t>
            </a:r>
          </a:p>
          <a:p>
            <a:r>
              <a:t>  "pair": "Support requests → Learning centre",</a:t>
            </a:r>
          </a:p>
          <a:p>
            <a:r>
              <a:t>  "person": "A seeker asking for Quran-reading help",</a:t>
            </a:r>
          </a:p>
          <a:p>
            <a:r>
              <a:t>  "need": "“I need a patient beginner class, in my language, at a time I can attend.”",</a:t>
            </a:r>
          </a:p>
          <a:p>
            <a:r>
              <a:t>  "yes": "Suggest a class when learning addresses the person’s expressed need and they want it.",</a:t>
            </a:r>
          </a:p>
          <a:p>
            <a:r>
              <a:t>  "no": "Urgent welfare support continues independently. No class enrolment is required for aid.",</a:t>
            </a:r>
          </a:p>
          <a:p>
            <a:r>
              <a:t>  "steps": [</a:t>
            </a:r>
          </a:p>
          <a:p>
            <a:r>
              <a:t>    [</a:t>
            </a:r>
          </a:p>
          <a:p>
            <a:r>
              <a:t>      "Expressed need",</a:t>
            </a:r>
          </a:p>
          <a:p>
            <a:r>
              <a:t>      "The assigned helper asks whether learning support would be useful."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"Consent to refer",</a:t>
            </a:r>
          </a:p>
          <a:p>
            <a:r>
              <a:t>      "The seeker selects a goal, language and availability to share."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"Suitable programme",</a:t>
            </a:r>
          </a:p>
          <a:p>
            <a:r>
              <a:t>      "Show approved beginner classes and relevant teacher credentials."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"Optional enrolment",</a:t>
            </a:r>
          </a:p>
          <a:p>
            <a:r>
              <a:t>      "The seeker joins; the helper sees only the agreed referral status."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"carry": "Chosen learning goal, language, availability and referral ID; share only what is needed.",</a:t>
            </a:r>
          </a:p>
          <a:p>
            <a:r>
              <a:t>  "separate": "No full case narrative, financial circumstances or private chat enters a teacher profile.",</a:t>
            </a:r>
          </a:p>
          <a:p>
            <a:r>
              <a:t>  "benefit": "The seeker receives a practical next step; teachers reach learners who want the programme.",</a:t>
            </a:r>
          </a:p>
          <a:p>
            <a:r>
              <a:t>  "signal": "Consented referrals → suitable enrolments → attendance and seeker-reported usefulness.",</a:t>
            </a:r>
          </a:p>
          <a:p>
            <a:r>
              <a:t>  "priority": "FIRST",</a:t>
            </a:r>
          </a:p>
          <a:p>
            <a:r>
              <a:t>  "related": [</a:t>
            </a:r>
          </a:p>
          <a:p>
            <a:r>
              <a:t>    "teacher_support",</a:t>
            </a:r>
          </a:p>
          <a:p>
            <a:r>
              <a:t>    "learning_mentor",</a:t>
            </a:r>
          </a:p>
          <a:p>
            <a:r>
              <a:t>    "mentoring_support"</a:t>
            </a:r>
          </a:p>
          <a:p>
            <a:r>
              <a:t>  ],</a:t>
            </a:r>
          </a:p>
          <a:p>
            <a:r>
              <a:t>  "page": 7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"key": "quran_class",</a:t>
            </a:r>
          </a:p>
          <a:p>
            <a:r>
              <a:t>  "title": "A Quran reader can find help for a specific learning goal",</a:t>
            </a:r>
          </a:p>
          <a:p>
            <a:r>
              <a:t>  "pair": "Quran utility → Learning centre",</a:t>
            </a:r>
          </a:p>
          <a:p>
            <a:r>
              <a:t>  "person": "A person using Quran reading tools",</a:t>
            </a:r>
          </a:p>
          <a:p>
            <a:r>
              <a:t>  "need": "“I can read this passage, but I want help with pronunciation or meaning.”",</a:t>
            </a:r>
          </a:p>
          <a:p>
            <a:r>
              <a:t>  "yes": "Offer a discreet learning action after the person explicitly asks for help on a topic.",</a:t>
            </a:r>
          </a:p>
          <a:p>
            <a:r>
              <a:t>  "no": "Reading alone remains complete. Do not infer poor skill or send unsolicited judgments.",</a:t>
            </a:r>
          </a:p>
          <a:p>
            <a:r>
              <a:t>  "steps": [</a:t>
            </a:r>
          </a:p>
          <a:p>
            <a:r>
              <a:t>    [</a:t>
            </a:r>
          </a:p>
          <a:p>
            <a:r>
              <a:t>      "Ask for guidance",</a:t>
            </a:r>
          </a:p>
          <a:p>
            <a:r>
              <a:t>      "The reader chooses Learn this topic or Get reading help."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"Choose learning goal",</a:t>
            </a:r>
          </a:p>
          <a:p>
            <a:r>
              <a:t>      "They select beginner reading, recitation or an approved topic."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"Relevant discovery",</a:t>
            </a:r>
          </a:p>
          <a:p>
            <a:r>
              <a:t>      "Show approved teachers or programmes matching language and level."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"Return to practice",</a:t>
            </a:r>
          </a:p>
          <a:p>
            <a:r>
              <a:t>      "After learning, a saved link returns to the selected passage."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"carry": "Only the user-selected passage, learning goal and preferred language.",</a:t>
            </a:r>
          </a:p>
          <a:p>
            <a:r>
              <a:t>  "separate": "No private reading history or worship-tracker record is shared with a teacher.",</a:t>
            </a:r>
          </a:p>
          <a:p>
            <a:r>
              <a:t>  "benefit": "Daily use can become purposeful learning; teachers receive clearer learner intent.",</a:t>
            </a:r>
          </a:p>
          <a:p>
            <a:r>
              <a:t>  "signal": "User-initiated learning opens → relevant enrolments → return to chosen practice.",</a:t>
            </a:r>
          </a:p>
          <a:p>
            <a:r>
              <a:t>  "priority": "NEXT",</a:t>
            </a:r>
          </a:p>
          <a:p>
            <a:r>
              <a:t>  "related": [</a:t>
            </a:r>
          </a:p>
          <a:p>
            <a:r>
              <a:t>    "learning_mentor",</a:t>
            </a:r>
          </a:p>
          <a:p>
            <a:r>
              <a:t>    "seeker_class",</a:t>
            </a:r>
          </a:p>
          <a:p>
            <a:r>
              <a:t>    "learner_volunteer"</a:t>
            </a:r>
          </a:p>
          <a:p>
            <a:r>
              <a:t>  ],</a:t>
            </a:r>
          </a:p>
          <a:p>
            <a:r>
              <a:t>  "page": 8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"key": "learning_mentor",</a:t>
            </a:r>
          </a:p>
          <a:p>
            <a:r>
              <a:t>  "title": "A learner can ask for continuity after a class",</a:t>
            </a:r>
          </a:p>
          <a:p>
            <a:r>
              <a:t>  "pair": "Learning centre → Mentoring",</a:t>
            </a:r>
          </a:p>
          <a:p>
            <a:r>
              <a:t>  "person": "A learner who wants individual follow-up",</a:t>
            </a:r>
          </a:p>
          <a:p>
            <a:r>
              <a:t>  "need": "“The class helped. I would like someone to guide my next steps.”",</a:t>
            </a:r>
          </a:p>
          <a:p>
            <a:r>
              <a:t>  "yes": "Offer mentoring after a learner requests ongoing guidance or a teacher offers approved capacity.",</a:t>
            </a:r>
          </a:p>
          <a:p>
            <a:r>
              <a:t>  "no": "Class enrolment does not enrol a person into mentoring or open private messaging automatically.",</a:t>
            </a:r>
          </a:p>
          <a:p>
            <a:r>
              <a:t>  "steps": [</a:t>
            </a:r>
          </a:p>
          <a:p>
            <a:r>
              <a:t>    [</a:t>
            </a:r>
          </a:p>
          <a:p>
            <a:r>
              <a:t>      "Request follow-up",</a:t>
            </a:r>
          </a:p>
          <a:p>
            <a:r>
              <a:t>      "The learner chooses a goal after the programme."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"Available mentor",</a:t>
            </a:r>
          </a:p>
          <a:p>
            <a:r>
              <a:t>      "Show approved mentors relevant to topic, language and permitted boundaries."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"Mutual acceptance",</a:t>
            </a:r>
          </a:p>
          <a:p>
            <a:r>
              <a:t>      "The mentor has capacity; the learner agrees to contact and expectations."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"Ongoing guidance",</a:t>
            </a:r>
          </a:p>
          <a:p>
            <a:r>
              <a:t>      "Open the authorised relationship and optional agreed check-ins."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"carry": "Chosen programme, learning goal and agreed availability; selected progress only with consent.",</a:t>
            </a:r>
          </a:p>
          <a:p>
            <a:r>
              <a:t>  "separate": "No automatic access to class rosters, aid cases or private worship records.",</a:t>
            </a:r>
          </a:p>
          <a:p>
            <a:r>
              <a:t>  "benefit": "Learners gain continuity; mentors support people whose needs match their expertise.",</a:t>
            </a:r>
          </a:p>
          <a:p>
            <a:r>
              <a:t>  "signal": "Follow-up requests → mutually accepted matches → useful agreed check-ins.",</a:t>
            </a:r>
          </a:p>
          <a:p>
            <a:r>
              <a:t>  "priority": "NEXT",</a:t>
            </a:r>
          </a:p>
          <a:p>
            <a:r>
              <a:t>  "related": [</a:t>
            </a:r>
          </a:p>
          <a:p>
            <a:r>
              <a:t>    "seeker_class",</a:t>
            </a:r>
          </a:p>
          <a:p>
            <a:r>
              <a:t>    "mentoring_support",</a:t>
            </a:r>
          </a:p>
          <a:p>
            <a:r>
              <a:t>    "teacher_support"</a:t>
            </a:r>
          </a:p>
          <a:p>
            <a:r>
              <a:t>  ],</a:t>
            </a:r>
          </a:p>
          <a:p>
            <a:r>
              <a:t>  "page": 9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"key": "mentoring_support",</a:t>
            </a:r>
          </a:p>
          <a:p>
            <a:r>
              <a:t>  "title": "A mentor can refer needs beyond the teaching relationship",</a:t>
            </a:r>
          </a:p>
          <a:p>
            <a:r>
              <a:t>  "pair": "Mentoring → Support requests",</a:t>
            </a:r>
          </a:p>
          <a:p>
            <a:r>
              <a:t>  "person": "A mentor hearing about a practical difficulty",</a:t>
            </a:r>
          </a:p>
          <a:p>
            <a:r>
              <a:t>  "need": "“This learner needs help that I am not authorised or qualified to provide.”",</a:t>
            </a:r>
          </a:p>
          <a:p>
            <a:r>
              <a:t>  "yes": "Offer a supported referral when the person wants help outside the mentor’s remit.",</a:t>
            </a:r>
          </a:p>
          <a:p>
            <a:r>
              <a:t>  "no": "A mentor does not investigate welfare issues or browse existing private cases.",</a:t>
            </a:r>
          </a:p>
          <a:p>
            <a:r>
              <a:t>  "steps": [</a:t>
            </a:r>
          </a:p>
          <a:p>
            <a:r>
              <a:t>    [</a:t>
            </a:r>
          </a:p>
          <a:p>
            <a:r>
              <a:t>      "Recognise the limit",</a:t>
            </a:r>
          </a:p>
          <a:p>
            <a:r>
              <a:t>      "The mentor explains the relevant support route without promising an outcome."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"Person chooses help",</a:t>
            </a:r>
          </a:p>
          <a:p>
            <a:r>
              <a:t>      "The learner opens or agrees to a minimal support referral."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"MRM triage",</a:t>
            </a:r>
          </a:p>
          <a:p>
            <a:r>
              <a:t>      "Authorised staff assess urgency, eligibility and the appropriate response."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"Bounded follow-up",</a:t>
            </a:r>
          </a:p>
          <a:p>
            <a:r>
              <a:t>      "The mentor sees only the referral status the person agreed to share."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"carry": "Consent, chosen category, contact preference and minimum agreed context.",</a:t>
            </a:r>
          </a:p>
          <a:p>
            <a:r>
              <a:t>  "separate": "No blanket case access. Safeguarding disclosures follow the approved escalation policy.",</a:t>
            </a:r>
          </a:p>
          <a:p>
            <a:r>
              <a:t>  "benefit": "The person reaches qualified help; the mentor can stay within a clear teaching role.",</a:t>
            </a:r>
          </a:p>
          <a:p>
            <a:r>
              <a:t>  "signal": "Accepted referrals → triaged requests → completed handoffs without excess disclosure.",</a:t>
            </a:r>
          </a:p>
          <a:p>
            <a:r>
              <a:t>  "priority": "FIRST",</a:t>
            </a:r>
          </a:p>
          <a:p>
            <a:r>
              <a:t>  "related": [</a:t>
            </a:r>
          </a:p>
          <a:p>
            <a:r>
              <a:t>    "seeker_class",</a:t>
            </a:r>
          </a:p>
          <a:p>
            <a:r>
              <a:t>    "teacher_support",</a:t>
            </a:r>
          </a:p>
          <a:p>
            <a:r>
              <a:t>    "specialist_referral"</a:t>
            </a:r>
          </a:p>
          <a:p>
            <a:r>
              <a:t>  ],</a:t>
            </a:r>
          </a:p>
          <a:p>
            <a:r>
              <a:t>  "page": 10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"key": "event_volunteer",</a:t>
            </a:r>
          </a:p>
          <a:p>
            <a:r>
              <a:t>  "title": "A learning event can invite a separate service role",</a:t>
            </a:r>
          </a:p>
          <a:p>
            <a:r>
              <a:t>  "pair": "Learning events → Volunteer duties",</a:t>
            </a:r>
          </a:p>
          <a:p>
            <a:r>
              <a:t>  "person": "A Halaqa attendee or teacher",</a:t>
            </a:r>
          </a:p>
          <a:p>
            <a:r>
              <a:t>  "need": "“I am attending this event. Can I help with registration or accessibility?”",</a:t>
            </a:r>
          </a:p>
          <a:p>
            <a:r>
              <a:t>  "yes": "Offer clearly defined event tasks when organisers need capacity and the person opts in.",</a:t>
            </a:r>
          </a:p>
          <a:p>
            <a:r>
              <a:t>  "no": "Attending a class never creates a duty. An event helper does not gain case access.",</a:t>
            </a:r>
          </a:p>
          <a:p>
            <a:r>
              <a:t>  "steps": [</a:t>
            </a:r>
          </a:p>
          <a:p>
            <a:r>
              <a:t>    [</a:t>
            </a:r>
          </a:p>
          <a:p>
            <a:r>
              <a:t>      "Event participation",</a:t>
            </a:r>
          </a:p>
          <a:p>
            <a:r>
              <a:t>      "The person views an approved programme and its support needs."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"Choose a duty",</a:t>
            </a:r>
          </a:p>
          <a:p>
            <a:r>
              <a:t>      "They select a suitable task, time window and required checks."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"Coordinator confirms",</a:t>
            </a:r>
          </a:p>
          <a:p>
            <a:r>
              <a:t>      "Check eligibility and avoid conflict with the person’s class time."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"Event service",</a:t>
            </a:r>
          </a:p>
          <a:p>
            <a:r>
              <a:t>      "Show a separate duty card, instructions and attendance confirmation."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"carry": "Event ID, chosen slot, contact consent and role-specific eligibility.",</a:t>
            </a:r>
          </a:p>
          <a:p>
            <a:r>
              <a:t>  "separate": "Class attendance and duty acceptance are separate records; no attendee list is exported.",</a:t>
            </a:r>
          </a:p>
          <a:p>
            <a:r>
              <a:t>  "benefit": "Organisers gain willing capacity; participants have a specific, manageable way to contribute.",</a:t>
            </a:r>
          </a:p>
          <a:p>
            <a:r>
              <a:t>  "signal": "Opt-in duty requests → conflict-free confirmations → completed event tasks.",</a:t>
            </a:r>
          </a:p>
          <a:p>
            <a:r>
              <a:t>  "priority": "NEXT",</a:t>
            </a:r>
          </a:p>
          <a:p>
            <a:r>
              <a:t>  "related": [</a:t>
            </a:r>
          </a:p>
          <a:p>
            <a:r>
              <a:t>    "learner_volunteer",</a:t>
            </a:r>
          </a:p>
          <a:p>
            <a:r>
              <a:t>    "volunteer_training",</a:t>
            </a:r>
          </a:p>
          <a:p>
            <a:r>
              <a:t>    "feed_learning"</a:t>
            </a:r>
          </a:p>
          <a:p>
            <a:r>
              <a:t>  ],</a:t>
            </a:r>
          </a:p>
          <a:p>
            <a:r>
              <a:t>  "page": 11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"key": "feed_learning",</a:t>
            </a:r>
          </a:p>
          <a:p>
            <a:r>
              <a:t>  "title": "An inspiring post can lead to a relevant programme",</a:t>
            </a:r>
          </a:p>
          <a:p>
            <a:r>
              <a:t>  "pair": "Community updates → Learning centre",</a:t>
            </a:r>
          </a:p>
          <a:p>
            <a:r>
              <a:t>  "person": "A reader interested in an approved topic",</a:t>
            </a:r>
          </a:p>
          <a:p>
            <a:r>
              <a:t>  "need": "“This article is useful. Where can I learn this with a teacher?”",</a:t>
            </a:r>
          </a:p>
          <a:p>
            <a:r>
              <a:t>  "yes": "Attach a specific approved programme when it genuinely expands on the post.",</a:t>
            </a:r>
          </a:p>
          <a:p>
            <a:r>
              <a:t>  "no": "Not every post needs a conversion. General announcements can stand alone.",</a:t>
            </a:r>
          </a:p>
          <a:p>
            <a:r>
              <a:t>  "steps": [</a:t>
            </a:r>
          </a:p>
          <a:p>
            <a:r>
              <a:t>    [</a:t>
            </a:r>
          </a:p>
          <a:p>
            <a:r>
              <a:t>      "Relevant approved post",</a:t>
            </a:r>
          </a:p>
          <a:p>
            <a:r>
              <a:t>      "An author explains a topic with a clear source and audience."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"Purposeful invitation",</a:t>
            </a:r>
          </a:p>
          <a:p>
            <a:r>
              <a:t>      "Read programme details or Meet the teacher explains the next step."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"Programme context",</a:t>
            </a:r>
          </a:p>
          <a:p>
            <a:r>
              <a:t>      "Open topic, level, language, date and access information."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"Voluntary participation",</a:t>
            </a:r>
          </a:p>
          <a:p>
            <a:r>
              <a:t>      "The reader chooses enrolment and can return to the original post."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"carry": "Post ID, topic and linked programme; aggregate referral attribution where agreed.",</a:t>
            </a:r>
          </a:p>
          <a:p>
            <a:r>
              <a:t>  "separate": "No sensitive-case targeting, fabricated testimonials or automatic enrolment.",</a:t>
            </a:r>
          </a:p>
          <a:p>
            <a:r>
              <a:t>  "benefit": "Readers can act on genuine interest; teachers reach an appropriate audience.",</a:t>
            </a:r>
          </a:p>
          <a:p>
            <a:r>
              <a:t>  "signal": "Post-to-programme opens → relevant enrolments; monitor usefulness and opt-outs.",</a:t>
            </a:r>
          </a:p>
          <a:p>
            <a:r>
              <a:t>  "priority": "NEXT",</a:t>
            </a:r>
          </a:p>
          <a:p>
            <a:r>
              <a:t>  "related": [</a:t>
            </a:r>
          </a:p>
          <a:p>
            <a:r>
              <a:t>    "learning_mentor",</a:t>
            </a:r>
          </a:p>
          <a:p>
            <a:r>
              <a:t>    "quran_class",</a:t>
            </a:r>
          </a:p>
          <a:p>
            <a:r>
              <a:t>    "consented_story"</a:t>
            </a:r>
          </a:p>
          <a:p>
            <a:r>
              <a:t>  ],</a:t>
            </a:r>
          </a:p>
          <a:p>
            <a:r>
              <a:t>  "page": 12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"key": "capacity_learning",</a:t>
            </a:r>
          </a:p>
          <a:p>
            <a:r>
              <a:t>  "title": "Repeated support needs can shape better programmes",</a:t>
            </a:r>
          </a:p>
          <a:p>
            <a:r>
              <a:t>  "pair": "Support operations → Learning planning",</a:t>
            </a:r>
          </a:p>
          <a:p>
            <a:r>
              <a:t>  "person": "An MRM programme coordinator",</a:t>
            </a:r>
          </a:p>
          <a:p>
            <a:r>
              <a:t>  "need": "“We repeatedly receive beginner-learning requests in a language with little capacity.”",</a:t>
            </a:r>
          </a:p>
          <a:p>
            <a:r>
              <a:t>  "yes": "Use restricted aggregate demand to commission a programme for an evidenced gap.",</a:t>
            </a:r>
          </a:p>
          <a:p>
            <a:r>
              <a:t>  "no": "Do not publish identifiable case examples or infer demand from a tiny sensitive group.",</a:t>
            </a:r>
          </a:p>
          <a:p>
            <a:r>
              <a:t>  "steps": [</a:t>
            </a:r>
          </a:p>
          <a:p>
            <a:r>
              <a:t>    [</a:t>
            </a:r>
          </a:p>
          <a:p>
            <a:r>
              <a:t>      "Aggregate need",</a:t>
            </a:r>
          </a:p>
          <a:p>
            <a:r>
              <a:t>      "Authorised staff group agreed categories, languages and waiting demand."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"Plan a response",</a:t>
            </a:r>
          </a:p>
          <a:p>
            <a:r>
              <a:t>      "MRM chooses a topic and suitable approved teacher capacity."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"Publish programme",</a:t>
            </a:r>
          </a:p>
          <a:p>
            <a:r>
              <a:t>      "Create a public description without beneficiary identities."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"Measure the response",</a:t>
            </a:r>
          </a:p>
          <a:p>
            <a:r>
              <a:t>      "Track programme capacity, consented referrals and unmet demand."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"carry": "Only approved aggregate demand, programme requirements and non-identifying outcomes.",</a:t>
            </a:r>
          </a:p>
          <a:p>
            <a:r>
              <a:t>  "separate": "Case files and individual identities never enter a public programme brief.",</a:t>
            </a:r>
          </a:p>
          <a:p>
            <a:r>
              <a:t>  "benefit": "Learning supply responds to real community needs; support teams gain a useful referral option.",</a:t>
            </a:r>
          </a:p>
          <a:p>
            <a:r>
              <a:t>  "signal": "Demand gap → commissioned capacity → suitable referrals; review remaining unmet need.",</a:t>
            </a:r>
          </a:p>
          <a:p>
            <a:r>
              <a:t>  "priority": "NEXT",</a:t>
            </a:r>
          </a:p>
          <a:p>
            <a:r>
              <a:t>  "related": [</a:t>
            </a:r>
          </a:p>
          <a:p>
            <a:r>
              <a:t>    "volunteer_training",</a:t>
            </a:r>
          </a:p>
          <a:p>
            <a:r>
              <a:t>    "seeker_class",</a:t>
            </a:r>
          </a:p>
          <a:p>
            <a:r>
              <a:t>    "teacher_support"</a:t>
            </a:r>
          </a:p>
          <a:p>
            <a:r>
              <a:t>  ],</a:t>
            </a:r>
          </a:p>
          <a:p>
            <a:r>
              <a:t>  "page": 13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"key": "consented_story",</a:t>
            </a:r>
          </a:p>
          <a:p>
            <a:r>
              <a:t>  "title": "A verified outcome can invite responsible participation",</a:t>
            </a:r>
          </a:p>
          <a:p>
            <a:r>
              <a:t>  "pair": "Service outcomes → Community updates",</a:t>
            </a:r>
          </a:p>
          <a:p>
            <a:r>
              <a:t>  "person": "A beneficiary willing to share an experience",</a:t>
            </a:r>
          </a:p>
          <a:p>
            <a:r>
              <a:t>  "need": "“I want to thank the programme, but I want control over what people can see.”",</a:t>
            </a:r>
          </a:p>
          <a:p>
            <a:r>
              <a:t>  "yes": "Publish a verified, consented story with an appropriate participation destination.",</a:t>
            </a:r>
          </a:p>
          <a:p>
            <a:r>
              <a:t>  "no": "Assistance and recognition never depend on agreeing to publicity.",</a:t>
            </a:r>
          </a:p>
          <a:p>
            <a:r>
              <a:t>  "steps": [</a:t>
            </a:r>
          </a:p>
          <a:p>
            <a:r>
              <a:t>    [</a:t>
            </a:r>
          </a:p>
          <a:p>
            <a:r>
              <a:t>      "Separate invitation",</a:t>
            </a:r>
          </a:p>
          <a:p>
            <a:r>
              <a:t>      "After service, staff offer an optional story process with no effect on aid."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"Specific consent",</a:t>
            </a:r>
          </a:p>
          <a:p>
            <a:r>
              <a:t>      "Agree wording, images, visibility and the withdrawal process."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"Review and publish",</a:t>
            </a:r>
          </a:p>
          <a:p>
            <a:r>
              <a:t>      "Check accuracy, minimisation and moderation before publication."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"Relevant invitation",</a:t>
            </a:r>
          </a:p>
          <a:p>
            <a:r>
              <a:t>      "Readers can discover a real class or apply to volunteer."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"carry": "Only approved story assets and programme links under the documented consent.",</a:t>
            </a:r>
          </a:p>
          <a:p>
            <a:r>
              <a:t>  "separate": "No case narrative, identity number or location is copied by default; no guaranteed outcomes.",</a:t>
            </a:r>
          </a:p>
          <a:p>
            <a:r>
              <a:t>  "benefit": "The storyteller controls disclosure; readers see credible reasons to participate.",</a:t>
            </a:r>
          </a:p>
          <a:p>
            <a:r>
              <a:t>  "signal": "Consent compliance, correction requests and relevant participation; never reward forced stories.",</a:t>
            </a:r>
          </a:p>
          <a:p>
            <a:r>
              <a:t>  "priority": "LATER",</a:t>
            </a:r>
          </a:p>
          <a:p>
            <a:r>
              <a:t>  "related": [</a:t>
            </a:r>
          </a:p>
          <a:p>
            <a:r>
              <a:t>    "feed_learning",</a:t>
            </a:r>
          </a:p>
          <a:p>
            <a:r>
              <a:t>    "learner_volunteer",</a:t>
            </a:r>
          </a:p>
          <a:p>
            <a:r>
              <a:t>    "capacity_learning"</a:t>
            </a:r>
          </a:p>
          <a:p>
            <a:r>
              <a:t>  ],</a:t>
            </a:r>
          </a:p>
          <a:p>
            <a:r>
              <a:t>  "page": 14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"key": "prayer_event",</a:t>
            </a:r>
          </a:p>
          <a:p>
            <a:r>
              <a:t>  "title": "A local utility can surface a genuinely useful gathering",</a:t>
            </a:r>
          </a:p>
          <a:p>
            <a:r>
              <a:t>  "pair": "Prayer / nearby places → Learning events",</a:t>
            </a:r>
          </a:p>
          <a:p>
            <a:r>
              <a:t>  "person": "A person checking prayer times or a mosque",</a:t>
            </a:r>
          </a:p>
          <a:p>
            <a:r>
              <a:t>  "need": "“Is there an approved beginner Halaqa near this place?”",</a:t>
            </a:r>
          </a:p>
          <a:p>
            <a:r>
              <a:t>  "yes": "Offer nearby programmes when the person requests local learning information.",</a:t>
            </a:r>
          </a:p>
          <a:p>
            <a:r>
              <a:t>  "no": "Prayer times remain usable without events, location sharing or an account where supported.",</a:t>
            </a:r>
          </a:p>
          <a:p>
            <a:r>
              <a:t>  "steps": [</a:t>
            </a:r>
          </a:p>
          <a:p>
            <a:r>
              <a:t>    [</a:t>
            </a:r>
          </a:p>
          <a:p>
            <a:r>
              <a:t>      "Local intent",</a:t>
            </a:r>
          </a:p>
          <a:p>
            <a:r>
              <a:t>      "The person selects a mosque or manually chosen area."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"Explore gatherings",</a:t>
            </a:r>
          </a:p>
          <a:p>
            <a:r>
              <a:t>      "A separate action requests approved programmes nearby."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"Check relevance",</a:t>
            </a:r>
          </a:p>
          <a:p>
            <a:r>
              <a:t>      "Show venue, date, topic, language and accessibility information."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"Choose to attend",</a:t>
            </a:r>
          </a:p>
          <a:p>
            <a:r>
              <a:t>      "The person enrols and optionally enables programme reminders."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"carry": "Selected venue or area and chosen programme; prefer manual area selection when sufficient.",</a:t>
            </a:r>
          </a:p>
          <a:p>
            <a:r>
              <a:t>  "separate": "No background location tracking or attendance inference from prayer-tool use.",</a:t>
            </a:r>
          </a:p>
          <a:p>
            <a:r>
              <a:t>  "benefit": "Daily tools create relevant discovery; local organisers reach interested participants.",</a:t>
            </a:r>
          </a:p>
          <a:p>
            <a:r>
              <a:t>  "signal": "User-requested local discovery → suitable event enrolments → confirmed attendance.",</a:t>
            </a:r>
          </a:p>
          <a:p>
            <a:r>
              <a:t>  "priority": "LATER",</a:t>
            </a:r>
          </a:p>
          <a:p>
            <a:r>
              <a:t>  "related": [</a:t>
            </a:r>
          </a:p>
          <a:p>
            <a:r>
              <a:t>    "event_volunteer",</a:t>
            </a:r>
          </a:p>
          <a:p>
            <a:r>
              <a:t>    "feed_learning",</a:t>
            </a:r>
          </a:p>
          <a:p>
            <a:r>
              <a:t>    "quran_class"</a:t>
            </a:r>
          </a:p>
          <a:p>
            <a:r>
              <a:t>  ],</a:t>
            </a:r>
          </a:p>
          <a:p>
            <a:r>
              <a:t>  "page": 15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"key": "learner_volunteer",</a:t>
            </a:r>
          </a:p>
          <a:p>
            <a:r>
              <a:t>  "title": "A learner can choose a path from participation to contribution",</a:t>
            </a:r>
          </a:p>
          <a:p>
            <a:r>
              <a:t>  "pair": "Learning participation → Volunteer application",</a:t>
            </a:r>
          </a:p>
          <a:p>
            <a:r>
              <a:t>  "person": "A learner who wants to give back",</a:t>
            </a:r>
          </a:p>
          <a:p>
            <a:r>
              <a:t>  "need": "“This helped me. I want to support others when I am ready.”",</a:t>
            </a:r>
          </a:p>
          <a:p>
            <a:r>
              <a:t>  "yes": "Offer an optional volunteer path after the person expresses interest in contributing.",</a:t>
            </a:r>
          </a:p>
          <a:p>
            <a:r>
              <a:t>  "no": "Learning progress, religiosity or aid receipt never creates an obligation to volunteer.",</a:t>
            </a:r>
          </a:p>
          <a:p>
            <a:r>
              <a:t>  "steps": [</a:t>
            </a:r>
          </a:p>
          <a:p>
            <a:r>
              <a:t>    [</a:t>
            </a:r>
          </a:p>
          <a:p>
            <a:r>
              <a:t>      "Interest in service",</a:t>
            </a:r>
          </a:p>
          <a:p>
            <a:r>
              <a:t>      "The learner chooses a suitable contribution area."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"Relevant preparation",</a:t>
            </a:r>
          </a:p>
          <a:p>
            <a:r>
              <a:t>      "Show actual role expectations and optional or required preparation."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"Apply and assess",</a:t>
            </a:r>
          </a:p>
          <a:p>
            <a:r>
              <a:t>      "Reuse consented profile details; complete separate volunteer checks."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"Start within limits",</a:t>
            </a:r>
          </a:p>
          <a:p>
            <a:r>
              <a:t>      "Approved volunteers accept bounded work with coordinator support."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"carry": "Selected interests, contact details and relevant assessed skills with consent.",</a:t>
            </a:r>
          </a:p>
          <a:p>
            <a:r>
              <a:t>  "separate": "A certificate, course attendance or worship streak does not confer service authority.",</a:t>
            </a:r>
          </a:p>
          <a:p>
            <a:r>
              <a:t>  "benefit": "Learners gain an achievable contribution route; MRM grows prepared, willing capacity.",</a:t>
            </a:r>
          </a:p>
          <a:p>
            <a:r>
              <a:t>  "signal": "Interest → applications → approvals → sustained suitable service; watch burden and dropout.",</a:t>
            </a:r>
          </a:p>
          <a:p>
            <a:r>
              <a:t>  "priority": "NEXT",</a:t>
            </a:r>
          </a:p>
          <a:p>
            <a:r>
              <a:t>  "related": [</a:t>
            </a:r>
          </a:p>
          <a:p>
            <a:r>
              <a:t>    "volunteer_training",</a:t>
            </a:r>
          </a:p>
          <a:p>
            <a:r>
              <a:t>    "event_volunteer",</a:t>
            </a:r>
          </a:p>
          <a:p>
            <a:r>
              <a:t>    "teacher_support"</a:t>
            </a:r>
          </a:p>
          <a:p>
            <a:r>
              <a:t>  ],</a:t>
            </a:r>
          </a:p>
          <a:p>
            <a:r>
              <a:t>  "page": 16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"key": "specialist_referral",</a:t>
            </a:r>
          </a:p>
          <a:p>
            <a:r>
              <a:t>  "title": "A volunteer can connect a person to the right specialist",</a:t>
            </a:r>
          </a:p>
          <a:p>
            <a:r>
              <a:t>  "pair": "Volunteer support → Specialist referral",</a:t>
            </a:r>
          </a:p>
          <a:p>
            <a:r>
              <a:t>  "person": "A volunteer whose assigned case exceeds their remit",</a:t>
            </a:r>
          </a:p>
          <a:p>
            <a:r>
              <a:t>  "need": "“I can accompany this person, but their next need requires authorised expertise.”",</a:t>
            </a:r>
          </a:p>
          <a:p>
            <a:r>
              <a:t>  "yes": "Route through MRM when a need exceeds the volunteer’s approved competence.",</a:t>
            </a:r>
          </a:p>
          <a:p>
            <a:r>
              <a:t>  "no": "The app never treats a teaching badge as legal, medical or financial accreditation.",</a:t>
            </a:r>
          </a:p>
          <a:p>
            <a:r>
              <a:t>  "steps": [</a:t>
            </a:r>
          </a:p>
          <a:p>
            <a:r>
              <a:t>    [</a:t>
            </a:r>
          </a:p>
          <a:p>
            <a:r>
              <a:t>      "Recognise a boundary",</a:t>
            </a:r>
          </a:p>
          <a:p>
            <a:r>
              <a:t>      "The volunteer records a minimal referral request on their authorised case."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"Staff review",</a:t>
            </a:r>
          </a:p>
          <a:p>
            <a:r>
              <a:t>      "MRM checks consent, urgency and the appropriate referral pathway."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"Approved handoff",</a:t>
            </a:r>
          </a:p>
          <a:p>
            <a:r>
              <a:t>      "Share necessary information with an authorised partner under policy."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"Keep continuity",</a:t>
            </a:r>
          </a:p>
          <a:p>
            <a:r>
              <a:t>      "Track acknowledgement and next ownership; the volunteer sees permitted status."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"carry": "Minimum agreed referral context, consent and case/reference ID to authorised recipients.",</a:t>
            </a:r>
          </a:p>
          <a:p>
            <a:r>
              <a:t>  "separate": "No public case broadcast, unapproved partner access or assumption of specialist credentials.",</a:t>
            </a:r>
          </a:p>
          <a:p>
            <a:r>
              <a:t>  "benefit": "The seeker avoids repeating the story unnecessarily; the volunteer avoids unsafe overreach.",</a:t>
            </a:r>
          </a:p>
          <a:p>
            <a:r>
              <a:t>  "signal": "Appropriate referrals → acknowledged handoffs → clear next owner and follow-up.",</a:t>
            </a:r>
          </a:p>
          <a:p>
            <a:r>
              <a:t>  "priority": "FIRST",</a:t>
            </a:r>
          </a:p>
          <a:p>
            <a:r>
              <a:t>  "related": [</a:t>
            </a:r>
          </a:p>
          <a:p>
            <a:r>
              <a:t>    "mentoring_support",</a:t>
            </a:r>
          </a:p>
          <a:p>
            <a:r>
              <a:t>    "seeker_class",</a:t>
            </a:r>
          </a:p>
          <a:p>
            <a:r>
              <a:t>    "volunteer_training"</a:t>
            </a:r>
          </a:p>
          <a:p>
            <a:r>
              <a:t>  ],</a:t>
            </a:r>
          </a:p>
          <a:p>
            <a:r>
              <a:t>  "page": 17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"key": "website_journey",</a:t>
            </a:r>
          </a:p>
          <a:p>
            <a:r>
              <a:t>  "title": "Public discovery can continue into the same service journey",</a:t>
            </a:r>
          </a:p>
          <a:p>
            <a:r>
              <a:t>  "pair": "Website → App participation",</a:t>
            </a:r>
          </a:p>
          <a:p>
            <a:r>
              <a:t>  "person": "A visitor reading a programme or volunteer opportunity",</a:t>
            </a:r>
          </a:p>
          <a:p>
            <a:r>
              <a:t>  "need": "“I want this exact programme, not to start again on a generic home screen.”",</a:t>
            </a:r>
          </a:p>
          <a:p>
            <a:r>
              <a:t>  "yes": "Preserve the public destination across install, sign-in and eligibility checks where feasible.",</a:t>
            </a:r>
          </a:p>
          <a:p>
            <a:r>
              <a:t>  "no": "Public information stays accessible; installation is not needed just to read it.",</a:t>
            </a:r>
          </a:p>
          <a:p>
            <a:r>
              <a:t>  "steps": [</a:t>
            </a:r>
          </a:p>
          <a:p>
            <a:r>
              <a:t>    [</a:t>
            </a:r>
          </a:p>
          <a:p>
            <a:r>
              <a:t>      "Specific public page",</a:t>
            </a:r>
          </a:p>
          <a:p>
            <a:r>
              <a:t>      "The visitor chooses a programme, volunteer role or support route."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"Keep the destination",</a:t>
            </a:r>
          </a:p>
          <a:p>
            <a:r>
              <a:t>      "Carry a non-sensitive link or short reference through entry."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"Required checks only",</a:t>
            </a:r>
          </a:p>
          <a:p>
            <a:r>
              <a:t>      "Sign in or apply when the selected action requires it."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"Resume the action",</a:t>
            </a:r>
          </a:p>
          <a:p>
            <a:r>
              <a:t>      "Return to the same programme or application with current availability."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"carry": "Public destination ID and safe campaign/source reference; no private case data in URLs.",</a:t>
            </a:r>
          </a:p>
          <a:p>
            <a:r>
              <a:t>  "separate": "No secrets in deep links. Expired programmes receive an honest alternative.",</a:t>
            </a:r>
          </a:p>
          <a:p>
            <a:r>
              <a:t>  "benefit": "Visitors keep their intent; MRM loses fewer people between discovery and participation.",</a:t>
            </a:r>
          </a:p>
          <a:p>
            <a:r>
              <a:t>  "signal": "Destination retained → intended action completed; test installation and expired-link paths.",</a:t>
            </a:r>
          </a:p>
          <a:p>
            <a:r>
              <a:t>  "priority": "FIRST",</a:t>
            </a:r>
          </a:p>
          <a:p>
            <a:r>
              <a:t>  "related": [</a:t>
            </a:r>
          </a:p>
          <a:p>
            <a:r>
              <a:t>    "feed_learning",</a:t>
            </a:r>
          </a:p>
          <a:p>
            <a:r>
              <a:t>    "learner_volunteer",</a:t>
            </a:r>
          </a:p>
          <a:p>
            <a:r>
              <a:t>    "seeker_class"</a:t>
            </a:r>
          </a:p>
          <a:p>
            <a:r>
              <a:t>  ],</a:t>
            </a:r>
          </a:p>
          <a:p>
            <a:r>
              <a:t>  "page": 18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"key": "recognition_growth",</a:t>
            </a:r>
          </a:p>
          <a:p>
            <a:r>
              <a:t>  "title": "Service experience can guide a person’s next development step",</a:t>
            </a:r>
          </a:p>
          <a:p>
            <a:r>
              <a:t>  "pair": "Volunteer review → Learning development",</a:t>
            </a:r>
          </a:p>
          <a:p>
            <a:r>
              <a:t>  "person": "A volunteer reflecting with a coordinator",</a:t>
            </a:r>
          </a:p>
          <a:p>
            <a:r>
              <a:t>  "need": "“What did I do well, and what training would help me contribute better?”",</a:t>
            </a:r>
          </a:p>
          <a:p>
            <a:r>
              <a:t>  "yes": "Use an agreed private review to recommend learning or future duties.",</a:t>
            </a:r>
          </a:p>
          <a:p>
            <a:r>
              <a:t>  "no": "Do not convert volunteer hours or popularity into teaching approval or public expertise claims.",</a:t>
            </a:r>
          </a:p>
          <a:p>
            <a:r>
              <a:t>  "steps": [</a:t>
            </a:r>
          </a:p>
          <a:p>
            <a:r>
              <a:t>    [</a:t>
            </a:r>
          </a:p>
          <a:p>
            <a:r>
              <a:t>      "Review service",</a:t>
            </a:r>
          </a:p>
          <a:p>
            <a:r>
              <a:t>      "The volunteer and authorised coordinator reflect on a completed duty."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"Agree development",</a:t>
            </a:r>
          </a:p>
          <a:p>
            <a:r>
              <a:t>      "Select a specific skill goal without copying beneficiary details."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"Choose learning",</a:t>
            </a:r>
          </a:p>
          <a:p>
            <a:r>
              <a:t>      "Offer an approved course or mentor relevant to that goal."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"Assess progression",</a:t>
            </a:r>
          </a:p>
          <a:p>
            <a:r>
              <a:t>      "Review learning and suitability before any new responsibility."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"carry": "Agreed skill goal and restricted competency evidence; public recognition only by policy.",</a:t>
            </a:r>
          </a:p>
          <a:p>
            <a:r>
              <a:t>  "separate": "No beneficiary story or private feedback on public profiles; no automatic teacher badge.",</a:t>
            </a:r>
          </a:p>
          <a:p>
            <a:r>
              <a:t>  "benefit": "Volunteers see a development path; MRM builds capacity with evidence rather than rank.",</a:t>
            </a:r>
          </a:p>
          <a:p>
            <a:r>
              <a:t>  "signal": "Agreed plans → useful training → assessed competence; track wellbeing as well as retention.",</a:t>
            </a:r>
          </a:p>
          <a:p>
            <a:r>
              <a:t>  "priority": "LATER",</a:t>
            </a:r>
          </a:p>
          <a:p>
            <a:r>
              <a:t>  "related": [</a:t>
            </a:r>
          </a:p>
          <a:p>
            <a:r>
              <a:t>    "volunteer_training",</a:t>
            </a:r>
          </a:p>
          <a:p>
            <a:r>
              <a:t>    "learner_volunteer",</a:t>
            </a:r>
          </a:p>
          <a:p>
            <a:r>
              <a:t>    "learning_mentor"</a:t>
            </a:r>
          </a:p>
          <a:p>
            <a:r>
              <a:t>  ],</a:t>
            </a:r>
          </a:p>
          <a:p>
            <a:r>
              <a:t>  "page": 19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"teacher_subscription": "Teacher publishing entitlement remains separate; it does not grant volunteer approval, case access or guaranteed matching."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"priority": "Editorial recommendation, not an agreed delivery commitment. Validate with teachers, volunteers, seekers and MRM operations."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"suggested_records": [</a:t>
            </a:r>
          </a:p>
          <a:p>
            <a:r>
              <a:t>    "person",</a:t>
            </a:r>
          </a:p>
          <a:p>
            <a:r>
              <a:t>    "role approval",</a:t>
            </a:r>
          </a:p>
          <a:p>
            <a:r>
              <a:t>    "subject credential",</a:t>
            </a:r>
          </a:p>
          <a:p>
            <a:r>
              <a:t>    "volunteer eligibility",</a:t>
            </a:r>
          </a:p>
          <a:p>
            <a:r>
              <a:t>    "programme enrolment",</a:t>
            </a:r>
          </a:p>
          <a:p>
            <a:r>
              <a:t>    "mentor relationship",</a:t>
            </a:r>
          </a:p>
          <a:p>
            <a:r>
              <a:t>    "case assignment",</a:t>
            </a:r>
          </a:p>
          <a:p>
            <a:r>
              <a:t>    "consented referral"</a:t>
            </a:r>
          </a:p>
          <a:p>
            <a:r>
              <a:t>  ],</a:t>
            </a:r>
          </a:p>
          <a:p>
            <a:r>
              <a:t>  "server_rule": "Recheck current status at display, acceptance and record access. A badge is descriptive, not an authorisation token."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Relationship Id="rId6" Type="http://schemas.openxmlformats.org/officeDocument/2006/relationships/slide" Target="slide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" Target="slide3.xml"/><Relationship Id="rId6" Type="http://schemas.openxmlformats.org/officeDocument/2006/relationships/slide" Target="slide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2.xml"/><Relationship Id="rId6" Type="http://schemas.openxmlformats.org/officeDocument/2006/relationships/slide" Target="slide3.xml"/><Relationship Id="rId7" Type="http://schemas.openxmlformats.org/officeDocument/2006/relationships/slide" Target="slide5.xml"/><Relationship Id="rId8" Type="http://schemas.openxmlformats.org/officeDocument/2006/relationships/slide" Target="slide7.xml"/><Relationship Id="rId9" Type="http://schemas.openxmlformats.org/officeDocument/2006/relationships/slide" Target="slide6.xml"/><Relationship Id="rId10" Type="http://schemas.openxmlformats.org/officeDocument/2006/relationships/slide" Target="slide17.xml"/><Relationship Id="rId11" Type="http://schemas.openxmlformats.org/officeDocument/2006/relationships/slide" Target="slide9.xml"/><Relationship Id="rId12" Type="http://schemas.openxmlformats.org/officeDocument/2006/relationships/slide" Target="slide12.xml"/><Relationship Id="rId13" Type="http://schemas.openxmlformats.org/officeDocument/2006/relationships/slide" Target="slide16.xml"/><Relationship Id="rId14" Type="http://schemas.openxmlformats.org/officeDocument/2006/relationships/slide" Target="slide1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" Target="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3.xml"/><Relationship Id="rId6" Type="http://schemas.openxmlformats.org/officeDocument/2006/relationships/slide" Target="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4.xml"/><Relationship Id="rId6" Type="http://schemas.openxmlformats.org/officeDocument/2006/relationships/slide" Target="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5.xml"/><Relationship Id="rId6" Type="http://schemas.openxmlformats.org/officeDocument/2006/relationships/slide" Target="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6.xml"/><Relationship Id="rId6" Type="http://schemas.openxmlformats.org/officeDocument/2006/relationships/slide" Target="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7.xml"/><Relationship Id="rId6" Type="http://schemas.openxmlformats.org/officeDocument/2006/relationships/slide" Target="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8.xml"/><Relationship Id="rId6" Type="http://schemas.openxmlformats.org/officeDocument/2006/relationships/slide" Target="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9.xml"/><Relationship Id="rId6" Type="http://schemas.openxmlformats.org/officeDocument/2006/relationships/slide" Target="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0.xml"/><Relationship Id="rId6" Type="http://schemas.openxmlformats.org/officeDocument/2006/relationships/slide" Target="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1.xml"/><Relationship Id="rId6" Type="http://schemas.openxmlformats.org/officeDocument/2006/relationships/slide" Target="slide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2.xml"/><Relationship Id="rId6" Type="http://schemas.openxmlformats.org/officeDocument/2006/relationships/slide" Target="slide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3.xml"/><Relationship Id="rId6" Type="http://schemas.openxmlformats.org/officeDocument/2006/relationships/slide" Target="slide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4.xml"/><Relationship Id="rId6" Type="http://schemas.openxmlformats.org/officeDocument/2006/relationships/slide" Target="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5.xml"/><Relationship Id="rId6" Type="http://schemas.openxmlformats.org/officeDocument/2006/relationships/slide" Target="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6.xml"/><Relationship Id="rId6" Type="http://schemas.openxmlformats.org/officeDocument/2006/relationships/slide" Target="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7.xml"/><Relationship Id="rId6" Type="http://schemas.openxmlformats.org/officeDocument/2006/relationships/slide" Target="slide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8.xml"/><Relationship Id="rId6" Type="http://schemas.openxmlformats.org/officeDocument/2006/relationships/slide" Target="slide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" Target="slide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9.xml"/><Relationship Id="rId6" Type="http://schemas.openxmlformats.org/officeDocument/2006/relationships/slide" Target="slide3.xml"/><Relationship Id="rId7" Type="http://schemas.openxmlformats.org/officeDocument/2006/relationships/slide" Target="slide5.xml"/><Relationship Id="rId8" Type="http://schemas.openxmlformats.org/officeDocument/2006/relationships/slide" Target="slide6.xml"/><Relationship Id="rId9" Type="http://schemas.openxmlformats.org/officeDocument/2006/relationships/slide" Target="slide7.xml"/><Relationship Id="rId10" Type="http://schemas.openxmlformats.org/officeDocument/2006/relationships/slide" Target="slide10.xml"/><Relationship Id="rId11" Type="http://schemas.openxmlformats.org/officeDocument/2006/relationships/slide" Target="slide17.xml"/><Relationship Id="rId12" Type="http://schemas.openxmlformats.org/officeDocument/2006/relationships/slide" Target="slide18.xml"/><Relationship Id="rId13" Type="http://schemas.openxmlformats.org/officeDocument/2006/relationships/slide" Target="slide8.xml"/><Relationship Id="rId14" Type="http://schemas.openxmlformats.org/officeDocument/2006/relationships/slide" Target="slide9.xml"/><Relationship Id="rId15" Type="http://schemas.openxmlformats.org/officeDocument/2006/relationships/slide" Target="slide11.xml"/><Relationship Id="rId16" Type="http://schemas.openxmlformats.org/officeDocument/2006/relationships/slide" Target="slide12.xml"/><Relationship Id="rId17" Type="http://schemas.openxmlformats.org/officeDocument/2006/relationships/slide" Target="slide13.xml"/><Relationship Id="rId18" Type="http://schemas.openxmlformats.org/officeDocument/2006/relationships/slide" Target="slide16.xml"/><Relationship Id="rId19" Type="http://schemas.openxmlformats.org/officeDocument/2006/relationships/slide" Target="slide14.xml"/><Relationship Id="rId20" Type="http://schemas.openxmlformats.org/officeDocument/2006/relationships/slide" Target="slide15.xml"/><Relationship Id="rId21" Type="http://schemas.openxmlformats.org/officeDocument/2006/relationships/slide" Target="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20.xml"/><Relationship Id="rId6" Type="http://schemas.openxmlformats.org/officeDocument/2006/relationships/slide" Target="slide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" Target="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CONNECTED PLATFORM STRATEGY / MRM DIGITAL COMMUNITY PLATFORM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38328"/>
            <a:ext cx="845618" cy="34747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56616"/>
            <a:ext cx="924939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950976"/>
            <a:ext cx="13350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2800" b="1">
                <a:solidFill>
                  <a:srgbClr val="F7F9FF"/>
                </a:solidFill>
                <a:latin typeface="DejaVu Sans"/>
              </a:defRPr>
            </a:pPr>
            <a:r>
              <a:t>Connect people’s reasons to use the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09928"/>
            <a:ext cx="132588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A person should understand why another feature helps them—and choose whether to cross into it.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7635240"/>
            <a:ext cx="13350240" cy="0"/>
          </a:xfrm>
          <a:prstGeom prst="line">
            <a:avLst/>
          </a:prstGeom>
          <a:ln w="21590">
            <a:solidFill>
              <a:srgbClr val="3443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hlinkClick action="ppaction://hlinksldjump" r:id="rId6"/>
          </p:cNvPr>
          <p:cNvSpPr txBox="1"/>
          <p:nvPr/>
        </p:nvSpPr>
        <p:spPr>
          <a:xfrm>
            <a:off x="640080" y="7818120"/>
            <a:ext cx="3474720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/ ZYLAX TECHNOLOGIES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7799831"/>
            <a:ext cx="813816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PRODUCT DESIGN · OPTIONAL PARTICIPATION · SEPARATE ROLE APPROVALS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93040" y="7772400"/>
            <a:ext cx="1097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01 / 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542032"/>
            <a:ext cx="12710160" cy="10972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3200" b="1">
                <a:solidFill>
                  <a:srgbClr val="F7F9FF"/>
                </a:solidFill>
                <a:latin typeface="DejaVu Sans"/>
              </a:defRPr>
            </a:pPr>
            <a:r>
              <a:t>“I came here to teach. Why would I volunteer?”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023360"/>
            <a:ext cx="4206240" cy="228600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" y="4133088"/>
            <a:ext cx="3877055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START WITH A REAL PERSON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4636008"/>
            <a:ext cx="3877055" cy="1554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Their current role, goal and reason to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consider a second service.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12080" y="4023360"/>
            <a:ext cx="4206240" cy="228600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76672" y="4133088"/>
            <a:ext cx="3877055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MAKE THE HANDOFF USEFUL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76672" y="4636008"/>
            <a:ext cx="3877055" cy="1554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A relevant invitation, consent and a clear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next action—not just a menu link.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84080" y="4023360"/>
            <a:ext cx="4206240" cy="228600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48672" y="4133088"/>
            <a:ext cx="3877055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8DD8B1"/>
                </a:solidFill>
                <a:latin typeface="DejaVu Sans"/>
              </a:defRPr>
            </a:pPr>
            <a:r>
              <a:t>SHOW VALUE ON BOTH SIDES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48672" y="4636008"/>
            <a:ext cx="3877055" cy="1554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Explain what the person gains and what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the recipient or service gains.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739128"/>
            <a:ext cx="128930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700" b="1">
                <a:solidFill>
                  <a:srgbClr val="E8C578"/>
                </a:solidFill>
                <a:latin typeface="DejaVu Sans"/>
              </a:defRPr>
            </a:pPr>
            <a:r>
              <a:t>15 proposed bridges · 2 complete journeys · role boundaries · implementation priorities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USER-VALUE CONNECTIONS / MRM DIGITAL COMMUNITY PLATFORM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38328"/>
            <a:ext cx="845618" cy="34747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56616"/>
            <a:ext cx="924939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950976"/>
            <a:ext cx="13350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2800" b="1">
                <a:solidFill>
                  <a:srgbClr val="F7F9FF"/>
                </a:solidFill>
                <a:latin typeface="DejaVu Sans"/>
              </a:defRPr>
            </a:pPr>
            <a:r>
              <a:t>A Quran teacher chooses a second way to 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09928"/>
            <a:ext cx="132588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Learning centre → voluntary support participation → a subject-relevant offer a seeker can assess.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7635240"/>
            <a:ext cx="13350240" cy="0"/>
          </a:xfrm>
          <a:prstGeom prst="line">
            <a:avLst/>
          </a:prstGeom>
          <a:ln w="21590">
            <a:solidFill>
              <a:srgbClr val="3443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hlinkClick action="ppaction://hlinksldjump" r:id="rId5"/>
          </p:cNvPr>
          <p:cNvSpPr txBox="1"/>
          <p:nvPr/>
        </p:nvSpPr>
        <p:spPr>
          <a:xfrm>
            <a:off x="640080" y="7818120"/>
            <a:ext cx="3474720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/ ZYLAX TECHNOLOGIES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7799831"/>
            <a:ext cx="813816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PRODUCT DESIGN · OPTIONAL PARTICIPATION · SEPARATE ROLE APPROVALS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93040" y="7772400"/>
            <a:ext cx="1097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02 / 24</a:t>
            </a:r>
          </a:p>
        </p:txBody>
      </p:sp>
      <p:sp>
        <p:nvSpPr>
          <p:cNvPr id="13" name="Rounded Rectangle 12">
            <a:hlinkClick action="ppaction://hlinksldjump" r:id="rId6"/>
          </p:cNvPr>
          <p:cNvSpPr/>
          <p:nvPr/>
        </p:nvSpPr>
        <p:spPr>
          <a:xfrm>
            <a:off x="640080" y="2560320"/>
            <a:ext cx="4206240" cy="278892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2697479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15" name="TextBox 14">
            <a:hlinkClick action="ppaction://hlinksldjump" r:id="rId6"/>
          </p:cNvPr>
          <p:cNvSpPr txBox="1"/>
          <p:nvPr/>
        </p:nvSpPr>
        <p:spPr>
          <a:xfrm>
            <a:off x="804671" y="3127248"/>
            <a:ext cx="3877055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Teacher’s reason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3895344"/>
            <a:ext cx="3877055" cy="13350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“I want to use my Quran expertise to support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someone beyond a scheduled class.”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92040" y="3931920"/>
            <a:ext cx="274320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>
            <a:hlinkClick action="ppaction://hlinksldjump" r:id="rId6"/>
          </p:cNvPr>
          <p:cNvSpPr/>
          <p:nvPr/>
        </p:nvSpPr>
        <p:spPr>
          <a:xfrm>
            <a:off x="5212080" y="2560320"/>
            <a:ext cx="4206240" cy="278892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76672" y="2697479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20" name="TextBox 19">
            <a:hlinkClick action="ppaction://hlinksldjump" r:id="rId6"/>
          </p:cNvPr>
          <p:cNvSpPr txBox="1"/>
          <p:nvPr/>
        </p:nvSpPr>
        <p:spPr>
          <a:xfrm>
            <a:off x="5376672" y="3127248"/>
            <a:ext cx="3877055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Bridge experience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76672" y="3895344"/>
            <a:ext cx="3877055" cy="13350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Invite the teacher to offer Quran support;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reuse consented expertise and complete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volunteer checks.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64040" y="3931920"/>
            <a:ext cx="274320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>
            <a:hlinkClick action="ppaction://hlinksldjump" r:id="rId6"/>
          </p:cNvPr>
          <p:cNvSpPr/>
          <p:nvPr/>
        </p:nvSpPr>
        <p:spPr>
          <a:xfrm>
            <a:off x="9784080" y="2560320"/>
            <a:ext cx="4206240" cy="278892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48672" y="2697479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25" name="TextBox 24">
            <a:hlinkClick action="ppaction://hlinksldjump" r:id="rId6"/>
          </p:cNvPr>
          <p:cNvSpPr txBox="1"/>
          <p:nvPr/>
        </p:nvSpPr>
        <p:spPr>
          <a:xfrm>
            <a:off x="9948672" y="3127248"/>
            <a:ext cx="3877055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Seeker’s reason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48672" y="3895344"/>
            <a:ext cx="3877055" cy="13350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“This approved volunteer is also an approved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Quran teacher. I can see why the match is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relevant.”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650992"/>
            <a:ext cx="6492240" cy="1490472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1" y="57607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DOES EVERY TEACHER NEED VOLUNTEERING?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1" y="6053328"/>
            <a:ext cx="6163055" cy="10058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No. It becomes relevant when they choose to offer support.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98079" y="5650992"/>
            <a:ext cx="6492240" cy="1490472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62671" y="57607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WHAT DOES THE TEACHER BADGE MEAN?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62671" y="6053328"/>
            <a:ext cx="6163055" cy="10058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Relevant approved expertise—not guaranteed safety or automatic case access.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CONNECTED USER JOURNEYS / MRM DIGITAL COMMUNITY PLATFORM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38328"/>
            <a:ext cx="845618" cy="34747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56616"/>
            <a:ext cx="924939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950976"/>
            <a:ext cx="13350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2800" b="1">
                <a:solidFill>
                  <a:srgbClr val="F7F9FF"/>
                </a:solidFill>
                <a:latin typeface="DejaVu Sans"/>
              </a:defRPr>
            </a:pPr>
            <a:r>
              <a:t>How the user journeys connect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09928"/>
            <a:ext cx="132588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Read each row as a reason to move between services. Select an outlined card to explore its bridge.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7635240"/>
            <a:ext cx="13350240" cy="0"/>
          </a:xfrm>
          <a:prstGeom prst="line">
            <a:avLst/>
          </a:prstGeom>
          <a:ln w="21590">
            <a:solidFill>
              <a:srgbClr val="3443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hlinkClick action="ppaction://hlinksldjump" r:id="rId6"/>
          </p:cNvPr>
          <p:cNvSpPr txBox="1"/>
          <p:nvPr/>
        </p:nvSpPr>
        <p:spPr>
          <a:xfrm>
            <a:off x="640080" y="7818120"/>
            <a:ext cx="3474720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/ ZYLAX TECHNOLOGIES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7799831"/>
            <a:ext cx="813816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PRODUCT DESIGN · OPTIONAL PARTICIPATION · SEPARATE ROLE APPROVALS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93040" y="7772400"/>
            <a:ext cx="1097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03 / 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679192"/>
            <a:ext cx="15544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E8C578"/>
                </a:solidFill>
                <a:latin typeface="DejaVu Sans"/>
              </a:defRPr>
            </a:pPr>
            <a:r>
              <a:t>TEACHER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77440" y="2450592"/>
            <a:ext cx="3611880" cy="7772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>
            <a:hlinkClick action="ppaction://hlinksldjump" r:id="rId7"/>
          </p:cNvPr>
          <p:cNvSpPr txBox="1"/>
          <p:nvPr/>
        </p:nvSpPr>
        <p:spPr>
          <a:xfrm>
            <a:off x="2505456" y="2542032"/>
            <a:ext cx="3355848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F7F9FF"/>
                </a:solidFill>
                <a:latin typeface="DejaVu Sans"/>
              </a:defRPr>
            </a:pPr>
            <a:r>
              <a:t>Teach a topic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05456" y="2889504"/>
            <a:ext cx="3355848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50" b="0">
                <a:solidFill>
                  <a:srgbClr val="BBC8DF"/>
                </a:solidFill>
                <a:latin typeface="DejaVu Sans"/>
              </a:defRPr>
            </a:pPr>
            <a:r>
              <a:t>Already using learning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25896" y="2843784"/>
            <a:ext cx="256031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327648" y="2450592"/>
            <a:ext cx="3611880" cy="7772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>
            <a:hlinkClick action="ppaction://hlinksldjump" r:id="rId7"/>
          </p:cNvPr>
          <p:cNvSpPr txBox="1"/>
          <p:nvPr/>
        </p:nvSpPr>
        <p:spPr>
          <a:xfrm>
            <a:off x="6455664" y="2542032"/>
            <a:ext cx="3355848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F7F9FF"/>
                </a:solidFill>
                <a:latin typeface="DejaVu Sans"/>
              </a:defRPr>
            </a:pPr>
            <a:r>
              <a:t>Offer relevant help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2889504"/>
            <a:ext cx="3355848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50" b="0">
                <a:solidFill>
                  <a:srgbClr val="BBC8DF"/>
                </a:solidFill>
                <a:latin typeface="DejaVu Sans"/>
              </a:defRPr>
            </a:pPr>
            <a:r>
              <a:t>Opt in + volunteer approval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976104" y="2843784"/>
            <a:ext cx="256032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277856" y="2450592"/>
            <a:ext cx="3611880" cy="7772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>
            <a:hlinkClick action="ppaction://hlinksldjump" r:id="rId8"/>
          </p:cNvPr>
          <p:cNvSpPr txBox="1"/>
          <p:nvPr/>
        </p:nvSpPr>
        <p:spPr>
          <a:xfrm>
            <a:off x="10405872" y="2542032"/>
            <a:ext cx="3355848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F7F9FF"/>
                </a:solidFill>
                <a:latin typeface="DejaVu Sans"/>
              </a:defRPr>
            </a:pPr>
            <a:r>
              <a:t>Support a seeker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05872" y="2889504"/>
            <a:ext cx="3355848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50" b="0">
                <a:solidFill>
                  <a:srgbClr val="BBC8DF"/>
                </a:solidFill>
                <a:latin typeface="DejaVu Sans"/>
              </a:defRPr>
            </a:pPr>
            <a:r>
              <a:t>Relevant credentials visible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611880"/>
            <a:ext cx="15544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E8C578"/>
                </a:solidFill>
                <a:latin typeface="DejaVu Sans"/>
              </a:defRPr>
            </a:pPr>
            <a:r>
              <a:t>VOLUNTEER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377440" y="3383280"/>
            <a:ext cx="3611880" cy="7772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>
            <a:hlinkClick action="ppaction://hlinksldjump" r:id="rId9"/>
          </p:cNvPr>
          <p:cNvSpPr txBox="1"/>
          <p:nvPr/>
        </p:nvSpPr>
        <p:spPr>
          <a:xfrm>
            <a:off x="2505456" y="3474720"/>
            <a:ext cx="3355848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F7F9FF"/>
                </a:solidFill>
                <a:latin typeface="DejaVu Sans"/>
              </a:defRPr>
            </a:pPr>
            <a:r>
              <a:t>Identify a skill gap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05456" y="3822191"/>
            <a:ext cx="3355848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50" b="0">
                <a:solidFill>
                  <a:srgbClr val="BBC8DF"/>
                </a:solidFill>
                <a:latin typeface="DejaVu Sans"/>
              </a:defRPr>
            </a:pPr>
            <a:r>
              <a:t>A real duty needs preparation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025896" y="3776472"/>
            <a:ext cx="256031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327648" y="3383280"/>
            <a:ext cx="3611880" cy="7772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>
            <a:hlinkClick action="ppaction://hlinksldjump" r:id="rId9"/>
          </p:cNvPr>
          <p:cNvSpPr txBox="1"/>
          <p:nvPr/>
        </p:nvSpPr>
        <p:spPr>
          <a:xfrm>
            <a:off x="6455664" y="3474720"/>
            <a:ext cx="3355848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F7F9FF"/>
                </a:solidFill>
                <a:latin typeface="DejaVu Sans"/>
              </a:defRPr>
            </a:pPr>
            <a:r>
              <a:t>Take useful training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55664" y="3822191"/>
            <a:ext cx="3355848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50" b="0">
                <a:solidFill>
                  <a:srgbClr val="BBC8DF"/>
                </a:solidFill>
                <a:latin typeface="DejaVu Sans"/>
              </a:defRPr>
            </a:pPr>
            <a:r>
              <a:t>Assess readiness separately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976104" y="3776472"/>
            <a:ext cx="256032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10277856" y="3383280"/>
            <a:ext cx="3611880" cy="7772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>
            <a:hlinkClick action="ppaction://hlinksldjump" r:id="rId10"/>
          </p:cNvPr>
          <p:cNvSpPr txBox="1"/>
          <p:nvPr/>
        </p:nvSpPr>
        <p:spPr>
          <a:xfrm>
            <a:off x="10405872" y="3474720"/>
            <a:ext cx="3355848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F7F9FF"/>
                </a:solidFill>
                <a:latin typeface="DejaVu Sans"/>
              </a:defRPr>
            </a:pPr>
            <a:r>
              <a:t>Return to service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05872" y="3822191"/>
            <a:ext cx="3355848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50" b="0">
                <a:solidFill>
                  <a:srgbClr val="BBC8DF"/>
                </a:solidFill>
                <a:latin typeface="DejaVu Sans"/>
              </a:defRPr>
            </a:pPr>
            <a:r>
              <a:t>Approved for suitable work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4544568"/>
            <a:ext cx="15544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E8C578"/>
                </a:solidFill>
                <a:latin typeface="DejaVu Sans"/>
              </a:defRPr>
            </a:pPr>
            <a:r>
              <a:t>SEEKER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377440" y="4315968"/>
            <a:ext cx="3611880" cy="7772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>
            <a:hlinkClick action="ppaction://hlinksldjump" r:id="rId8"/>
          </p:cNvPr>
          <p:cNvSpPr txBox="1"/>
          <p:nvPr/>
        </p:nvSpPr>
        <p:spPr>
          <a:xfrm>
            <a:off x="2505456" y="4407408"/>
            <a:ext cx="3355848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F7F9FF"/>
                </a:solidFill>
                <a:latin typeface="DejaVu Sans"/>
              </a:defRPr>
            </a:pPr>
            <a:r>
              <a:t>Ask for guidance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05456" y="4754880"/>
            <a:ext cx="3355848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50" b="0">
                <a:solidFill>
                  <a:srgbClr val="BBC8DF"/>
                </a:solidFill>
                <a:latin typeface="DejaVu Sans"/>
              </a:defRPr>
            </a:pPr>
            <a:r>
              <a:t>Learning need is expressed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025896" y="4709160"/>
            <a:ext cx="256031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6327648" y="4315968"/>
            <a:ext cx="3611880" cy="7772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>
            <a:hlinkClick action="ppaction://hlinksldjump" r:id="rId8"/>
          </p:cNvPr>
          <p:cNvSpPr txBox="1"/>
          <p:nvPr/>
        </p:nvSpPr>
        <p:spPr>
          <a:xfrm>
            <a:off x="6455664" y="4407408"/>
            <a:ext cx="3355848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F7F9FF"/>
                </a:solidFill>
                <a:latin typeface="DejaVu Sans"/>
              </a:defRPr>
            </a:pPr>
            <a:r>
              <a:t>Choose a suitable class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55664" y="4754880"/>
            <a:ext cx="3355848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50" b="0">
                <a:solidFill>
                  <a:srgbClr val="BBC8DF"/>
                </a:solidFill>
                <a:latin typeface="DejaVu Sans"/>
              </a:defRPr>
            </a:pPr>
            <a:r>
              <a:t>Consent + language + level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976104" y="4709160"/>
            <a:ext cx="256032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10277856" y="4315968"/>
            <a:ext cx="3611880" cy="7772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>
            <a:hlinkClick action="ppaction://hlinksldjump" r:id="rId11"/>
          </p:cNvPr>
          <p:cNvSpPr txBox="1"/>
          <p:nvPr/>
        </p:nvSpPr>
        <p:spPr>
          <a:xfrm>
            <a:off x="10405872" y="4407408"/>
            <a:ext cx="3355848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F7F9FF"/>
                </a:solidFill>
                <a:latin typeface="DejaVu Sans"/>
              </a:defRPr>
            </a:pPr>
            <a:r>
              <a:t>Request continuity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05872" y="4754880"/>
            <a:ext cx="3355848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50" b="0">
                <a:solidFill>
                  <a:srgbClr val="BBC8DF"/>
                </a:solidFill>
                <a:latin typeface="DejaVu Sans"/>
              </a:defRPr>
            </a:pPr>
            <a:r>
              <a:t>Optional mentoring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" y="5477256"/>
            <a:ext cx="15544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E8C578"/>
                </a:solidFill>
                <a:latin typeface="DejaVu Sans"/>
              </a:defRPr>
            </a:pPr>
            <a:r>
              <a:t>LEARNER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377440" y="5248656"/>
            <a:ext cx="3611880" cy="7772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>
            <a:hlinkClick action="ppaction://hlinksldjump" r:id="rId12"/>
          </p:cNvPr>
          <p:cNvSpPr txBox="1"/>
          <p:nvPr/>
        </p:nvSpPr>
        <p:spPr>
          <a:xfrm>
            <a:off x="2505456" y="5340096"/>
            <a:ext cx="3355848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F7F9FF"/>
                </a:solidFill>
                <a:latin typeface="DejaVu Sans"/>
              </a:defRPr>
            </a:pPr>
            <a:r>
              <a:t>Discover a programme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505456" y="5687568"/>
            <a:ext cx="3355848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50" b="0">
                <a:solidFill>
                  <a:srgbClr val="BBC8DF"/>
                </a:solidFill>
                <a:latin typeface="DejaVu Sans"/>
              </a:defRPr>
            </a:pPr>
            <a:r>
              <a:t>From an approved topic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6025896" y="5641848"/>
            <a:ext cx="256031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6327648" y="5248656"/>
            <a:ext cx="3611880" cy="7772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>
            <a:hlinkClick action="ppaction://hlinksldjump" r:id="rId13"/>
          </p:cNvPr>
          <p:cNvSpPr txBox="1"/>
          <p:nvPr/>
        </p:nvSpPr>
        <p:spPr>
          <a:xfrm>
            <a:off x="6455664" y="5340096"/>
            <a:ext cx="3355848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F7F9FF"/>
                </a:solidFill>
                <a:latin typeface="DejaVu Sans"/>
              </a:defRPr>
            </a:pPr>
            <a:r>
              <a:t>Build confidence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55664" y="5687568"/>
            <a:ext cx="3355848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50" b="0">
                <a:solidFill>
                  <a:srgbClr val="BBC8DF"/>
                </a:solidFill>
                <a:latin typeface="DejaVu Sans"/>
              </a:defRPr>
            </a:pPr>
            <a:r>
              <a:t>Learn at their chosen pace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9976104" y="5641848"/>
            <a:ext cx="256032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10277856" y="5248656"/>
            <a:ext cx="3611880" cy="7772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>
            <a:hlinkClick action="ppaction://hlinksldjump" r:id="rId13"/>
          </p:cNvPr>
          <p:cNvSpPr txBox="1"/>
          <p:nvPr/>
        </p:nvSpPr>
        <p:spPr>
          <a:xfrm>
            <a:off x="10405872" y="5340096"/>
            <a:ext cx="3355848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F7F9FF"/>
                </a:solidFill>
                <a:latin typeface="DejaVu Sans"/>
              </a:defRPr>
            </a:pPr>
            <a:r>
              <a:t>Choose to contribute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405872" y="5687568"/>
            <a:ext cx="3355848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50" b="0">
                <a:solidFill>
                  <a:srgbClr val="BBC8DF"/>
                </a:solidFill>
                <a:latin typeface="DejaVu Sans"/>
              </a:defRPr>
            </a:pPr>
            <a:r>
              <a:t>Apply separately to volunteer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5800" y="6409944"/>
            <a:ext cx="15544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E8C578"/>
                </a:solidFill>
                <a:latin typeface="DejaVu Sans"/>
              </a:defRPr>
            </a:pPr>
            <a:r>
              <a:t>MRM TEAM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377440" y="6181344"/>
            <a:ext cx="3611880" cy="7772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>
            <a:hlinkClick action="ppaction://hlinksldjump" r:id="rId14"/>
          </p:cNvPr>
          <p:cNvSpPr txBox="1"/>
          <p:nvPr/>
        </p:nvSpPr>
        <p:spPr>
          <a:xfrm>
            <a:off x="2505456" y="6272783"/>
            <a:ext cx="3355848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F7F9FF"/>
                </a:solidFill>
                <a:latin typeface="DejaVu Sans"/>
              </a:defRPr>
            </a:pPr>
            <a:r>
              <a:t>See aggregate demand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505456" y="6620256"/>
            <a:ext cx="3355848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50" b="0">
                <a:solidFill>
                  <a:srgbClr val="BBC8DF"/>
                </a:solidFill>
                <a:latin typeface="DejaVu Sans"/>
              </a:defRPr>
            </a:pPr>
            <a:r>
              <a:t>Protect individual identities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6025896" y="6574536"/>
            <a:ext cx="256031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6327648" y="6181344"/>
            <a:ext cx="3611880" cy="7772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>
            <a:hlinkClick action="ppaction://hlinksldjump" r:id="rId14"/>
          </p:cNvPr>
          <p:cNvSpPr txBox="1"/>
          <p:nvPr/>
        </p:nvSpPr>
        <p:spPr>
          <a:xfrm>
            <a:off x="6455664" y="6272783"/>
            <a:ext cx="3355848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F7F9FF"/>
                </a:solidFill>
                <a:latin typeface="DejaVu Sans"/>
              </a:defRPr>
            </a:pPr>
            <a:r>
              <a:t>Commission learning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55664" y="6620256"/>
            <a:ext cx="3355848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50" b="0">
                <a:solidFill>
                  <a:srgbClr val="BBC8DF"/>
                </a:solidFill>
                <a:latin typeface="DejaVu Sans"/>
              </a:defRPr>
            </a:pPr>
            <a:r>
              <a:t>Match teachers to a real gap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9976104" y="6574536"/>
            <a:ext cx="256032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ounded Rectangle 69"/>
          <p:cNvSpPr/>
          <p:nvPr/>
        </p:nvSpPr>
        <p:spPr>
          <a:xfrm>
            <a:off x="10277856" y="6181344"/>
            <a:ext cx="3611880" cy="7772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>
            <a:hlinkClick action="ppaction://hlinksldjump" r:id="rId8"/>
          </p:cNvPr>
          <p:cNvSpPr txBox="1"/>
          <p:nvPr/>
        </p:nvSpPr>
        <p:spPr>
          <a:xfrm>
            <a:off x="10405872" y="6272783"/>
            <a:ext cx="3355848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F7F9FF"/>
                </a:solidFill>
                <a:latin typeface="DejaVu Sans"/>
              </a:defRPr>
            </a:pPr>
            <a:r>
              <a:t>Refer willing people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405872" y="6620256"/>
            <a:ext cx="3355848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50" b="0">
                <a:solidFill>
                  <a:srgbClr val="BBC8DF"/>
                </a:solidFill>
                <a:latin typeface="DejaVu Sans"/>
              </a:defRPr>
            </a:pPr>
            <a:r>
              <a:t>Measure usefulness, not pressure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USER-VALUE CONNECTIONS / MRM DIGITAL COMMUNITY PLATFORM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38328"/>
            <a:ext cx="845618" cy="34747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56616"/>
            <a:ext cx="924939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950976"/>
            <a:ext cx="13350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2800" b="1">
                <a:solidFill>
                  <a:srgbClr val="F7F9FF"/>
                </a:solidFill>
                <a:latin typeface="DejaVu Sans"/>
              </a:defRPr>
            </a:pPr>
            <a:r>
              <a:t>A connection is useful only when the person needs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09928"/>
            <a:ext cx="132588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Feature completeness does not require forcing every person through every service.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7635240"/>
            <a:ext cx="13350240" cy="0"/>
          </a:xfrm>
          <a:prstGeom prst="line">
            <a:avLst/>
          </a:prstGeom>
          <a:ln w="21590">
            <a:solidFill>
              <a:srgbClr val="3443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hlinkClick action="ppaction://hlinksldjump" r:id="rId5"/>
          </p:cNvPr>
          <p:cNvSpPr txBox="1"/>
          <p:nvPr/>
        </p:nvSpPr>
        <p:spPr>
          <a:xfrm>
            <a:off x="640080" y="7818120"/>
            <a:ext cx="3474720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/ ZYLAX TECHNOLOGIES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7799831"/>
            <a:ext cx="813816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PRODUCT DESIGN · OPTIONAL PARTICIPATION · SEPARATE ROLE APPROVALS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93040" y="7772400"/>
            <a:ext cx="1097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04 / 24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606040"/>
            <a:ext cx="6492240" cy="196596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2715768"/>
            <a:ext cx="6163055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8DD8B1"/>
                </a:solidFill>
                <a:latin typeface="DejaVu Sans"/>
              </a:defRPr>
            </a:pPr>
            <a:r>
              <a:t>YES—WHEN THERE IS A REAL REASON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3218688"/>
            <a:ext cx="6163055" cy="12344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A teacher wants to contribute; a volunteer needs preparation; a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seeker asks for learning help.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2606040"/>
            <a:ext cx="6492240" cy="196596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62671" y="2715768"/>
            <a:ext cx="6163055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E8C578"/>
                </a:solidFill>
                <a:latin typeface="DejaVu Sans"/>
              </a:defRPr>
            </a:pPr>
            <a:r>
              <a:t>NO—WHEN THE SECOND SERVICE ADDS NO 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62671" y="3218688"/>
            <a:ext cx="6163055" cy="12344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A teacher only wants to teach; a reader only wants Quran; a seeker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needs immediate practical help.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910328"/>
            <a:ext cx="6492240" cy="96012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1" y="5020056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62DAE8"/>
                </a:solidFill>
                <a:latin typeface="DejaVu Sans"/>
              </a:defRPr>
            </a:pPr>
            <a:r>
              <a:t>Relevant invitation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1" y="5312664"/>
            <a:ext cx="6163055" cy="475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Why this action, for this person, at this point?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79" y="4910328"/>
            <a:ext cx="6492240" cy="96012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62671" y="5020056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62DAE8"/>
                </a:solidFill>
                <a:latin typeface="DejaVu Sans"/>
              </a:defRPr>
            </a:pPr>
            <a:r>
              <a:t>Voluntary transition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62671" y="5312664"/>
            <a:ext cx="6163055" cy="475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Can they decline without losing their original service?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6007608"/>
            <a:ext cx="6492240" cy="96012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1" y="6117336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62DAE8"/>
                </a:solidFill>
                <a:latin typeface="DejaVu Sans"/>
              </a:defRPr>
            </a:pPr>
            <a:r>
              <a:t>Useful context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1" y="6409944"/>
            <a:ext cx="6163055" cy="475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What chosen information saves them from starting again?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79" y="6007608"/>
            <a:ext cx="6492240" cy="96012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62671" y="6117336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62DAE8"/>
                </a:solidFill>
                <a:latin typeface="DejaVu Sans"/>
              </a:defRPr>
            </a:pPr>
            <a:r>
              <a:t>Bounded authority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62671" y="6409944"/>
            <a:ext cx="6163055" cy="475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Which new checks apply before the next role or record opens?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PROPOSED USER JOURNEY 01 / MRM DIGITAL COMMUNITY PLATFORM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38328"/>
            <a:ext cx="845618" cy="34747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56616"/>
            <a:ext cx="924939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950976"/>
            <a:ext cx="13350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2800" b="1">
                <a:solidFill>
                  <a:srgbClr val="F7F9FF"/>
                </a:solidFill>
                <a:latin typeface="DejaVu Sans"/>
              </a:defRPr>
            </a:pPr>
            <a:r>
              <a:t>A teacher can turn expertise into relevant care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09928"/>
            <a:ext cx="132588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Learning centre → Volunteer support | An approved Quran teacher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7635240"/>
            <a:ext cx="13350240" cy="0"/>
          </a:xfrm>
          <a:prstGeom prst="line">
            <a:avLst/>
          </a:prstGeom>
          <a:ln w="21590">
            <a:solidFill>
              <a:srgbClr val="3443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hlinkClick action="ppaction://hlinksldjump" r:id="rId6"/>
          </p:cNvPr>
          <p:cNvSpPr txBox="1"/>
          <p:nvPr/>
        </p:nvSpPr>
        <p:spPr>
          <a:xfrm>
            <a:off x="640080" y="7818120"/>
            <a:ext cx="3474720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/ ZYLAX TECHNOLOGIES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7799831"/>
            <a:ext cx="813816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PRODUCT DESIGN · OPTIONAL PARTICIPATION · SEPARATE ROLE APPROVALS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93040" y="7772400"/>
            <a:ext cx="1097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05 / 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31720"/>
            <a:ext cx="128930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700" b="1">
                <a:solidFill>
                  <a:srgbClr val="F7F9FF"/>
                </a:solidFill>
                <a:latin typeface="DejaVu Sans"/>
              </a:defRPr>
            </a:pPr>
            <a:r>
              <a:t>“I teach Quran. I would also like to help someone who needs personal guidance.”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Offer volunteering when the teacher wants to give support beyond scheduled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classes.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NOT REQUIRED WHEN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2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 teacher may only publish and teach. Volunteering stays optional.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Teaching profile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Approved topics and languages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establish relevant expertise.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749039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059936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24528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24528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Choose to help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24528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An invitation offers Quran-related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support; the teacher opts in.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168896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479792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44383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44383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Volunteer approval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44383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MRM checks suitability, training,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capacity and case boundaries.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588752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0899648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64240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Relevant support match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The seeker sees approved teaching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credentials and accepts the offer.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1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62DAE8"/>
                </a:solidFill>
                <a:latin typeface="DejaVu Sans"/>
              </a:defRPr>
            </a:pPr>
            <a:r>
              <a:t>CARRY FORWARD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1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With consent: approved teacher status, verified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subject, languages and public profile.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212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76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KEEP SEPARATE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76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Teacher payment does not buy case access. No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private student records are shared.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784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48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VALUE ON BOTH SIDES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48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125" b="0">
                <a:solidFill>
                  <a:srgbClr val="BBC8DF"/>
                </a:solidFill>
                <a:latin typeface="DejaVu Sans"/>
              </a:defRPr>
            </a:pPr>
            <a:r>
              <a:t>The seeker can judge relevant expertise; the teacher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125" b="0">
                <a:solidFill>
                  <a:srgbClr val="BBC8DF"/>
                </a:solidFill>
                <a:latin typeface="DejaVu Sans"/>
              </a:defRPr>
            </a:pPr>
            <a:r>
              <a:t>gains a meaningful way to serve. Credentials support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125" b="0">
                <a:solidFill>
                  <a:srgbClr val="BBC8DF"/>
                </a:solidFill>
                <a:latin typeface="DejaVu Sans"/>
              </a:defRPr>
            </a:pPr>
            <a:r>
              <a:t>confidence, not a guarantee of safety.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7196328"/>
            <a:ext cx="1298448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0">
                <a:solidFill>
                  <a:srgbClr val="BBC8DF"/>
                </a:solidFill>
                <a:latin typeface="DejaVu Sans"/>
              </a:defRPr>
            </a:pPr>
            <a:r>
              <a:t>SUCCESS: Eligible teachers opting in → approved volunteers → accepted subject-relevant matches.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PROPOSED USER JOURNEY 02 / MRM DIGITAL COMMUNITY PLATFORM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38328"/>
            <a:ext cx="845618" cy="34747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56616"/>
            <a:ext cx="924939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950976"/>
            <a:ext cx="13350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2800" b="1">
                <a:solidFill>
                  <a:srgbClr val="F7F9FF"/>
                </a:solidFill>
                <a:latin typeface="DejaVu Sans"/>
              </a:defRPr>
            </a:pPr>
            <a:r>
              <a:t>A volunteer can learn before accepting a new task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09928"/>
            <a:ext cx="132588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Volunteer support → Learning centre | A volunteer offered unfamiliar work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7635240"/>
            <a:ext cx="13350240" cy="0"/>
          </a:xfrm>
          <a:prstGeom prst="line">
            <a:avLst/>
          </a:prstGeom>
          <a:ln w="21590">
            <a:solidFill>
              <a:srgbClr val="3443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hlinkClick action="ppaction://hlinksldjump" r:id="rId6"/>
          </p:cNvPr>
          <p:cNvSpPr txBox="1"/>
          <p:nvPr/>
        </p:nvSpPr>
        <p:spPr>
          <a:xfrm>
            <a:off x="640080" y="7818120"/>
            <a:ext cx="3474720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/ ZYLAX TECHNOLOGIES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7799831"/>
            <a:ext cx="813816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PRODUCT DESIGN · OPTIONAL PARTICIPATION · SEPARATE ROLE APPROVALS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93040" y="7772400"/>
            <a:ext cx="1097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06 / 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31720"/>
            <a:ext cx="128930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700" b="1">
                <a:solidFill>
                  <a:srgbClr val="F7F9FF"/>
                </a:solidFill>
                <a:latin typeface="DejaVu Sans"/>
              </a:defRPr>
            </a:pPr>
            <a:r>
              <a:t>“I want to help, but I need preparation for this kind of support.”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Recommend an approved course when a real duty requires a skill or refresher.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NOT REQUIRED WHEN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2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Existing qualified volunteers do not repeat irrelevant classes; no blanket course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requirement.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Readiness gap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The volunteer or coordinator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identifies a specific skill gap.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749039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059936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24528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24528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Relevant training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24528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Open the approved course with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topic and required outcome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explained.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168896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479792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44383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44383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Learning 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44383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Record completion; assess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readiness separately where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needed.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588752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0899648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64240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Return to duty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MRM updates eligibility and offers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suitable work after approval.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1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62DAE8"/>
                </a:solidFill>
                <a:latin typeface="DejaVu Sans"/>
              </a:defRPr>
            </a:pPr>
            <a:r>
              <a:t>CARRY FORWARD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1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Course reference, completion and separately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assessed competencies, with appropriate visibility.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212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76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KEEP SEPARATE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76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Completion alone is not volunteer approval.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Private learning notes stay private.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784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48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VALUE ON BOTH SIDES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48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Volunteers get practical preparation; seekers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receive help from people approved for the task.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7196328"/>
            <a:ext cx="1298448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0">
                <a:solidFill>
                  <a:srgbClr val="BBC8DF"/>
                </a:solidFill>
                <a:latin typeface="DejaVu Sans"/>
              </a:defRPr>
            </a:pPr>
            <a:r>
              <a:t>SUCCESS: Training completion → assessed readiness → eligible task acceptance; monitor support quality.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PROPOSED USER JOURNEY 03 / MRM DIGITAL COMMUNITY PLATFORM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38328"/>
            <a:ext cx="845618" cy="34747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56616"/>
            <a:ext cx="924939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950976"/>
            <a:ext cx="13350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2800" b="1">
                <a:solidFill>
                  <a:srgbClr val="F7F9FF"/>
                </a:solidFill>
                <a:latin typeface="DejaVu Sans"/>
              </a:defRPr>
            </a:pPr>
            <a:r>
              <a:t>A support conversation can open the right learning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09928"/>
            <a:ext cx="132588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Support requests → Learning centre | A seeker asking for Quran-reading help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7635240"/>
            <a:ext cx="13350240" cy="0"/>
          </a:xfrm>
          <a:prstGeom prst="line">
            <a:avLst/>
          </a:prstGeom>
          <a:ln w="21590">
            <a:solidFill>
              <a:srgbClr val="3443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hlinkClick action="ppaction://hlinksldjump" r:id="rId6"/>
          </p:cNvPr>
          <p:cNvSpPr txBox="1"/>
          <p:nvPr/>
        </p:nvSpPr>
        <p:spPr>
          <a:xfrm>
            <a:off x="640080" y="7818120"/>
            <a:ext cx="3474720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/ ZYLAX TECHNOLOGIES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7799831"/>
            <a:ext cx="813816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PRODUCT DESIGN · OPTIONAL PARTICIPATION · SEPARATE ROLE APPROVALS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93040" y="7772400"/>
            <a:ext cx="1097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07 / 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31720"/>
            <a:ext cx="128930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700" b="1">
                <a:solidFill>
                  <a:srgbClr val="F7F9FF"/>
                </a:solidFill>
                <a:latin typeface="DejaVu Sans"/>
              </a:defRPr>
            </a:pPr>
            <a:r>
              <a:t>“I need a patient beginner class, in my language, at a time I can attend.”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Suggest a class when learning addresses the person’s expressed need and they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want 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NOT REQUIRED WHEN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2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Urgent welfare support continues independently. No class enrolment is required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for aid.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Expressed need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The assigned helper asks whether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learning support would be useful.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749039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059936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24528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24528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Consent to refer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24528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The seeker selects a goal, language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and availability to share.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168896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479792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44383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44383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Suitable programme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44383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Show approved beginner classes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and relevant teacher credentials.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588752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0899648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64240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Optional enrolment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The seeker joins; the helper sees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only the agreed referral status.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1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62DAE8"/>
                </a:solidFill>
                <a:latin typeface="DejaVu Sans"/>
              </a:defRPr>
            </a:pPr>
            <a:r>
              <a:t>CARRY FORWARD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1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Chosen learning goal, language, availability and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referral ID; share only what is needed.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212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76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KEEP SEPARATE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76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No full case narrative, financial circumstances or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private chat enters a teacher profile.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784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48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VALUE ON BOTH SIDES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48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175" b="0">
                <a:solidFill>
                  <a:srgbClr val="BBC8DF"/>
                </a:solidFill>
                <a:latin typeface="DejaVu Sans"/>
              </a:defRPr>
            </a:pPr>
            <a:r>
              <a:t>The seeker receives a practical next step; teachers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175" b="0">
                <a:solidFill>
                  <a:srgbClr val="BBC8DF"/>
                </a:solidFill>
                <a:latin typeface="DejaVu Sans"/>
              </a:defRPr>
            </a:pPr>
            <a:r>
              <a:t>reach learners who want the programme.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7196328"/>
            <a:ext cx="1298448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0">
                <a:solidFill>
                  <a:srgbClr val="BBC8DF"/>
                </a:solidFill>
                <a:latin typeface="DejaVu Sans"/>
              </a:defRPr>
            </a:pPr>
            <a:r>
              <a:t>SUCCESS: Consented referrals → suitable enrolments → attendance and seeker-reported usefulness.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PROPOSED USER JOURNEY 04 / MRM DIGITAL COMMUNITY PLATFORM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38328"/>
            <a:ext cx="845618" cy="34747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56616"/>
            <a:ext cx="924939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950976"/>
            <a:ext cx="13350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2800" b="1">
                <a:solidFill>
                  <a:srgbClr val="F7F9FF"/>
                </a:solidFill>
                <a:latin typeface="DejaVu Sans"/>
              </a:defRPr>
            </a:pPr>
            <a:r>
              <a:t>A Quran reader can find help for a specific learning goal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09928"/>
            <a:ext cx="132588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Quran utility → Learning centre | A person using Quran reading tools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7635240"/>
            <a:ext cx="13350240" cy="0"/>
          </a:xfrm>
          <a:prstGeom prst="line">
            <a:avLst/>
          </a:prstGeom>
          <a:ln w="21590">
            <a:solidFill>
              <a:srgbClr val="3443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hlinkClick action="ppaction://hlinksldjump" r:id="rId6"/>
          </p:cNvPr>
          <p:cNvSpPr txBox="1"/>
          <p:nvPr/>
        </p:nvSpPr>
        <p:spPr>
          <a:xfrm>
            <a:off x="640080" y="7818120"/>
            <a:ext cx="3474720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/ ZYLAX TECHNOLOGIES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7799831"/>
            <a:ext cx="813816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PRODUCT DESIGN · OPTIONAL PARTICIPATION · SEPARATE ROLE APPROVALS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93040" y="7772400"/>
            <a:ext cx="1097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08 / 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31720"/>
            <a:ext cx="128930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700" b="1">
                <a:solidFill>
                  <a:srgbClr val="F7F9FF"/>
                </a:solidFill>
                <a:latin typeface="DejaVu Sans"/>
              </a:defRPr>
            </a:pPr>
            <a:r>
              <a:t>“I can read this passage, but I want help with pronunciation or meaning.”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Offer a discreet learning action after the person explicitly asks for help on a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topic.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NOT REQUIRED WHEN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2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Reading alone remains complete. Do not infer poor skill or send unsolicited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judgments.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Ask for guidance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The reader chooses Learn this topic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or Get reading help.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749039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059936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24528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24528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Choose learning goal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24528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They select beginner reading,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recitation or an approved topic.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168896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479792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44383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44383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Relevant discovery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44383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Show approved teachers or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programmes matching language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and level.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588752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0899648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64240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Return to practice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After learning, a saved link returns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to the selected passage.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1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62DAE8"/>
                </a:solidFill>
                <a:latin typeface="DejaVu Sans"/>
              </a:defRPr>
            </a:pPr>
            <a:r>
              <a:t>CARRY FORWARD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1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Only the user-selected passage, learning goal and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preferred language.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212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76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KEEP SEPARATE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76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No private reading history or worship-tracker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record is shared with a teacher.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784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48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VALUE ON BOTH SIDES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48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Daily use can become purposeful learning;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teachers receive clearer learner intent.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7196328"/>
            <a:ext cx="1298448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0">
                <a:solidFill>
                  <a:srgbClr val="BBC8DF"/>
                </a:solidFill>
                <a:latin typeface="DejaVu Sans"/>
              </a:defRPr>
            </a:pPr>
            <a:r>
              <a:t>SUCCESS: User-initiated learning opens → relevant enrolments → return to chosen practice.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PROPOSED USER JOURNEY 05 / MRM DIGITAL COMMUNITY PLATFORM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38328"/>
            <a:ext cx="845618" cy="34747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56616"/>
            <a:ext cx="924939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950976"/>
            <a:ext cx="13350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2800" b="1">
                <a:solidFill>
                  <a:srgbClr val="F7F9FF"/>
                </a:solidFill>
                <a:latin typeface="DejaVu Sans"/>
              </a:defRPr>
            </a:pPr>
            <a:r>
              <a:t>A learner can ask for continuity after a class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09928"/>
            <a:ext cx="132588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Learning centre → Mentoring | A learner who wants individual follow-up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7635240"/>
            <a:ext cx="13350240" cy="0"/>
          </a:xfrm>
          <a:prstGeom prst="line">
            <a:avLst/>
          </a:prstGeom>
          <a:ln w="21590">
            <a:solidFill>
              <a:srgbClr val="3443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hlinkClick action="ppaction://hlinksldjump" r:id="rId6"/>
          </p:cNvPr>
          <p:cNvSpPr txBox="1"/>
          <p:nvPr/>
        </p:nvSpPr>
        <p:spPr>
          <a:xfrm>
            <a:off x="640080" y="7818120"/>
            <a:ext cx="3474720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/ ZYLAX TECHNOLOGIES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7799831"/>
            <a:ext cx="813816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PRODUCT DESIGN · OPTIONAL PARTICIPATION · SEPARATE ROLE APPROVALS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93040" y="7772400"/>
            <a:ext cx="1097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09 / 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31720"/>
            <a:ext cx="128930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700" b="1">
                <a:solidFill>
                  <a:srgbClr val="F7F9FF"/>
                </a:solidFill>
                <a:latin typeface="DejaVu Sans"/>
              </a:defRPr>
            </a:pPr>
            <a:r>
              <a:t>“The class helped. I would like someone to guide my next steps.”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Offer mentoring after a learner requests ongoing guidance or a teacher offers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approved capacity.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NOT REQUIRED WHEN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2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Class enrolment does not enrol a person into mentoring or open private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messaging automatically.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Request follow-up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The learner chooses a goal after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the programme.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749039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059936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24528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24528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Available mentor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24528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Show approved mentors relevant to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topic, language and permitted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boundaries.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168896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479792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44383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44383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Mutual acceptance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44383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The mentor has capacity; the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learner agrees to contact and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expectations.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588752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0899648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64240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Ongoing guidance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Open the authorised relationship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and optional agreed check-ins.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1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62DAE8"/>
                </a:solidFill>
                <a:latin typeface="DejaVu Sans"/>
              </a:defRPr>
            </a:pPr>
            <a:r>
              <a:t>CARRY FORWARD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1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Chosen programme, learning goal and agreed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availability; selected progress only with consent.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212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76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KEEP SEPARATE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76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No automatic access to class rosters, aid cases or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private worship records.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784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48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VALUE ON BOTH SIDES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48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Learners gain continuity; mentors support people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whose needs match their expertise.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7196328"/>
            <a:ext cx="1298448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0">
                <a:solidFill>
                  <a:srgbClr val="BBC8DF"/>
                </a:solidFill>
                <a:latin typeface="DejaVu Sans"/>
              </a:defRPr>
            </a:pPr>
            <a:r>
              <a:t>SUCCESS: Follow-up requests → mutually accepted matches → useful agreed check-ins.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PROPOSED USER JOURNEY 06 / MRM DIGITAL COMMUNITY PLATFORM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38328"/>
            <a:ext cx="845618" cy="34747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56616"/>
            <a:ext cx="924939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950976"/>
            <a:ext cx="13350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2800" b="1">
                <a:solidFill>
                  <a:srgbClr val="F7F9FF"/>
                </a:solidFill>
                <a:latin typeface="DejaVu Sans"/>
              </a:defRPr>
            </a:pPr>
            <a:r>
              <a:t>A mentor can refer needs beyond the teaching relationship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09928"/>
            <a:ext cx="132588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Mentoring → Support requests | A mentor hearing about a practical difficulty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7635240"/>
            <a:ext cx="13350240" cy="0"/>
          </a:xfrm>
          <a:prstGeom prst="line">
            <a:avLst/>
          </a:prstGeom>
          <a:ln w="21590">
            <a:solidFill>
              <a:srgbClr val="3443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hlinkClick action="ppaction://hlinksldjump" r:id="rId6"/>
          </p:cNvPr>
          <p:cNvSpPr txBox="1"/>
          <p:nvPr/>
        </p:nvSpPr>
        <p:spPr>
          <a:xfrm>
            <a:off x="640080" y="7818120"/>
            <a:ext cx="3474720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/ ZYLAX TECHNOLOGIES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7799831"/>
            <a:ext cx="813816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PRODUCT DESIGN · OPTIONAL PARTICIPATION · SEPARATE ROLE APPROVALS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93040" y="7772400"/>
            <a:ext cx="1097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10 / 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31720"/>
            <a:ext cx="128930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700" b="1">
                <a:solidFill>
                  <a:srgbClr val="F7F9FF"/>
                </a:solidFill>
                <a:latin typeface="DejaVu Sans"/>
              </a:defRPr>
            </a:pPr>
            <a:r>
              <a:t>“This learner needs help that I am not authorised or qualified to provide.”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Offer a supported referral when the person wants help outside the mentor’s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remit.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NOT REQUIRED WHEN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2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 mentor does not investigate welfare issues or browse existing private cases.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Recognise the limit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The mentor explains the relevant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support route without promising an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outcome.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749039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059936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24528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24528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Person chooses help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24528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The learner opens or agrees to a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minimal support referral.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168896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479792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44383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44383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MRM triage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44383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Authorised staff assess urgency,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eligibility and the appropriate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response.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588752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0899648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64240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Bounded follow-up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The mentor sees only the referral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status the person agreed to share.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1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62DAE8"/>
                </a:solidFill>
                <a:latin typeface="DejaVu Sans"/>
              </a:defRPr>
            </a:pPr>
            <a:r>
              <a:t>CARRY FORWARD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1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Consent, chosen category, contact preference and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minimum agreed context.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212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76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KEEP SEPARATE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76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No blanket case access. Safeguarding disclosures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follow the approved escalation policy.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784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48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VALUE ON BOTH SIDES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48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The person reaches qualified help; the mentor can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stay within a clear teaching role.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7196328"/>
            <a:ext cx="1298448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0">
                <a:solidFill>
                  <a:srgbClr val="BBC8DF"/>
                </a:solidFill>
                <a:latin typeface="DejaVu Sans"/>
              </a:defRPr>
            </a:pPr>
            <a:r>
              <a:t>SUCCESS: Accepted referrals → triaged requests → completed handoffs without excess disclosure.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PROPOSED USER JOURNEY 07 / MRM DIGITAL COMMUNITY PLATFORM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38328"/>
            <a:ext cx="845618" cy="34747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56616"/>
            <a:ext cx="924939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950976"/>
            <a:ext cx="13350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2800" b="1">
                <a:solidFill>
                  <a:srgbClr val="F7F9FF"/>
                </a:solidFill>
                <a:latin typeface="DejaVu Sans"/>
              </a:defRPr>
            </a:pPr>
            <a:r>
              <a:t>A learning event can invite a separate service role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09928"/>
            <a:ext cx="132588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Learning events → Volunteer duties | A Halaqa attendee or teacher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7635240"/>
            <a:ext cx="13350240" cy="0"/>
          </a:xfrm>
          <a:prstGeom prst="line">
            <a:avLst/>
          </a:prstGeom>
          <a:ln w="21590">
            <a:solidFill>
              <a:srgbClr val="3443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hlinkClick action="ppaction://hlinksldjump" r:id="rId6"/>
          </p:cNvPr>
          <p:cNvSpPr txBox="1"/>
          <p:nvPr/>
        </p:nvSpPr>
        <p:spPr>
          <a:xfrm>
            <a:off x="640080" y="7818120"/>
            <a:ext cx="3474720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/ ZYLAX TECHNOLOGIES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7799831"/>
            <a:ext cx="813816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PRODUCT DESIGN · OPTIONAL PARTICIPATION · SEPARATE ROLE APPROVALS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93040" y="7772400"/>
            <a:ext cx="1097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11 / 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31720"/>
            <a:ext cx="128930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700" b="1">
                <a:solidFill>
                  <a:srgbClr val="F7F9FF"/>
                </a:solidFill>
                <a:latin typeface="DejaVu Sans"/>
              </a:defRPr>
            </a:pPr>
            <a:r>
              <a:t>“I am attending this event. Can I help with registration or accessibility?”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Offer clearly defined event tasks when organisers need capacity and the person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opts in.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NOT REQUIRED WHEN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2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Attending a class never creates a duty. An event helper does not gain case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access.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Event participation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The person views an approved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programme and its support needs.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749039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059936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24528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24528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Choose a duty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24528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They select a suitable task, time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window and required checks.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168896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479792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44383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44383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Coordinator confirms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44383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Check eligibility and avoid conflict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with the person’s class time.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588752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0899648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64240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Event service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Show a separate duty card,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instructions and attendance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confirmation.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1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62DAE8"/>
                </a:solidFill>
                <a:latin typeface="DejaVu Sans"/>
              </a:defRPr>
            </a:pPr>
            <a:r>
              <a:t>CARRY FORWARD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1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Event ID, chosen slot, contact consent and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role-specific eligibility.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212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76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KEEP SEPARATE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76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Class attendance and duty acceptance are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separate records; no attendee list is exported.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784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48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VALUE ON BOTH SIDES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48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Organisers gain willing capacity; participants have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 specific, manageable way to contribute.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7196328"/>
            <a:ext cx="1298448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0">
                <a:solidFill>
                  <a:srgbClr val="BBC8DF"/>
                </a:solidFill>
                <a:latin typeface="DejaVu Sans"/>
              </a:defRPr>
            </a:pPr>
            <a:r>
              <a:t>SUCCESS: Opt-in duty requests → conflict-free confirmations → completed event tasks.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PROPOSED USER JOURNEY 08 / MRM DIGITAL COMMUNITY PLATFORM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38328"/>
            <a:ext cx="845618" cy="34747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56616"/>
            <a:ext cx="924939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950976"/>
            <a:ext cx="13350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2800" b="1">
                <a:solidFill>
                  <a:srgbClr val="F7F9FF"/>
                </a:solidFill>
                <a:latin typeface="DejaVu Sans"/>
              </a:defRPr>
            </a:pPr>
            <a:r>
              <a:t>An inspiring post can lead to a relevant programme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09928"/>
            <a:ext cx="132588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Community updates → Learning centre | A reader interested in an approved topic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7635240"/>
            <a:ext cx="13350240" cy="0"/>
          </a:xfrm>
          <a:prstGeom prst="line">
            <a:avLst/>
          </a:prstGeom>
          <a:ln w="21590">
            <a:solidFill>
              <a:srgbClr val="3443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hlinkClick action="ppaction://hlinksldjump" r:id="rId6"/>
          </p:cNvPr>
          <p:cNvSpPr txBox="1"/>
          <p:nvPr/>
        </p:nvSpPr>
        <p:spPr>
          <a:xfrm>
            <a:off x="640080" y="7818120"/>
            <a:ext cx="3474720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/ ZYLAX TECHNOLOGIES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7799831"/>
            <a:ext cx="813816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PRODUCT DESIGN · OPTIONAL PARTICIPATION · SEPARATE ROLE APPROVALS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93040" y="7772400"/>
            <a:ext cx="1097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12 / 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31720"/>
            <a:ext cx="128930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700" b="1">
                <a:solidFill>
                  <a:srgbClr val="F7F9FF"/>
                </a:solidFill>
                <a:latin typeface="DejaVu Sans"/>
              </a:defRPr>
            </a:pPr>
            <a:r>
              <a:t>“This article is useful. Where can I learn this with a teacher?”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Attach a specific approved programme when it genuinely expands on the post.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NOT REQUIRED WHEN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2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Not every post needs a conversion. General announcements can stand alone.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Relevant approved post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An author explains a topic with a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clear source and audience.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749039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059936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24528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24528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Purposeful invitation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24528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Read programme details or Meet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the teacher explains the next step.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168896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479792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44383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44383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Programme context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44383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Open topic, level, language, date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and access information.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588752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0899648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64240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Voluntary participation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The reader chooses enrolment and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can return to the original post.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1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62DAE8"/>
                </a:solidFill>
                <a:latin typeface="DejaVu Sans"/>
              </a:defRPr>
            </a:pPr>
            <a:r>
              <a:t>CARRY FORWARD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1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Post ID, topic and linked programme; aggregate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referral attribution where agreed.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212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76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KEEP SEPARATE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76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No sensitive-case targeting, fabricated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testimonials or automatic enrolment.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784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48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VALUE ON BOTH SIDES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48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Readers can act on genuine interest; teachers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reach an appropriate audience.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7196328"/>
            <a:ext cx="1298448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0">
                <a:solidFill>
                  <a:srgbClr val="BBC8DF"/>
                </a:solidFill>
                <a:latin typeface="DejaVu Sans"/>
              </a:defRPr>
            </a:pPr>
            <a:r>
              <a:t>SUCCESS: Post-to-programme opens → relevant enrolments; monitor usefulness and opt-outs.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PROPOSED USER JOURNEY 09 / MRM DIGITAL COMMUNITY PLATFORM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38328"/>
            <a:ext cx="845618" cy="34747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56616"/>
            <a:ext cx="924939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950976"/>
            <a:ext cx="13350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2800" b="1">
                <a:solidFill>
                  <a:srgbClr val="F7F9FF"/>
                </a:solidFill>
                <a:latin typeface="DejaVu Sans"/>
              </a:defRPr>
            </a:pPr>
            <a:r>
              <a:t>Repeated support needs can shape better programmes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09928"/>
            <a:ext cx="132588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Support operations → Learning planning | An MRM programme coordinator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7635240"/>
            <a:ext cx="13350240" cy="0"/>
          </a:xfrm>
          <a:prstGeom prst="line">
            <a:avLst/>
          </a:prstGeom>
          <a:ln w="21590">
            <a:solidFill>
              <a:srgbClr val="3443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hlinkClick action="ppaction://hlinksldjump" r:id="rId6"/>
          </p:cNvPr>
          <p:cNvSpPr txBox="1"/>
          <p:nvPr/>
        </p:nvSpPr>
        <p:spPr>
          <a:xfrm>
            <a:off x="640080" y="7818120"/>
            <a:ext cx="3474720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/ ZYLAX TECHNOLOGIES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7799831"/>
            <a:ext cx="813816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PRODUCT DESIGN · OPTIONAL PARTICIPATION · SEPARATE ROLE APPROVALS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93040" y="7772400"/>
            <a:ext cx="1097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13 / 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31720"/>
            <a:ext cx="128930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700" b="1">
                <a:solidFill>
                  <a:srgbClr val="F7F9FF"/>
                </a:solidFill>
                <a:latin typeface="DejaVu Sans"/>
              </a:defRPr>
            </a:pPr>
            <a:r>
              <a:t>“We repeatedly receive beginner-learning requests in a language with little capacity.”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Use restricted aggregate demand to commission a programme for an evidenced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gap.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NOT REQUIRED WHEN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2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Do not publish identifiable case examples or infer demand from a tiny sensitive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group.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Aggregate need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Authorised staff group agreed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categories, languages and waiting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demand.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749039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059936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24528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24528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Plan a response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24528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MRM chooses a topic and suitable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approved teacher capacity.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168896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479792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44383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44383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Publish programme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44383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Create a public description without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beneficiary identities.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588752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0899648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64240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Measure the response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Track programme capacity,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consented referrals and unmet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demand.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1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62DAE8"/>
                </a:solidFill>
                <a:latin typeface="DejaVu Sans"/>
              </a:defRPr>
            </a:pPr>
            <a:r>
              <a:t>CARRY FORWARD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1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Only approved aggregate demand, programme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requirements and non-identifying outcomes.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212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76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KEEP SEPARATE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76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Case files and individual identities never enter a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public programme brief.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784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48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VALUE ON BOTH SIDES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48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175" b="0">
                <a:solidFill>
                  <a:srgbClr val="BBC8DF"/>
                </a:solidFill>
                <a:latin typeface="DejaVu Sans"/>
              </a:defRPr>
            </a:pPr>
            <a:r>
              <a:t>Learning supply responds to real community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175" b="0">
                <a:solidFill>
                  <a:srgbClr val="BBC8DF"/>
                </a:solidFill>
                <a:latin typeface="DejaVu Sans"/>
              </a:defRPr>
            </a:pPr>
            <a:r>
              <a:t>needs; support teams gain a useful referral option.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7196328"/>
            <a:ext cx="1298448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0">
                <a:solidFill>
                  <a:srgbClr val="BBC8DF"/>
                </a:solidFill>
                <a:latin typeface="DejaVu Sans"/>
              </a:defRPr>
            </a:pPr>
            <a:r>
              <a:t>SUCCESS: Demand gap → commissioned capacity → suitable referrals; review remaining unmet need.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PROPOSED USER JOURNEY 10 / MRM DIGITAL COMMUNITY PLATFORM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38328"/>
            <a:ext cx="845618" cy="34747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56616"/>
            <a:ext cx="924939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950976"/>
            <a:ext cx="13350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2800" b="1">
                <a:solidFill>
                  <a:srgbClr val="F7F9FF"/>
                </a:solidFill>
                <a:latin typeface="DejaVu Sans"/>
              </a:defRPr>
            </a:pPr>
            <a:r>
              <a:t>A verified outcome can invite responsible participation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09928"/>
            <a:ext cx="132588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Service outcomes → Community updates | A beneficiary willing to share an experience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7635240"/>
            <a:ext cx="13350240" cy="0"/>
          </a:xfrm>
          <a:prstGeom prst="line">
            <a:avLst/>
          </a:prstGeom>
          <a:ln w="21590">
            <a:solidFill>
              <a:srgbClr val="3443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hlinkClick action="ppaction://hlinksldjump" r:id="rId6"/>
          </p:cNvPr>
          <p:cNvSpPr txBox="1"/>
          <p:nvPr/>
        </p:nvSpPr>
        <p:spPr>
          <a:xfrm>
            <a:off x="640080" y="7818120"/>
            <a:ext cx="3474720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/ ZYLAX TECHNOLOGIES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7799831"/>
            <a:ext cx="813816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PRODUCT DESIGN · OPTIONAL PARTICIPATION · SEPARATE ROLE APPROVALS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93040" y="7772400"/>
            <a:ext cx="1097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14 / 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31720"/>
            <a:ext cx="128930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700" b="1">
                <a:solidFill>
                  <a:srgbClr val="F7F9FF"/>
                </a:solidFill>
                <a:latin typeface="DejaVu Sans"/>
              </a:defRPr>
            </a:pPr>
            <a:r>
              <a:t>“I want to thank the programme, but I want control over what people can see.”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Publish a verified, consented story with an appropriate participation destination.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NOT REQUIRED WHEN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2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Assistance and recognition never depend on agreeing to publicity.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Separate invitation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After service, staff offer an optional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story process with no effect on aid.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749039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059936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24528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24528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Specific consent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24528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Agree wording, images, visibility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and the withdrawal process.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168896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479792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44383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44383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Review and publish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44383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Check accuracy, minimisation and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moderation before publication.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588752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0899648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64240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Relevant invitation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Readers can discover a real class or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apply to volunteer.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1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62DAE8"/>
                </a:solidFill>
                <a:latin typeface="DejaVu Sans"/>
              </a:defRPr>
            </a:pPr>
            <a:r>
              <a:t>CARRY FORWARD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1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Only approved story assets and programme links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under the documented consent.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212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76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KEEP SEPARATE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76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No case narrative, identity number or location is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copied by default; no guaranteed outcomes.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784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48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VALUE ON BOTH SIDES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48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The storyteller controls disclosure; readers see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credible reasons to participate.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7196328"/>
            <a:ext cx="1298448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0">
                <a:solidFill>
                  <a:srgbClr val="BBC8DF"/>
                </a:solidFill>
                <a:latin typeface="DejaVu Sans"/>
              </a:defRPr>
            </a:pPr>
            <a:r>
              <a:t>SUCCESS: Consent compliance, correction requests and relevant participation; never reward forced stories.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PROPOSED USER JOURNEY 11 / MRM DIGITAL COMMUNITY PLATFORM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38328"/>
            <a:ext cx="845618" cy="34747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56616"/>
            <a:ext cx="924939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950976"/>
            <a:ext cx="13350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2800" b="1">
                <a:solidFill>
                  <a:srgbClr val="F7F9FF"/>
                </a:solidFill>
                <a:latin typeface="DejaVu Sans"/>
              </a:defRPr>
            </a:pPr>
            <a:r>
              <a:t>A local utility can surface a genuinely useful gathering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09928"/>
            <a:ext cx="132588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Prayer / nearby places → Learning events | A person checking prayer times or a mosque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7635240"/>
            <a:ext cx="13350240" cy="0"/>
          </a:xfrm>
          <a:prstGeom prst="line">
            <a:avLst/>
          </a:prstGeom>
          <a:ln w="21590">
            <a:solidFill>
              <a:srgbClr val="3443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hlinkClick action="ppaction://hlinksldjump" r:id="rId6"/>
          </p:cNvPr>
          <p:cNvSpPr txBox="1"/>
          <p:nvPr/>
        </p:nvSpPr>
        <p:spPr>
          <a:xfrm>
            <a:off x="640080" y="7818120"/>
            <a:ext cx="3474720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/ ZYLAX TECHNOLOGIES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7799831"/>
            <a:ext cx="813816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PRODUCT DESIGN · OPTIONAL PARTICIPATION · SEPARATE ROLE APPROVALS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93040" y="7772400"/>
            <a:ext cx="1097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15 / 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31720"/>
            <a:ext cx="128930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700" b="1">
                <a:solidFill>
                  <a:srgbClr val="F7F9FF"/>
                </a:solidFill>
                <a:latin typeface="DejaVu Sans"/>
              </a:defRPr>
            </a:pPr>
            <a:r>
              <a:t>“Is there an approved beginner Halaqa near this place?”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Offer nearby programmes when the person requests local learning information.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NOT REQUIRED WHEN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2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Prayer times remain usable without events, location sharing or an account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where supported.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Local intent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The person selects a mosque or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manually chosen area.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749039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059936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24528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24528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Explore gatherings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24528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 separate action requests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approved programmes nearby.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168896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479792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44383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44383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Check relevance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44383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Show venue, date, topic, language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and accessibility information.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588752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0899648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64240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Choose to attend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The person enrols and optionally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enables programme reminders.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1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62DAE8"/>
                </a:solidFill>
                <a:latin typeface="DejaVu Sans"/>
              </a:defRPr>
            </a:pPr>
            <a:r>
              <a:t>CARRY FORWARD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1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Selected venue or area and chosen programme;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prefer manual area selection when sufficient.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212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76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KEEP SEPARATE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76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No background location tracking or attendance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inference from prayer-tool use.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784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48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VALUE ON BOTH SIDES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48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Daily tools create relevant discovery; local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organisers reach interested participants.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7196328"/>
            <a:ext cx="1298448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0">
                <a:solidFill>
                  <a:srgbClr val="BBC8DF"/>
                </a:solidFill>
                <a:latin typeface="DejaVu Sans"/>
              </a:defRPr>
            </a:pPr>
            <a:r>
              <a:t>SUCCESS: User-requested local discovery → suitable event enrolments → confirmed attendance.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PROPOSED USER JOURNEY 12 / MRM DIGITAL COMMUNITY PLATFORM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38328"/>
            <a:ext cx="845618" cy="34747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56616"/>
            <a:ext cx="924939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950976"/>
            <a:ext cx="13350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2800" b="1">
                <a:solidFill>
                  <a:srgbClr val="F7F9FF"/>
                </a:solidFill>
                <a:latin typeface="DejaVu Sans"/>
              </a:defRPr>
            </a:pPr>
            <a:r>
              <a:t>A learner can choose a path from participation to contribution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09928"/>
            <a:ext cx="132588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Learning participation → Volunteer application | A learner who wants to give back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7635240"/>
            <a:ext cx="13350240" cy="0"/>
          </a:xfrm>
          <a:prstGeom prst="line">
            <a:avLst/>
          </a:prstGeom>
          <a:ln w="21590">
            <a:solidFill>
              <a:srgbClr val="3443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hlinkClick action="ppaction://hlinksldjump" r:id="rId6"/>
          </p:cNvPr>
          <p:cNvSpPr txBox="1"/>
          <p:nvPr/>
        </p:nvSpPr>
        <p:spPr>
          <a:xfrm>
            <a:off x="640080" y="7818120"/>
            <a:ext cx="3474720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/ ZYLAX TECHNOLOGIES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7799831"/>
            <a:ext cx="813816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PRODUCT DESIGN · OPTIONAL PARTICIPATION · SEPARATE ROLE APPROVALS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93040" y="7772400"/>
            <a:ext cx="1097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16 / 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31720"/>
            <a:ext cx="128930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700" b="1">
                <a:solidFill>
                  <a:srgbClr val="F7F9FF"/>
                </a:solidFill>
                <a:latin typeface="DejaVu Sans"/>
              </a:defRPr>
            </a:pPr>
            <a:r>
              <a:t>“This helped me. I want to support others when I am ready.”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Offer an optional volunteer path after the person expresses interest in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contributing.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NOT REQUIRED WHEN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2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Learning progress, religiosity or aid receipt never creates an obligation to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volunteer.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Interest in service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The learner chooses a suitable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contribution area.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749039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059936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24528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24528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Relevant preparation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24528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Show actual role expectations and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optional or required preparation.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168896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479792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44383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44383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Apply and assess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44383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Reuse consented profile details;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complete separate volunteer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checks.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588752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0899648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64240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Start within limits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Approved volunteers accept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bounded work with coordinator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support.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1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62DAE8"/>
                </a:solidFill>
                <a:latin typeface="DejaVu Sans"/>
              </a:defRPr>
            </a:pPr>
            <a:r>
              <a:t>CARRY FORWARD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1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Selected interests, contact details and relevant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assessed skills with consent.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212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76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KEEP SEPARATE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76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 certificate, course attendance or worship streak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does not confer service authority.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784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48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VALUE ON BOTH SIDES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48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Learners gain an achievable contribution route;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MRM grows prepared, willing capacity.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7196328"/>
            <a:ext cx="1298448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0">
                <a:solidFill>
                  <a:srgbClr val="BBC8DF"/>
                </a:solidFill>
                <a:latin typeface="DejaVu Sans"/>
              </a:defRPr>
            </a:pPr>
            <a:r>
              <a:t>SUCCESS: Interest → applications → approvals → sustained suitable service; watch burden and dropout.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PROPOSED USER JOURNEY 13 / MRM DIGITAL COMMUNITY PLATFORM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38328"/>
            <a:ext cx="845618" cy="34747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56616"/>
            <a:ext cx="924939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950976"/>
            <a:ext cx="13350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2800" b="1">
                <a:solidFill>
                  <a:srgbClr val="F7F9FF"/>
                </a:solidFill>
                <a:latin typeface="DejaVu Sans"/>
              </a:defRPr>
            </a:pPr>
            <a:r>
              <a:t>A volunteer can connect a person to the right specialist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09928"/>
            <a:ext cx="132588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Volunteer support → Specialist referral | A volunteer whose assigned case exceeds their remit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7635240"/>
            <a:ext cx="13350240" cy="0"/>
          </a:xfrm>
          <a:prstGeom prst="line">
            <a:avLst/>
          </a:prstGeom>
          <a:ln w="21590">
            <a:solidFill>
              <a:srgbClr val="3443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hlinkClick action="ppaction://hlinksldjump" r:id="rId6"/>
          </p:cNvPr>
          <p:cNvSpPr txBox="1"/>
          <p:nvPr/>
        </p:nvSpPr>
        <p:spPr>
          <a:xfrm>
            <a:off x="640080" y="7818120"/>
            <a:ext cx="3474720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/ ZYLAX TECHNOLOGIES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7799831"/>
            <a:ext cx="813816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PRODUCT DESIGN · OPTIONAL PARTICIPATION · SEPARATE ROLE APPROVALS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93040" y="7772400"/>
            <a:ext cx="1097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17 / 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31720"/>
            <a:ext cx="128930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700" b="1">
                <a:solidFill>
                  <a:srgbClr val="F7F9FF"/>
                </a:solidFill>
                <a:latin typeface="DejaVu Sans"/>
              </a:defRPr>
            </a:pPr>
            <a:r>
              <a:t>“I can accompany this person, but their next need requires authorised expertise.”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Route through MRM when a need exceeds the volunteer’s approved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competence.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NOT REQUIRED WHEN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2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The app never treats a teaching badge as legal, medical or financial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accreditation.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Recognise a boundary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The volunteer records a minimal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referral request on their authorised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case.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749039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059936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24528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24528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Staff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24528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MRM checks consent, urgency and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the appropriate referral pathway.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168896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479792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44383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44383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Approved handoff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44383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Share necessary information with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an authorised partner under policy.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588752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0899648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64240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Keep continuity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Track acknowledgement and next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ownership; the volunteer sees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permitted status.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1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62DAE8"/>
                </a:solidFill>
                <a:latin typeface="DejaVu Sans"/>
              </a:defRPr>
            </a:pPr>
            <a:r>
              <a:t>CARRY FORWARD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1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Minimum agreed referral context, consent and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case/reference ID to authorised recipients.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212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76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KEEP SEPARATE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76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No public case broadcast, unapproved partner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access or assumption of specialist credentials.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784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48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VALUE ON BOTH SIDES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48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150" b="0">
                <a:solidFill>
                  <a:srgbClr val="BBC8DF"/>
                </a:solidFill>
                <a:latin typeface="DejaVu Sans"/>
              </a:defRPr>
            </a:pPr>
            <a:r>
              <a:t>The seeker avoids repeating the story unnecessarily;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150" b="0">
                <a:solidFill>
                  <a:srgbClr val="BBC8DF"/>
                </a:solidFill>
                <a:latin typeface="DejaVu Sans"/>
              </a:defRPr>
            </a:pPr>
            <a:r>
              <a:t>the volunteer avoids unsafe overreach.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7196328"/>
            <a:ext cx="1298448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0">
                <a:solidFill>
                  <a:srgbClr val="BBC8DF"/>
                </a:solidFill>
                <a:latin typeface="DejaVu Sans"/>
              </a:defRPr>
            </a:pPr>
            <a:r>
              <a:t>SUCCESS: Appropriate referrals → acknowledged handoffs → clear next owner and follow-up.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PROPOSED USER JOURNEY 14 / MRM DIGITAL COMMUNITY PLATFORM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38328"/>
            <a:ext cx="845618" cy="34747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56616"/>
            <a:ext cx="924939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950976"/>
            <a:ext cx="13350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2800" b="1">
                <a:solidFill>
                  <a:srgbClr val="F7F9FF"/>
                </a:solidFill>
                <a:latin typeface="DejaVu Sans"/>
              </a:defRPr>
            </a:pPr>
            <a:r>
              <a:t>Public discovery can continue into the same service journey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09928"/>
            <a:ext cx="132588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Website → App participation | A visitor reading a programme or volunteer opportunity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7635240"/>
            <a:ext cx="13350240" cy="0"/>
          </a:xfrm>
          <a:prstGeom prst="line">
            <a:avLst/>
          </a:prstGeom>
          <a:ln w="21590">
            <a:solidFill>
              <a:srgbClr val="3443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hlinkClick action="ppaction://hlinksldjump" r:id="rId6"/>
          </p:cNvPr>
          <p:cNvSpPr txBox="1"/>
          <p:nvPr/>
        </p:nvSpPr>
        <p:spPr>
          <a:xfrm>
            <a:off x="640080" y="7818120"/>
            <a:ext cx="3474720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/ ZYLAX TECHNOLOGIES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7799831"/>
            <a:ext cx="813816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PRODUCT DESIGN · OPTIONAL PARTICIPATION · SEPARATE ROLE APPROVALS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93040" y="7772400"/>
            <a:ext cx="1097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18 / 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31720"/>
            <a:ext cx="128930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700" b="1">
                <a:solidFill>
                  <a:srgbClr val="F7F9FF"/>
                </a:solidFill>
                <a:latin typeface="DejaVu Sans"/>
              </a:defRPr>
            </a:pPr>
            <a:r>
              <a:t>“I want this exact programme, not to start again on a generic home screen.”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Preserve the public destination across install, sign-in and eligibility checks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where feasible.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NOT REQUIRED WHEN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2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Public information stays accessible; installation is not needed just to read 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Specific public page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The visitor chooses a programme,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volunteer role or support route.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749039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059936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24528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24528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Keep the destination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24528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Carry a non-sensitive link or short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reference through entry.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168896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479792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44383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44383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Required checks only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44383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Sign in or apply when the selected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action requires it.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588752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0899648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64240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Resume the action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Return to the same programme or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application with current availability.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1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62DAE8"/>
                </a:solidFill>
                <a:latin typeface="DejaVu Sans"/>
              </a:defRPr>
            </a:pPr>
            <a:r>
              <a:t>CARRY FORWARD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1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Public destination ID and safe campaign/source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reference; no private case data in URLs.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212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76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KEEP SEPARATE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76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No secrets in deep links. Expired programmes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receive an honest alternative.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784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48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VALUE ON BOTH SIDES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48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Visitors keep their intent; MRM loses fewer people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between discovery and participation.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7196328"/>
            <a:ext cx="1298448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0">
                <a:solidFill>
                  <a:srgbClr val="BBC8DF"/>
                </a:solidFill>
                <a:latin typeface="DejaVu Sans"/>
              </a:defRPr>
            </a:pPr>
            <a:r>
              <a:t>SUCCESS: Destination retained → intended action completed; test installation and expired-link paths.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PROPOSED USER JOURNEY 15 / MRM DIGITAL COMMUNITY PLATFORM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38328"/>
            <a:ext cx="845618" cy="34747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56616"/>
            <a:ext cx="924939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950976"/>
            <a:ext cx="13350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2800" b="1">
                <a:solidFill>
                  <a:srgbClr val="F7F9FF"/>
                </a:solidFill>
                <a:latin typeface="DejaVu Sans"/>
              </a:defRPr>
            </a:pPr>
            <a:r>
              <a:t>Service experience can guide a person’s next development step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09928"/>
            <a:ext cx="132588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Volunteer review → Learning development | A volunteer reflecting with a coordinator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7635240"/>
            <a:ext cx="13350240" cy="0"/>
          </a:xfrm>
          <a:prstGeom prst="line">
            <a:avLst/>
          </a:prstGeom>
          <a:ln w="21590">
            <a:solidFill>
              <a:srgbClr val="3443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hlinkClick action="ppaction://hlinksldjump" r:id="rId6"/>
          </p:cNvPr>
          <p:cNvSpPr txBox="1"/>
          <p:nvPr/>
        </p:nvSpPr>
        <p:spPr>
          <a:xfrm>
            <a:off x="640080" y="7818120"/>
            <a:ext cx="3474720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/ ZYLAX TECHNOLOGIES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7799831"/>
            <a:ext cx="813816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PRODUCT DESIGN · OPTIONAL PARTICIPATION · SEPARATE ROLE APPROVALS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93040" y="7772400"/>
            <a:ext cx="1097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19 / 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31720"/>
            <a:ext cx="128930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700" b="1">
                <a:solidFill>
                  <a:srgbClr val="F7F9FF"/>
                </a:solidFill>
                <a:latin typeface="DejaVu Sans"/>
              </a:defRPr>
            </a:pPr>
            <a:r>
              <a:t>“What did I do well, and what training would help me contribute better?”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Use an agreed private review to recommend learning or future duties.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NOT REQUIRED WHEN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2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Do not convert volunteer hours or popularity into teaching approval or public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expertise claims.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Review service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The volunteer and authorised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coordinator reflect on a completed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duty.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749039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059936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24528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24528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Agree development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24528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Select a specific skill goal without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copying beneficiary details.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168896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479792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44383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44383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Choose learning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44383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Offer an approved course or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mentor relevant to that goal.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588752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0899648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64240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Assess progression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Review learning and suitability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before any new responsibility.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1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62DAE8"/>
                </a:solidFill>
                <a:latin typeface="DejaVu Sans"/>
              </a:defRPr>
            </a:pPr>
            <a:r>
              <a:t>CARRY FORWARD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1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Agreed skill goal and restricted competency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evidence; public recognition only by policy.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212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76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KEEP SEPARATE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76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No beneficiary story or private feedback on public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profiles; no automatic teacher badge.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784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48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VALUE ON BOTH SIDES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48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Volunteers see a development path; MRM builds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capacity with evidence rather than rank.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7196328"/>
            <a:ext cx="1298448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0">
                <a:solidFill>
                  <a:srgbClr val="BBC8DF"/>
                </a:solidFill>
                <a:latin typeface="DejaVu Sans"/>
              </a:defRPr>
            </a:pPr>
            <a:r>
              <a:t>SUCCESS: Agreed plans → useful training → assessed competence; track wellbeing as well as retention.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COMPLETE USER JOURNEY / MRM DIGITAL COMMUNITY PLATFORM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38328"/>
            <a:ext cx="845618" cy="34747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56616"/>
            <a:ext cx="924939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950976"/>
            <a:ext cx="13350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2800" b="1">
                <a:solidFill>
                  <a:srgbClr val="F7F9FF"/>
                </a:solidFill>
                <a:latin typeface="DejaVu Sans"/>
              </a:defRPr>
            </a:pPr>
            <a:r>
              <a:t>Teacher journey: teaching becomes an optional way to 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09928"/>
            <a:ext cx="132588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One account can support two approved roles. The person chooses whether to use both.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7635240"/>
            <a:ext cx="13350240" cy="0"/>
          </a:xfrm>
          <a:prstGeom prst="line">
            <a:avLst/>
          </a:prstGeom>
          <a:ln w="21590">
            <a:solidFill>
              <a:srgbClr val="3443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hlinkClick action="ppaction://hlinksldjump" r:id="rId6"/>
          </p:cNvPr>
          <p:cNvSpPr txBox="1"/>
          <p:nvPr/>
        </p:nvSpPr>
        <p:spPr>
          <a:xfrm>
            <a:off x="640080" y="7818120"/>
            <a:ext cx="3474720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/ ZYLAX TECHNOLOGIES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7799831"/>
            <a:ext cx="813816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PRODUCT DESIGN · OPTIONAL PARTICIPATION · SEPARATE ROLE APPROVALS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93040" y="7772400"/>
            <a:ext cx="1097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20 / 24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514600"/>
            <a:ext cx="3072384" cy="19202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2651760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2953512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Arrive to teach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3474720"/>
            <a:ext cx="2743200" cy="8595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Apply through the learning centre.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749039" y="347472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059936" y="2514600"/>
            <a:ext cx="3072384" cy="19202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24528" y="2651760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24528" y="2953512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Approved expertise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24528" y="3474720"/>
            <a:ext cx="2743200" cy="8595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MRM approves subject and teacher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status.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168896" y="347472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479792" y="2514600"/>
            <a:ext cx="3072384" cy="19202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44383" y="2651760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44383" y="2953512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Optional invitation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44383" y="3474720"/>
            <a:ext cx="2743200" cy="8595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“Would you like to offer support in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Quran?”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588752" y="347472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0899648" y="2514600"/>
            <a:ext cx="3072384" cy="19202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064240" y="2651760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2953512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Apply as volunteer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3474720"/>
            <a:ext cx="2743200" cy="8595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Agree availability and complete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separate checks.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864608"/>
            <a:ext cx="3072384" cy="19202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1" y="5001768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1" y="5303520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Relevant match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1" y="5824728"/>
            <a:ext cx="2743200" cy="8595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 permitted offer shows approved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expertise.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749039" y="5824728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4059936" y="4864608"/>
            <a:ext cx="3072384" cy="19202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24528" y="5001768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24528" y="5303520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Accepted support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24528" y="5824728"/>
            <a:ext cx="2743200" cy="8595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Seeker accepts; limited case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access opens.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68896" y="5824728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7479792" y="4864608"/>
            <a:ext cx="3072384" cy="19202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44383" y="5001768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44383" y="5303520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Continue or pause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44383" y="5824728"/>
            <a:ext cx="2743200" cy="8595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Teacher controls capacity;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coordinator reviews outcomes.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2435840" y="4480560"/>
            <a:ext cx="0" cy="164592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2176272" y="4645152"/>
            <a:ext cx="10259568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176272" y="4645152"/>
            <a:ext cx="0" cy="201168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11064240" y="5257800"/>
            <a:ext cx="2834640" cy="1371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900" b="1">
                <a:solidFill>
                  <a:srgbClr val="E8C578"/>
                </a:solidFill>
                <a:latin typeface="DejaVu Sans"/>
              </a:defRPr>
            </a:pPr>
            <a:r>
              <a:t>No volunteering?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900" b="1">
                <a:solidFill>
                  <a:srgbClr val="E8C578"/>
                </a:solidFill>
                <a:latin typeface="DejaVu Sans"/>
              </a:defRPr>
            </a:pPr>
            <a:r>
              <a:t>Teaching continues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900" b="1">
                <a:solidFill>
                  <a:srgbClr val="E8C578"/>
                </a:solidFill>
                <a:latin typeface="DejaVu Sans"/>
              </a:defRPr>
            </a:pPr>
            <a:r>
              <a:t>normally.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COMPLETE USER JOURNEY / MRM DIGITAL COMMUNITY PLATFORM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38328"/>
            <a:ext cx="845618" cy="34747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56616"/>
            <a:ext cx="924939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950976"/>
            <a:ext cx="13350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2800" b="1">
                <a:solidFill>
                  <a:srgbClr val="F7F9FF"/>
                </a:solidFill>
                <a:latin typeface="DejaVu Sans"/>
              </a:defRPr>
            </a:pPr>
            <a:r>
              <a:t>Seeker journey: support can open a chosen learning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09928"/>
            <a:ext cx="132588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Learning complements assistance when useful. It is never a condition for receiving help.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7635240"/>
            <a:ext cx="13350240" cy="0"/>
          </a:xfrm>
          <a:prstGeom prst="line">
            <a:avLst/>
          </a:prstGeom>
          <a:ln w="21590">
            <a:solidFill>
              <a:srgbClr val="3443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hlinkClick action="ppaction://hlinksldjump" r:id="rId5"/>
          </p:cNvPr>
          <p:cNvSpPr txBox="1"/>
          <p:nvPr/>
        </p:nvSpPr>
        <p:spPr>
          <a:xfrm>
            <a:off x="640080" y="7818120"/>
            <a:ext cx="3474720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/ ZYLAX TECHNOLOGIES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7799831"/>
            <a:ext cx="813816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PRODUCT DESIGN · OPTIONAL PARTICIPATION · SEPARATE ROLE APPROVALS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93040" y="7772400"/>
            <a:ext cx="1097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21 / 24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514600"/>
            <a:ext cx="3072384" cy="19202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2651760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2953512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Ask for help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3474720"/>
            <a:ext cx="2743200" cy="8595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 seeker requests beginner Quran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guidance.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749039" y="347472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059936" y="2514600"/>
            <a:ext cx="3072384" cy="19202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24528" y="2651760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24528" y="2953512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Appropriate helper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24528" y="3474720"/>
            <a:ext cx="2743200" cy="8595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MRM matches an approved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volunteer; teacher expertise may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be relevant.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168896" y="347472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479792" y="2514600"/>
            <a:ext cx="3072384" cy="19202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44383" y="2651760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44383" y="2953512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Choose learning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44383" y="3474720"/>
            <a:ext cx="2743200" cy="8595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The seeker accepts an optional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referral.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588752" y="347472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0899648" y="2514600"/>
            <a:ext cx="3072384" cy="19202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064240" y="2651760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2953512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Suitable programme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3474720"/>
            <a:ext cx="2743200" cy="8595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Topic, level, language and timing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match the chosen goal.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864608"/>
            <a:ext cx="3072384" cy="19202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1" y="5001768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1" y="5303520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Learn and follow up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1" y="5824728"/>
            <a:ext cx="2743200" cy="8595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Attend; request mentoring only if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useful.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749039" y="5824728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4059936" y="4864608"/>
            <a:ext cx="3072384" cy="19202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24528" y="5001768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24528" y="5303520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Continue independently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24528" y="5824728"/>
            <a:ext cx="2743200" cy="8595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Return to Quran tools and the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selected practice.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68896" y="5824728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7479792" y="4864608"/>
            <a:ext cx="3072384" cy="19202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44383" y="5001768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44383" y="5303520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Contribute if desired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44383" y="5824728"/>
            <a:ext cx="2743200" cy="8595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 later volunteer application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remains separate and optional.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2435840" y="4480560"/>
            <a:ext cx="0" cy="164592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2176272" y="4645152"/>
            <a:ext cx="10259568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176272" y="4645152"/>
            <a:ext cx="0" cy="201168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11064240" y="5257800"/>
            <a:ext cx="2834640" cy="1371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700" b="1">
                <a:solidFill>
                  <a:srgbClr val="E8C578"/>
                </a:solidFill>
                <a:latin typeface="DejaVu Sans"/>
              </a:defRPr>
            </a:pPr>
            <a:r>
              <a:t>Declines learning?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700" b="1">
                <a:solidFill>
                  <a:srgbClr val="E8C578"/>
                </a:solidFill>
                <a:latin typeface="DejaVu Sans"/>
              </a:defRPr>
            </a:pPr>
            <a:r>
              <a:t>Support stays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700" b="1">
                <a:solidFill>
                  <a:srgbClr val="E8C578"/>
                </a:solidFill>
                <a:latin typeface="DejaVu Sans"/>
              </a:defRPr>
            </a:pPr>
            <a:r>
              <a:t>available under normal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700" b="1">
                <a:solidFill>
                  <a:srgbClr val="E8C578"/>
                </a:solidFill>
                <a:latin typeface="DejaVu Sans"/>
              </a:defRPr>
            </a:pPr>
            <a:r>
              <a:t>eligibility.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PRODUCT PRIORITIES / MRM DIGITAL COMMUNITY PLATFORM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38328"/>
            <a:ext cx="845618" cy="34747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56616"/>
            <a:ext cx="924939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950976"/>
            <a:ext cx="13350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2800" b="1">
                <a:solidFill>
                  <a:srgbClr val="F7F9FF"/>
                </a:solidFill>
                <a:latin typeface="DejaVu Sans"/>
              </a:defRPr>
            </a:pPr>
            <a:r>
              <a:t>Build the strongest bridges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09928"/>
            <a:ext cx="132588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Sequence by user value and dependence on agreed policy—not by drawing the largest possible network.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7635240"/>
            <a:ext cx="13350240" cy="0"/>
          </a:xfrm>
          <a:prstGeom prst="line">
            <a:avLst/>
          </a:prstGeom>
          <a:ln w="21590">
            <a:solidFill>
              <a:srgbClr val="3443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hlinkClick action="ppaction://hlinksldjump" r:id="rId6"/>
          </p:cNvPr>
          <p:cNvSpPr txBox="1"/>
          <p:nvPr/>
        </p:nvSpPr>
        <p:spPr>
          <a:xfrm>
            <a:off x="640080" y="7818120"/>
            <a:ext cx="3474720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/ ZYLAX TECHNOLOGIES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7799831"/>
            <a:ext cx="813816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PRODUCT DESIGN · OPTIONAL PARTICIPATION · SEPARATE ROLE APPROVALS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93040" y="7772400"/>
            <a:ext cx="1097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22 / 24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532888"/>
            <a:ext cx="4206240" cy="46634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2715768"/>
            <a:ext cx="38404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500" b="1">
                <a:solidFill>
                  <a:srgbClr val="8DD8B1"/>
                </a:solidFill>
                <a:latin typeface="DejaVu Sans"/>
              </a:defRPr>
            </a:pPr>
            <a:r>
              <a:t>FIRST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3182112"/>
            <a:ext cx="384048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Clear service handoffs and role boundaries</a:t>
            </a:r>
          </a:p>
        </p:txBody>
      </p:sp>
      <p:sp>
        <p:nvSpPr>
          <p:cNvPr id="16" name="TextBox 15">
            <a:hlinkClick action="ppaction://hlinksldjump" r:id="rId7"/>
          </p:cNvPr>
          <p:cNvSpPr txBox="1"/>
          <p:nvPr/>
        </p:nvSpPr>
        <p:spPr>
          <a:xfrm>
            <a:off x="822959" y="4069080"/>
            <a:ext cx="38404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0">
                <a:solidFill>
                  <a:srgbClr val="F7F9FF"/>
                </a:solidFill>
                <a:latin typeface="DejaVu Sans"/>
              </a:defRPr>
            </a:pPr>
            <a:r>
              <a:t>05 Learning centre → Volunteer support</a:t>
            </a:r>
          </a:p>
        </p:txBody>
      </p:sp>
      <p:sp>
        <p:nvSpPr>
          <p:cNvPr id="17" name="TextBox 16">
            <a:hlinkClick action="ppaction://hlinksldjump" r:id="rId8"/>
          </p:cNvPr>
          <p:cNvSpPr txBox="1"/>
          <p:nvPr/>
        </p:nvSpPr>
        <p:spPr>
          <a:xfrm>
            <a:off x="822959" y="4526280"/>
            <a:ext cx="38404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0">
                <a:solidFill>
                  <a:srgbClr val="F7F9FF"/>
                </a:solidFill>
                <a:latin typeface="DejaVu Sans"/>
              </a:defRPr>
            </a:pPr>
            <a:r>
              <a:t>06 Volunteer support → Learning centre</a:t>
            </a:r>
          </a:p>
        </p:txBody>
      </p:sp>
      <p:sp>
        <p:nvSpPr>
          <p:cNvPr id="18" name="TextBox 17">
            <a:hlinkClick action="ppaction://hlinksldjump" r:id="rId9"/>
          </p:cNvPr>
          <p:cNvSpPr txBox="1"/>
          <p:nvPr/>
        </p:nvSpPr>
        <p:spPr>
          <a:xfrm>
            <a:off x="822959" y="4983480"/>
            <a:ext cx="38404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0">
                <a:solidFill>
                  <a:srgbClr val="F7F9FF"/>
                </a:solidFill>
                <a:latin typeface="DejaVu Sans"/>
              </a:defRPr>
            </a:pPr>
            <a:r>
              <a:t>07 Support requests → Learning centre</a:t>
            </a:r>
          </a:p>
        </p:txBody>
      </p:sp>
      <p:sp>
        <p:nvSpPr>
          <p:cNvPr id="19" name="TextBox 18">
            <a:hlinkClick action="ppaction://hlinksldjump" r:id="rId10"/>
          </p:cNvPr>
          <p:cNvSpPr txBox="1"/>
          <p:nvPr/>
        </p:nvSpPr>
        <p:spPr>
          <a:xfrm>
            <a:off x="822959" y="5440680"/>
            <a:ext cx="38404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0">
                <a:solidFill>
                  <a:srgbClr val="F7F9FF"/>
                </a:solidFill>
                <a:latin typeface="DejaVu Sans"/>
              </a:defRPr>
            </a:pPr>
            <a:r>
              <a:t>10 Mentoring → Support requests</a:t>
            </a:r>
          </a:p>
        </p:txBody>
      </p:sp>
      <p:sp>
        <p:nvSpPr>
          <p:cNvPr id="20" name="TextBox 19">
            <a:hlinkClick action="ppaction://hlinksldjump" r:id="rId11"/>
          </p:cNvPr>
          <p:cNvSpPr txBox="1"/>
          <p:nvPr/>
        </p:nvSpPr>
        <p:spPr>
          <a:xfrm>
            <a:off x="822959" y="5897880"/>
            <a:ext cx="38404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0">
                <a:solidFill>
                  <a:srgbClr val="F7F9FF"/>
                </a:solidFill>
                <a:latin typeface="DejaVu Sans"/>
              </a:defRPr>
            </a:pPr>
            <a:r>
              <a:t>17 Volunteer support → Specialist referral</a:t>
            </a:r>
          </a:p>
        </p:txBody>
      </p:sp>
      <p:sp>
        <p:nvSpPr>
          <p:cNvPr id="21" name="TextBox 20">
            <a:hlinkClick action="ppaction://hlinksldjump" r:id="rId12"/>
          </p:cNvPr>
          <p:cNvSpPr txBox="1"/>
          <p:nvPr/>
        </p:nvSpPr>
        <p:spPr>
          <a:xfrm>
            <a:off x="822959" y="6355080"/>
            <a:ext cx="38404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0">
                <a:solidFill>
                  <a:srgbClr val="F7F9FF"/>
                </a:solidFill>
                <a:latin typeface="DejaVu Sans"/>
              </a:defRPr>
            </a:pPr>
            <a:r>
              <a:t>18 Website → App participation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12080" y="2532888"/>
            <a:ext cx="4206240" cy="46634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4960" y="2715768"/>
            <a:ext cx="38404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500" b="1">
                <a:solidFill>
                  <a:srgbClr val="62DAE8"/>
                </a:solidFill>
                <a:latin typeface="DejaVu Sans"/>
              </a:defRPr>
            </a:pPr>
            <a:r>
              <a:t>NEXT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3182112"/>
            <a:ext cx="384048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Relevant discovery and development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paths</a:t>
            </a:r>
          </a:p>
        </p:txBody>
      </p:sp>
      <p:sp>
        <p:nvSpPr>
          <p:cNvPr id="25" name="TextBox 24">
            <a:hlinkClick action="ppaction://hlinksldjump" r:id="rId13"/>
          </p:cNvPr>
          <p:cNvSpPr txBox="1"/>
          <p:nvPr/>
        </p:nvSpPr>
        <p:spPr>
          <a:xfrm>
            <a:off x="5394960" y="4069080"/>
            <a:ext cx="38404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0">
                <a:solidFill>
                  <a:srgbClr val="F7F9FF"/>
                </a:solidFill>
                <a:latin typeface="DejaVu Sans"/>
              </a:defRPr>
            </a:pPr>
            <a:r>
              <a:t>08 Quran utility → Learning centre</a:t>
            </a:r>
          </a:p>
        </p:txBody>
      </p:sp>
      <p:sp>
        <p:nvSpPr>
          <p:cNvPr id="26" name="TextBox 25">
            <a:hlinkClick action="ppaction://hlinksldjump" r:id="rId14"/>
          </p:cNvPr>
          <p:cNvSpPr txBox="1"/>
          <p:nvPr/>
        </p:nvSpPr>
        <p:spPr>
          <a:xfrm>
            <a:off x="5394960" y="4526280"/>
            <a:ext cx="38404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0">
                <a:solidFill>
                  <a:srgbClr val="F7F9FF"/>
                </a:solidFill>
                <a:latin typeface="DejaVu Sans"/>
              </a:defRPr>
            </a:pPr>
            <a:r>
              <a:t>09 Learning centre → Mentoring</a:t>
            </a:r>
          </a:p>
        </p:txBody>
      </p:sp>
      <p:sp>
        <p:nvSpPr>
          <p:cNvPr id="27" name="TextBox 26">
            <a:hlinkClick action="ppaction://hlinksldjump" r:id="rId15"/>
          </p:cNvPr>
          <p:cNvSpPr txBox="1"/>
          <p:nvPr/>
        </p:nvSpPr>
        <p:spPr>
          <a:xfrm>
            <a:off x="5394960" y="4983480"/>
            <a:ext cx="38404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0">
                <a:solidFill>
                  <a:srgbClr val="F7F9FF"/>
                </a:solidFill>
                <a:latin typeface="DejaVu Sans"/>
              </a:defRPr>
            </a:pPr>
            <a:r>
              <a:t>11 Learning events → Volunteer duties</a:t>
            </a:r>
          </a:p>
        </p:txBody>
      </p:sp>
      <p:sp>
        <p:nvSpPr>
          <p:cNvPr id="28" name="TextBox 27">
            <a:hlinkClick action="ppaction://hlinksldjump" r:id="rId16"/>
          </p:cNvPr>
          <p:cNvSpPr txBox="1"/>
          <p:nvPr/>
        </p:nvSpPr>
        <p:spPr>
          <a:xfrm>
            <a:off x="5394960" y="5440680"/>
            <a:ext cx="38404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0">
                <a:solidFill>
                  <a:srgbClr val="F7F9FF"/>
                </a:solidFill>
                <a:latin typeface="DejaVu Sans"/>
              </a:defRPr>
            </a:pPr>
            <a:r>
              <a:t>12 Community updates → Learning centre</a:t>
            </a:r>
          </a:p>
        </p:txBody>
      </p:sp>
      <p:sp>
        <p:nvSpPr>
          <p:cNvPr id="29" name="TextBox 28">
            <a:hlinkClick action="ppaction://hlinksldjump" r:id="rId17"/>
          </p:cNvPr>
          <p:cNvSpPr txBox="1"/>
          <p:nvPr/>
        </p:nvSpPr>
        <p:spPr>
          <a:xfrm>
            <a:off x="5394960" y="5897880"/>
            <a:ext cx="38404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0">
                <a:solidFill>
                  <a:srgbClr val="F7F9FF"/>
                </a:solidFill>
                <a:latin typeface="DejaVu Sans"/>
              </a:defRPr>
            </a:pPr>
            <a:r>
              <a:t>13 Support operations → Learning planning</a:t>
            </a:r>
          </a:p>
        </p:txBody>
      </p:sp>
      <p:sp>
        <p:nvSpPr>
          <p:cNvPr id="30" name="TextBox 29">
            <a:hlinkClick action="ppaction://hlinksldjump" r:id="rId18"/>
          </p:cNvPr>
          <p:cNvSpPr txBox="1"/>
          <p:nvPr/>
        </p:nvSpPr>
        <p:spPr>
          <a:xfrm>
            <a:off x="5394960" y="6355080"/>
            <a:ext cx="38404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0">
                <a:solidFill>
                  <a:srgbClr val="F7F9FF"/>
                </a:solidFill>
                <a:latin typeface="DejaVu Sans"/>
              </a:defRPr>
            </a:pPr>
            <a:r>
              <a:t>16 Learning participation → Volunteer application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784080" y="2532888"/>
            <a:ext cx="4206240" cy="46634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66959" y="2715768"/>
            <a:ext cx="38404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500" b="1">
                <a:solidFill>
                  <a:srgbClr val="E8C578"/>
                </a:solidFill>
                <a:latin typeface="DejaVu Sans"/>
              </a:defRPr>
            </a:pPr>
            <a:r>
              <a:t>LATER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6959" y="3182112"/>
            <a:ext cx="384048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Needs stronger operational evidence or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consent design</a:t>
            </a:r>
          </a:p>
        </p:txBody>
      </p:sp>
      <p:sp>
        <p:nvSpPr>
          <p:cNvPr id="34" name="TextBox 33">
            <a:hlinkClick action="ppaction://hlinksldjump" r:id="rId19"/>
          </p:cNvPr>
          <p:cNvSpPr txBox="1"/>
          <p:nvPr/>
        </p:nvSpPr>
        <p:spPr>
          <a:xfrm>
            <a:off x="9966959" y="4069080"/>
            <a:ext cx="38404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0">
                <a:solidFill>
                  <a:srgbClr val="F7F9FF"/>
                </a:solidFill>
                <a:latin typeface="DejaVu Sans"/>
              </a:defRPr>
            </a:pPr>
            <a:r>
              <a:t>14 Service outcomes → Community updates</a:t>
            </a:r>
          </a:p>
        </p:txBody>
      </p:sp>
      <p:sp>
        <p:nvSpPr>
          <p:cNvPr id="35" name="TextBox 34">
            <a:hlinkClick action="ppaction://hlinksldjump" r:id="rId20"/>
          </p:cNvPr>
          <p:cNvSpPr txBox="1"/>
          <p:nvPr/>
        </p:nvSpPr>
        <p:spPr>
          <a:xfrm>
            <a:off x="9966959" y="4526280"/>
            <a:ext cx="38404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0">
                <a:solidFill>
                  <a:srgbClr val="F7F9FF"/>
                </a:solidFill>
                <a:latin typeface="DejaVu Sans"/>
              </a:defRPr>
            </a:pPr>
            <a:r>
              <a:t>15 Prayer / nearby places → Learning events</a:t>
            </a:r>
          </a:p>
        </p:txBody>
      </p:sp>
      <p:sp>
        <p:nvSpPr>
          <p:cNvPr id="36" name="TextBox 35">
            <a:hlinkClick action="ppaction://hlinksldjump" r:id="rId21"/>
          </p:cNvPr>
          <p:cNvSpPr txBox="1"/>
          <p:nvPr/>
        </p:nvSpPr>
        <p:spPr>
          <a:xfrm>
            <a:off x="9966959" y="4983480"/>
            <a:ext cx="38404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0">
                <a:solidFill>
                  <a:srgbClr val="F7F9FF"/>
                </a:solidFill>
                <a:latin typeface="DejaVu Sans"/>
              </a:defRPr>
            </a:pPr>
            <a:r>
              <a:t>19 Volunteer review → Learning development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SHARED PRODUCT RULES / MRM DIGITAL COMMUNITY PLATFORM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38328"/>
            <a:ext cx="845618" cy="34747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56616"/>
            <a:ext cx="924939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950976"/>
            <a:ext cx="13350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2800" b="1">
                <a:solidFill>
                  <a:srgbClr val="F7F9FF"/>
                </a:solidFill>
                <a:latin typeface="DejaVu Sans"/>
              </a:defRPr>
            </a:pPr>
            <a:r>
              <a:t>Reuse helpful context; grant each role separately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09928"/>
            <a:ext cx="132588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One person can be a learner, teacher and volunteer. Each relationship still has its own approval and permissions.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7635240"/>
            <a:ext cx="13350240" cy="0"/>
          </a:xfrm>
          <a:prstGeom prst="line">
            <a:avLst/>
          </a:prstGeom>
          <a:ln w="21590">
            <a:solidFill>
              <a:srgbClr val="3443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hlinkClick action="ppaction://hlinksldjump" r:id="rId6"/>
          </p:cNvPr>
          <p:cNvSpPr txBox="1"/>
          <p:nvPr/>
        </p:nvSpPr>
        <p:spPr>
          <a:xfrm>
            <a:off x="640080" y="7818120"/>
            <a:ext cx="3474720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/ ZYLAX TECHNOLOGIES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7799831"/>
            <a:ext cx="813816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PRODUCT DESIGN · OPTIONAL PARTICIPATION · SEPARATE ROLE APPROVALS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93040" y="7772400"/>
            <a:ext cx="1097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23 / 24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560320"/>
            <a:ext cx="6492240" cy="128016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2670048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62DAE8"/>
                </a:solidFill>
                <a:latin typeface="DejaVu Sans"/>
              </a:defRPr>
            </a:pPr>
            <a:r>
              <a:t>ONE PERSON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2962656"/>
            <a:ext cx="6163055" cy="7955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Reuse an account and consented profile details. Do not create a new identity for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every feature.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2560320"/>
            <a:ext cx="6492240" cy="128016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62671" y="2670048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SEPARATE ROLES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62671" y="2962656"/>
            <a:ext cx="6163055" cy="7955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Teacher approval, publishing entitlement and volunteer eligibility are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independent states.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050791"/>
            <a:ext cx="6492240" cy="128016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1" y="4160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EXPLICIT RELATIONSHIPS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1" y="4453128"/>
            <a:ext cx="6163055" cy="7955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An enrolment, mentor acceptance, duty confirmation or case assignment gives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 bounded relationship.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79" y="4050791"/>
            <a:ext cx="6492240" cy="128016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62671" y="4160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62DAE8"/>
                </a:solidFill>
                <a:latin typeface="DejaVu Sans"/>
              </a:defRPr>
            </a:pPr>
            <a:r>
              <a:t>VISIBLE RELEVANCE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62671" y="4453128"/>
            <a:ext cx="6163055" cy="7955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Show approved subject expertise and status on a support offer—not private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learning or worship records.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541264"/>
            <a:ext cx="6492240" cy="128016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1" y="5650992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CONTROLLED CONTEXT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1" y="5943600"/>
            <a:ext cx="6163055" cy="7955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Carry selected goals, public programme IDs or referral status. Record who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consented to what.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79" y="5541264"/>
            <a:ext cx="6492240" cy="128016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62671" y="5650992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SAFE EXIT AND RETURN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62671" y="5943600"/>
            <a:ext cx="6163055" cy="7955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Decline, pause or leave the second journey without losing the original service;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handle revoked roles.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DECISIONS AND ACCEPTANCE / MRM DIGITAL COMMUNITY PLATFORM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38328"/>
            <a:ext cx="845618" cy="34747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56616"/>
            <a:ext cx="924939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950976"/>
            <a:ext cx="13350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2800" b="1">
                <a:solidFill>
                  <a:srgbClr val="F7F9FF"/>
                </a:solidFill>
                <a:latin typeface="DejaVu Sans"/>
              </a:defRPr>
            </a:pPr>
            <a:r>
              <a:t>Validate that each bridge earns its place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09928"/>
            <a:ext cx="132588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Agree the product behaviour, then test it with the people who would actually cross between services.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7635240"/>
            <a:ext cx="13350240" cy="0"/>
          </a:xfrm>
          <a:prstGeom prst="line">
            <a:avLst/>
          </a:prstGeom>
          <a:ln w="21590">
            <a:solidFill>
              <a:srgbClr val="3443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hlinkClick action="ppaction://hlinksldjump" r:id="rId5"/>
          </p:cNvPr>
          <p:cNvSpPr txBox="1"/>
          <p:nvPr/>
        </p:nvSpPr>
        <p:spPr>
          <a:xfrm>
            <a:off x="640080" y="7818120"/>
            <a:ext cx="3474720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/ ZYLAX TECHNOLOGIES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7799831"/>
            <a:ext cx="813816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PRODUCT DESIGN · OPTIONAL PARTICIPATION · SEPARATE ROLE APPROVALS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93040" y="7772400"/>
            <a:ext cx="1097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62DAE8"/>
                </a:solidFill>
                <a:latin typeface="DejaVu Sans"/>
              </a:defRPr>
            </a:pPr>
            <a:r>
              <a:t>24 / 24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560320"/>
            <a:ext cx="6492240" cy="19385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2670048"/>
            <a:ext cx="6163055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PRODUCT DECISIONS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3172968"/>
            <a:ext cx="6163055" cy="1207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Confirm visible teacher credentials, volunteer checks, invitation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timing, referral ownership and consent wording.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2560320"/>
            <a:ext cx="6492240" cy="19385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62671" y="2670048"/>
            <a:ext cx="6163055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8DD8B1"/>
                </a:solidFill>
                <a:latin typeface="DejaVu Sans"/>
              </a:defRPr>
            </a:pPr>
            <a:r>
              <a:t>USER VALUE 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62671" y="3172968"/>
            <a:ext cx="6163055" cy="1207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Can a teacher, volunteer or seeker explain why the suggested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second service helps—and decline it easily?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773168"/>
            <a:ext cx="6492240" cy="19385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1" y="4882896"/>
            <a:ext cx="6163055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E8C578"/>
                </a:solidFill>
                <a:latin typeface="DejaVu Sans"/>
              </a:defRPr>
            </a:pPr>
            <a:r>
              <a:t>MEANINGFUL FLOW TESTS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1" y="5385816"/>
            <a:ext cx="6163055" cy="1207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Declining keeps teaching available. Payment grants no case access.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Revoked credentials stop appearing as current. Expired links recover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honestly.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79" y="4773168"/>
            <a:ext cx="6492240" cy="19385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62671" y="4882896"/>
            <a:ext cx="6163055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8DD8B1"/>
                </a:solidFill>
                <a:latin typeface="DejaVu Sans"/>
              </a:defRPr>
            </a:pPr>
            <a:r>
              <a:t>RECIPROCAL OUTCOME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62671" y="5385816"/>
            <a:ext cx="6163055" cy="1207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Measure appropriate accepted handoffs and user-reported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usefulness. Do not optimise pressure to enrol, volunteer or disclose.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7022592"/>
            <a:ext cx="128930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900" b="1">
                <a:solidFill>
                  <a:srgbClr val="F7F9FF"/>
                </a:solidFill>
                <a:latin typeface="DejaVu Sans"/>
              </a:defRPr>
            </a:pPr>
            <a:r>
              <a:t>A connected platform helps a person take the right next step for their goal.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