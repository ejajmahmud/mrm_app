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"entry",</a:t>
            </a:r>
          </a:p>
          <a:p>
            <a:r>
              <a:t>  "owner": "MRM + Zylax",</a:t>
            </a:r>
          </a:p>
          <a:p>
            <a:r>
              <a:t>  "scope": "Observed entry screens \u00b7 proposed routing",</a:t>
            </a:r>
          </a:p>
          <a:p>
            <a:r>
              <a:t>  "why": "Clear entry paths turn public interest into learning, participation or a safe request for help.",</a:t>
            </a:r>
          </a:p>
          <a:p>
            <a:r>
              <a:t>  "measure": "Guest-to-service progression; onboarding completion",</a:t>
            </a:r>
          </a:p>
          <a:p>
            <a:r>
              <a:t>  "decision": "Screens retain revert-focused wording; platform positioning remains for all Muslims.",</a:t>
            </a:r>
          </a:p>
          <a:p>
            <a:r>
              <a:t>  "screen_evidence": [</a:t>
            </a:r>
          </a:p>
          <a:p>
            <a:r>
              <a:t>    "Onboarding \u00b7 care pillar",</a:t>
            </a:r>
          </a:p>
          <a:p>
            <a:r>
              <a:t>    "Welcome and guest entry"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"Public website",</a:t>
            </a:r>
          </a:p>
          <a:p>
            <a:r>
              <a:t>      "introduces",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"opens",</a:t>
            </a:r>
          </a:p>
          <a:p>
            <a:r>
              <a:t>      "Guest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"Language preference",</a:t>
            </a:r>
          </a:p>
          <a:p>
            <a:r>
              <a:t>      "localises",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"invites",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"routes",</a:t>
            </a:r>
          </a:p>
          <a:p>
            <a:r>
              <a:t>      "Role application"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"registration",</a:t>
            </a:r>
          </a:p>
          <a:p>
            <a:r>
              <a:t>  "owner": "MRM + Zylax",</a:t>
            </a:r>
          </a:p>
          <a:p>
            <a:r>
              <a:t>  "scope": "Observed participation-track form \u00b7 approval flow proposed",</a:t>
            </a:r>
          </a:p>
          <a:p>
            <a:r>
              <a:t>  "why": "A single identity supports several authorised roles without duplicating accounts or exposing private records.",</a:t>
            </a:r>
          </a:p>
          <a:p>
            <a:r>
              <a:t>  "measure": "Registration completion; consent capture; duplicate-account handling",</a:t>
            </a:r>
          </a:p>
          <a:p>
            <a:r>
              <a:t>  "decision": "Selecting a track is an application, not instant verified access.",</a:t>
            </a:r>
          </a:p>
          <a:p>
            <a:r>
              <a:t>  "screen_evidence": [</a:t>
            </a:r>
          </a:p>
          <a:p>
            <a:r>
              <a:t>    "Registration \u00b7 participation tracks"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"Welcome / guest route",</a:t>
            </a:r>
          </a:p>
          <a:p>
            <a:r>
              <a:t>      "starts",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"Terms &amp; privacy consent",</a:t>
            </a:r>
          </a:p>
          <a:p>
            <a:r>
              <a:t>      "requires",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"creates",</a:t>
            </a:r>
          </a:p>
          <a:p>
            <a:r>
              <a:t>      "Account &amp;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"enables",</a:t>
            </a:r>
          </a:p>
          <a:p>
            <a:r>
              <a:t>      "Role application"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application",</a:t>
            </a:r>
          </a:p>
          <a:p>
            <a:r>
              <a:t>      "reviews",</a:t>
            </a:r>
          </a:p>
          <a:p>
            <a:r>
              <a:t>      "MRM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verification",</a:t>
            </a:r>
          </a:p>
          <a:p>
            <a:r>
              <a:t>      "updates",</a:t>
            </a:r>
          </a:p>
          <a:p>
            <a:r>
              <a:t>      "Account &amp; profile"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"authentication",</a:t>
            </a:r>
          </a:p>
          <a:p>
            <a:r>
              <a:t>  "owner": "MRM + Zylax",</a:t>
            </a:r>
          </a:p>
          <a:p>
            <a:r>
              <a:t>  "scope": "Observed sign-in UI \u00b7 Face ID not independently verified",</a:t>
            </a:r>
          </a:p>
          <a:p>
            <a:r>
              <a:t>  "why": "Secure recovery and session checks preserve access to ongoing cases and learning without weakening permissions.",</a:t>
            </a:r>
          </a:p>
          <a:p>
            <a:r>
              <a:t>  "measure": "Successful recovery; session expiry; denied-access tests",</a:t>
            </a:r>
          </a:p>
          <a:p>
            <a:r>
              <a:t>  "decision": "",</a:t>
            </a:r>
          </a:p>
          <a:p>
            <a:r>
              <a:t>  "screen_evidence": [</a:t>
            </a:r>
          </a:p>
          <a:p>
            <a:r>
              <a:t>    "Sign-in form"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"Registered identity",</a:t>
            </a:r>
          </a:p>
          <a:p>
            <a:r>
              <a:t>      "identifies",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"Recovery / device checks",</a:t>
            </a:r>
          </a:p>
          <a:p>
            <a:r>
              <a:t>      "restores",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"opens",</a:t>
            </a:r>
          </a:p>
          <a:p>
            <a:r>
              <a:t>      "Role-aware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"creates",</a:t>
            </a:r>
          </a:p>
          <a:p>
            <a:r>
              <a:t>      "Authenticated session"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"Authenticated session",</a:t>
            </a:r>
          </a:p>
          <a:p>
            <a:r>
              <a:t>      "checks",</a:t>
            </a:r>
          </a:p>
          <a:p>
            <a:r>
              <a:t>      "Record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workspace",</a:t>
            </a:r>
          </a:p>
          <a:p>
            <a:r>
              <a:t>      "requests",</a:t>
            </a:r>
          </a:p>
          <a:p>
            <a:r>
              <a:t>      "Record authorisation"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"roles",</a:t>
            </a:r>
          </a:p>
          <a:p>
            <a:r>
              <a:t>  "owner": "MRM + Zylax",</a:t>
            </a:r>
          </a:p>
          <a:p>
            <a:r>
              <a:t>  "scope": "Observed profile and role-picker modal \u00b7 server permissions unverified",</a:t>
            </a:r>
          </a:p>
          <a:p>
            <a:r>
              <a:t>  "why": "Role approval controls service access; changing the visible persona must never grant new privileges.",</a:t>
            </a:r>
          </a:p>
          <a:p>
            <a:r>
              <a:t>  "measure": "Correct role activation; revoked-access and profile-change tests",</a:t>
            </a:r>
          </a:p>
          <a:p>
            <a:r>
              <a:t>  "decision": "The demo\u2019s clearance labels and profile statistics are illustrative, not verified credentials.",</a:t>
            </a:r>
          </a:p>
          <a:p>
            <a:r>
              <a:t>  "screen_evidence": [</a:t>
            </a:r>
          </a:p>
          <a:p>
            <a:r>
              <a:t>    "Profile / role summary",</a:t>
            </a:r>
          </a:p>
          <a:p>
            <a:r>
              <a:t>    "Role-picker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"Account identity",</a:t>
            </a:r>
          </a:p>
          <a:p>
            <a:r>
              <a:t>      "binds",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"Verification decisions",</a:t>
            </a:r>
          </a:p>
          <a:p>
            <a:r>
              <a:t>      "approves",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"selects",</a:t>
            </a:r>
          </a:p>
          <a:p>
            <a:r>
              <a:t>      "Relevant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"constrains",</a:t>
            </a:r>
          </a:p>
          <a:p>
            <a:r>
              <a:t>      "Visibility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rules",</a:t>
            </a:r>
          </a:p>
          <a:p>
            <a:r>
              <a:t>      "filters",</a:t>
            </a:r>
          </a:p>
          <a:p>
            <a:r>
              <a:t>      "Permitted case / content"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workspace",</a:t>
            </a:r>
          </a:p>
          <a:p>
            <a:r>
              <a:t>      "requests",</a:t>
            </a:r>
          </a:p>
          <a:p>
            <a:r>
              <a:t>      "Permitted case / content"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"home",</a:t>
            </a:r>
          </a:p>
          <a:p>
            <a:r>
              <a:t>  "owner": "MRM + Zylax",</a:t>
            </a:r>
          </a:p>
          <a:p>
            <a:r>
              <a:t>  "scope": "Observed Admin Ops and Member home states \u00b7 role differences shown",</a:t>
            </a:r>
          </a:p>
          <a:p>
            <a:r>
              <a:t>  "why": "A relevant home screen helps people move from routine practice into learning or contribution without navigating separate systems.",</a:t>
            </a:r>
          </a:p>
          <a:p>
            <a:r>
              <a:t>  "measure": "Entry-point use; task completion by authorised role",</a:t>
            </a:r>
          </a:p>
          <a:p>
            <a:r>
              <a:t>  "decision": "Shown figures, response targets and audit claims are demo content.",</a:t>
            </a:r>
          </a:p>
          <a:p>
            <a:r>
              <a:t>  "screen_evidence": [</a:t>
            </a:r>
          </a:p>
          <a:p>
            <a:r>
              <a:t>    "Admin Ops Home",</a:t>
            </a:r>
          </a:p>
          <a:p>
            <a:r>
              <a:t>    "Member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&amp; preferences",</a:t>
            </a:r>
          </a:p>
          <a:p>
            <a:r>
              <a:t>      "configures",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"controls",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"opens",</a:t>
            </a:r>
          </a:p>
          <a:p>
            <a:r>
              <a:t>      "Daily Islamic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"routes",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"limits",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entry points",</a:t>
            </a:r>
          </a:p>
          <a:p>
            <a:r>
              <a:t>      "continues",</a:t>
            </a:r>
          </a:p>
          <a:p>
            <a:r>
              <a:t>      "Assigned work / programme"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"search",</a:t>
            </a:r>
          </a:p>
          <a:p>
            <a:r>
              <a:t>  "owner": "MRM + Zylax",</a:t>
            </a:r>
          </a:p>
          <a:p>
            <a:r>
              <a:t>  "scope": "Observed utility / mosque search \u00b7 programme links proposed",</a:t>
            </a:r>
          </a:p>
          <a:p>
            <a:r>
              <a:t>  "why": "One search route can help a user find relevant learning, a mosque or support while respecting private-profile restrictions.",</a:t>
            </a:r>
          </a:p>
          <a:p>
            <a:r>
              <a:t>  "measure": "Relevant-result selection; zero-result recovery; visibility tests",</a:t>
            </a:r>
          </a:p>
          <a:p>
            <a:r>
              <a:t>  "decision": "A public result is not evidence of approved volunteer-map access.",</a:t>
            </a:r>
          </a:p>
          <a:p>
            <a:r>
              <a:t>  "screen_evidence": [</a:t>
            </a:r>
          </a:p>
          <a:p>
            <a:r>
              <a:t>    "Search: utilities and local places"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need / query",</a:t>
            </a:r>
          </a:p>
          <a:p>
            <a:r>
              <a:t>      "queries",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/ moderation",</a:t>
            </a:r>
          </a:p>
          <a:p>
            <a:r>
              <a:t>      "filters",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"returns",</a:t>
            </a:r>
          </a:p>
          <a:p>
            <a:r>
              <a:t>      "Approved public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 results",</a:t>
            </a:r>
          </a:p>
          <a:p>
            <a:r>
              <a:t>      "opens",</a:t>
            </a:r>
          </a:p>
          <a:p>
            <a:r>
              <a:t>      "Registration /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"selects",</a:t>
            </a:r>
          </a:p>
          <a:p>
            <a:r>
              <a:t>      "Programme / service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service detail",</a:t>
            </a:r>
          </a:p>
          <a:p>
            <a:r>
              <a:t>      "continues",</a:t>
            </a:r>
          </a:p>
          <a:p>
            <a:r>
              <a:t>      "Registration / request"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"prayer",</a:t>
            </a:r>
          </a:p>
          <a:p>
            <a:r>
              <a:t>  "owner": "MRM content lead + Zylax",</a:t>
            </a:r>
          </a:p>
          <a:p>
            <a:r>
              <a:t>  "scope": "Observed Waqt, fasting and prayer-window interface",</a:t>
            </a:r>
          </a:p>
          <a:p>
            <a:r>
              <a:t>  "why": "Consistent local settings make daily practice useful and prevent conflicting times across the app.",</a:t>
            </a:r>
          </a:p>
          <a:p>
            <a:r>
              <a:t>  "measure": "Source accuracy; denied-location fallback; reminder accuracy",</a:t>
            </a:r>
          </a:p>
          <a:p>
            <a:r>
              <a:t>  "decision": "Source and local conventions need approval. \u201cJAKIM / global synced\u201d labels do not establish verified API connectivity.",</a:t>
            </a:r>
          </a:p>
          <a:p>
            <a:r>
              <a:t>  "screen_evidence": [</a:t>
            </a:r>
          </a:p>
          <a:p>
            <a:r>
              <a:t>    "Waqt, fasting and prayer windows"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preference",</a:t>
            </a:r>
          </a:p>
          <a:p>
            <a:r>
              <a:t>      "selects",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"Calculation / local policy",</a:t>
            </a:r>
          </a:p>
          <a:p>
            <a:r>
              <a:t>      "validates",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"feeds",</a:t>
            </a:r>
          </a:p>
          <a:p>
            <a:r>
              <a:t>      "Daily prayer display"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"schedules",</a:t>
            </a:r>
          </a:p>
          <a:p>
            <a:r>
              <a:t>      "Prayer reminder scheduling"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"aligns",</a:t>
            </a:r>
          </a:p>
          <a:p>
            <a:r>
              <a:t>      "Ramadan timetable"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"tracker",</a:t>
            </a:r>
          </a:p>
          <a:p>
            <a:r>
              <a:t>  "owner": "MRM + Zylax",</a:t>
            </a:r>
          </a:p>
          <a:p>
            <a:r>
              <a:t>  "scope": "Observed private check-in, sunnah and Qaza-counter UI",</a:t>
            </a:r>
          </a:p>
          <a:p>
            <a:r>
              <a:t>  "why": "A private log supports consistency without exposing personal worship or turning it into a public ranking.",</a:t>
            </a:r>
          </a:p>
          <a:p>
            <a:r>
              <a:t>  "measure": "Log persistence; private visibility; daily reset and correction",</a:t>
            </a:r>
          </a:p>
          <a:p>
            <a:r>
              <a:t>  "decision": "Prototype percentages and counts are sample state; persistence and religious rules need verification.",</a:t>
            </a:r>
          </a:p>
          <a:p>
            <a:r>
              <a:t>  "screen_evidence": [</a:t>
            </a:r>
          </a:p>
          <a:p>
            <a:r>
              <a:t>    "Private Salah / Qaza tracker"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"Daily prayer schedule",</a:t>
            </a:r>
          </a:p>
          <a:p>
            <a:r>
              <a:t>      "context",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user control",</a:t>
            </a:r>
          </a:p>
          <a:p>
            <a:r>
              <a:t>      "protects",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"records",</a:t>
            </a:r>
          </a:p>
          <a:p>
            <a:r>
              <a:t>      "Personal practice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"links",</a:t>
            </a:r>
          </a:p>
          <a:p>
            <a:r>
              <a:t>      "Salah / dua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"Salah / dua guidance",</a:t>
            </a:r>
          </a:p>
          <a:p>
            <a:r>
              <a:t>      "supports",</a:t>
            </a:r>
          </a:p>
          <a:p>
            <a:r>
              <a:t>      "Continued daily practice"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"mosques",</a:t>
            </a:r>
          </a:p>
          <a:p>
            <a:r>
              <a:t>  "owner": "MRM + Zylax",</a:t>
            </a:r>
          </a:p>
          <a:p>
            <a:r>
              <a:t>  "scope": "Observed compass simulation and nearby-place list",</a:t>
            </a:r>
          </a:p>
          <a:p>
            <a:r>
              <a:t>  "why": "Useful local guidance makes the app relevant beyond assistance, while keeping volunteer-location data separately protected.",</a:t>
            </a:r>
          </a:p>
          <a:p>
            <a:r>
              <a:t>  "measure": "Direction guidance; permission fallback; place-data accuracy",</a:t>
            </a:r>
          </a:p>
          <a:p>
            <a:r>
              <a:t>  "decision": "The screenshot includes Simulate Compass Azimuth. It is not proof of live sensor accuracy, 3D navigation or real-time user tracking.",</a:t>
            </a:r>
          </a:p>
          <a:p>
            <a:r>
              <a:t>  "screen_evidence": [</a:t>
            </a:r>
          </a:p>
          <a:p>
            <a:r>
              <a:t>    "Compass simulation + place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/ manual area",</a:t>
            </a:r>
          </a:p>
          <a:p>
            <a:r>
              <a:t>      "locates",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data / calibration",</a:t>
            </a:r>
          </a:p>
          <a:p>
            <a:r>
              <a:t>      "validates",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"shows",</a:t>
            </a:r>
          </a:p>
          <a:p>
            <a:r>
              <a:t>      "Nearby mosque details"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"supports",</a:t>
            </a:r>
          </a:p>
          <a:p>
            <a:r>
              <a:t>      "Prayer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"Nearby mosque details",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guidance",</a:t>
            </a:r>
          </a:p>
          <a:p>
            <a:r>
              <a:t>      "connects",</a:t>
            </a:r>
          </a:p>
          <a:p>
            <a:r>
              <a:t>      "Programme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"quran",</a:t>
            </a:r>
          </a:p>
          <a:p>
            <a:r>
              <a:t>  "owner": "MRM content approver + Zylax",</a:t>
            </a:r>
          </a:p>
          <a:p>
            <a:r>
              <a:t>  "scope": "Observed Al-Fatihah text, reciter and tajweed controls",</a:t>
            </a:r>
          </a:p>
          <a:p>
            <a:r>
              <a:t>  "why": "Reading and recitation become more valuable when users can continue into approved explanations and classes.",</a:t>
            </a:r>
          </a:p>
          <a:p>
            <a:r>
              <a:t>  "measure": "Content-source validation; recitation delivery; learning continuation",</a:t>
            </a:r>
          </a:p>
          <a:p>
            <a:r>
              <a:t>  "decision": "The content shown is Al-Fatihah; a Ya-Sin selected-tab label conflicts with the verses. Confirm tab behaviour, content and rights.",</a:t>
            </a:r>
          </a:p>
          <a:p>
            <a:r>
              <a:t>  "screen_evidence": [</a:t>
            </a:r>
          </a:p>
          <a:p>
            <a:r>
              <a:t>    "Al-Fatihah text / reciter controls"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"Religious sources &amp; rights",</a:t>
            </a:r>
          </a:p>
          <a:p>
            <a:r>
              <a:t>      "authorises",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administration",</a:t>
            </a:r>
          </a:p>
          <a:p>
            <a:r>
              <a:t>      "publishes",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"links",</a:t>
            </a:r>
          </a:p>
          <a:p>
            <a:r>
              <a:t>      "Approved learning resources"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"supports",</a:t>
            </a:r>
          </a:p>
          <a:p>
            <a:r>
              <a:t>      "Offline / cache settings"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"Offline / cache settings",</a:t>
            </a:r>
          </a:p>
          <a:p>
            <a:r>
              <a:t>      "enables",</a:t>
            </a:r>
          </a:p>
          <a:p>
            <a:r>
              <a:t>      "Repeat daily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learning resources",</a:t>
            </a:r>
          </a:p>
          <a:p>
            <a:r>
              <a:t>      "encourages",</a:t>
            </a:r>
          </a:p>
          <a:p>
            <a:r>
              <a:t>      "Repeat daily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"tasbih",</a:t>
            </a:r>
          </a:p>
          <a:p>
            <a:r>
              <a:t>  "owner": "MRM + Zylax",</a:t>
            </a:r>
          </a:p>
          <a:p>
            <a:r>
              <a:t>  "scope": "Observed tasbih phrase and counter view",</a:t>
            </a:r>
          </a:p>
          <a:p>
            <a:r>
              <a:t>  "why": "A focused counter supports repeated practice while relevant guidance remains grounded in approved content.",</a:t>
            </a:r>
          </a:p>
          <a:p>
            <a:r>
              <a:t>  "measure": "Counter increment / reset; selected phrase; private state persistence",</a:t>
            </a:r>
          </a:p>
          <a:p>
            <a:r>
              <a:t>  "decision": "Displayed laps / totals are sample state; no public faith scoring or guaranteed religious outcome.",</a:t>
            </a:r>
          </a:p>
          <a:p>
            <a:r>
              <a:t>  "screen_evidence": [</a:t>
            </a:r>
          </a:p>
          <a:p>
            <a:r>
              <a:t>    "Digital tasbih counter"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dhikr wording",</a:t>
            </a:r>
          </a:p>
          <a:p>
            <a:r>
              <a:t>      "grounds",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"User target / preference",</a:t>
            </a:r>
          </a:p>
          <a:p>
            <a:r>
              <a:t>      "sets",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"records",</a:t>
            </a:r>
          </a:p>
          <a:p>
            <a:r>
              <a:t>      "Private local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"opens",</a:t>
            </a:r>
          </a:p>
          <a:p>
            <a:r>
              <a:t>      "Dua / remembrance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remembrance library",</a:t>
            </a:r>
          </a:p>
          <a:p>
            <a:r>
              <a:t>      "supports",</a:t>
            </a:r>
          </a:p>
          <a:p>
            <a:r>
              <a:t>      "Daily utility return"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"dua",</a:t>
            </a:r>
          </a:p>
          <a:p>
            <a:r>
              <a:t>  "owner": "MRM + Zylax",</a:t>
            </a:r>
          </a:p>
          <a:p>
            <a:r>
              <a:t>  "scope": "Observed dua categories, text and reference labels",</a:t>
            </a:r>
          </a:p>
          <a:p>
            <a:r>
              <a:t>  "why": "Searchable, categorised supplications make the daily library useful and keep correction and source review visible.",</a:t>
            </a:r>
          </a:p>
          <a:p>
            <a:r>
              <a:t>  "measure": "Search relevance; source approval; recitation-state behaviour",</a:t>
            </a:r>
          </a:p>
          <a:p>
            <a:r>
              <a:t>  "decision": "The presence of a hadith citation does not demonstrate a separate full Hadith-reader module.",</a:t>
            </a:r>
          </a:p>
          <a:p>
            <a:r>
              <a:t>  "screen_evidence": [</a:t>
            </a:r>
          </a:p>
          <a:p>
            <a:r>
              <a:t>    "Dua categories and references"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"Situation / search",</a:t>
            </a:r>
          </a:p>
          <a:p>
            <a:r>
              <a:t>      "finds",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source review",</a:t>
            </a:r>
          </a:p>
          <a:p>
            <a:r>
              <a:t>      "approves",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"explains",</a:t>
            </a:r>
          </a:p>
          <a:p>
            <a:r>
              <a:t>      "Approved learning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"supports",</a:t>
            </a:r>
          </a:p>
          <a:p>
            <a:r>
              <a:t>      "Optional personal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"Optional personal practice",</a:t>
            </a:r>
          </a:p>
          <a:p>
            <a:r>
              <a:t>      "returns",</a:t>
            </a:r>
          </a:p>
          <a:p>
            <a:r>
              <a:t>      "Relevant daily tool"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"remembrance",</a:t>
            </a:r>
          </a:p>
          <a:p>
            <a:r>
              <a:t>  "owner": "MRM content approver",</a:t>
            </a:r>
          </a:p>
          <a:p>
            <a:r>
              <a:t>  "scope": "Approved scope \u00b7 proposed connections",</a:t>
            </a:r>
          </a:p>
          <a:p>
            <a:r>
              <a:t>  "why": "A governed content library keeps daily tools consistent and gives learners a route to deeper understanding.",</a:t>
            </a:r>
          </a:p>
          <a:p>
            <a:r>
              <a:t>  "measure": "Source review; content correction; relevant-resource access",</a:t>
            </a:r>
          </a:p>
          <a:p>
            <a:r>
              <a:t>  "decision": "Sifat Names and Haram Codes remain template-library items subject to separate source and use review.",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"grounds",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categories",</a:t>
            </a:r>
          </a:p>
          <a:p>
            <a:r>
              <a:t>      "organises",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"deepens",</a:t>
            </a:r>
          </a:p>
          <a:p>
            <a:r>
              <a:t>      "Relevant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"salahguide",</a:t>
            </a:r>
          </a:p>
          <a:p>
            <a:r>
              <a:t>  "owner": "MRM + Zylax",</a:t>
            </a:r>
          </a:p>
          <a:p>
            <a:r>
              <a:t>  "scope": "Observed posture 1 of 7 \u00b7 pronounce control visible",</a:t>
            </a:r>
          </a:p>
          <a:p>
            <a:r>
              <a:t>  "why": "A step-by-step guide gives beginners a practical next step and links learning to the same prayer and direction context.",</a:t>
            </a:r>
          </a:p>
          <a:p>
            <a:r>
              <a:t>  "measure": "Posture navigation; approved text / audio; guidance-to-practice access",</a:t>
            </a:r>
          </a:p>
          <a:p>
            <a:r>
              <a:t>  "decision": "One captured posture is not proof that every posture, pronunciation or lesson works.",</a:t>
            </a:r>
          </a:p>
          <a:p>
            <a:r>
              <a:t>  "screen_evidence": [</a:t>
            </a:r>
          </a:p>
          <a:p>
            <a:r>
              <a:t>    "Salah guide \u00b7 posture 1 of 7"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"Beginner / learning entry",</a:t>
            </a:r>
          </a:p>
          <a:p>
            <a:r>
              <a:t>      "learns",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content references",</a:t>
            </a:r>
          </a:p>
          <a:p>
            <a:r>
              <a:t>      "supports",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"practises",</a:t>
            </a:r>
          </a:p>
          <a:p>
            <a:r>
              <a:t>      "Daily prayer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"asks",</a:t>
            </a:r>
          </a:p>
          <a:p>
            <a:r>
              <a:t>      "Mentor / class support"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"Mentor / class support",</a:t>
            </a:r>
          </a:p>
          <a:p>
            <a:r>
              <a:t>      "supports",</a:t>
            </a:r>
          </a:p>
          <a:p>
            <a:r>
              <a:t>      "Private learning progress"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"asma",</a:t>
            </a:r>
          </a:p>
          <a:p>
            <a:r>
              <a:t>  "owner": "MRM + Zylax",</a:t>
            </a:r>
          </a:p>
          <a:p>
            <a:r>
              <a:t>  "scope": "Observed Asma-ul-Husna names and meanings",</a:t>
            </a:r>
          </a:p>
          <a:p>
            <a:r>
              <a:t>  "why": "A reviewed names library supports daily learning without inventing religious explanations or unsupported source claims.",</a:t>
            </a:r>
          </a:p>
          <a:p>
            <a:r>
              <a:t>  "measure": "Approved names / meanings; search relevance; content correction",</a:t>
            </a:r>
          </a:p>
          <a:p>
            <a:r>
              <a:t>  "decision": "Treat this as a distinct reference view, not a hadith reader or proof of religious approval.",</a:t>
            </a:r>
          </a:p>
          <a:p>
            <a:r>
              <a:t>  "screen_evidence": [</a:t>
            </a:r>
          </a:p>
          <a:p>
            <a:r>
              <a:t>    "Asma-ul-Husna names / meanings"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"approves",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categorisation",</a:t>
            </a:r>
          </a:p>
          <a:p>
            <a:r>
              <a:t>      "finds",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"deepens",</a:t>
            </a:r>
          </a:p>
          <a:p>
            <a:r>
              <a:t>      "Related approved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"halal",</a:t>
            </a:r>
          </a:p>
          <a:p>
            <a:r>
              <a:t>  "owner": "MRM + Zylax",</a:t>
            </a:r>
          </a:p>
          <a:p>
            <a:r>
              <a:t>  "scope": "Observed E-code list + Fitrah / Fidyah calculator concept",</a:t>
            </a:r>
          </a:p>
          <a:p>
            <a:r>
              <a:t>  "why": "Useful ingredient information needs clear sourcing and limits; a prototype label cannot replace an authority\u2019s certification.",</a:t>
            </a:r>
          </a:p>
          <a:p>
            <a:r>
              <a:t>  "measure": "Source currency; query accuracy; visible qualification of results",</a:t>
            </a:r>
          </a:p>
          <a:p>
            <a:r>
              <a:t>  "decision": "Source 29 combines two utilities. Rates, classifications and \u201cJAKIM\u201d attribution require review; no authority API is established.",</a:t>
            </a:r>
          </a:p>
          <a:p>
            <a:r>
              <a:t>  "screen_evidence": [</a:t>
            </a:r>
          </a:p>
          <a:p>
            <a:r>
              <a:t>    "Ingredient reference + Fitrah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"Ingredient / E-code query",</a:t>
            </a:r>
          </a:p>
          <a:p>
            <a:r>
              <a:t>      "queries",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content / source review",</a:t>
            </a:r>
          </a:p>
          <a:p>
            <a:r>
              <a:t>      "validates",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"returns",</a:t>
            </a:r>
          </a:p>
          <a:p>
            <a:r>
              <a:t>      "Informational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"explains",</a:t>
            </a:r>
          </a:p>
          <a:p>
            <a:r>
              <a:t>      "Religious learning /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learning / enquiry",</a:t>
            </a:r>
          </a:p>
          <a:p>
            <a:r>
              <a:t>      "reports",</a:t>
            </a:r>
          </a:p>
          <a:p>
            <a:r>
              <a:t>      "Content correction"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"islamic_calendar",</a:t>
            </a:r>
          </a:p>
          <a:p>
            <a:r>
              <a:t>  "owner": "MRM + Zylax",</a:t>
            </a:r>
          </a:p>
          <a:p>
            <a:r>
              <a:t>  "scope": "Observed calendar almanac and local timetable",</a:t>
            </a:r>
          </a:p>
          <a:p>
            <a:r>
              <a:t>  "why": "Shared calendar conventions keep seasonal guidance and programme communication coherent.",</a:t>
            </a:r>
          </a:p>
          <a:p>
            <a:r>
              <a:t>  "measure": "Local-date review; timetable consistency; event reminder delivery",</a:t>
            </a:r>
          </a:p>
          <a:p>
            <a:r>
              <a:t>  "decision": "This almanac includes religious dates and prayer times. Local date, calculation and highlighted-day conventions require review.",</a:t>
            </a:r>
          </a:p>
          <a:p>
            <a:r>
              <a:t>  "screen_evidence": [</a:t>
            </a:r>
          </a:p>
          <a:p>
            <a:r>
              <a:t>    "Calendar almanac / prayer schedule"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"Local calendar convention",</a:t>
            </a:r>
          </a:p>
          <a:p>
            <a:r>
              <a:t>      "sets",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times",</a:t>
            </a:r>
          </a:p>
          <a:p>
            <a:r>
              <a:t>      "aligns",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"highlights",</a:t>
            </a:r>
          </a:p>
          <a:p>
            <a:r>
              <a:t>      "Seasonal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"informs",</a:t>
            </a:r>
          </a:p>
          <a:p>
            <a:r>
              <a:t>      "Event / class calendar"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"Seasonal programme discovery",</a:t>
            </a:r>
          </a:p>
          <a:p>
            <a:r>
              <a:t>      "registers",</a:t>
            </a:r>
          </a:p>
          <a:p>
            <a:r>
              <a:t>      "Permitted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"Event / class calendar",</a:t>
            </a:r>
          </a:p>
          <a:p>
            <a:r>
              <a:t>      "schedules",</a:t>
            </a:r>
          </a:p>
          <a:p>
            <a:r>
              <a:t>      "Permitted reminders"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"estimate",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"Clear assumptions and method-specific inputs make estimates useful, while the authority retains every assistance eligibility decision.",</a:t>
            </a:r>
          </a:p>
          <a:p>
            <a:r>
              <a:t>  "measure": "Approved calculation checks; referral consent; correct authority wording",</a:t>
            </a:r>
          </a:p>
          <a:p>
            <a:r>
              <a:t>  "decision": "Income/savings and Fitrah/Fidyah use different methods. Source 29 shows the latter; rates and authority decisions remain unverified.",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"Method-specific references",</a:t>
            </a:r>
          </a:p>
          <a:p>
            <a:r>
              <a:t>      "governs",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"Necessary calculator inputs",</a:t>
            </a:r>
          </a:p>
          <a:p>
            <a:r>
              <a:t>      "calculates",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"explains",</a:t>
            </a:r>
          </a:p>
          <a:p>
            <a:r>
              <a:t>      "Guidance /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"signposts",</a:t>
            </a:r>
          </a:p>
          <a:p>
            <a:r>
              <a:t>      "Assistance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"Assistance enquiry",</a:t>
            </a:r>
          </a:p>
          <a:p>
            <a:r>
              <a:t>      "refers",</a:t>
            </a:r>
          </a:p>
          <a:p>
            <a:r>
              <a:t>      "Authority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"requests",</a:t>
            </a:r>
          </a:p>
          <a:p>
            <a:r>
              <a:t>  "owner": "MRM + Zylax",</a:t>
            </a:r>
          </a:p>
          <a:p>
            <a:r>
              <a:t>  "scope": "Observed Seeker workspace \u00b7 full request intake not shown",</a:t>
            </a:r>
          </a:p>
          <a:p>
            <a:r>
              <a:t>  "why": "A complete request lifecycle prevents the app becoming a contact form with no accountable follow-up.",</a:t>
            </a:r>
          </a:p>
          <a:p>
            <a:r>
              <a:t>  "measure": "Acknowledgement; triage completion; unresolved-request follow-up",</a:t>
            </a:r>
          </a:p>
          <a:p>
            <a:r>
              <a:t>  "decision": "Sensitive concerns use the restricted route; the ordinary request form is not shown in the latest pack.",</a:t>
            </a:r>
          </a:p>
          <a:p>
            <a:r>
              <a:t>  "screen_evidence": [</a:t>
            </a:r>
          </a:p>
          <a:p>
            <a:r>
              <a:t>    "Seeker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"Member / service entry",</a:t>
            </a:r>
          </a:p>
          <a:p>
            <a:r>
              <a:t>      "starts",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privacy rules",</a:t>
            </a:r>
          </a:p>
          <a:p>
            <a:r>
              <a:t>      "protects",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request intake",</a:t>
            </a:r>
          </a:p>
          <a:p>
            <a:r>
              <a:t>      "submits",</a:t>
            </a:r>
          </a:p>
          <a:p>
            <a:r>
              <a:t>      "MRM triage"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"routes",</a:t>
            </a:r>
          </a:p>
          <a:p>
            <a:r>
              <a:t>      "Eligible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"updates",</a:t>
            </a:r>
          </a:p>
          <a:p>
            <a:r>
              <a:t>      "Case status / activity"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matching",</a:t>
            </a:r>
          </a:p>
          <a:p>
            <a:r>
              <a:t>      "records",</a:t>
            </a:r>
          </a:p>
          <a:p>
            <a:r>
              <a:t>      "Case status /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"vetting",</a:t>
            </a:r>
          </a:p>
          <a:p>
            <a:r>
              <a:t>  "owner": "MRM + Zylax",</a:t>
            </a:r>
          </a:p>
          <a:p>
            <a:r>
              <a:t>  "scope": "Observed Applicant progress \u00b7 verification policy still requires MRM approval",</a:t>
            </a:r>
          </a:p>
          <a:p>
            <a:r>
              <a:t>  "why": "Documents and interview decisions must change real eligibility, not merely add a badge to a profile.",</a:t>
            </a:r>
          </a:p>
          <a:p>
            <a:r>
              <a:t>  "measure": "Review completion; interview record; suspension and access tests",</a:t>
            </a:r>
          </a:p>
          <a:p>
            <a:r>
              <a:t>  "decision": "The prototype shows police-clearance steps. These do not replace the agreed document review and online interview or establish MRM policy.",</a:t>
            </a:r>
          </a:p>
          <a:p>
            <a:r>
              <a:t>  "screen_evidence": [</a:t>
            </a:r>
          </a:p>
          <a:p>
            <a:r>
              <a:t>    "Applicant verification progress"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"Volunteer application",</a:t>
            </a:r>
          </a:p>
          <a:p>
            <a:r>
              <a:t>      "applies",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verification files",</a:t>
            </a:r>
          </a:p>
          <a:p>
            <a:r>
              <a:t>      "supports",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"Evidence &amp; interview review",</a:t>
            </a:r>
          </a:p>
          <a:p>
            <a:r>
              <a:t>      "decides",</a:t>
            </a:r>
          </a:p>
          <a:p>
            <a:r>
              <a:t>      "Approved active volunteer"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"enables",</a:t>
            </a:r>
          </a:p>
          <a:p>
            <a:r>
              <a:t>      "Eligible discovery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"qualifies",</a:t>
            </a:r>
          </a:p>
          <a:p>
            <a:r>
              <a:t>      "Assigned work"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discovery / matching",</a:t>
            </a:r>
          </a:p>
          <a:p>
            <a:r>
              <a:t>      "offers",</a:t>
            </a:r>
          </a:p>
          <a:p>
            <a:r>
              <a:t>      "Assigned work"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"gender",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"Consistent server filtering prevents a protected profile leaking through search, maps, alerts or direct detail requests.",</a:t>
            </a:r>
          </a:p>
          <a:p>
            <a:r>
              <a:t>  "measure": "Cross-gender API tests; restricted detail and location tests",</a:t>
            </a:r>
          </a:p>
          <a:p>
            <a:r>
              <a:t>  "decision": "MRM must define controlled staff / teacher exceptions and precise role applicability.",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role &amp; profile",</a:t>
            </a:r>
          </a:p>
          <a:p>
            <a:r>
              <a:t>      "checks",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"Location consent",</a:t>
            </a:r>
          </a:p>
          <a:p>
            <a:r>
              <a:t>      "constrains",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"filters",</a:t>
            </a:r>
          </a:p>
          <a:p>
            <a:r>
              <a:t>      "Permitted discovery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"limits",</a:t>
            </a:r>
          </a:p>
          <a:p>
            <a:r>
              <a:t>      "Eligible alerts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discovery results",</a:t>
            </a:r>
          </a:p>
          <a:p>
            <a:r>
              <a:t>      "requests",</a:t>
            </a:r>
          </a:p>
          <a:p>
            <a:r>
              <a:t>      "Authorised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alerts / matching",</a:t>
            </a:r>
          </a:p>
          <a:p>
            <a:r>
              <a:t>      "routes",</a:t>
            </a:r>
          </a:p>
          <a:p>
            <a:r>
              <a:t>      "Authorised case contact"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"matching",</a:t>
            </a:r>
          </a:p>
          <a:p>
            <a:r>
              <a:t>  "owner": "MRM + Zylax",</a:t>
            </a:r>
          </a:p>
          <a:p>
            <a:r>
              <a:t>  "scope": "Observed Volunteer on-duty workspace \u00b7 actual matching not tested",</a:t>
            </a:r>
          </a:p>
          <a:p>
            <a:r>
              <a:t>  "why": "Eligibility checks improve relevance and preserve confidentiality before any volunteer receives an offer.",</a:t>
            </a:r>
          </a:p>
          <a:p>
            <a:r>
              <a:t>  "measure": "Eligible-offer delivery; unanswered-case handling; access tests",</a:t>
            </a:r>
          </a:p>
          <a:p>
            <a:r>
              <a:t>  "decision": "Prototype \u201cnearest squad\u201d and 15-minute targets are not a guaranteed response service.",</a:t>
            </a:r>
          </a:p>
          <a:p>
            <a:r>
              <a:t>  "screen_evidence": [</a:t>
            </a:r>
          </a:p>
          <a:p>
            <a:r>
              <a:t>    "Volunteer on-duty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"Reviewed routine request",</a:t>
            </a:r>
          </a:p>
          <a:p>
            <a:r>
              <a:t>      "provides",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volunteer capacity",</a:t>
            </a:r>
          </a:p>
          <a:p>
            <a:r>
              <a:t>      "qualifies",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matching",</a:t>
            </a:r>
          </a:p>
          <a:p>
            <a:r>
              <a:t>      "offers",</a:t>
            </a:r>
          </a:p>
          <a:p>
            <a:r>
              <a:t>      "Limited volunteer offer"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"responds",</a:t>
            </a:r>
          </a:p>
          <a:p>
            <a:r>
              <a:t>      "Assignment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"expires",</a:t>
            </a:r>
          </a:p>
          <a:p>
            <a:r>
              <a:t>      "Coordinator fallback"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"Assignment confirmation",</a:t>
            </a:r>
          </a:p>
          <a:p>
            <a:r>
              <a:t>      "escalates",</a:t>
            </a:r>
          </a:p>
          <a:p>
            <a:r>
              <a:t>      "Coordinator fallback"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"assignments",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"Confirmation creates accountable service access and lets MRM manage changes through to a verified outcome.",</a:t>
            </a:r>
          </a:p>
          <a:p>
            <a:r>
              <a:t>  "measure": "Confirmed assignment; reassignment; progress and closure records",</a:t>
            </a:r>
          </a:p>
          <a:p>
            <a:r>
              <a:t>  "decision": "Closure and any service credit require a defined confirmation process, not self-awarded completion.",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"Eligible volunteer offer",</a:t>
            </a:r>
          </a:p>
          <a:p>
            <a:r>
              <a:t>      "confirms",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"Coordinator review",</a:t>
            </a:r>
          </a:p>
          <a:p>
            <a:r>
              <a:t>      "supervises",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"permits",</a:t>
            </a:r>
          </a:p>
          <a:p>
            <a:r>
              <a:t>      "Permitted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"tracks",</a:t>
            </a:r>
          </a:p>
          <a:p>
            <a:r>
              <a:t>      "Case progress &amp;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progress &amp; closure",</a:t>
            </a:r>
          </a:p>
          <a:p>
            <a:r>
              <a:t>      "verifies",</a:t>
            </a:r>
          </a:p>
          <a:p>
            <a:r>
              <a:t>      "Verified recognition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"private",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restricted route protects sensitive faith and family information while retaining responsible follow-up.",</a:t>
            </a:r>
          </a:p>
          <a:p>
            <a:r>
              <a:t>  "measure": "Unrelated-account denial; assigned-staff access; closure history",</a:t>
            </a:r>
          </a:p>
          <a:p>
            <a:r>
              <a:t>  "decision": "No automated religious-status judgement and no general volunteer access to restricted cases.",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"Private concern",</a:t>
            </a:r>
          </a:p>
          <a:p>
            <a:r>
              <a:t>      "submits",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record permissions",</a:t>
            </a:r>
          </a:p>
          <a:p>
            <a:r>
              <a:t>      "restricts",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"assigns",</a:t>
            </a:r>
          </a:p>
          <a:p>
            <a:r>
              <a:t>      "Designated personnel"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"coordinates",</a:t>
            </a:r>
          </a:p>
          <a:p>
            <a:r>
              <a:t>      "Controlled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"Designated personnel",</a:t>
            </a:r>
          </a:p>
          <a:p>
            <a:r>
              <a:t>      "records",</a:t>
            </a:r>
          </a:p>
          <a:p>
            <a:r>
              <a:t>      "Case history /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"Controlled follow-up",</a:t>
            </a:r>
          </a:p>
          <a:p>
            <a:r>
              <a:t>      "closes",</a:t>
            </a:r>
          </a:p>
          <a:p>
            <a:r>
              <a:t>      "Case history / closure"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"safeguard",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"Reporting, restrictions and escalation protect participation without implying guaranteed emergency response.",</a:t>
            </a:r>
          </a:p>
          <a:p>
            <a:r>
              <a:t>  "measure": "Report handling; account restriction; open-assignment review",</a:t>
            </a:r>
          </a:p>
          <a:p>
            <a:r>
              <a:t>  "decision": "The app supports coordination; immediate danger still requires the appropriate emergency service.",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"Conduct / danger concern",</a:t>
            </a:r>
          </a:p>
          <a:p>
            <a:r>
              <a:t>      "reports",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escalation policy",</a:t>
            </a:r>
          </a:p>
          <a:p>
            <a:r>
              <a:t>      "guides",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"restricts",</a:t>
            </a:r>
          </a:p>
          <a:p>
            <a:r>
              <a:t>      "Account / contact restriction"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"reviews",</a:t>
            </a:r>
          </a:p>
          <a:p>
            <a:r>
              <a:t>      "Affected assignments"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/ contact restriction",</a:t>
            </a:r>
          </a:p>
          <a:p>
            <a:r>
              <a:t>      "records",</a:t>
            </a:r>
          </a:p>
          <a:p>
            <a:r>
              <a:t>      "Protected incident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"Affected assignments",</a:t>
            </a:r>
          </a:p>
          <a:p>
            <a:r>
              <a:t>      "follows up",</a:t>
            </a:r>
          </a:p>
          <a:p>
            <a:r>
              <a:t>      "Protected incident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"chat",</a:t>
            </a:r>
          </a:p>
          <a:p>
            <a:r>
              <a:t>  "owner": "MRM + Zylax",</a:t>
            </a:r>
          </a:p>
          <a:p>
            <a:r>
              <a:t>  "scope": "Observed caseworker chat concept \u00b7 implementation unverified",</a:t>
            </a:r>
          </a:p>
          <a:p>
            <a:r>
              <a:t>  "why": "Conversation is useful when the right case and participants govern access, continuity and escalation.",</a:t>
            </a:r>
          </a:p>
          <a:p>
            <a:r>
              <a:t>  "measure": "Participant access; case linkage; report and closure behaviour",</a:t>
            </a:r>
          </a:p>
          <a:p>
            <a:r>
              <a:t>  "decision": "The screen\u2019s end-to-end encryption and response claims are not verified technical guarantees.",</a:t>
            </a:r>
          </a:p>
          <a:p>
            <a:r>
              <a:t>  "screen_evidence": [</a:t>
            </a:r>
          </a:p>
          <a:p>
            <a:r>
              <a:t>    "Caseworker conversation"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case / assignment",</a:t>
            </a:r>
          </a:p>
          <a:p>
            <a:r>
              <a:t>      "opens",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participant checks",</a:t>
            </a:r>
          </a:p>
          <a:p>
            <a:r>
              <a:t>      "protects",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"updates",</a:t>
            </a:r>
          </a:p>
          <a:p>
            <a:r>
              <a:t>      "Progress /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"reports",</a:t>
            </a:r>
          </a:p>
          <a:p>
            <a:r>
              <a:t>      "Conduct report / escalation"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"Progress / confirmation",</a:t>
            </a:r>
          </a:p>
          <a:p>
            <a:r>
              <a:t>      "informs",</a:t>
            </a:r>
          </a:p>
          <a:p>
            <a:r>
              <a:t>      "Case closure policy"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"Conduct report / escalation",</a:t>
            </a:r>
          </a:p>
          <a:p>
            <a:r>
              <a:t>      "records",</a:t>
            </a:r>
          </a:p>
          <a:p>
            <a:r>
              <a:t>      "Case closure policy"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"referral",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tracked handoff helps people follow an enquiry without presenting MRM as the eligibility or disbursement authority.",</a:t>
            </a:r>
          </a:p>
          <a:p>
            <a:r>
              <a:t>  "measure": "Complete referral record; permitted status update; partner response",</a:t>
            </a:r>
          </a:p>
          <a:p>
            <a:r>
              <a:t>  "decision": "Direct API integration depends on confirmed access; zakat collection / disbursement remains outside the earlier proposal.",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"Enquiry + referral consent",</a:t>
            </a:r>
          </a:p>
          <a:p>
            <a:r>
              <a:t>      "submits",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"Partner sharing agreement",</a:t>
            </a:r>
          </a:p>
          <a:p>
            <a:r>
              <a:t>      "governs",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"refers",</a:t>
            </a:r>
          </a:p>
          <a:p>
            <a:r>
              <a:t>      "Approved authority handoff"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"tracks",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authority handoff",</a:t>
            </a:r>
          </a:p>
          <a:p>
            <a:r>
              <a:t>      "responds",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"Referral status / follow-up",</a:t>
            </a:r>
          </a:p>
          <a:p>
            <a:r>
              <a:t>      "updates",</a:t>
            </a:r>
          </a:p>
          <a:p>
            <a:r>
              <a:t>      "User update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"recognition",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"Badges are credible when they reflect confirmed activity and do not override safeguarding or access rules.",</a:t>
            </a:r>
          </a:p>
          <a:p>
            <a:r>
              <a:t>  "measure": "Verified-credit accuracy; corrections; recognition visibility",</a:t>
            </a:r>
          </a:p>
          <a:p>
            <a:r>
              <a:t>  "decision": "Rank does not grant sensitive-case priority or administrator permissions.",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"Completed assignment / event",</a:t>
            </a:r>
          </a:p>
          <a:p>
            <a:r>
              <a:t>      "submits",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recognition criteria",</a:t>
            </a:r>
          </a:p>
          <a:p>
            <a:r>
              <a:t>      "validates",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"awards",</a:t>
            </a:r>
          </a:p>
          <a:p>
            <a:r>
              <a:t>      "Badges &amp; service ranks"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"records",</a:t>
            </a:r>
          </a:p>
          <a:p>
            <a:r>
              <a:t>      "Private service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"Badges &amp; service ranks",</a:t>
            </a:r>
          </a:p>
          <a:p>
            <a:r>
              <a:t>      "encourages",</a:t>
            </a:r>
          </a:p>
          <a:p>
            <a:r>
              <a:t>      "Volunteer engagement"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service history",</a:t>
            </a:r>
          </a:p>
          <a:p>
            <a:r>
              <a:t>      "supports",</a:t>
            </a:r>
          </a:p>
          <a:p>
            <a:r>
              <a:t>      "Volunteer engagement"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"teacher",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"Learner trust depends on teacher review being independent of whether a person pays for publishing privileges.",</a:t>
            </a:r>
          </a:p>
          <a:p>
            <a:r>
              <a:t>  "measure": "Credential review; role approval; revoked-teacher access tests",</a:t>
            </a:r>
          </a:p>
          <a:p>
            <a:r>
              <a:t>  "decision": "There is no dedicated teacher approval capture in the latest pack.",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"Teacher application",</a:t>
            </a:r>
          </a:p>
          <a:p>
            <a:r>
              <a:t>      "applies",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teaching standards",</a:t>
            </a:r>
          </a:p>
          <a:p>
            <a:r>
              <a:t>      "guides",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"approves",</a:t>
            </a:r>
          </a:p>
          <a:p>
            <a:r>
              <a:t>      "Approved teacher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"qualifies",</a:t>
            </a:r>
          </a:p>
          <a:p>
            <a:r>
              <a:t>      "Teacher plan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teacher profile",</a:t>
            </a:r>
          </a:p>
          <a:p>
            <a:r>
              <a:t>      "submits",</a:t>
            </a:r>
          </a:p>
          <a:p>
            <a:r>
              <a:t>      "Moderated programme / posts"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entitlement",</a:t>
            </a:r>
          </a:p>
          <a:p>
            <a:r>
              <a:t>      "allows",</a:t>
            </a:r>
          </a:p>
          <a:p>
            <a:r>
              <a:t>      "Moderated programme / posts"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"posts",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"Moderation, plan allowances and clear publication states turn teacher opportunity into controlled learner value.",</a:t>
            </a:r>
          </a:p>
          <a:p>
            <a:r>
              <a:t>  "measure": "Submission review; allowance enforcement; publication / withdrawal tests",</a:t>
            </a:r>
          </a:p>
          <a:p>
            <a:r>
              <a:t>  "decision": "Teaching ads are labelled and kept out of private assistance screens.",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teacher",</a:t>
            </a:r>
          </a:p>
          <a:p>
            <a:r>
              <a:t>      "submits",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"Valid plan entitlement",</a:t>
            </a:r>
          </a:p>
          <a:p>
            <a:r>
              <a:t>      "permits",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"Educational submission",</a:t>
            </a:r>
          </a:p>
          <a:p>
            <a:r>
              <a:t>      "reviews",</a:t>
            </a:r>
          </a:p>
          <a:p>
            <a:r>
              <a:t>      "MRM moderation"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moderation",</a:t>
            </a:r>
          </a:p>
          <a:p>
            <a:r>
              <a:t>      "approves",</a:t>
            </a:r>
          </a:p>
          <a:p>
            <a:r>
              <a:t>      "Approved publication"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publication",</a:t>
            </a:r>
          </a:p>
          <a:p>
            <a:r>
              <a:t>      "publishes",</a:t>
            </a:r>
          </a:p>
          <a:p>
            <a:r>
              <a:t>      "Search / website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"subscriptions",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"MRM can earn recurring teacher revenue while preserving free core assistance and volunteer participation.",</a:t>
            </a:r>
          </a:p>
          <a:p>
            <a:r>
              <a:t>  "measure": "Verified active plans; publishing-limit checks; correct expiry handling",</a:t>
            </a:r>
          </a:p>
          <a:p>
            <a:r>
              <a:t>  "decision": "No invented plan tiers or prices. A configured no-charge teacher plan can precede paid activation.",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role",</a:t>
            </a:r>
          </a:p>
          <a:p>
            <a:r>
              <a:t>      "qualifies",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commercial policy",</a:t>
            </a:r>
          </a:p>
          <a:p>
            <a:r>
              <a:t>      "defines",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selection",</a:t>
            </a:r>
          </a:p>
          <a:p>
            <a:r>
              <a:t>      "purchases",</a:t>
            </a:r>
          </a:p>
          <a:p>
            <a:r>
              <a:t>      "Applicable billing flow"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"Applicable billing flow",</a:t>
            </a:r>
          </a:p>
          <a:p>
            <a:r>
              <a:t>      "verifies",</a:t>
            </a:r>
          </a:p>
          <a:p>
            <a:r>
              <a:t>      "Verified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entitlement",</a:t>
            </a:r>
          </a:p>
          <a:p>
            <a:r>
              <a:t>      "limits",</a:t>
            </a:r>
          </a:p>
          <a:p>
            <a:r>
              <a:t>      "Permitted publishing"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"billing",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"Payment success, renewal and expiry must change privileges reliably without deleting the teacher\u2019s identity or history.",</a:t>
            </a:r>
          </a:p>
          <a:p>
            <a:r>
              <a:t>  "measure": "Payment verification; renewal / cancellation; restore and expiry tests",</a:t>
            </a:r>
          </a:p>
          <a:p>
            <a:r>
              <a:t>  "decision": "Teacher billing is distinct from donation payment prototypes; historical-content visibility needs a policy decision.",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"Store purchase / renewal",</a:t>
            </a:r>
          </a:p>
          <a:p>
            <a:r>
              <a:t>      "verifies",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"Cancel / fail / restore",</a:t>
            </a:r>
          </a:p>
          <a:p>
            <a:r>
              <a:t>      "updates",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"enforces",</a:t>
            </a:r>
          </a:p>
          <a:p>
            <a:r>
              <a:t>      "Publishing permission"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"preserves",</a:t>
            </a:r>
          </a:p>
          <a:p>
            <a:r>
              <a:t>      "Account &amp; content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"Publishing permission",</a:t>
            </a:r>
          </a:p>
          <a:p>
            <a:r>
              <a:t>      "records",</a:t>
            </a:r>
          </a:p>
          <a:p>
            <a:r>
              <a:t>      "Billing oversight"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&amp; content history",</a:t>
            </a:r>
          </a:p>
          <a:p>
            <a:r>
              <a:t>      "supports",</a:t>
            </a:r>
          </a:p>
          <a:p>
            <a:r>
              <a:t>      "Billing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"learning",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"Discovery becomes sustained learning when programme details, access, reminders and recordings form one journey.",</a:t>
            </a:r>
          </a:p>
          <a:p>
            <a:r>
              <a:t>  "measure": "Programme access; registration; attendance / recording access",</a:t>
            </a:r>
          </a:p>
          <a:p>
            <a:r>
              <a:t>  "decision": "Live teaching is not replaced with static posts; custom video infrastructure is not implied.",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/ content",</a:t>
            </a:r>
          </a:p>
          <a:p>
            <a:r>
              <a:t>      "publishes",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"Daily tools / search / website",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discovery",</a:t>
            </a:r>
          </a:p>
          <a:p>
            <a:r>
              <a:t>      "explains",</a:t>
            </a:r>
          </a:p>
          <a:p>
            <a:r>
              <a:t>      "Registration / access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access rules",</a:t>
            </a:r>
          </a:p>
          <a:p>
            <a:r>
              <a:t>      "registers",</a:t>
            </a:r>
          </a:p>
          <a:p>
            <a:r>
              <a:t>      "Calendar &amp;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reminders",</a:t>
            </a:r>
          </a:p>
          <a:p>
            <a:r>
              <a:t>      "permits",</a:t>
            </a:r>
          </a:p>
          <a:p>
            <a:r>
              <a:t>      "Live session / recording"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"mentoring",</a:t>
            </a:r>
          </a:p>
          <a:p>
            <a:r>
              <a:t>  "owner": "MRM + Zylax",</a:t>
            </a:r>
          </a:p>
          <a:p>
            <a:r>
              <a:t>  "scope": "Observed Scholar / Mentor roster and Start Room control",</a:t>
            </a:r>
          </a:p>
          <a:p>
            <a:r>
              <a:t>  "why": "Matching the right mentor to a programme or authorised support relationship adds continuity without exposing unrelated cases.",</a:t>
            </a:r>
          </a:p>
          <a:p>
            <a:r>
              <a:t>  "measure": "Authorised mentor assignment; schedule access; confidential-record tests",</a:t>
            </a:r>
          </a:p>
          <a:p>
            <a:r>
              <a:t>  "decision": "This is a mentor workspace, not evidence of teacher subscriptions, credential approval or a working video room.",</a:t>
            </a:r>
          </a:p>
          <a:p>
            <a:r>
              <a:t>  "screen_evidence": [</a:t>
            </a:r>
          </a:p>
          <a:p>
            <a:r>
              <a:t>    "Scholar / Mentor roster"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"Learning / support need",</a:t>
            </a:r>
          </a:p>
          <a:p>
            <a:r>
              <a:t>      "requests",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case permissions",</a:t>
            </a:r>
          </a:p>
          <a:p>
            <a:r>
              <a:t>      "authorises",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"schedules",</a:t>
            </a:r>
          </a:p>
          <a:p>
            <a:r>
              <a:t>      "Session / programme roster"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"permits",</a:t>
            </a:r>
          </a:p>
          <a:p>
            <a:r>
              <a:t>      "Permitted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contact",</a:t>
            </a:r>
          </a:p>
          <a:p>
            <a:r>
              <a:t>      "follows up",</a:t>
            </a:r>
          </a:p>
          <a:p>
            <a:r>
              <a:t>      "Follow-up / learning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"schedule",</a:t>
            </a:r>
          </a:p>
          <a:p>
            <a:r>
              <a:t>  "owner": "MRM + Zylax",</a:t>
            </a:r>
          </a:p>
          <a:p>
            <a:r>
              <a:t>  "scope": "Observed calendar list and slot-confirmation modal",</a:t>
            </a:r>
          </a:p>
          <a:p>
            <a:r>
              <a:t>  "why": "One calendar can coordinate participation while keeping a class enrolment separate from a volunteer duty assignment.",</a:t>
            </a:r>
          </a:p>
          <a:p>
            <a:r>
              <a:t>  "measure": "Slot availability; registration conflict; shift / class reminders",</a:t>
            </a:r>
          </a:p>
          <a:p>
            <a:r>
              <a:t>  "decision": "A calendar slot does not prove attendance, approval or a guaranteed dispatch time.",</a:t>
            </a:r>
          </a:p>
          <a:p>
            <a:r>
              <a:t>  "screen_evidence": [</a:t>
            </a:r>
          </a:p>
          <a:p>
            <a:r>
              <a:t>    "Halaqa &amp; duty calendar",</a:t>
            </a:r>
          </a:p>
          <a:p>
            <a:r>
              <a:t>    "Slot-confirmation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class / duty event",</a:t>
            </a:r>
          </a:p>
          <a:p>
            <a:r>
              <a:t>      "schedules",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/ capacity checks",</a:t>
            </a:r>
          </a:p>
          <a:p>
            <a:r>
              <a:t>      "constrains",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availability",</a:t>
            </a:r>
          </a:p>
          <a:p>
            <a:r>
              <a:t>      "selects",</a:t>
            </a:r>
          </a:p>
          <a:p>
            <a:r>
              <a:t>      "Registration / shift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shift request",</a:t>
            </a:r>
          </a:p>
          <a:p>
            <a:r>
              <a:t>      "confirms",</a:t>
            </a:r>
          </a:p>
          <a:p>
            <a:r>
              <a:t>      "Confirmed participation"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participation",</a:t>
            </a:r>
          </a:p>
          <a:p>
            <a:r>
              <a:t>      "reminds",</a:t>
            </a:r>
          </a:p>
          <a:p>
            <a:r>
              <a:t>      "Reminder &amp; activity update"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"feed",</a:t>
            </a:r>
          </a:p>
          <a:p>
            <a:r>
              <a:t>  "owner": "MRM + Zylax",</a:t>
            </a:r>
          </a:p>
          <a:p>
            <a:r>
              <a:t>  "scope": "Observed feed and composer \u00b7 moderation controls proposed",</a:t>
            </a:r>
          </a:p>
          <a:p>
            <a:r>
              <a:t>  "why": "A moderated public update can build trust and point people toward programmes without exposing private cases.",</a:t>
            </a:r>
          </a:p>
          <a:p>
            <a:r>
              <a:t>  "measure": "Moderation decisions; privacy review; programme follow-through",</a:t>
            </a:r>
          </a:p>
          <a:p>
            <a:r>
              <a:t>  "decision": "The earlier proposal excludes unrestricted public social networking; comments and sharing controls need agreement.",</a:t>
            </a:r>
          </a:p>
          <a:p>
            <a:r>
              <a:t>  "screen_evidence": [</a:t>
            </a:r>
          </a:p>
          <a:p>
            <a:r>
              <a:t>    "Dawah &amp; Impact Feed",</a:t>
            </a:r>
          </a:p>
          <a:p>
            <a:r>
              <a:t>    "Community-post composer"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staff / teacher post",</a:t>
            </a:r>
          </a:p>
          <a:p>
            <a:r>
              <a:t>      "submits",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/ beneficiary consent",</a:t>
            </a:r>
          </a:p>
          <a:p>
            <a:r>
              <a:t>      "protects",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"publishes",</a:t>
            </a:r>
          </a:p>
          <a:p>
            <a:r>
              <a:t>      "Public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"labels",</a:t>
            </a:r>
          </a:p>
          <a:p>
            <a:r>
              <a:t>      "Approved sponsor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programme discovery",</a:t>
            </a:r>
          </a:p>
          <a:p>
            <a:r>
              <a:t>      "invites",</a:t>
            </a:r>
          </a:p>
          <a:p>
            <a:r>
              <a:t>      "Participation / learning action"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"sponsors",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"Scheduled placements create accountable sponsor value without influencing private care or assistance decisions.",</a:t>
            </a:r>
          </a:p>
          <a:p>
            <a:r>
              <a:t>  "measure": "Placement start / expiry; approved asset use; aggregate delivery",</a:t>
            </a:r>
          </a:p>
          <a:p>
            <a:r>
              <a:t>  "decision": "External marketing posts and launch-day publication remain agreed MRM responsibilities.",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"Sponsor agreement &amp; assets",</a:t>
            </a:r>
          </a:p>
          <a:p>
            <a:r>
              <a:t>      "defines",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/ privacy rules",</a:t>
            </a:r>
          </a:p>
          <a:p>
            <a:r>
              <a:t>      "restricts",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"Placement configuration",</a:t>
            </a:r>
          </a:p>
          <a:p>
            <a:r>
              <a:t>      "publishes",</a:t>
            </a:r>
          </a:p>
          <a:p>
            <a:r>
              <a:t>      "App / website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"measures",</a:t>
            </a:r>
          </a:p>
          <a:p>
            <a:r>
              <a:t>      "Aggregate views / clicks"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"expires",</a:t>
            </a:r>
          </a:p>
          <a:p>
            <a:r>
              <a:t>      "Renewal / expiry"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"Aggregate views / clicks",</a:t>
            </a:r>
          </a:p>
          <a:p>
            <a:r>
              <a:t>      "informs",</a:t>
            </a:r>
          </a:p>
          <a:p>
            <a:r>
              <a:t>      "Renewal / expiry"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"website",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"Immediate link access introduces MRM\u2019s work and brings the right audience into learning, volunteering or support.",</a:t>
            </a:r>
          </a:p>
          <a:p>
            <a:r>
              <a:t>  "measure": "Public-route completion; content currency; app / service handoff",</a:t>
            </a:r>
          </a:p>
          <a:p>
            <a:r>
              <a:t>  "decision": "Legacy private-record or account migration needs assessment; public-page migration is separately inventoried.",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public content",</a:t>
            </a:r>
          </a:p>
          <a:p>
            <a:r>
              <a:t>      "publishes",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"CMS &amp; migration inventory",</a:t>
            </a:r>
          </a:p>
          <a:p>
            <a:r>
              <a:t>      "maintains",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"directs",</a:t>
            </a:r>
          </a:p>
          <a:p>
            <a:r>
              <a:t>      "Relevant participation route"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"explains",</a:t>
            </a:r>
          </a:p>
          <a:p>
            <a:r>
              <a:t>      "Programme / resource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participation route",</a:t>
            </a:r>
          </a:p>
          <a:p>
            <a:r>
              <a:t>      "hands off",</a:t>
            </a:r>
          </a:p>
          <a:p>
            <a:r>
              <a:t>      "App / account entry"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resource detail",</a:t>
            </a:r>
          </a:p>
          <a:p>
            <a:r>
              <a:t>      "continues",</a:t>
            </a:r>
          </a:p>
          <a:p>
            <a:r>
              <a:t>      "App / account entry"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"alerts",</a:t>
            </a:r>
          </a:p>
          <a:p>
            <a:r>
              <a:t>  "owner": "MRM + Zylax",</a:t>
            </a:r>
          </a:p>
          <a:p>
            <a:r>
              <a:t>  "scope": "Observed notification list \u00b7 demo events / receipt claims unverified",</a:t>
            </a:r>
          </a:p>
          <a:p>
            <a:r>
              <a:t>  "why": "A useful alert opens the correct authorised case, programme or shift without exposing sensitive details on a lock screen.",</a:t>
            </a:r>
          </a:p>
          <a:p>
            <a:r>
              <a:t>  "measure": "Relevant delivery; consent; authorised deep link; failed-send handling",</a:t>
            </a:r>
          </a:p>
          <a:p>
            <a:r>
              <a:t>  "decision": "Prototype tax-receipt alerts are not proof of authority approval or a working donation service.",</a:t>
            </a:r>
          </a:p>
          <a:p>
            <a:r>
              <a:t>  "screen_evidence": [</a:t>
            </a:r>
          </a:p>
          <a:p>
            <a:r>
              <a:t>    "In-app notification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"Case / class / shift event",</a:t>
            </a:r>
          </a:p>
          <a:p>
            <a:r>
              <a:t>      "triggers",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"Current role / record access",</a:t>
            </a:r>
          </a:p>
          <a:p>
            <a:r>
              <a:t>      "filters",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"sends",</a:t>
            </a:r>
          </a:p>
          <a:p>
            <a:r>
              <a:t>      "Privacy-safe notification"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"links",</a:t>
            </a:r>
          </a:p>
          <a:p>
            <a:r>
              <a:t>      "Authorised destination"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"Privacy-safe notification",</a:t>
            </a:r>
          </a:p>
          <a:p>
            <a:r>
              <a:t>      "prompts",</a:t>
            </a:r>
          </a:p>
          <a:p>
            <a:r>
              <a:t>      "Personal activity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destination",</a:t>
            </a:r>
          </a:p>
          <a:p>
            <a:r>
              <a:t>      "records",</a:t>
            </a:r>
          </a:p>
          <a:p>
            <a:r>
              <a:t>      "Personal activity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"activity",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coherent history reduces uncertainty and keeps users connected to the action that needs their attention.",</a:t>
            </a:r>
          </a:p>
          <a:p>
            <a:r>
              <a:t>  "measure": "Correct own-record visibility; status accuracy; actionable updates",</a:t>
            </a:r>
          </a:p>
          <a:p>
            <a:r>
              <a:t>  "decision": "An activity view is not a public record of sensitive cases or beneficiary identities.",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 / case changes",</a:t>
            </a:r>
          </a:p>
          <a:p>
            <a:r>
              <a:t>      "records",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record permissions",</a:t>
            </a:r>
          </a:p>
          <a:p>
            <a:r>
              <a:t>      "filters",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"opens",</a:t>
            </a:r>
          </a:p>
          <a:p>
            <a:r>
              <a:t>      "Next action /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"connects",</a:t>
            </a:r>
          </a:p>
          <a:p>
            <a:r>
              <a:t>      "Learning / volunteer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"Next action / detail",</a:t>
            </a:r>
          </a:p>
          <a:p>
            <a:r>
              <a:t>      "continues",</a:t>
            </a:r>
          </a:p>
          <a:p>
            <a:r>
              <a:t>      "Safe reminder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volunteer schedule",</a:t>
            </a:r>
          </a:p>
          <a:p>
            <a:r>
              <a:t>      "reminds",</a:t>
            </a:r>
          </a:p>
          <a:p>
            <a:r>
              <a:t>      "Safe reminder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"admin",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"The staff system is the operating layer that turns applications, requests and content into accountable outcomes.",</a:t>
            </a:r>
          </a:p>
          <a:p>
            <a:r>
              <a:t>  "measure": "Decision history; queue ownership; correct role-limited staff actions",</a:t>
            </a:r>
          </a:p>
          <a:p>
            <a:r>
              <a:t>  "decision": "No staff permission is gained from paying, earning rank or switching a demo persona.",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"Applications / cases / content",</a:t>
            </a:r>
          </a:p>
          <a:p>
            <a:r>
              <a:t>      "enters",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policies &amp; responsibilities",</a:t>
            </a:r>
          </a:p>
          <a:p>
            <a:r>
              <a:t>      "governs",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"Duty-based staff queues",</a:t>
            </a:r>
          </a:p>
          <a:p>
            <a:r>
              <a:t>      "decides",</a:t>
            </a:r>
          </a:p>
          <a:p>
            <a:r>
              <a:t>      "Recorded staff decision"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"changes",</a:t>
            </a:r>
          </a:p>
          <a:p>
            <a:r>
              <a:t>      "Updated feature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"audits",</a:t>
            </a:r>
          </a:p>
          <a:p>
            <a:r>
              <a:t>      "User update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"Updated feature state",</a:t>
            </a:r>
          </a:p>
          <a:p>
            <a:r>
              <a:t>      "updates",</a:t>
            </a:r>
          </a:p>
          <a:p>
            <a:r>
              <a:t>      "User update / report"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"reports",</a:t>
            </a:r>
          </a:p>
          <a:p>
            <a:r>
              <a:t>  "owner": "MRM + Zylax",</a:t>
            </a:r>
          </a:p>
          <a:p>
            <a:r>
              <a:t>  "scope": "Observed analytics + calculator concept \u00b7 figures illustrative",</a:t>
            </a:r>
          </a:p>
          <a:p>
            <a:r>
              <a:t>  "why": "Operational summaries are useful only when they derive from verified events and lead to a clear staff response.",</a:t>
            </a:r>
          </a:p>
          <a:p>
            <a:r>
              <a:t>  "measure": "Metric definitions; source reconciliation; restricted export tests",</a:t>
            </a:r>
          </a:p>
          <a:p>
            <a:r>
              <a:t>  "decision": "The demo\u2019s amounts, beneficiary counts, audit claims and SLA figures are not production evidence.",</a:t>
            </a:r>
          </a:p>
          <a:p>
            <a:r>
              <a:t>  "screen_evidence": [</a:t>
            </a:r>
          </a:p>
          <a:p>
            <a:r>
              <a:t>    "Analytics + calculator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"Recorded case / programme events",</a:t>
            </a:r>
          </a:p>
          <a:p>
            <a:r>
              <a:t>      "aggregates",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"Data quality &amp; access rules",</a:t>
            </a:r>
          </a:p>
          <a:p>
            <a:r>
              <a:t>      "governs",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"informs",</a:t>
            </a:r>
          </a:p>
          <a:p>
            <a:r>
              <a:t>      "MRM review &amp;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"summarises",</a:t>
            </a:r>
          </a:p>
          <a:p>
            <a:r>
              <a:t>      "Learning / sponsor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review &amp; action",</a:t>
            </a:r>
          </a:p>
          <a:p>
            <a:r>
              <a:t>      "acts",</a:t>
            </a:r>
          </a:p>
          <a:p>
            <a:r>
              <a:t>      "Documented improvement"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sponsor insight",</a:t>
            </a:r>
          </a:p>
          <a:p>
            <a:r>
              <a:t>      "improves",</a:t>
            </a:r>
          </a:p>
          <a:p>
            <a:r>
              <a:t>      "Documented improvement"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"security",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"Access rules must remain effective in the API, files, exports and notifications, not only in visible screens.",</a:t>
            </a:r>
          </a:p>
          <a:p>
            <a:r>
              <a:t>  "measure": "Direct API denial; file permissions; audit / recovery checks",</a:t>
            </a:r>
          </a:p>
          <a:p>
            <a:r>
              <a:t>  "decision": "UI encryption badges or tax/audit labels are not independent security or compliance validation.",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"Authenticated identity",</a:t>
            </a:r>
          </a:p>
          <a:p>
            <a:r>
              <a:t>      "checks",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privacy / retention policy",</a:t>
            </a:r>
          </a:p>
          <a:p>
            <a:r>
              <a:t>      "defines",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"protects",</a:t>
            </a:r>
          </a:p>
          <a:p>
            <a:r>
              <a:t>      "Protected case / evidence"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"constrains",</a:t>
            </a:r>
          </a:p>
          <a:p>
            <a:r>
              <a:t>      "Safe notifications / exports"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case / evidence",</a:t>
            </a:r>
          </a:p>
          <a:p>
            <a:r>
              <a:t>      "audits",</a:t>
            </a:r>
          </a:p>
          <a:p>
            <a:r>
              <a:t>      "Audit / backup /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notifications / exports",</a:t>
            </a:r>
          </a:p>
          <a:p>
            <a:r>
              <a:t>      "records",</a:t>
            </a:r>
          </a:p>
          <a:p>
            <a:r>
              <a:t>      "Audit / backup / recovery"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"settings",</a:t>
            </a:r>
          </a:p>
          <a:p>
            <a:r>
              <a:t>  "owner": "MRM + Zylax",</a:t>
            </a:r>
          </a:p>
          <a:p>
            <a:r>
              <a:t>  "scope": "Observed Settings; distinct dark-theme Home is shown on the main cover",</a:t>
            </a:r>
          </a:p>
          <a:p>
            <a:r>
              <a:t>  "why": "Preferences should change the intended experience consistently without silently changing role or record permissions.",</a:t>
            </a:r>
          </a:p>
          <a:p>
            <a:r>
              <a:t>  "measure": "Prayer-zone changes; consent; cache and supported device-lock tests",</a:t>
            </a:r>
          </a:p>
          <a:p>
            <a:r>
              <a:t>  "decision": "The panic-disguise option is a concept needing policy and technical review; it does not itself establish safety.",</a:t>
            </a:r>
          </a:p>
          <a:p>
            <a:r>
              <a:t>  "screen_evidence": [</a:t>
            </a:r>
          </a:p>
          <a:p>
            <a:r>
              <a:t>    "Settings, zone, lock and cache"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preferences",</a:t>
            </a:r>
          </a:p>
          <a:p>
            <a:r>
              <a:t>      "sets",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"Supported offline content",</a:t>
            </a:r>
          </a:p>
          <a:p>
            <a:r>
              <a:t>      "manages",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"configures",</a:t>
            </a:r>
          </a:p>
          <a:p>
            <a:r>
              <a:t>      "Prayer / reminder behaviour"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"controls",</a:t>
            </a:r>
          </a:p>
          <a:p>
            <a:r>
              <a:t>      "Device / privacy controls"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/ reminder behaviour",</a:t>
            </a:r>
          </a:p>
          <a:p>
            <a:r>
              <a:t>      "tests",</a:t>
            </a:r>
          </a:p>
          <a:p>
            <a:r>
              <a:t>      "Reliable repeated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"Device / privacy controls",</a:t>
            </a:r>
          </a:p>
          <a:p>
            <a:r>
              <a:t>      "protects",</a:t>
            </a:r>
          </a:p>
          <a:p>
            <a:r>
              <a:t>      "Reliable repeated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"reliability",</a:t>
            </a:r>
          </a:p>
          <a:p>
            <a:r>
              <a:t>  "owner": "MRM + Zylax",</a:t>
            </a:r>
          </a:p>
          <a:p>
            <a:r>
              <a:t>  "scope": "Observed loading skeleton \u00b7 empty/error tabs visible",</a:t>
            </a:r>
          </a:p>
          <a:p>
            <a:r>
              <a:t>  "why": "A failed request must explain what happened and offer the right recovery path without duplicating work.",</a:t>
            </a:r>
          </a:p>
          <a:p>
            <a:r>
              <a:t>  "measure": "Retry correctness; no duplicate submissions; recoverable state tests",</a:t>
            </a:r>
          </a:p>
          <a:p>
            <a:r>
              <a:t>  "decision": "Source 20 demonstrates a loading skeleton. Separate empty and error screenshots are reviewed on their own feature pages.",</a:t>
            </a:r>
          </a:p>
          <a:p>
            <a:r>
              <a:t>  "screen_evidence": [</a:t>
            </a:r>
          </a:p>
          <a:p>
            <a:r>
              <a:t>    "Loading-state skeleton"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"API / content operation",</a:t>
            </a:r>
          </a:p>
          <a:p>
            <a:r>
              <a:t>      "loads",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"Permission / network outcome",</a:t>
            </a:r>
          </a:p>
          <a:p>
            <a:r>
              <a:t>      "explains",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"guides",</a:t>
            </a:r>
          </a:p>
          <a:p>
            <a:r>
              <a:t>      "Safe retry /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"checks",</a:t>
            </a:r>
          </a:p>
          <a:p>
            <a:r>
              <a:t>      "Persistent operation status"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retry / next action",</a:t>
            </a:r>
          </a:p>
          <a:p>
            <a:r>
              <a:t>      "escalates",</a:t>
            </a:r>
          </a:p>
          <a:p>
            <a:r>
              <a:t>      "Support / staff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status",</a:t>
            </a:r>
          </a:p>
          <a:p>
            <a:r>
              <a:t>      "prevents loss",</a:t>
            </a:r>
          </a:p>
          <a:p>
            <a:r>
              <a:t>      "Support / staff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"empty",</a:t>
            </a:r>
          </a:p>
          <a:p>
            <a:r>
              <a:t>  "owner": "MRM + Zylax",</a:t>
            </a:r>
          </a:p>
          <a:p>
            <a:r>
              <a:t>  "scope": "Observed \u201cNo Active Care Missions\u201d empty-state panel",</a:t>
            </a:r>
          </a:p>
          <a:p>
            <a:r>
              <a:t>  "why": "A genuine empty state reduces confusion without claiming that work is completed simply because nothing is displayed.",</a:t>
            </a:r>
          </a:p>
          <a:p>
            <a:r>
              <a:t>  "measure": "Correct zero-state wording; next-action eligibility; no false completion",</a:t>
            </a:r>
          </a:p>
          <a:p>
            <a:r>
              <a:t>  "decision": "\u201cAll dispatches completed\u201d is prototype copy, not a verified operational result.",</a:t>
            </a:r>
          </a:p>
          <a:p>
            <a:r>
              <a:t>  "screen_evidence": [</a:t>
            </a:r>
          </a:p>
          <a:p>
            <a:r>
              <a:t>    "Empty-state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query",</a:t>
            </a:r>
          </a:p>
          <a:p>
            <a:r>
              <a:t>      "returns",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 / network checks",</a:t>
            </a:r>
          </a:p>
          <a:p>
            <a:r>
              <a:t>      "distinguishes",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"guides",</a:t>
            </a:r>
          </a:p>
          <a:p>
            <a:r>
              <a:t>      "Useful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"offers",</a:t>
            </a:r>
          </a:p>
          <a:p>
            <a:r>
              <a:t>      "Service /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/ programme discovery",</a:t>
            </a:r>
          </a:p>
          <a:p>
            <a:r>
              <a:t>      "starts",</a:t>
            </a:r>
          </a:p>
          <a:p>
            <a:r>
              <a:t>      "New valid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"error",</a:t>
            </a:r>
          </a:p>
          <a:p>
            <a:r>
              <a:t>  "owner": "MRM + Zylax",</a:t>
            </a:r>
          </a:p>
          <a:p>
            <a:r>
              <a:t>  "scope": "Observed network-error panel with reconnect control",</a:t>
            </a:r>
          </a:p>
          <a:p>
            <a:r>
              <a:t>  "why": "A clear failure state should recover the correct operation and preserve data, rather than silently repeat a submission.",</a:t>
            </a:r>
          </a:p>
          <a:p>
            <a:r>
              <a:t>  "measure": "Reconnect; idempotent retry; cached access; status reconciliation",</a:t>
            </a:r>
          </a:p>
          <a:p>
            <a:r>
              <a:t>  "decision": "The screen says cached Quran and prayer remain available; actual offline behaviour still needs testing.",</a:t>
            </a:r>
          </a:p>
          <a:p>
            <a:r>
              <a:t>  "screen_evidence": [</a:t>
            </a:r>
          </a:p>
          <a:p>
            <a:r>
              <a:t>    "Network-error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"Failed service operation",</a:t>
            </a:r>
          </a:p>
          <a:p>
            <a:r>
              <a:t>      "fails",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"Available offline content",</a:t>
            </a:r>
          </a:p>
          <a:p>
            <a:r>
              <a:t>      "offers fallback",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"guides",</a:t>
            </a:r>
          </a:p>
          <a:p>
            <a:r>
              <a:t>      "Safe reconnect / retry"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"checks",</a:t>
            </a:r>
          </a:p>
          <a:p>
            <a:r>
              <a:t>      "Persistent operation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reconnect / retry",</a:t>
            </a:r>
          </a:p>
          <a:p>
            <a:r>
              <a:t>      "recovers",</a:t>
            </a:r>
          </a:p>
          <a:p>
            <a:r>
              <a:t>      "Recovered permitted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record",</a:t>
            </a:r>
          </a:p>
          <a:p>
            <a:r>
              <a:t>      "reconciles",</a:t>
            </a:r>
          </a:p>
          <a:p>
            <a:r>
              <a:t>      "Recovered permitted journey"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"campaigns",</a:t>
            </a:r>
          </a:p>
          <a:p>
            <a:r>
              <a:t>  "owner": "MRM + Zylax",</a:t>
            </a:r>
          </a:p>
          <a:p>
            <a:r>
              <a:t>  "scope": "Extended concept \u00b7 fundraising / authority approval required",</a:t>
            </a:r>
          </a:p>
          <a:p>
            <a:r>
              <a:t>  "why": "A transparent campaign should explain its purpose and owner before a person considers a contribution.",</a:t>
            </a:r>
          </a:p>
          <a:p>
            <a:r>
              <a:t>  "measure": "Approved campaign information; correct status; purpose clarity",</a:t>
            </a:r>
          </a:p>
          <a:p>
            <a:r>
              <a:t>  "decision": "The filename says catalog; the visible screen is Infaq &amp; Relief Campaigns, not a marketplace.",</a:t>
            </a:r>
          </a:p>
          <a:p>
            <a:r>
              <a:t>  "screen_evidence": [</a:t>
            </a:r>
          </a:p>
          <a:p>
            <a:r>
              <a:t>    "Infaq &amp; Relief Campaigns"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programme / purpose",</a:t>
            </a:r>
          </a:p>
          <a:p>
            <a:r>
              <a:t>      "publishes",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&amp; claim review",</a:t>
            </a:r>
          </a:p>
          <a:p>
            <a:r>
              <a:t>      "approves",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"Campaign discovery",</a:t>
            </a:r>
          </a:p>
          <a:p>
            <a:r>
              <a:t>      "explains",</a:t>
            </a:r>
          </a:p>
          <a:p>
            <a:r>
              <a:t>      "Purpose / provisions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/ provisions detail",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"continues",</a:t>
            </a:r>
          </a:p>
          <a:p>
            <a:r>
              <a:t>      "Recorded contribution status"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"campaign_detail",</a:t>
            </a:r>
          </a:p>
          <a:p>
            <a:r>
              <a:t>  "owner": "MRM + Zylax",</a:t>
            </a:r>
          </a:p>
          <a:p>
            <a:r>
              <a:t>  "scope": "Extended concept \u00b7 distinct Overview and Provisions tabs",</a:t>
            </a:r>
          </a:p>
          <a:p>
            <a:r>
              <a:t>  "why": "Clear provisions and responsible ownership help supporters understand the intended purpose without relying on unsupported impact claims.",</a:t>
            </a:r>
          </a:p>
          <a:p>
            <a:r>
              <a:t>  "measure": "Approved provisions; amount calculation; correct purpose selection",</a:t>
            </a:r>
          </a:p>
          <a:p>
            <a:r>
              <a:t>  "decision": "\u201cProduct detail\u201d is a generic filename. These are relief-purpose tabs; delivery, tax and partnership claims are unverified.",</a:t>
            </a:r>
          </a:p>
          <a:p>
            <a:r>
              <a:t>  "screen_evidence": [</a:t>
            </a:r>
          </a:p>
          <a:p>
            <a:r>
              <a:t>    "Campaign detail \u00b7 Overview",</a:t>
            </a:r>
          </a:p>
          <a:p>
            <a:r>
              <a:t>    "Campaign detail \u00b7 Provisions"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"Campaign selection",</a:t>
            </a:r>
          </a:p>
          <a:p>
            <a:r>
              <a:t>      "opens",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"Claims / rights approval",</a:t>
            </a:r>
          </a:p>
          <a:p>
            <a:r>
              <a:t>      "reviews",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"selects",</a:t>
            </a:r>
          </a:p>
          <a:p>
            <a:r>
              <a:t>      "Contribution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"explains",</a:t>
            </a:r>
          </a:p>
          <a:p>
            <a:r>
              <a:t>      "Permitted impact information"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selection",</a:t>
            </a:r>
          </a:p>
          <a:p>
            <a:r>
              <a:t>      "continues",</a:t>
            </a:r>
          </a:p>
          <a:p>
            <a:r>
              <a:t>      "Verified status / confirmation"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"impact",</a:t>
            </a:r>
          </a:p>
          <a:p>
            <a:r>
              <a:t>  "owner": "MRM + Zylax",</a:t>
            </a:r>
          </a:p>
          <a:p>
            <a:r>
              <a:t>  "scope": "Extended concept \u00b7 sample Impact tab, not verified testimonials",</a:t>
            </a:r>
          </a:p>
          <a:p>
            <a:r>
              <a:t>  "why": "Verified and consented evidence can explain value; a sample testimonial must never be presented as a proven result.",</a:t>
            </a:r>
          </a:p>
          <a:p>
            <a:r>
              <a:t>  "measure": "Evidence traceability; consent; approval and correction records",</a:t>
            </a:r>
          </a:p>
          <a:p>
            <a:r>
              <a:t>  "decision": "The statements and verification badges in this capture are illustrative; no testimonial has been independently confirmed.",</a:t>
            </a:r>
          </a:p>
          <a:p>
            <a:r>
              <a:t>  "screen_evidence": [</a:t>
            </a:r>
          </a:p>
          <a:p>
            <a:r>
              <a:t>    "Campaign detail \u00b7 sample Impact"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"Verified service outcome",</a:t>
            </a:r>
          </a:p>
          <a:p>
            <a:r>
              <a:t>      "evidences",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"Beneficiary consent &amp; privacy",</a:t>
            </a:r>
          </a:p>
          <a:p>
            <a:r>
              <a:t>      "permits",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"publishes",</a:t>
            </a:r>
          </a:p>
          <a:p>
            <a:r>
              <a:t>      "Public campaign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"aggregates",</a:t>
            </a:r>
          </a:p>
          <a:p>
            <a:r>
              <a:t>      "Aggregate programme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campaign / report",</a:t>
            </a:r>
          </a:p>
          <a:p>
            <a:r>
              <a:t>      "corrects",</a:t>
            </a:r>
          </a:p>
          <a:p>
            <a:r>
              <a:t>      "Content correction / withdrawal"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"allocation",</a:t>
            </a:r>
          </a:p>
          <a:p>
            <a:r>
              <a:t>  "owner": "MRM + Zylax",</a:t>
            </a:r>
          </a:p>
          <a:p>
            <a:r>
              <a:t>  "scope": "Extended concept \u00b7 Sadaqah / Infaq allocation, not retail cart",</a:t>
            </a:r>
          </a:p>
          <a:p>
            <a:r>
              <a:t>  "why": "An explicit allocation and transparent total reduce confusion between donations, business sponsorship and teacher subscriptions.",</a:t>
            </a:r>
          </a:p>
          <a:p>
            <a:r>
              <a:t>  "measure": "Amount consistency; purpose consent; valid financial-state transition",</a:t>
            </a:r>
          </a:p>
          <a:p>
            <a:r>
              <a:t>  "decision": "Prototype amounts are examples. Religious purpose, handling and tax wording require approval; this is not goods checkout.",</a:t>
            </a:r>
          </a:p>
          <a:p>
            <a:r>
              <a:t>  "screen_evidence": [</a:t>
            </a:r>
          </a:p>
          <a:p>
            <a:r>
              <a:t>    "Sadaqah &amp; Infaq Allocation"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campaign / provision",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"Financial policy &amp; permission",</a:t>
            </a:r>
          </a:p>
          <a:p>
            <a:r>
              <a:t>      "governs",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"calculates",</a:t>
            </a:r>
          </a:p>
          <a:p>
            <a:r>
              <a:t>      "Amount / purpose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"Amount / purpose review",</a:t>
            </a:r>
          </a:p>
          <a:p>
            <a:r>
              <a:t>      "confirms",</a:t>
            </a:r>
          </a:p>
          <a:p>
            <a:r>
              <a:t>      "Conditional payment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"Conditional payment journey",</a:t>
            </a:r>
          </a:p>
          <a:p>
            <a:r>
              <a:t>      "verifies",</a:t>
            </a:r>
          </a:p>
          <a:p>
            <a:r>
              <a:t>      "Receipt / status record"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"donation_payment",</a:t>
            </a:r>
          </a:p>
          <a:p>
            <a:r>
              <a:t>  "owner": "MRM + Zylax",</a:t>
            </a:r>
          </a:p>
          <a:p>
            <a:r>
              <a:t>  "scope": "Extended concept \u00b7 earlier proposal excludes zakat collection / disbursement",</a:t>
            </a:r>
          </a:p>
          <a:p>
            <a:r>
              <a:t>  "why": "Financial confirmation needs verified transactions, approved authority wording and reconciliation before any receipt or disbursement claim.",</a:t>
            </a:r>
          </a:p>
          <a:p>
            <a:r>
              <a:t>  "measure": "Payment verification; failed / duplicate handling; reconciliation",</a:t>
            </a:r>
          </a:p>
          <a:p>
            <a:r>
              <a:t>  "decision": "The visible image is onboarding pillar 2, not checkout. Payment / receipt captures are withheld; gateway, tax and transfer claims remain unverified.",</a:t>
            </a:r>
          </a:p>
          <a:p>
            <a:r>
              <a:t>  "screen_evidence": [</a:t>
            </a:r>
          </a:p>
          <a:p>
            <a:r>
              <a:t>    "Onboarding \u00b7 welfare / aid pillar"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allocation",</a:t>
            </a:r>
          </a:p>
          <a:p>
            <a:r>
              <a:t>      "initiates",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/ financial approval",</a:t>
            </a:r>
          </a:p>
          <a:p>
            <a:r>
              <a:t>      "authorises",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payment process",</a:t>
            </a:r>
          </a:p>
          <a:p>
            <a:r>
              <a:t>      "verifies",</a:t>
            </a:r>
          </a:p>
          <a:p>
            <a:r>
              <a:t>      "Verified transaction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transaction state",</a:t>
            </a:r>
          </a:p>
          <a:p>
            <a:r>
              <a:t>      "confirms",</a:t>
            </a:r>
          </a:p>
          <a:p>
            <a:r>
              <a:t>      "Permitted receipt /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receipt / update",</a:t>
            </a:r>
          </a:p>
          <a:p>
            <a:r>
              <a:t>      "reconciles",</a:t>
            </a:r>
          </a:p>
          <a:p>
            <a:r>
              <a:t>      "Reconciliation / staff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"purpose": "Supplement the existing feature explanations with actor motivation and reciprocal value.",</a:t>
            </a:r>
          </a:p>
          <a:p>
            <a:r>
              <a:t>  "status": "All new cross-feature invitations and rules are proposals requiring product validation."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"reading": "Each row shows actor motivation and an actionable handoff. Nodes are not unrestricted data access."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"teacher_support",</a:t>
            </a:r>
          </a:p>
          <a:p>
            <a:r>
              <a:t>  "title": "A teacher can turn expertise into relevant care",</a:t>
            </a:r>
          </a:p>
          <a:p>
            <a:r>
              <a:t>  "pair": "Learning centre → Volunteer support",</a:t>
            </a:r>
          </a:p>
          <a:p>
            <a:r>
              <a:t>  "person": "An approved Quran teacher",</a:t>
            </a:r>
          </a:p>
          <a:p>
            <a:r>
              <a:t>  "need": "“I teach Quran. I would also like to help someone who needs personal guidance.”",</a:t>
            </a:r>
          </a:p>
          <a:p>
            <a:r>
              <a:t>  "yes": "Offer volunteering when the teacher wants to give support beyond scheduled classes.",</a:t>
            </a:r>
          </a:p>
          <a:p>
            <a:r>
              <a:t>  "no": "A teacher may only publish and teach. Volunteering stays optional.",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"Teaching profile",</a:t>
            </a:r>
          </a:p>
          <a:p>
            <a:r>
              <a:t>      "Approved topics and languages establish relevant expertise."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to help",</a:t>
            </a:r>
          </a:p>
          <a:p>
            <a:r>
              <a:t>      "An invitation offers Quran-related support; the teacher opts in."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"Volunteer approval",</a:t>
            </a:r>
          </a:p>
          <a:p>
            <a:r>
              <a:t>      "MRM checks suitability, training, capacity and case boundaries."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support match",</a:t>
            </a:r>
          </a:p>
          <a:p>
            <a:r>
              <a:t>      "The seeker sees approved teaching credentials and accepts the offer."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"With consent: approved teacher status, verified subject, languages and public profile.",</a:t>
            </a:r>
          </a:p>
          <a:p>
            <a:r>
              <a:t>  "separate": "Teacher payment does not buy case access. No private student records are shared.",</a:t>
            </a:r>
          </a:p>
          <a:p>
            <a:r>
              <a:t>  "benefit": "The seeker can judge relevant expertise; the teacher gains a meaningful way to serve. Credentials support confidence, not a guarantee of safety.",</a:t>
            </a:r>
          </a:p>
          <a:p>
            <a:r>
              <a:t>  "signal": "Eligible teachers opting in → approved volunteers → accepted subject-relevant matches.",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"seeker_class",</a:t>
            </a:r>
          </a:p>
          <a:p>
            <a:r>
              <a:t>    "mentoring_support"</a:t>
            </a:r>
          </a:p>
          <a:p>
            <a:r>
              <a:t>  ],</a:t>
            </a:r>
          </a:p>
          <a:p>
            <a:r>
              <a:t>  "page": 5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"volunteer_training",</a:t>
            </a:r>
          </a:p>
          <a:p>
            <a:r>
              <a:t>  "title": "A volunteer can learn before accepting a new task",</a:t>
            </a:r>
          </a:p>
          <a:p>
            <a:r>
              <a:t>  "pair": "Volunteer support → Learning centre",</a:t>
            </a:r>
          </a:p>
          <a:p>
            <a:r>
              <a:t>  "person": "A volunteer offered unfamiliar work",</a:t>
            </a:r>
          </a:p>
          <a:p>
            <a:r>
              <a:t>  "need": "“I want to help, but I need preparation for this kind of support.”",</a:t>
            </a:r>
          </a:p>
          <a:p>
            <a:r>
              <a:t>  "yes": "Recommend an approved course when a real duty requires a skill or refresher.",</a:t>
            </a:r>
          </a:p>
          <a:p>
            <a:r>
              <a:t>  "no": "Existing qualified volunteers do not repeat irrelevant classes; no blanket course requirement.",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"Readiness gap",</a:t>
            </a:r>
          </a:p>
          <a:p>
            <a:r>
              <a:t>      "The volunteer or coordinator identifies a specific skill gap."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training",</a:t>
            </a:r>
          </a:p>
          <a:p>
            <a:r>
              <a:t>      "Open the approved course with topic and required outcome explained."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evidence",</a:t>
            </a:r>
          </a:p>
          <a:p>
            <a:r>
              <a:t>      "Record completion; assess readiness separately where needed."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"Return to duty",</a:t>
            </a:r>
          </a:p>
          <a:p>
            <a:r>
              <a:t>      "MRM updates eligibility and offers suitable work after approval."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"Course reference, completion and separately assessed competencies, with appropriate visibility.",</a:t>
            </a:r>
          </a:p>
          <a:p>
            <a:r>
              <a:t>  "separate": "Completion alone is not volunteer approval. Private learning notes stay private.",</a:t>
            </a:r>
          </a:p>
          <a:p>
            <a:r>
              <a:t>  "benefit": "Volunteers get practical preparation; seekers receive help from people approved for the task.",</a:t>
            </a:r>
          </a:p>
          <a:p>
            <a:r>
              <a:t>  "signal": "Training completion → assessed readiness → eligible task acceptance; monitor support quality.",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"teacher_support",</a:t>
            </a:r>
          </a:p>
          <a:p>
            <a:r>
              <a:t>    "learner_volunteer",</a:t>
            </a:r>
          </a:p>
          <a:p>
            <a:r>
              <a:t>    "capacity_learning"</a:t>
            </a:r>
          </a:p>
          <a:p>
            <a:r>
              <a:t>  ],</a:t>
            </a:r>
          </a:p>
          <a:p>
            <a:r>
              <a:t>  "page": 6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"seeker_class",</a:t>
            </a:r>
          </a:p>
          <a:p>
            <a:r>
              <a:t>  "title": "A support conversation can open the right learning path",</a:t>
            </a:r>
          </a:p>
          <a:p>
            <a:r>
              <a:t>  "pair": "Support requests → Learning centre",</a:t>
            </a:r>
          </a:p>
          <a:p>
            <a:r>
              <a:t>  "person": "A seeker asking for Quran-reading help",</a:t>
            </a:r>
          </a:p>
          <a:p>
            <a:r>
              <a:t>  "need": "“I need a patient beginner class, in my language, at a time I can attend.”",</a:t>
            </a:r>
          </a:p>
          <a:p>
            <a:r>
              <a:t>  "yes": "Suggest a class when learning addresses the person’s expressed need and they want it.",</a:t>
            </a:r>
          </a:p>
          <a:p>
            <a:r>
              <a:t>  "no": "Urgent welfare support continues independently. No class enrolment is required for aid.",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"Expressed need",</a:t>
            </a:r>
          </a:p>
          <a:p>
            <a:r>
              <a:t>      "The assigned helper asks whether learning support would be useful."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to refer",</a:t>
            </a:r>
          </a:p>
          <a:p>
            <a:r>
              <a:t>      "The seeker selects a goal, language and availability to share."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"Suitable programme",</a:t>
            </a:r>
          </a:p>
          <a:p>
            <a:r>
              <a:t>      "Show approved beginner classes and relevant teacher credentials."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"Optional enrolment",</a:t>
            </a:r>
          </a:p>
          <a:p>
            <a:r>
              <a:t>      "The seeker joins; the helper sees only the agreed referral status."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"Chosen learning goal, language, availability and referral ID; share only what is needed.",</a:t>
            </a:r>
          </a:p>
          <a:p>
            <a:r>
              <a:t>  "separate": "No full case narrative, financial circumstances or private chat enters a teacher profile.",</a:t>
            </a:r>
          </a:p>
          <a:p>
            <a:r>
              <a:t>  "benefit": "The seeker receives a practical next step; teachers reach learners who want the programme.",</a:t>
            </a:r>
          </a:p>
          <a:p>
            <a:r>
              <a:t>  "signal": "Consented referrals → suitable enrolments → attendance and seeker-reported usefulness.",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"teacher_support",</a:t>
            </a:r>
          </a:p>
          <a:p>
            <a:r>
              <a:t>    "learning_mentor",</a:t>
            </a:r>
          </a:p>
          <a:p>
            <a:r>
              <a:t>    "mentoring_support"</a:t>
            </a:r>
          </a:p>
          <a:p>
            <a:r>
              <a:t>  ],</a:t>
            </a:r>
          </a:p>
          <a:p>
            <a:r>
              <a:t>  "page": 7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"quran_class",</a:t>
            </a:r>
          </a:p>
          <a:p>
            <a:r>
              <a:t>  "title": "A Quran reader can find help for a specific learning goal",</a:t>
            </a:r>
          </a:p>
          <a:p>
            <a:r>
              <a:t>  "pair": "Quran utility → Learning centre",</a:t>
            </a:r>
          </a:p>
          <a:p>
            <a:r>
              <a:t>  "person": "A person using Quran reading tools",</a:t>
            </a:r>
          </a:p>
          <a:p>
            <a:r>
              <a:t>  "need": "“I can read this passage, but I want help with pronunciation or meaning.”",</a:t>
            </a:r>
          </a:p>
          <a:p>
            <a:r>
              <a:t>  "yes": "Offer a discreet learning action after the person explicitly asks for help on a topic.",</a:t>
            </a:r>
          </a:p>
          <a:p>
            <a:r>
              <a:t>  "no": "Reading alone remains complete. Do not infer poor skill or send unsolicited judgments.",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"Ask for guidance",</a:t>
            </a:r>
          </a:p>
          <a:p>
            <a:r>
              <a:t>      "The reader chooses Learn this topic or Get reading help."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learning goal",</a:t>
            </a:r>
          </a:p>
          <a:p>
            <a:r>
              <a:t>      "They select beginner reading, recitation or an approved topic."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discovery",</a:t>
            </a:r>
          </a:p>
          <a:p>
            <a:r>
              <a:t>      "Show approved teachers or programmes matching language and level."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"Return to practice",</a:t>
            </a:r>
          </a:p>
          <a:p>
            <a:r>
              <a:t>      "After learning, a saved link returns to the selected passage."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the user-selected passage, learning goal and preferred language.",</a:t>
            </a:r>
          </a:p>
          <a:p>
            <a:r>
              <a:t>  "separate": "No private reading history or worship-tracker record is shared with a teacher.",</a:t>
            </a:r>
          </a:p>
          <a:p>
            <a:r>
              <a:t>  "benefit": "Daily use can become purposeful learning; teachers receive clearer learner intent.",</a:t>
            </a:r>
          </a:p>
          <a:p>
            <a:r>
              <a:t>  "signal": "User-initiated learning opens → relevant enrolments → return to chosen practice.",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"learning_mentor",</a:t>
            </a:r>
          </a:p>
          <a:p>
            <a:r>
              <a:t>    "seeker_class",</a:t>
            </a:r>
          </a:p>
          <a:p>
            <a:r>
              <a:t>    "learner_volunteer"</a:t>
            </a:r>
          </a:p>
          <a:p>
            <a:r>
              <a:t>  ],</a:t>
            </a:r>
          </a:p>
          <a:p>
            <a:r>
              <a:t>  "page": 8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"learning_mentor",</a:t>
            </a:r>
          </a:p>
          <a:p>
            <a:r>
              <a:t>  "title": "A learner can ask for continuity after a class",</a:t>
            </a:r>
          </a:p>
          <a:p>
            <a:r>
              <a:t>  "pair": "Learning centre → Mentoring",</a:t>
            </a:r>
          </a:p>
          <a:p>
            <a:r>
              <a:t>  "person": "A learner who wants individual follow-up",</a:t>
            </a:r>
          </a:p>
          <a:p>
            <a:r>
              <a:t>  "need": "“The class helped. I would like someone to guide my next steps.”",</a:t>
            </a:r>
          </a:p>
          <a:p>
            <a:r>
              <a:t>  "yes": "Offer mentoring after a learner requests ongoing guidance or a teacher offers approved capacity.",</a:t>
            </a:r>
          </a:p>
          <a:p>
            <a:r>
              <a:t>  "no": "Class enrolment does not enrol a person into mentoring or open private messaging automatically.",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"Request follow-up",</a:t>
            </a:r>
          </a:p>
          <a:p>
            <a:r>
              <a:t>      "The learner chooses a goal after the programme."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"Available mentor",</a:t>
            </a:r>
          </a:p>
          <a:p>
            <a:r>
              <a:t>      "Show approved mentors relevant to topic, language and permitted boundaries."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"Mutual acceptance",</a:t>
            </a:r>
          </a:p>
          <a:p>
            <a:r>
              <a:t>      "The mentor has capacity; the learner agrees to contact and expectations."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"Ongoing guidance",</a:t>
            </a:r>
          </a:p>
          <a:p>
            <a:r>
              <a:t>      "Open the authorised relationship and optional agreed check-ins."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"Chosen programme, learning goal and agreed availability; selected progress only with consent.",</a:t>
            </a:r>
          </a:p>
          <a:p>
            <a:r>
              <a:t>  "separate": "No automatic access to class rosters, aid cases or private worship records.",</a:t>
            </a:r>
          </a:p>
          <a:p>
            <a:r>
              <a:t>  "benefit": "Learners gain continuity; mentors support people whose needs match their expertise.",</a:t>
            </a:r>
          </a:p>
          <a:p>
            <a:r>
              <a:t>  "signal": "Follow-up requests → mutually accepted matches → useful agreed check-ins.",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"seeker_class",</a:t>
            </a:r>
          </a:p>
          <a:p>
            <a:r>
              <a:t>    "mentoring_support",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9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"mentoring_support",</a:t>
            </a:r>
          </a:p>
          <a:p>
            <a:r>
              <a:t>  "title": "A mentor can refer needs beyond the teaching relationship",</a:t>
            </a:r>
          </a:p>
          <a:p>
            <a:r>
              <a:t>  "pair": "Mentoring → Support requests",</a:t>
            </a:r>
          </a:p>
          <a:p>
            <a:r>
              <a:t>  "person": "A mentor hearing about a practical difficulty",</a:t>
            </a:r>
          </a:p>
          <a:p>
            <a:r>
              <a:t>  "need": "“This learner needs help that I am not authorised or qualified to provide.”",</a:t>
            </a:r>
          </a:p>
          <a:p>
            <a:r>
              <a:t>  "yes": "Offer a supported referral when the person wants help outside the mentor’s remit.",</a:t>
            </a:r>
          </a:p>
          <a:p>
            <a:r>
              <a:t>  "no": "A mentor does not investigate welfare issues or browse existing private cases.",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"Recognise the limit",</a:t>
            </a:r>
          </a:p>
          <a:p>
            <a:r>
              <a:t>      "The mentor explains the relevant support route without promising an outcome."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"Person chooses help",</a:t>
            </a:r>
          </a:p>
          <a:p>
            <a:r>
              <a:t>      "The learner opens or agrees to a minimal support referral."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"Authorised staff assess urgency, eligibility and the appropriate response."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"Bounded follow-up",</a:t>
            </a:r>
          </a:p>
          <a:p>
            <a:r>
              <a:t>      "The mentor sees only the referral status the person agreed to share."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"Consent, chosen category, contact preference and minimum agreed context.",</a:t>
            </a:r>
          </a:p>
          <a:p>
            <a:r>
              <a:t>  "separate": "No blanket case access. Safeguarding disclosures follow the approved escalation policy.",</a:t>
            </a:r>
          </a:p>
          <a:p>
            <a:r>
              <a:t>  "benefit": "The person reaches qualified help; the mentor can stay within a clear teaching role.",</a:t>
            </a:r>
          </a:p>
          <a:p>
            <a:r>
              <a:t>  "signal": "Accepted referrals → triaged requests → completed handoffs without excess disclosure.",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"seeker_class",</a:t>
            </a:r>
          </a:p>
          <a:p>
            <a:r>
              <a:t>    "teacher_support",</a:t>
            </a:r>
          </a:p>
          <a:p>
            <a:r>
              <a:t>    "specialist_referral"</a:t>
            </a:r>
          </a:p>
          <a:p>
            <a:r>
              <a:t>  ],</a:t>
            </a:r>
          </a:p>
          <a:p>
            <a:r>
              <a:t>  "page": 10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"event_volunteer",</a:t>
            </a:r>
          </a:p>
          <a:p>
            <a:r>
              <a:t>  "title": "A learning event can invite a separate service role",</a:t>
            </a:r>
          </a:p>
          <a:p>
            <a:r>
              <a:t>  "pair": "Learning events → Volunteer duties",</a:t>
            </a:r>
          </a:p>
          <a:p>
            <a:r>
              <a:t>  "person": "A Halaqa attendee or teacher",</a:t>
            </a:r>
          </a:p>
          <a:p>
            <a:r>
              <a:t>  "need": "“I am attending this event. Can I help with registration or accessibility?”",</a:t>
            </a:r>
          </a:p>
          <a:p>
            <a:r>
              <a:t>  "yes": "Offer clearly defined event tasks when organisers need capacity and the person opts in.",</a:t>
            </a:r>
          </a:p>
          <a:p>
            <a:r>
              <a:t>  "no": "Attending a class never creates a duty. An event helper does not gain case access.",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"Event participation",</a:t>
            </a:r>
          </a:p>
          <a:p>
            <a:r>
              <a:t>      "The person views an approved programme and its support needs."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a duty",</a:t>
            </a:r>
          </a:p>
          <a:p>
            <a:r>
              <a:t>      "They select a suitable task, time window and required checks."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"Coordinator confirms",</a:t>
            </a:r>
          </a:p>
          <a:p>
            <a:r>
              <a:t>      "Check eligibility and avoid conflict with the person’s class time."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"Event service",</a:t>
            </a:r>
          </a:p>
          <a:p>
            <a:r>
              <a:t>      "Show a separate duty card, instructions and attendance confirmation."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"Event ID, chosen slot, contact consent and role-specific eligibility.",</a:t>
            </a:r>
          </a:p>
          <a:p>
            <a:r>
              <a:t>  "separate": "Class attendance and duty acceptance are separate records; no attendee list is exported.",</a:t>
            </a:r>
          </a:p>
          <a:p>
            <a:r>
              <a:t>  "benefit": "Organisers gain willing capacity; participants have a specific, manageable way to contribute.",</a:t>
            </a:r>
          </a:p>
          <a:p>
            <a:r>
              <a:t>  "signal": "Opt-in duty requests → conflict-free confirmations → completed event tasks.",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"learner_volunteer",</a:t>
            </a:r>
          </a:p>
          <a:p>
            <a:r>
              <a:t>    "volunteer_training",</a:t>
            </a:r>
          </a:p>
          <a:p>
            <a:r>
              <a:t>    "feed_learning"</a:t>
            </a:r>
          </a:p>
          <a:p>
            <a:r>
              <a:t>  ],</a:t>
            </a:r>
          </a:p>
          <a:p>
            <a:r>
              <a:t>  "page": 11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"feed_learning",</a:t>
            </a:r>
          </a:p>
          <a:p>
            <a:r>
              <a:t>  "title": "An inspiring post can lead to a relevant programme",</a:t>
            </a:r>
          </a:p>
          <a:p>
            <a:r>
              <a:t>  "pair": "Community updates → Learning centre",</a:t>
            </a:r>
          </a:p>
          <a:p>
            <a:r>
              <a:t>  "person": "A reader interested in an approved topic",</a:t>
            </a:r>
          </a:p>
          <a:p>
            <a:r>
              <a:t>  "need": "“This article is useful. Where can I learn this with a teacher?”",</a:t>
            </a:r>
          </a:p>
          <a:p>
            <a:r>
              <a:t>  "yes": "Attach a specific approved programme when it genuinely expands on the post.",</a:t>
            </a:r>
          </a:p>
          <a:p>
            <a:r>
              <a:t>  "no": "Not every post needs a conversion. General announcements can stand alone.",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"Relevant approved post",</a:t>
            </a:r>
          </a:p>
          <a:p>
            <a:r>
              <a:t>      "An author explains a topic with a clear source and audience."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"Purposeful invitation",</a:t>
            </a:r>
          </a:p>
          <a:p>
            <a:r>
              <a:t>      "Read programme details or Meet the teacher explains the next step."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context",</a:t>
            </a:r>
          </a:p>
          <a:p>
            <a:r>
              <a:t>      "Open topic, level, language, date and access information."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"Voluntary participation",</a:t>
            </a:r>
          </a:p>
          <a:p>
            <a:r>
              <a:t>      "The reader chooses enrolment and can return to the original post."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"Post ID, topic and linked programme; aggregate referral attribution where agreed.",</a:t>
            </a:r>
          </a:p>
          <a:p>
            <a:r>
              <a:t>  "separate": "No sensitive-case targeting, fabricated testimonials or automatic enrolment.",</a:t>
            </a:r>
          </a:p>
          <a:p>
            <a:r>
              <a:t>  "benefit": "Readers can act on genuine interest; teachers reach an appropriate audience.",</a:t>
            </a:r>
          </a:p>
          <a:p>
            <a:r>
              <a:t>  "signal": "Post-to-programme opens → relevant enrolments; monitor usefulness and opt-outs.",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"learning_mentor",</a:t>
            </a:r>
          </a:p>
          <a:p>
            <a:r>
              <a:t>    "quran_class",</a:t>
            </a:r>
          </a:p>
          <a:p>
            <a:r>
              <a:t>    "consented_story"</a:t>
            </a:r>
          </a:p>
          <a:p>
            <a:r>
              <a:t>  ],</a:t>
            </a:r>
          </a:p>
          <a:p>
            <a:r>
              <a:t>  "page": 12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"capacity_learning",</a:t>
            </a:r>
          </a:p>
          <a:p>
            <a:r>
              <a:t>  "title": "Repeated support needs can shape better programmes",</a:t>
            </a:r>
          </a:p>
          <a:p>
            <a:r>
              <a:t>  "pair": "Support operations → Learning planning",</a:t>
            </a:r>
          </a:p>
          <a:p>
            <a:r>
              <a:t>  "person": "An MRM programme coordinator",</a:t>
            </a:r>
          </a:p>
          <a:p>
            <a:r>
              <a:t>  "need": "“We repeatedly receive beginner-learning requests in a language with little capacity.”",</a:t>
            </a:r>
          </a:p>
          <a:p>
            <a:r>
              <a:t>  "yes": "Use restricted aggregate demand to commission a programme for an evidenced gap.",</a:t>
            </a:r>
          </a:p>
          <a:p>
            <a:r>
              <a:t>  "no": "Do not publish identifiable case examples or infer demand from a tiny sensitive group.",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"Aggregate need",</a:t>
            </a:r>
          </a:p>
          <a:p>
            <a:r>
              <a:t>      "Authorised staff group agreed categories, languages and waiting demand."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"Plan a response",</a:t>
            </a:r>
          </a:p>
          <a:p>
            <a:r>
              <a:t>      "MRM chooses a topic and suitable approved teacher capacity."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"Publish programme",</a:t>
            </a:r>
          </a:p>
          <a:p>
            <a:r>
              <a:t>      "Create a public description without beneficiary identities."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"Measure the response",</a:t>
            </a:r>
          </a:p>
          <a:p>
            <a:r>
              <a:t>      "Track programme capacity, consented referrals and unmet demand."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approved aggregate demand, programme requirements and non-identifying outcomes.",</a:t>
            </a:r>
          </a:p>
          <a:p>
            <a:r>
              <a:t>  "separate": "Case files and individual identities never enter a public programme brief.",</a:t>
            </a:r>
          </a:p>
          <a:p>
            <a:r>
              <a:t>  "benefit": "Learning supply responds to real community needs; support teams gain a useful referral option.",</a:t>
            </a:r>
          </a:p>
          <a:p>
            <a:r>
              <a:t>  "signal": "Demand gap → commissioned capacity → suitable referrals; review remaining unmet need.",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"seeker_class",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13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"consented_story",</a:t>
            </a:r>
          </a:p>
          <a:p>
            <a:r>
              <a:t>  "title": "A verified outcome can invite responsible participation",</a:t>
            </a:r>
          </a:p>
          <a:p>
            <a:r>
              <a:t>  "pair": "Service outcomes → Community updates",</a:t>
            </a:r>
          </a:p>
          <a:p>
            <a:r>
              <a:t>  "person": "A beneficiary willing to share an experience",</a:t>
            </a:r>
          </a:p>
          <a:p>
            <a:r>
              <a:t>  "need": "“I want to thank the programme, but I want control over what people can see.”",</a:t>
            </a:r>
          </a:p>
          <a:p>
            <a:r>
              <a:t>  "yes": "Publish a verified, consented story with an appropriate participation destination.",</a:t>
            </a:r>
          </a:p>
          <a:p>
            <a:r>
              <a:t>  "no": "Assistance and recognition never depend on agreeing to publicity.",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"Separate invitation",</a:t>
            </a:r>
          </a:p>
          <a:p>
            <a:r>
              <a:t>      "After service, staff offer an optional story process with no effect on aid."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"Specific consent",</a:t>
            </a:r>
          </a:p>
          <a:p>
            <a:r>
              <a:t>      "Agree wording, images, visibility and the withdrawal process."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 and publish",</a:t>
            </a:r>
          </a:p>
          <a:p>
            <a:r>
              <a:t>      "Check accuracy, minimisation and moderation before publication."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invitation",</a:t>
            </a:r>
          </a:p>
          <a:p>
            <a:r>
              <a:t>      "Readers can discover a real class or apply to volunteer."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approved story assets and programme links under the documented consent.",</a:t>
            </a:r>
          </a:p>
          <a:p>
            <a:r>
              <a:t>  "separate": "No case narrative, identity number or location is copied by default; no guaranteed outcomes.",</a:t>
            </a:r>
          </a:p>
          <a:p>
            <a:r>
              <a:t>  "benefit": "The storyteller controls disclosure; readers see credible reasons to participate.",</a:t>
            </a:r>
          </a:p>
          <a:p>
            <a:r>
              <a:t>  "signal": "Consent compliance, correction requests and relevant participation; never reward forced stories.",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"feed_learning",</a:t>
            </a:r>
          </a:p>
          <a:p>
            <a:r>
              <a:t>    "learner_volunteer",</a:t>
            </a:r>
          </a:p>
          <a:p>
            <a:r>
              <a:t>    "capacity_learning"</a:t>
            </a:r>
          </a:p>
          <a:p>
            <a:r>
              <a:t>  ],</a:t>
            </a:r>
          </a:p>
          <a:p>
            <a:r>
              <a:t>  "page": 14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"prayer_event",</a:t>
            </a:r>
          </a:p>
          <a:p>
            <a:r>
              <a:t>  "title": "A local utility can surface a genuinely useful gathering",</a:t>
            </a:r>
          </a:p>
          <a:p>
            <a:r>
              <a:t>  "pair": "Prayer / nearby places → Learning events",</a:t>
            </a:r>
          </a:p>
          <a:p>
            <a:r>
              <a:t>  "person": "A person checking prayer times or a mosque",</a:t>
            </a:r>
          </a:p>
          <a:p>
            <a:r>
              <a:t>  "need": "“Is there an approved beginner Halaqa near this place?”",</a:t>
            </a:r>
          </a:p>
          <a:p>
            <a:r>
              <a:t>  "yes": "Offer nearby programmes when the person requests local learning information.",</a:t>
            </a:r>
          </a:p>
          <a:p>
            <a:r>
              <a:t>  "no": "Prayer times remain usable without events, location sharing or an account where supported.",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"Local intent",</a:t>
            </a:r>
          </a:p>
          <a:p>
            <a:r>
              <a:t>      "The person selects a mosque or manually chosen area."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"Explore gatherings",</a:t>
            </a:r>
          </a:p>
          <a:p>
            <a:r>
              <a:t>      "A separate action requests approved programmes nearby."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"Check relevance",</a:t>
            </a:r>
          </a:p>
          <a:p>
            <a:r>
              <a:t>      "Show venue, date, topic, language and accessibility information."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to attend",</a:t>
            </a:r>
          </a:p>
          <a:p>
            <a:r>
              <a:t>      "The person enrols and optionally enables programme reminders."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"Selected venue or area and chosen programme; prefer manual area selection when sufficient.",</a:t>
            </a:r>
          </a:p>
          <a:p>
            <a:r>
              <a:t>  "separate": "No background location tracking or attendance inference from prayer-tool use.",</a:t>
            </a:r>
          </a:p>
          <a:p>
            <a:r>
              <a:t>  "benefit": "Daily tools create relevant discovery; local organisers reach interested participants.",</a:t>
            </a:r>
          </a:p>
          <a:p>
            <a:r>
              <a:t>  "signal": "User-requested local discovery → suitable event enrolments → confirmed attendance.",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"event_volunteer",</a:t>
            </a:r>
          </a:p>
          <a:p>
            <a:r>
              <a:t>    "feed_learning",</a:t>
            </a:r>
          </a:p>
          <a:p>
            <a:r>
              <a:t>    "quran_class"</a:t>
            </a:r>
          </a:p>
          <a:p>
            <a:r>
              <a:t>  ],</a:t>
            </a:r>
          </a:p>
          <a:p>
            <a:r>
              <a:t>  "page": 15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"learner_volunteer",</a:t>
            </a:r>
          </a:p>
          <a:p>
            <a:r>
              <a:t>  "title": "A learner can choose a path from participation to contribution",</a:t>
            </a:r>
          </a:p>
          <a:p>
            <a:r>
              <a:t>  "pair": "Learning participation → Volunteer application",</a:t>
            </a:r>
          </a:p>
          <a:p>
            <a:r>
              <a:t>  "person": "A learner who wants to give back",</a:t>
            </a:r>
          </a:p>
          <a:p>
            <a:r>
              <a:t>  "need": "“This helped me. I want to support others when I am ready.”",</a:t>
            </a:r>
          </a:p>
          <a:p>
            <a:r>
              <a:t>  "yes": "Offer an optional volunteer path after the person expresses interest in contributing.",</a:t>
            </a:r>
          </a:p>
          <a:p>
            <a:r>
              <a:t>  "no": "Learning progress, religiosity or aid receipt never creates an obligation to volunteer.",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"Interest in service",</a:t>
            </a:r>
          </a:p>
          <a:p>
            <a:r>
              <a:t>      "The learner chooses a suitable contribution area."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preparation",</a:t>
            </a:r>
          </a:p>
          <a:p>
            <a:r>
              <a:t>      "Show actual role expectations and optional or required preparation."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"Apply and assess",</a:t>
            </a:r>
          </a:p>
          <a:p>
            <a:r>
              <a:t>      "Reuse consented profile details; complete separate volunteer checks."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"Start within limits",</a:t>
            </a:r>
          </a:p>
          <a:p>
            <a:r>
              <a:t>      "Approved volunteers accept bounded work with coordinator support."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"Selected interests, contact details and relevant assessed skills with consent.",</a:t>
            </a:r>
          </a:p>
          <a:p>
            <a:r>
              <a:t>  "separate": "A certificate, course attendance or worship streak does not confer service authority.",</a:t>
            </a:r>
          </a:p>
          <a:p>
            <a:r>
              <a:t>  "benefit": "Learners gain an achievable contribution route; MRM grows prepared, willing capacity.",</a:t>
            </a:r>
          </a:p>
          <a:p>
            <a:r>
              <a:t>  "signal": "Interest → applications → approvals → sustained suitable service; watch burden and dropout.",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"event_volunteer",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16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"specialist_referral",</a:t>
            </a:r>
          </a:p>
          <a:p>
            <a:r>
              <a:t>  "title": "A volunteer can connect a person to the right specialist",</a:t>
            </a:r>
          </a:p>
          <a:p>
            <a:r>
              <a:t>  "pair": "Volunteer support → Specialist referral",</a:t>
            </a:r>
          </a:p>
          <a:p>
            <a:r>
              <a:t>  "person": "A volunteer whose assigned case exceeds their remit",</a:t>
            </a:r>
          </a:p>
          <a:p>
            <a:r>
              <a:t>  "need": "“I can accompany this person, but their next need requires authorised expertise.”",</a:t>
            </a:r>
          </a:p>
          <a:p>
            <a:r>
              <a:t>  "yes": "Route through MRM when a need exceeds the volunteer’s approved competence.",</a:t>
            </a:r>
          </a:p>
          <a:p>
            <a:r>
              <a:t>  "no": "The app never treats a teaching badge as legal, medical or financial accreditation.",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"Recognise a boundary",</a:t>
            </a:r>
          </a:p>
          <a:p>
            <a:r>
              <a:t>      "The volunteer records a minimal referral request on their authorised case."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"Staff review",</a:t>
            </a:r>
          </a:p>
          <a:p>
            <a:r>
              <a:t>      "MRM checks consent, urgency and the appropriate referral pathway."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handoff",</a:t>
            </a:r>
          </a:p>
          <a:p>
            <a:r>
              <a:t>      "Share necessary information with an authorised partner under policy."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"Keep continuity",</a:t>
            </a:r>
          </a:p>
          <a:p>
            <a:r>
              <a:t>      "Track acknowledgement and next ownership; the volunteer sees permitted status."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"Minimum agreed referral context, consent and case/reference ID to authorised recipients.",</a:t>
            </a:r>
          </a:p>
          <a:p>
            <a:r>
              <a:t>  "separate": "No public case broadcast, unapproved partner access or assumption of specialist credentials.",</a:t>
            </a:r>
          </a:p>
          <a:p>
            <a:r>
              <a:t>  "benefit": "The seeker avoids repeating the story unnecessarily; the volunteer avoids unsafe overreach.",</a:t>
            </a:r>
          </a:p>
          <a:p>
            <a:r>
              <a:t>  "signal": "Appropriate referrals → acknowledged handoffs → clear next owner and follow-up.",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"mentoring_support",</a:t>
            </a:r>
          </a:p>
          <a:p>
            <a:r>
              <a:t>    "seeker_class",</a:t>
            </a:r>
          </a:p>
          <a:p>
            <a:r>
              <a:t>    "volunteer_training"</a:t>
            </a:r>
          </a:p>
          <a:p>
            <a:r>
              <a:t>  ],</a:t>
            </a:r>
          </a:p>
          <a:p>
            <a:r>
              <a:t>  "page": 17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"website_journey",</a:t>
            </a:r>
          </a:p>
          <a:p>
            <a:r>
              <a:t>  "title": "Public discovery can continue into the same service journey",</a:t>
            </a:r>
          </a:p>
          <a:p>
            <a:r>
              <a:t>  "pair": "Website → App participation",</a:t>
            </a:r>
          </a:p>
          <a:p>
            <a:r>
              <a:t>  "person": "A visitor reading a programme or volunteer opportunity",</a:t>
            </a:r>
          </a:p>
          <a:p>
            <a:r>
              <a:t>  "need": "“I want this exact programme, not to start again on a generic home screen.”",</a:t>
            </a:r>
          </a:p>
          <a:p>
            <a:r>
              <a:t>  "yes": "Preserve the public destination across install, sign-in and eligibility checks where feasible.",</a:t>
            </a:r>
          </a:p>
          <a:p>
            <a:r>
              <a:t>  "no": "Public information stays accessible; installation is not needed just to read it.",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"Specific public page",</a:t>
            </a:r>
          </a:p>
          <a:p>
            <a:r>
              <a:t>      "The visitor chooses a programme, volunteer role or support route."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"Keep the destination",</a:t>
            </a:r>
          </a:p>
          <a:p>
            <a:r>
              <a:t>      "Carry a non-sensitive link or short reference through entry."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"Required checks only",</a:t>
            </a:r>
          </a:p>
          <a:p>
            <a:r>
              <a:t>      "Sign in or apply when the selected action requires it."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"Resume the action",</a:t>
            </a:r>
          </a:p>
          <a:p>
            <a:r>
              <a:t>      "Return to the same programme or application with current availability."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"Public destination ID and safe campaign/source reference; no private case data in URLs.",</a:t>
            </a:r>
          </a:p>
          <a:p>
            <a:r>
              <a:t>  "separate": "No secrets in deep links. Expired programmes receive an honest alternative.",</a:t>
            </a:r>
          </a:p>
          <a:p>
            <a:r>
              <a:t>  "benefit": "Visitors keep their intent; MRM loses fewer people between discovery and participation.",</a:t>
            </a:r>
          </a:p>
          <a:p>
            <a:r>
              <a:t>  "signal": "Destination retained → intended action completed; test installation and expired-link paths.",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"feed_learning",</a:t>
            </a:r>
          </a:p>
          <a:p>
            <a:r>
              <a:t>    "learner_volunteer",</a:t>
            </a:r>
          </a:p>
          <a:p>
            <a:r>
              <a:t>    "seeker_class"</a:t>
            </a:r>
          </a:p>
          <a:p>
            <a:r>
              <a:t>  ],</a:t>
            </a:r>
          </a:p>
          <a:p>
            <a:r>
              <a:t>  "page": 18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"recognition_growth",</a:t>
            </a:r>
          </a:p>
          <a:p>
            <a:r>
              <a:t>  "title": "Service experience can guide a person’s next development step",</a:t>
            </a:r>
          </a:p>
          <a:p>
            <a:r>
              <a:t>  "pair": "Volunteer review → Learning development",</a:t>
            </a:r>
          </a:p>
          <a:p>
            <a:r>
              <a:t>  "person": "A volunteer reflecting with a coordinator",</a:t>
            </a:r>
          </a:p>
          <a:p>
            <a:r>
              <a:t>  "need": "“What did I do well, and what training would help me contribute better?”",</a:t>
            </a:r>
          </a:p>
          <a:p>
            <a:r>
              <a:t>  "yes": "Use an agreed private review to recommend learning or future duties.",</a:t>
            </a:r>
          </a:p>
          <a:p>
            <a:r>
              <a:t>  "no": "Do not convert volunteer hours or popularity into teaching approval or public expertise claims.",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"Review service",</a:t>
            </a:r>
          </a:p>
          <a:p>
            <a:r>
              <a:t>      "The volunteer and authorised coordinator reflect on a completed duty."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 development",</a:t>
            </a:r>
          </a:p>
          <a:p>
            <a:r>
              <a:t>      "Select a specific skill goal without copying beneficiary details."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learning",</a:t>
            </a:r>
          </a:p>
          <a:p>
            <a:r>
              <a:t>      "Offer an approved course or mentor relevant to that goal."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"Assess progression",</a:t>
            </a:r>
          </a:p>
          <a:p>
            <a:r>
              <a:t>      "Review learning and suitability before any new responsibility."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"Agreed skill goal and restricted competency evidence; public recognition only by policy.",</a:t>
            </a:r>
          </a:p>
          <a:p>
            <a:r>
              <a:t>  "separate": "No beneficiary story or private feedback on public profiles; no automatic teacher badge.",</a:t>
            </a:r>
          </a:p>
          <a:p>
            <a:r>
              <a:t>  "benefit": "Volunteers see a development path; MRM builds capacity with evidence rather than rank.",</a:t>
            </a:r>
          </a:p>
          <a:p>
            <a:r>
              <a:t>  "signal": "Agreed plans → useful training → assessed competence; track wellbeing as well as retention.",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"learner_volunteer",</a:t>
            </a:r>
          </a:p>
          <a:p>
            <a:r>
              <a:t>    "learning_mentor"</a:t>
            </a:r>
          </a:p>
          <a:p>
            <a:r>
              <a:t>  ],</a:t>
            </a:r>
          </a:p>
          <a:p>
            <a:r>
              <a:t>  "page": 19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"teacher_subscription": "Teacher publishing entitlement remains separate; it does not grant volunteer approval, case access or guaranteed matching."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"priority": "Editorial recommendation, not an agreed delivery commitment. Validate with teachers, volunteers, seekers and MRM operations."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"suggested_records": [</a:t>
            </a:r>
          </a:p>
          <a:p>
            <a:r>
              <a:t>    "person",</a:t>
            </a:r>
          </a:p>
          <a:p>
            <a:r>
              <a:t>    "role approval",</a:t>
            </a:r>
          </a:p>
          <a:p>
            <a:r>
              <a:t>    "subject credential",</a:t>
            </a:r>
          </a:p>
          <a:p>
            <a:r>
              <a:t>    "volunteer eligibility",</a:t>
            </a:r>
          </a:p>
          <a:p>
            <a:r>
              <a:t>    "programme enrolment",</a:t>
            </a:r>
          </a:p>
          <a:p>
            <a:r>
              <a:t>    "mentor relationship",</a:t>
            </a:r>
          </a:p>
          <a:p>
            <a:r>
              <a:t>    "case assignment",</a:t>
            </a:r>
          </a:p>
          <a:p>
            <a:r>
              <a:t>    "consented referral"</a:t>
            </a:r>
          </a:p>
          <a:p>
            <a:r>
              <a:t>  ],</a:t>
            </a:r>
          </a:p>
          <a:p>
            <a:r>
              <a:t>  "server_rule": "Recheck current status at display, acceptance and record access. A badge is descriptive, not an authorisation token."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53.xml"/><Relationship Id="rId9" Type="http://schemas.openxmlformats.org/officeDocument/2006/relationships/slide" Target="slide57.xml"/><Relationship Id="rId10" Type="http://schemas.openxmlformats.org/officeDocument/2006/relationships/slide" Target="slide62.xml"/><Relationship Id="rId11" Type="http://schemas.openxmlformats.org/officeDocument/2006/relationships/slide" Target="slide6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12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34.xml"/><Relationship Id="rId10" Type="http://schemas.openxmlformats.org/officeDocument/2006/relationships/slide" Target="slide46.xml"/><Relationship Id="rId11" Type="http://schemas.openxmlformats.org/officeDocument/2006/relationships/slide" Target="slide4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45.xml"/><Relationship Id="rId10" Type="http://schemas.openxmlformats.org/officeDocument/2006/relationships/slide" Target="slide34.xml"/><Relationship Id="rId11" Type="http://schemas.openxmlformats.org/officeDocument/2006/relationships/slide" Target="slide37.xml"/><Relationship Id="rId12" Type="http://schemas.openxmlformats.org/officeDocument/2006/relationships/slide" Target="slide35.xml"/><Relationship Id="rId13" Type="http://schemas.openxmlformats.org/officeDocument/2006/relationships/slide" Target="slide40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24.xml"/><Relationship Id="rId17" Type="http://schemas.openxmlformats.org/officeDocument/2006/relationships/slide" Target="slide4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1.xml"/><Relationship Id="rId8" Type="http://schemas.openxmlformats.org/officeDocument/2006/relationships/slide" Target="slide3.xml"/><Relationship Id="rId9" Type="http://schemas.openxmlformats.org/officeDocument/2006/relationships/slide" Target="slide43.xml"/><Relationship Id="rId10" Type="http://schemas.openxmlformats.org/officeDocument/2006/relationships/slide" Target="slide6.xml"/><Relationship Id="rId11" Type="http://schemas.openxmlformats.org/officeDocument/2006/relationships/slide" Target="slide11.xml"/><Relationship Id="rId12" Type="http://schemas.openxmlformats.org/officeDocument/2006/relationships/slide" Target="slide49.xml"/><Relationship Id="rId13" Type="http://schemas.openxmlformats.org/officeDocument/2006/relationships/slide" Target="slide7.xml"/><Relationship Id="rId14" Type="http://schemas.openxmlformats.org/officeDocument/2006/relationships/slide" Target="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Relationship Id="rId7" Type="http://schemas.openxmlformats.org/officeDocument/2006/relationships/slide" Target="slide3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9.xml"/><Relationship Id="rId11" Type="http://schemas.openxmlformats.org/officeDocument/2006/relationships/slide" Target="slide48.xml"/><Relationship Id="rId12" Type="http://schemas.openxmlformats.org/officeDocument/2006/relationships/slide" Target="slide25.xml"/><Relationship Id="rId13" Type="http://schemas.openxmlformats.org/officeDocument/2006/relationships/slide" Target="slide3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3.xml"/><Relationship Id="rId7" Type="http://schemas.openxmlformats.org/officeDocument/2006/relationships/slide" Target="slide3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slide" Target="slide48.xml"/><Relationship Id="rId12" Type="http://schemas.openxmlformats.org/officeDocument/2006/relationships/slide" Target="slide4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4.xml"/><Relationship Id="rId8" Type="http://schemas.openxmlformats.org/officeDocument/2006/relationships/slide" Target="slide3.xml"/><Relationship Id="rId9" Type="http://schemas.openxmlformats.org/officeDocument/2006/relationships/slide" Target="slide7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4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5.xml"/><Relationship Id="rId8" Type="http://schemas.openxmlformats.org/officeDocument/2006/relationships/slide" Target="slide3.xml"/><Relationship Id="rId9" Type="http://schemas.openxmlformats.org/officeDocument/2006/relationships/slide" Target="slide49.xml"/><Relationship Id="rId10" Type="http://schemas.openxmlformats.org/officeDocument/2006/relationships/slide" Target="slide10.xml"/><Relationship Id="rId11" Type="http://schemas.openxmlformats.org/officeDocument/2006/relationships/slide" Target="slide12.xml"/><Relationship Id="rId12" Type="http://schemas.openxmlformats.org/officeDocument/2006/relationships/slide" Target="slide9.xml"/><Relationship Id="rId13" Type="http://schemas.openxmlformats.org/officeDocument/2006/relationships/slide" Target="slide24.xml"/><Relationship Id="rId14" Type="http://schemas.openxmlformats.org/officeDocument/2006/relationships/slide" Target="slide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6.xml"/><Relationship Id="rId7" Type="http://schemas.openxmlformats.org/officeDocument/2006/relationships/slide" Target="slide3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4.xml"/><Relationship Id="rId11" Type="http://schemas.openxmlformats.org/officeDocument/2006/relationships/slide" Target="slide48.xml"/><Relationship Id="rId12" Type="http://schemas.openxmlformats.org/officeDocument/2006/relationships/slide" Target="slide38.xml"/><Relationship Id="rId13" Type="http://schemas.openxmlformats.org/officeDocument/2006/relationships/slide" Target="slide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7.xml"/><Relationship Id="rId7" Type="http://schemas.openxmlformats.org/officeDocument/2006/relationships/slide" Target="slide3.xml"/><Relationship Id="rId8" Type="http://schemas.openxmlformats.org/officeDocument/2006/relationships/slide" Target="slide49.xml"/><Relationship Id="rId9" Type="http://schemas.openxmlformats.org/officeDocument/2006/relationships/slide" Target="slide12.xml"/><Relationship Id="rId10" Type="http://schemas.openxmlformats.org/officeDocument/2006/relationships/slide" Target="slide10.xml"/><Relationship Id="rId11" Type="http://schemas.openxmlformats.org/officeDocument/2006/relationships/slide" Target="slide44.xml"/><Relationship Id="rId12" Type="http://schemas.openxmlformats.org/officeDocument/2006/relationships/slide" Target="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8.xml"/><Relationship Id="rId7" Type="http://schemas.openxmlformats.org/officeDocument/2006/relationships/slide" Target="slide3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5.xml"/><Relationship Id="rId11" Type="http://schemas.openxmlformats.org/officeDocument/2006/relationships/slide" Target="slide48.xml"/><Relationship Id="rId12" Type="http://schemas.openxmlformats.org/officeDocument/2006/relationships/slide" Target="slide19.xml"/><Relationship Id="rId13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9.xml"/><Relationship Id="rId7" Type="http://schemas.openxmlformats.org/officeDocument/2006/relationships/slide" Target="slide3.xml"/><Relationship Id="rId8" Type="http://schemas.openxmlformats.org/officeDocument/2006/relationships/slide" Target="slide49.xml"/><Relationship Id="rId9" Type="http://schemas.openxmlformats.org/officeDocument/2006/relationships/slide" Target="slide14.xml"/><Relationship Id="rId10" Type="http://schemas.openxmlformats.org/officeDocument/2006/relationships/slide" Target="slide11.xml"/><Relationship Id="rId11" Type="http://schemas.openxmlformats.org/officeDocument/2006/relationships/slide" Target="slide48.xml"/><Relationship Id="rId12" Type="http://schemas.openxmlformats.org/officeDocument/2006/relationships/slide" Target="slide12.xml"/><Relationship Id="rId13" Type="http://schemas.openxmlformats.org/officeDocument/2006/relationships/slide" Target="slide3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10.xml"/><Relationship Id="rId7" Type="http://schemas.openxmlformats.org/officeDocument/2006/relationships/slide" Target="slide3.xml"/><Relationship Id="rId8" Type="http://schemas.openxmlformats.org/officeDocument/2006/relationships/slide" Target="slide48.xml"/><Relationship Id="rId9" Type="http://schemas.openxmlformats.org/officeDocument/2006/relationships/slide" Target="slide15.xml"/><Relationship Id="rId10" Type="http://schemas.openxmlformats.org/officeDocument/2006/relationships/slide" Target="slide38.xml"/><Relationship Id="rId11" Type="http://schemas.openxmlformats.org/officeDocument/2006/relationships/slide" Target="slide46.xml"/><Relationship Id="rId12" Type="http://schemas.openxmlformats.org/officeDocument/2006/relationships/slide" Target="slide49.xml"/><Relationship Id="rId13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1.xml"/><Relationship Id="rId7" Type="http://schemas.openxmlformats.org/officeDocument/2006/relationships/slide" Target="slide3.xml"/><Relationship Id="rId8" Type="http://schemas.openxmlformats.org/officeDocument/2006/relationships/slide" Target="slide18.xml"/><Relationship Id="rId9" Type="http://schemas.openxmlformats.org/officeDocument/2006/relationships/slide" Target="slide16.xml"/><Relationship Id="rId10" Type="http://schemas.openxmlformats.org/officeDocument/2006/relationships/slide" Target="slide45.xml"/><Relationship Id="rId11" Type="http://schemas.openxmlformats.org/officeDocument/2006/relationships/slide" Target="slide49.xml"/><Relationship Id="rId12" Type="http://schemas.openxmlformats.org/officeDocument/2006/relationships/slide" Target="slide17.xml"/><Relationship Id="rId13" Type="http://schemas.openxmlformats.org/officeDocument/2006/relationships/slide" Target="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2.xml"/><Relationship Id="rId7" Type="http://schemas.openxmlformats.org/officeDocument/2006/relationships/slide" Target="slide3.xml"/><Relationship Id="rId8" Type="http://schemas.openxmlformats.org/officeDocument/2006/relationships/slide" Target="slide11.xml"/><Relationship Id="rId9" Type="http://schemas.openxmlformats.org/officeDocument/2006/relationships/slide" Target="slide17.xml"/><Relationship Id="rId10" Type="http://schemas.openxmlformats.org/officeDocument/2006/relationships/slide" Target="slide38.xml"/><Relationship Id="rId11" Type="http://schemas.openxmlformats.org/officeDocument/2006/relationships/slide" Target="slide46.xml"/><Relationship Id="rId12" Type="http://schemas.openxmlformats.org/officeDocument/2006/relationships/slide" Target="slide13.xml"/><Relationship Id="rId13" Type="http://schemas.openxmlformats.org/officeDocument/2006/relationships/slide" Target="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Relationship Id="rId6" Type="http://schemas.openxmlformats.org/officeDocument/2006/relationships/slide" Target="slide3.xml"/><Relationship Id="rId7" Type="http://schemas.openxmlformats.org/officeDocument/2006/relationships/slide" Target="slide48.xml"/><Relationship Id="rId8" Type="http://schemas.openxmlformats.org/officeDocument/2006/relationships/slide" Target="slide18.xml"/><Relationship Id="rId9" Type="http://schemas.openxmlformats.org/officeDocument/2006/relationships/slide" Target="slide38.xml"/><Relationship Id="rId10" Type="http://schemas.openxmlformats.org/officeDocument/2006/relationships/slide" Target="slide46.xml"/><Relationship Id="rId11" Type="http://schemas.openxmlformats.org/officeDocument/2006/relationships/slide" Target="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4.xml"/><Relationship Id="rId7" Type="http://schemas.openxmlformats.org/officeDocument/2006/relationships/slide" Target="slide3.xml"/><Relationship Id="rId8" Type="http://schemas.openxmlformats.org/officeDocument/2006/relationships/slide" Target="slide38.xml"/><Relationship Id="rId9" Type="http://schemas.openxmlformats.org/officeDocument/2006/relationships/slide" Target="slide19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39.xml"/><Relationship Id="rId13" Type="http://schemas.openxmlformats.org/officeDocument/2006/relationships/slide" Target="slide4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15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20.xml"/><Relationship Id="rId10" Type="http://schemas.openxmlformats.org/officeDocument/2006/relationships/slide" Target="slide38.xml"/><Relationship Id="rId11" Type="http://schemas.openxmlformats.org/officeDocument/2006/relationships/slide" Target="slide11.xml"/><Relationship Id="rId12" Type="http://schemas.openxmlformats.org/officeDocument/2006/relationships/slide" Target="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16.xml"/><Relationship Id="rId7" Type="http://schemas.openxmlformats.org/officeDocument/2006/relationships/slide" Target="slide3.xml"/><Relationship Id="rId8" Type="http://schemas.openxmlformats.org/officeDocument/2006/relationships/slide" Target="slide11.xml"/><Relationship Id="rId9" Type="http://schemas.openxmlformats.org/officeDocument/2006/relationships/slide" Target="slide21.xml"/><Relationship Id="rId10" Type="http://schemas.openxmlformats.org/officeDocument/2006/relationships/slide" Target="slide10.xml"/><Relationship Id="rId11" Type="http://schemas.openxmlformats.org/officeDocument/2006/relationships/slide" Target="slide46.xml"/><Relationship Id="rId12" Type="http://schemas.openxmlformats.org/officeDocument/2006/relationships/slide" Target="slide3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7.xml"/><Relationship Id="rId7" Type="http://schemas.openxmlformats.org/officeDocument/2006/relationships/slide" Target="slide3.xml"/><Relationship Id="rId8" Type="http://schemas.openxmlformats.org/officeDocument/2006/relationships/slide" Target="slide49.xml"/><Relationship Id="rId9" Type="http://schemas.openxmlformats.org/officeDocument/2006/relationships/slide" Target="slide22.xml"/><Relationship Id="rId10" Type="http://schemas.openxmlformats.org/officeDocument/2006/relationships/slide" Target="slide38.xml"/><Relationship Id="rId11" Type="http://schemas.openxmlformats.org/officeDocument/2006/relationships/slide" Target="slide12.xml"/><Relationship Id="rId12" Type="http://schemas.openxmlformats.org/officeDocument/2006/relationships/slide" Target="slide40.xml"/><Relationship Id="rId13" Type="http://schemas.openxmlformats.org/officeDocument/2006/relationships/slide" Target="slide4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8.xml"/><Relationship Id="rId6" Type="http://schemas.openxmlformats.org/officeDocument/2006/relationships/slide" Target="slide3.xml"/><Relationship Id="rId7" Type="http://schemas.openxmlformats.org/officeDocument/2006/relationships/slide" Target="slide48.xml"/><Relationship Id="rId8" Type="http://schemas.openxmlformats.org/officeDocument/2006/relationships/slide" Target="slide23.xml"/><Relationship Id="rId9" Type="http://schemas.openxmlformats.org/officeDocument/2006/relationships/slide" Target="slide38.xml"/><Relationship Id="rId10" Type="http://schemas.openxmlformats.org/officeDocument/2006/relationships/slide" Target="slide49.xml"/><Relationship Id="rId11" Type="http://schemas.openxmlformats.org/officeDocument/2006/relationships/slide" Target="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9.xml"/><Relationship Id="rId7" Type="http://schemas.openxmlformats.org/officeDocument/2006/relationships/slide" Target="slide3.xml"/><Relationship Id="rId8" Type="http://schemas.openxmlformats.org/officeDocument/2006/relationships/slide" Target="slide10.xml"/><Relationship Id="rId9" Type="http://schemas.openxmlformats.org/officeDocument/2006/relationships/slide" Target="slide24.xml"/><Relationship Id="rId10" Type="http://schemas.openxmlformats.org/officeDocument/2006/relationships/slide" Target="slide46.xml"/><Relationship Id="rId11" Type="http://schemas.openxmlformats.org/officeDocument/2006/relationships/slide" Target="slide48.xml"/><Relationship Id="rId12" Type="http://schemas.openxmlformats.org/officeDocument/2006/relationships/slide" Target="slide27.xml"/><Relationship Id="rId13" Type="http://schemas.openxmlformats.org/officeDocument/2006/relationships/slide" Target="slide4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20.xml"/><Relationship Id="rId7" Type="http://schemas.openxmlformats.org/officeDocument/2006/relationships/slide" Target="slide3.xml"/><Relationship Id="rId8" Type="http://schemas.openxmlformats.org/officeDocument/2006/relationships/slide" Target="slide7.xml"/><Relationship Id="rId9" Type="http://schemas.openxmlformats.org/officeDocument/2006/relationships/slide" Target="slide25.xml"/><Relationship Id="rId10" Type="http://schemas.openxmlformats.org/officeDocument/2006/relationships/slide" Target="slide9.xml"/><Relationship Id="rId11" Type="http://schemas.openxmlformats.org/officeDocument/2006/relationships/slide" Target="slide48.xml"/><Relationship Id="rId12" Type="http://schemas.openxmlformats.org/officeDocument/2006/relationships/slide" Target="slide27.xml"/><Relationship Id="rId13" Type="http://schemas.openxmlformats.org/officeDocument/2006/relationships/slide" Target="slide2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1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26.xml"/><Relationship Id="rId9" Type="http://schemas.openxmlformats.org/officeDocument/2006/relationships/slide" Target="slide11.xml"/><Relationship Id="rId10" Type="http://schemas.openxmlformats.org/officeDocument/2006/relationships/slide" Target="slide49.xml"/><Relationship Id="rId11" Type="http://schemas.openxmlformats.org/officeDocument/2006/relationships/slide" Target="slide27.xml"/><Relationship Id="rId12" Type="http://schemas.openxmlformats.org/officeDocument/2006/relationships/slide" Target="slide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22.xml"/><Relationship Id="rId7" Type="http://schemas.openxmlformats.org/officeDocument/2006/relationships/slide" Target="slide3.xml"/><Relationship Id="rId8" Type="http://schemas.openxmlformats.org/officeDocument/2006/relationships/slide" Target="slide24.xml"/><Relationship Id="rId9" Type="http://schemas.openxmlformats.org/officeDocument/2006/relationships/slide" Target="slide27.xml"/><Relationship Id="rId10" Type="http://schemas.openxmlformats.org/officeDocument/2006/relationships/slide" Target="slide44.xml"/><Relationship Id="rId11" Type="http://schemas.openxmlformats.org/officeDocument/2006/relationships/slide" Target="slide25.xml"/><Relationship Id="rId12" Type="http://schemas.openxmlformats.org/officeDocument/2006/relationships/slide" Target="slide28.xml"/><Relationship Id="rId13" Type="http://schemas.openxmlformats.org/officeDocument/2006/relationships/slide" Target="slide4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3.xml"/><Relationship Id="rId6" Type="http://schemas.openxmlformats.org/officeDocument/2006/relationships/slide" Target="slide3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31.xml"/><Relationship Id="rId10" Type="http://schemas.openxmlformats.org/officeDocument/2006/relationships/slide" Target="slide46.xml"/><Relationship Id="rId11" Type="http://schemas.openxmlformats.org/officeDocument/2006/relationships/slide" Target="slide45.xml"/><Relationship Id="rId12" Type="http://schemas.openxmlformats.org/officeDocument/2006/relationships/slide" Target="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4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29.xml"/><Relationship Id="rId9" Type="http://schemas.openxmlformats.org/officeDocument/2006/relationships/slide" Target="slide46.xml"/><Relationship Id="rId10" Type="http://schemas.openxmlformats.org/officeDocument/2006/relationships/slide" Target="slide48.xml"/><Relationship Id="rId11" Type="http://schemas.openxmlformats.org/officeDocument/2006/relationships/slide" Target="slide31.xml"/><Relationship Id="rId12" Type="http://schemas.openxmlformats.org/officeDocument/2006/relationships/slide" Target="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5.xml"/><Relationship Id="rId6" Type="http://schemas.openxmlformats.org/officeDocument/2006/relationships/slide" Target="slide3.xml"/><Relationship Id="rId7" Type="http://schemas.openxmlformats.org/officeDocument/2006/relationships/slide" Target="slide31.xml"/><Relationship Id="rId8" Type="http://schemas.openxmlformats.org/officeDocument/2006/relationships/slide" Target="slide30.xml"/><Relationship Id="rId9" Type="http://schemas.openxmlformats.org/officeDocument/2006/relationships/slide" Target="slide9.xml"/><Relationship Id="rId10" Type="http://schemas.openxmlformats.org/officeDocument/2006/relationships/slide" Target="slide48.xml"/><Relationship Id="rId11" Type="http://schemas.openxmlformats.org/officeDocument/2006/relationships/slide" Target="slide28.xml"/><Relationship Id="rId12" Type="http://schemas.openxmlformats.org/officeDocument/2006/relationships/slide" Target="slide4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26.xml"/><Relationship Id="rId7" Type="http://schemas.openxmlformats.org/officeDocument/2006/relationships/slide" Target="slide3.xml"/><Relationship Id="rId8" Type="http://schemas.openxmlformats.org/officeDocument/2006/relationships/slide" Target="slide28.xml"/><Relationship Id="rId9" Type="http://schemas.openxmlformats.org/officeDocument/2006/relationships/slide" Target="slide31.xml"/><Relationship Id="rId10" Type="http://schemas.openxmlformats.org/officeDocument/2006/relationships/slide" Target="slide45.xml"/><Relationship Id="rId11" Type="http://schemas.openxmlformats.org/officeDocument/2006/relationships/slide" Target="slide48.xml"/><Relationship Id="rId12" Type="http://schemas.openxmlformats.org/officeDocument/2006/relationships/slide" Target="slide30.xml"/><Relationship Id="rId13" Type="http://schemas.openxmlformats.org/officeDocument/2006/relationships/slide" Target="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7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32.xml"/><Relationship Id="rId9" Type="http://schemas.openxmlformats.org/officeDocument/2006/relationships/slide" Target="slide46.xml"/><Relationship Id="rId10" Type="http://schemas.openxmlformats.org/officeDocument/2006/relationships/slide" Target="slide48.xml"/><Relationship Id="rId11" Type="http://schemas.openxmlformats.org/officeDocument/2006/relationships/slide" Target="slide45.xml"/><Relationship Id="rId12" Type="http://schemas.openxmlformats.org/officeDocument/2006/relationships/slide" Target="slide4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8.xml"/><Relationship Id="rId6" Type="http://schemas.openxmlformats.org/officeDocument/2006/relationships/slide" Target="slide3.xml"/><Relationship Id="rId7" Type="http://schemas.openxmlformats.org/officeDocument/2006/relationships/slide" Target="slide28.xml"/><Relationship Id="rId8" Type="http://schemas.openxmlformats.org/officeDocument/2006/relationships/slide" Target="slide33.xml"/><Relationship Id="rId9" Type="http://schemas.openxmlformats.org/officeDocument/2006/relationships/slide" Target="slide9.xml"/><Relationship Id="rId10" Type="http://schemas.openxmlformats.org/officeDocument/2006/relationships/slide" Target="slide46.xml"/><Relationship Id="rId11" Type="http://schemas.openxmlformats.org/officeDocument/2006/relationships/slide" Target="slide45.xml"/><Relationship Id="rId12" Type="http://schemas.openxmlformats.org/officeDocument/2006/relationships/slide" Target="slide4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9.xml"/><Relationship Id="rId6" Type="http://schemas.openxmlformats.org/officeDocument/2006/relationships/slide" Target="slide3.xml"/><Relationship Id="rId7" Type="http://schemas.openxmlformats.org/officeDocument/2006/relationships/slide" Target="slide7.xml"/><Relationship Id="rId8" Type="http://schemas.openxmlformats.org/officeDocument/2006/relationships/slide" Target="slide34.xml"/><Relationship Id="rId9" Type="http://schemas.openxmlformats.org/officeDocument/2006/relationships/slide" Target="slide9.xml"/><Relationship Id="rId10" Type="http://schemas.openxmlformats.org/officeDocument/2006/relationships/slide" Target="slide46.xml"/><Relationship Id="rId11" Type="http://schemas.openxmlformats.org/officeDocument/2006/relationships/slide" Target="slide36.xml"/><Relationship Id="rId12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0.xml"/><Relationship Id="rId6" Type="http://schemas.openxmlformats.org/officeDocument/2006/relationships/slide" Target="slide3.xml"/><Relationship Id="rId7" Type="http://schemas.openxmlformats.org/officeDocument/2006/relationships/slide" Target="slide34.xml"/><Relationship Id="rId8" Type="http://schemas.openxmlformats.org/officeDocument/2006/relationships/slide" Target="slide35.xml"/><Relationship Id="rId9" Type="http://schemas.openxmlformats.org/officeDocument/2006/relationships/slide" Target="slide46.xml"/><Relationship Id="rId10" Type="http://schemas.openxmlformats.org/officeDocument/2006/relationships/slide" Target="slide36.xml"/><Relationship Id="rId11" Type="http://schemas.openxmlformats.org/officeDocument/2006/relationships/slide" Target="slide38.xml"/><Relationship Id="rId12" Type="http://schemas.openxmlformats.org/officeDocument/2006/relationships/slide" Target="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1.xml"/><Relationship Id="rId6" Type="http://schemas.openxmlformats.org/officeDocument/2006/relationships/slide" Target="slide3.xml"/><Relationship Id="rId7" Type="http://schemas.openxmlformats.org/officeDocument/2006/relationships/slide" Target="slide34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46.xml"/><Relationship Id="rId11" Type="http://schemas.openxmlformats.org/officeDocument/2006/relationships/slide" Target="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2.xml"/><Relationship Id="rId6" Type="http://schemas.openxmlformats.org/officeDocument/2006/relationships/slide" Target="slide3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5.xml"/><Relationship Id="rId10" Type="http://schemas.openxmlformats.org/officeDocument/2006/relationships/slide" Target="slide9.xml"/><Relationship Id="rId11" Type="http://schemas.openxmlformats.org/officeDocument/2006/relationships/slide" Target="slide4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3.xml"/><Relationship Id="rId6" Type="http://schemas.openxmlformats.org/officeDocument/2006/relationships/slide" Target="slide3.xml"/><Relationship Id="rId7" Type="http://schemas.openxmlformats.org/officeDocument/2006/relationships/slide" Target="slide35.xml"/><Relationship Id="rId8" Type="http://schemas.openxmlformats.org/officeDocument/2006/relationships/slide" Target="slide38.xml"/><Relationship Id="rId9" Type="http://schemas.openxmlformats.org/officeDocument/2006/relationships/slide" Target="slide40.xml"/><Relationship Id="rId10" Type="http://schemas.openxmlformats.org/officeDocument/2006/relationships/slide" Target="slide11.xml"/><Relationship Id="rId11" Type="http://schemas.openxmlformats.org/officeDocument/2006/relationships/slide" Target="slide44.xml"/><Relationship Id="rId12" Type="http://schemas.openxmlformats.org/officeDocument/2006/relationships/slide" Target="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34.xml"/><Relationship Id="rId7" Type="http://schemas.openxmlformats.org/officeDocument/2006/relationships/slide" Target="slide3.xml"/><Relationship Id="rId8" Type="http://schemas.openxmlformats.org/officeDocument/2006/relationships/slide" Target="slide38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slide" Target="slide48.xml"/><Relationship Id="rId12" Type="http://schemas.openxmlformats.org/officeDocument/2006/relationships/slide" Target="slide31.xml"/><Relationship Id="rId13" Type="http://schemas.openxmlformats.org/officeDocument/2006/relationships/slide" Target="slide4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notesSlide" Target="../notesSlides/notesSlide35.xml"/><Relationship Id="rId8" Type="http://schemas.openxmlformats.org/officeDocument/2006/relationships/slide" Target="slide3.xml"/><Relationship Id="rId9" Type="http://schemas.openxmlformats.org/officeDocument/2006/relationships/slide" Target="slide38.xml"/><Relationship Id="rId10" Type="http://schemas.openxmlformats.org/officeDocument/2006/relationships/slide" Target="slide40.xml"/><Relationship Id="rId11" Type="http://schemas.openxmlformats.org/officeDocument/2006/relationships/slide" Target="slide9.xml"/><Relationship Id="rId12" Type="http://schemas.openxmlformats.org/officeDocument/2006/relationships/slide" Target="slide26.xml"/><Relationship Id="rId13" Type="http://schemas.openxmlformats.org/officeDocument/2006/relationships/slide" Target="slide28.xml"/><Relationship Id="rId14" Type="http://schemas.openxmlformats.org/officeDocument/2006/relationships/slide" Target="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notesSlide" Target="../notesSlides/notesSlide36.xml"/><Relationship Id="rId8" Type="http://schemas.openxmlformats.org/officeDocument/2006/relationships/slide" Target="slide3.xml"/><Relationship Id="rId9" Type="http://schemas.openxmlformats.org/officeDocument/2006/relationships/slide" Target="slide35.xml"/><Relationship Id="rId10" Type="http://schemas.openxmlformats.org/officeDocument/2006/relationships/slide" Target="slide41.xml"/><Relationship Id="rId11" Type="http://schemas.openxmlformats.org/officeDocument/2006/relationships/slide" Target="slide38.xml"/><Relationship Id="rId12" Type="http://schemas.openxmlformats.org/officeDocument/2006/relationships/slide" Target="slide48.xml"/><Relationship Id="rId13" Type="http://schemas.openxmlformats.org/officeDocument/2006/relationships/slide" Target="slide42.xml"/><Relationship Id="rId14" Type="http://schemas.openxmlformats.org/officeDocument/2006/relationships/slide" Target="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7.xml"/><Relationship Id="rId6" Type="http://schemas.openxmlformats.org/officeDocument/2006/relationships/slide" Target="slide3.xml"/><Relationship Id="rId7" Type="http://schemas.openxmlformats.org/officeDocument/2006/relationships/slide" Target="slide46.xml"/><Relationship Id="rId8" Type="http://schemas.openxmlformats.org/officeDocument/2006/relationships/slide" Target="slide42.xml"/><Relationship Id="rId9" Type="http://schemas.openxmlformats.org/officeDocument/2006/relationships/slide" Target="slide43.xml"/><Relationship Id="rId10" Type="http://schemas.openxmlformats.org/officeDocument/2006/relationships/slide" Target="slide48.xml"/><Relationship Id="rId11" Type="http://schemas.openxmlformats.org/officeDocument/2006/relationships/slide" Target="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8.xml"/><Relationship Id="rId6" Type="http://schemas.openxmlformats.org/officeDocument/2006/relationships/slide" Target="slide3.xml"/><Relationship Id="rId7" Type="http://schemas.openxmlformats.org/officeDocument/2006/relationships/slide" Target="slide35.xml"/><Relationship Id="rId8" Type="http://schemas.openxmlformats.org/officeDocument/2006/relationships/slide" Target="slide43.xml"/><Relationship Id="rId9" Type="http://schemas.openxmlformats.org/officeDocument/2006/relationships/slide" Target="slide6.xml"/><Relationship Id="rId10" Type="http://schemas.openxmlformats.org/officeDocument/2006/relationships/slide" Target="slide46.xml"/><Relationship Id="rId11" Type="http://schemas.openxmlformats.org/officeDocument/2006/relationships/slide" Target="slide38.xml"/><Relationship Id="rId12" Type="http://schemas.openxmlformats.org/officeDocument/2006/relationships/slide" Target="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notesSlide" Target="../notesSlides/notesSlide39.xml"/><Relationship Id="rId7" Type="http://schemas.openxmlformats.org/officeDocument/2006/relationships/slide" Target="slide3.xml"/><Relationship Id="rId8" Type="http://schemas.openxmlformats.org/officeDocument/2006/relationships/slide" Target="slide45.xml"/><Relationship Id="rId9" Type="http://schemas.openxmlformats.org/officeDocument/2006/relationships/slide" Target="slide44.xml"/><Relationship Id="rId10" Type="http://schemas.openxmlformats.org/officeDocument/2006/relationships/slide" Target="slide48.xml"/><Relationship Id="rId11" Type="http://schemas.openxmlformats.org/officeDocument/2006/relationships/slide" Target="slide9.xml"/><Relationship Id="rId12" Type="http://schemas.openxmlformats.org/officeDocument/2006/relationships/slide" Target="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0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45.xml"/><Relationship Id="rId9" Type="http://schemas.openxmlformats.org/officeDocument/2006/relationships/slide" Target="slide10.xml"/><Relationship Id="rId10" Type="http://schemas.openxmlformats.org/officeDocument/2006/relationships/slide" Target="slide48.xml"/><Relationship Id="rId11" Type="http://schemas.openxmlformats.org/officeDocument/2006/relationships/slide" Target="slide40.xml"/><Relationship Id="rId12" Type="http://schemas.openxmlformats.org/officeDocument/2006/relationships/slide" Target="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1.xml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46.xml"/><Relationship Id="rId9" Type="http://schemas.openxmlformats.org/officeDocument/2006/relationships/slide" Target="slide48.xml"/><Relationship Id="rId10" Type="http://schemas.openxmlformats.org/officeDocument/2006/relationships/slide" Target="slide9.xml"/><Relationship Id="rId11" Type="http://schemas.openxmlformats.org/officeDocument/2006/relationships/slide" Target="slide28.xml"/><Relationship Id="rId12" Type="http://schemas.openxmlformats.org/officeDocument/2006/relationships/slide" Target="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42.xml"/><Relationship Id="rId7" Type="http://schemas.openxmlformats.org/officeDocument/2006/relationships/slide" Target="slide3.xml"/><Relationship Id="rId8" Type="http://schemas.openxmlformats.org/officeDocument/2006/relationships/slide" Target="slide45.xml"/><Relationship Id="rId9" Type="http://schemas.openxmlformats.org/officeDocument/2006/relationships/slide" Target="slide47.xml"/><Relationship Id="rId10" Type="http://schemas.openxmlformats.org/officeDocument/2006/relationships/slide" Target="slide46.xml"/><Relationship Id="rId11" Type="http://schemas.openxmlformats.org/officeDocument/2006/relationships/slide" Target="slide48.xml"/><Relationship Id="rId12" Type="http://schemas.openxmlformats.org/officeDocument/2006/relationships/slide" Target="slide42.xml"/><Relationship Id="rId13" Type="http://schemas.openxmlformats.org/officeDocument/2006/relationships/slide" Target="slide4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3.xml"/><Relationship Id="rId6" Type="http://schemas.openxmlformats.org/officeDocument/2006/relationships/slide" Target="slide3.xml"/><Relationship Id="rId7" Type="http://schemas.openxmlformats.org/officeDocument/2006/relationships/slide" Target="slide8.xml"/><Relationship Id="rId8" Type="http://schemas.openxmlformats.org/officeDocument/2006/relationships/slide" Target="slide48.xml"/><Relationship Id="rId9" Type="http://schemas.openxmlformats.org/officeDocument/2006/relationships/slide" Target="slide29.xml"/><Relationship Id="rId10" Type="http://schemas.openxmlformats.org/officeDocument/2006/relationships/slide" Target="slide46.xml"/><Relationship Id="rId11" Type="http://schemas.openxmlformats.org/officeDocument/2006/relationships/slide" Target="slide44.xml"/><Relationship Id="rId12" Type="http://schemas.openxmlformats.org/officeDocument/2006/relationships/slide" Target="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44.xml"/><Relationship Id="rId7" Type="http://schemas.openxmlformats.org/officeDocument/2006/relationships/slide" Target="slide3.xml"/><Relationship Id="rId8" Type="http://schemas.openxmlformats.org/officeDocument/2006/relationships/slide" Target="slide9.xml"/><Relationship Id="rId9" Type="http://schemas.openxmlformats.org/officeDocument/2006/relationships/slide" Target="slide49.xml"/><Relationship Id="rId10" Type="http://schemas.openxmlformats.org/officeDocument/2006/relationships/slide" Target="slide12.xml"/><Relationship Id="rId11" Type="http://schemas.openxmlformats.org/officeDocument/2006/relationships/slide" Target="slide15.xml"/><Relationship Id="rId12" Type="http://schemas.openxmlformats.org/officeDocument/2006/relationships/slide" Target="slide48.xml"/><Relationship Id="rId13" Type="http://schemas.openxmlformats.org/officeDocument/2006/relationships/slide" Target="slide5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45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50.xml"/><Relationship Id="rId10" Type="http://schemas.openxmlformats.org/officeDocument/2006/relationships/slide" Target="slide10.xml"/><Relationship Id="rId11" Type="http://schemas.openxmlformats.org/officeDocument/2006/relationships/slide" Target="slide48.xml"/><Relationship Id="rId12" Type="http://schemas.openxmlformats.org/officeDocument/2006/relationships/slide" Target="slide45.xml"/><Relationship Id="rId13" Type="http://schemas.openxmlformats.org/officeDocument/2006/relationships/slide" Target="slide3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notesSlide" Target="../notesSlides/notesSlide46.xml"/><Relationship Id="rId7" Type="http://schemas.openxmlformats.org/officeDocument/2006/relationships/slide" Target="slide3.xml"/><Relationship Id="rId8" Type="http://schemas.openxmlformats.org/officeDocument/2006/relationships/slide" Target="slide48.xml"/><Relationship Id="rId9" Type="http://schemas.openxmlformats.org/officeDocument/2006/relationships/slide" Target="slide51.xml"/><Relationship Id="rId10" Type="http://schemas.openxmlformats.org/officeDocument/2006/relationships/slide" Target="slide10.xml"/><Relationship Id="rId11" Type="http://schemas.openxmlformats.org/officeDocument/2006/relationships/slide" Target="slide50.xml"/><Relationship Id="rId12" Type="http://schemas.openxmlformats.org/officeDocument/2006/relationships/slide" Target="slide11.xml"/><Relationship Id="rId13" Type="http://schemas.openxmlformats.org/officeDocument/2006/relationships/slide" Target="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8.png"/><Relationship Id="rId6" Type="http://schemas.openxmlformats.org/officeDocument/2006/relationships/notesSlide" Target="../notesSlides/notesSlide47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52.xml"/><Relationship Id="rId10" Type="http://schemas.openxmlformats.org/officeDocument/2006/relationships/slide" Target="slide50.xml"/><Relationship Id="rId11" Type="http://schemas.openxmlformats.org/officeDocument/2006/relationships/slide" Target="slide15.xml"/><Relationship Id="rId12" Type="http://schemas.openxmlformats.org/officeDocument/2006/relationships/slide" Target="slide45.xml"/><Relationship Id="rId13" Type="http://schemas.openxmlformats.org/officeDocument/2006/relationships/slide" Target="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slide" Target="slide3.xml"/><Relationship Id="rId7" Type="http://schemas.openxmlformats.org/officeDocument/2006/relationships/slide" Target="slide24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5.xml"/><Relationship Id="rId11" Type="http://schemas.openxmlformats.org/officeDocument/2006/relationships/slide" Target="slide31.xml"/><Relationship Id="rId12" Type="http://schemas.openxmlformats.org/officeDocument/2006/relationships/slide" Target="slide3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34.xml"/><Relationship Id="rId7" Type="http://schemas.openxmlformats.org/officeDocument/2006/relationships/slide" Target="slide37.xml"/><Relationship Id="rId8" Type="http://schemas.openxmlformats.org/officeDocument/2006/relationships/slide" Target="slide35.xml"/><Relationship Id="rId9" Type="http://schemas.openxmlformats.org/officeDocument/2006/relationships/slide" Target="slide11.xml"/><Relationship Id="rId10" Type="http://schemas.openxmlformats.org/officeDocument/2006/relationships/slide" Target="slide40.xml"/><Relationship Id="rId11" Type="http://schemas.openxmlformats.org/officeDocument/2006/relationships/slide" Target="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49.xml"/><Relationship Id="rId7" Type="http://schemas.openxmlformats.org/officeDocument/2006/relationships/slide" Target="slide12.xml"/><Relationship Id="rId8" Type="http://schemas.openxmlformats.org/officeDocument/2006/relationships/slide" Target="slide38.xml"/><Relationship Id="rId9" Type="http://schemas.openxmlformats.org/officeDocument/2006/relationships/slide" Target="slide13.xml"/><Relationship Id="rId10" Type="http://schemas.openxmlformats.org/officeDocument/2006/relationships/slide" Target="slide11.xml"/><Relationship Id="rId11" Type="http://schemas.openxmlformats.org/officeDocument/2006/relationships/slide" Target="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45.xml"/><Relationship Id="rId7" Type="http://schemas.openxmlformats.org/officeDocument/2006/relationships/slide" Target="slide48.xml"/><Relationship Id="rId8" Type="http://schemas.openxmlformats.org/officeDocument/2006/relationships/slide" Target="slide44.xml"/><Relationship Id="rId9" Type="http://schemas.openxmlformats.org/officeDocument/2006/relationships/slide" Target="slide46.xml"/><Relationship Id="rId10" Type="http://schemas.openxmlformats.org/officeDocument/2006/relationships/slide" Target="slide28.xml"/><Relationship Id="rId11" Type="http://schemas.openxmlformats.org/officeDocument/2006/relationships/slide" Target="slide4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48.xml"/><Relationship Id="rId7" Type="http://schemas.openxmlformats.org/officeDocument/2006/relationships/slide" Target="slide3.xml"/><Relationship Id="rId8" Type="http://schemas.openxmlformats.org/officeDocument/2006/relationships/slide" Target="slide46.xml"/><Relationship Id="rId9" Type="http://schemas.openxmlformats.org/officeDocument/2006/relationships/slide" Target="slide57.xml"/><Relationship Id="rId10" Type="http://schemas.openxmlformats.org/officeDocument/2006/relationships/slide" Target="slide58.xml"/><Relationship Id="rId11" Type="http://schemas.openxmlformats.org/officeDocument/2006/relationships/slide" Target="slide48.xml"/><Relationship Id="rId12" Type="http://schemas.openxmlformats.org/officeDocument/2006/relationships/slide" Target="slide60.xml"/><Relationship Id="rId13" Type="http://schemas.openxmlformats.org/officeDocument/2006/relationships/slide" Target="slide6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notesSlide" Target="../notesSlides/notesSlide49.xml"/><Relationship Id="rId8" Type="http://schemas.openxmlformats.org/officeDocument/2006/relationships/slide" Target="slide3.xml"/><Relationship Id="rId9" Type="http://schemas.openxmlformats.org/officeDocument/2006/relationships/slide" Target="slide57.xml"/><Relationship Id="rId10" Type="http://schemas.openxmlformats.org/officeDocument/2006/relationships/slide" Target="slide58.xml"/><Relationship Id="rId11" Type="http://schemas.openxmlformats.org/officeDocument/2006/relationships/slide" Target="slide60.xml"/><Relationship Id="rId12" Type="http://schemas.openxmlformats.org/officeDocument/2006/relationships/slide" Target="slide48.xml"/><Relationship Id="rId13" Type="http://schemas.openxmlformats.org/officeDocument/2006/relationships/slide" Target="slide59.xml"/><Relationship Id="rId14" Type="http://schemas.openxmlformats.org/officeDocument/2006/relationships/slide" Target="slide6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50.xml"/><Relationship Id="rId7" Type="http://schemas.openxmlformats.org/officeDocument/2006/relationships/slide" Target="slide3.xml"/><Relationship Id="rId8" Type="http://schemas.openxmlformats.org/officeDocument/2006/relationships/slide" Target="slide28.xml"/><Relationship Id="rId9" Type="http://schemas.openxmlformats.org/officeDocument/2006/relationships/slide" Target="slide59.xml"/><Relationship Id="rId10" Type="http://schemas.openxmlformats.org/officeDocument/2006/relationships/slide" Target="slide57.xml"/><Relationship Id="rId11" Type="http://schemas.openxmlformats.org/officeDocument/2006/relationships/slide" Target="slide48.xml"/><Relationship Id="rId12" Type="http://schemas.openxmlformats.org/officeDocument/2006/relationships/slide" Target="slide47.xml"/><Relationship Id="rId13" Type="http://schemas.openxmlformats.org/officeDocument/2006/relationships/slide" Target="slide4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51.xml"/><Relationship Id="rId7" Type="http://schemas.openxmlformats.org/officeDocument/2006/relationships/slide" Target="slide3.xml"/><Relationship Id="rId8" Type="http://schemas.openxmlformats.org/officeDocument/2006/relationships/slide" Target="slide58.xml"/><Relationship Id="rId9" Type="http://schemas.openxmlformats.org/officeDocument/2006/relationships/slide" Target="slide60.xml"/><Relationship Id="rId10" Type="http://schemas.openxmlformats.org/officeDocument/2006/relationships/slide" Target="slide61.xml"/><Relationship Id="rId11" Type="http://schemas.openxmlformats.org/officeDocument/2006/relationships/slide" Target="slide48.xml"/><Relationship Id="rId12" Type="http://schemas.openxmlformats.org/officeDocument/2006/relationships/slide" Target="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notesSlide" Target="../notesSlides/notesSlide52.xml"/><Relationship Id="rId7" Type="http://schemas.openxmlformats.org/officeDocument/2006/relationships/slide" Target="slide3.xml"/><Relationship Id="rId8" Type="http://schemas.openxmlformats.org/officeDocument/2006/relationships/slide" Target="slide60.xml"/><Relationship Id="rId9" Type="http://schemas.openxmlformats.org/officeDocument/2006/relationships/slide" Target="slide61.xml"/><Relationship Id="rId10" Type="http://schemas.openxmlformats.org/officeDocument/2006/relationships/slide" Target="slide46.xml"/><Relationship Id="rId11" Type="http://schemas.openxmlformats.org/officeDocument/2006/relationships/slide" Target="slide48.xml"/><Relationship Id="rId12" Type="http://schemas.openxmlformats.org/officeDocument/2006/relationships/slide" Target="slide45.xml"/><Relationship Id="rId13" Type="http://schemas.openxmlformats.org/officeDocument/2006/relationships/slide" Target="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6.png"/><Relationship Id="rId6" Type="http://schemas.openxmlformats.org/officeDocument/2006/relationships/slide" Target="slide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slide" Target="slide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4.xml"/><Relationship Id="rId15" Type="http://schemas.openxmlformats.org/officeDocument/2006/relationships/slide" Target="slide15.xml"/><Relationship Id="rId16" Type="http://schemas.openxmlformats.org/officeDocument/2006/relationships/slide" Target="slide16.xml"/><Relationship Id="rId17" Type="http://schemas.openxmlformats.org/officeDocument/2006/relationships/slide" Target="slide17.xml"/><Relationship Id="rId18" Type="http://schemas.openxmlformats.org/officeDocument/2006/relationships/slide" Target="slide18.xml"/><Relationship Id="rId19" Type="http://schemas.openxmlformats.org/officeDocument/2006/relationships/slide" Target="slide19.xml"/><Relationship Id="rId20" Type="http://schemas.openxmlformats.org/officeDocument/2006/relationships/slide" Target="slide20.xml"/><Relationship Id="rId21" Type="http://schemas.openxmlformats.org/officeDocument/2006/relationships/slide" Target="slide21.xml"/><Relationship Id="rId22" Type="http://schemas.openxmlformats.org/officeDocument/2006/relationships/slide" Target="slide22.xml"/><Relationship Id="rId23" Type="http://schemas.openxmlformats.org/officeDocument/2006/relationships/slide" Target="slide23.xml"/><Relationship Id="rId24" Type="http://schemas.openxmlformats.org/officeDocument/2006/relationships/slide" Target="slide24.xml"/><Relationship Id="rId25" Type="http://schemas.openxmlformats.org/officeDocument/2006/relationships/slide" Target="slide25.xml"/><Relationship Id="rId26" Type="http://schemas.openxmlformats.org/officeDocument/2006/relationships/slide" Target="slide26.xml"/><Relationship Id="rId27" Type="http://schemas.openxmlformats.org/officeDocument/2006/relationships/slide" Target="slide27.xml"/><Relationship Id="rId28" Type="http://schemas.openxmlformats.org/officeDocument/2006/relationships/slide" Target="slide28.xml"/><Relationship Id="rId29" Type="http://schemas.openxmlformats.org/officeDocument/2006/relationships/slide" Target="slide29.xml"/><Relationship Id="rId30" Type="http://schemas.openxmlformats.org/officeDocument/2006/relationships/slide" Target="slide30.xml"/><Relationship Id="rId31" Type="http://schemas.openxmlformats.org/officeDocument/2006/relationships/slide" Target="slide3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32.xml"/><Relationship Id="rId7" Type="http://schemas.openxmlformats.org/officeDocument/2006/relationships/slide" Target="slide33.xml"/><Relationship Id="rId8" Type="http://schemas.openxmlformats.org/officeDocument/2006/relationships/slide" Target="slide34.xml"/><Relationship Id="rId9" Type="http://schemas.openxmlformats.org/officeDocument/2006/relationships/slide" Target="slide35.xml"/><Relationship Id="rId10" Type="http://schemas.openxmlformats.org/officeDocument/2006/relationships/slide" Target="slide36.xml"/><Relationship Id="rId11" Type="http://schemas.openxmlformats.org/officeDocument/2006/relationships/slide" Target="slide37.xml"/><Relationship Id="rId12" Type="http://schemas.openxmlformats.org/officeDocument/2006/relationships/slide" Target="slide38.xml"/><Relationship Id="rId13" Type="http://schemas.openxmlformats.org/officeDocument/2006/relationships/slide" Target="slide39.xml"/><Relationship Id="rId14" Type="http://schemas.openxmlformats.org/officeDocument/2006/relationships/slide" Target="slide40.xml"/><Relationship Id="rId15" Type="http://schemas.openxmlformats.org/officeDocument/2006/relationships/slide" Target="slide41.xml"/><Relationship Id="rId16" Type="http://schemas.openxmlformats.org/officeDocument/2006/relationships/slide" Target="slide42.xml"/><Relationship Id="rId17" Type="http://schemas.openxmlformats.org/officeDocument/2006/relationships/slide" Target="slide43.xml"/><Relationship Id="rId18" Type="http://schemas.openxmlformats.org/officeDocument/2006/relationships/slide" Target="slide44.xml"/><Relationship Id="rId19" Type="http://schemas.openxmlformats.org/officeDocument/2006/relationships/slide" Target="slide45.xml"/><Relationship Id="rId20" Type="http://schemas.openxmlformats.org/officeDocument/2006/relationships/slide" Target="slide46.xml"/><Relationship Id="rId21" Type="http://schemas.openxmlformats.org/officeDocument/2006/relationships/slide" Target="slide47.xml"/><Relationship Id="rId22" Type="http://schemas.openxmlformats.org/officeDocument/2006/relationships/slide" Target="slide48.xml"/><Relationship Id="rId23" Type="http://schemas.openxmlformats.org/officeDocument/2006/relationships/slide" Target="slide49.xml"/><Relationship Id="rId24" Type="http://schemas.openxmlformats.org/officeDocument/2006/relationships/slide" Target="slide50.xml"/><Relationship Id="rId25" Type="http://schemas.openxmlformats.org/officeDocument/2006/relationships/slide" Target="slide51.xml"/><Relationship Id="rId26" Type="http://schemas.openxmlformats.org/officeDocument/2006/relationships/slide" Target="slide52.xml"/><Relationship Id="rId27" Type="http://schemas.openxmlformats.org/officeDocument/2006/relationships/slide" Target="slide57.xml"/><Relationship Id="rId28" Type="http://schemas.openxmlformats.org/officeDocument/2006/relationships/slide" Target="slide58.xml"/><Relationship Id="rId29" Type="http://schemas.openxmlformats.org/officeDocument/2006/relationships/slide" Target="slide59.xml"/><Relationship Id="rId30" Type="http://schemas.openxmlformats.org/officeDocument/2006/relationships/slide" Target="slide60.xml"/><Relationship Id="rId31" Type="http://schemas.openxmlformats.org/officeDocument/2006/relationships/slide" Target="slide6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5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slide" Target="slide77.xml"/><Relationship Id="rId7" Type="http://schemas.openxmlformats.org/officeDocument/2006/relationships/notesSlide" Target="../notesSlides/notesSlide5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slide" Target="slide77.xml"/><Relationship Id="rId7" Type="http://schemas.openxmlformats.org/officeDocument/2006/relationships/slide" Target="slide79.xml"/><Relationship Id="rId8" Type="http://schemas.openxmlformats.org/officeDocument/2006/relationships/slide" Target="slide78.xml"/><Relationship Id="rId9" Type="http://schemas.openxmlformats.org/officeDocument/2006/relationships/slide" Target="slide89.xml"/><Relationship Id="rId10" Type="http://schemas.openxmlformats.org/officeDocument/2006/relationships/slide" Target="slide81.xml"/><Relationship Id="rId11" Type="http://schemas.openxmlformats.org/officeDocument/2006/relationships/slide" Target="slide84.xml"/><Relationship Id="rId12" Type="http://schemas.openxmlformats.org/officeDocument/2006/relationships/slide" Target="slide88.xml"/><Relationship Id="rId13" Type="http://schemas.openxmlformats.org/officeDocument/2006/relationships/slide" Target="slide85.xml"/><Relationship Id="rId14" Type="http://schemas.openxmlformats.org/officeDocument/2006/relationships/notesSlide" Target="../notesSlides/notesSlide5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5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5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5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5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6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7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7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7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7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slide" Target="slide77.xml"/><Relationship Id="rId7" Type="http://schemas.openxmlformats.org/officeDocument/2006/relationships/slide" Target="slide78.xml"/><Relationship Id="rId8" Type="http://schemas.openxmlformats.org/officeDocument/2006/relationships/slide" Target="slide79.xml"/><Relationship Id="rId9" Type="http://schemas.openxmlformats.org/officeDocument/2006/relationships/slide" Target="slide82.xml"/><Relationship Id="rId10" Type="http://schemas.openxmlformats.org/officeDocument/2006/relationships/slide" Target="slide89.xml"/><Relationship Id="rId11" Type="http://schemas.openxmlformats.org/officeDocument/2006/relationships/slide" Target="slide90.xml"/><Relationship Id="rId12" Type="http://schemas.openxmlformats.org/officeDocument/2006/relationships/slide" Target="slide80.xml"/><Relationship Id="rId13" Type="http://schemas.openxmlformats.org/officeDocument/2006/relationships/slide" Target="slide81.xml"/><Relationship Id="rId14" Type="http://schemas.openxmlformats.org/officeDocument/2006/relationships/slide" Target="slide83.xml"/><Relationship Id="rId15" Type="http://schemas.openxmlformats.org/officeDocument/2006/relationships/slide" Target="slide84.xml"/><Relationship Id="rId16" Type="http://schemas.openxmlformats.org/officeDocument/2006/relationships/slide" Target="slide85.xml"/><Relationship Id="rId17" Type="http://schemas.openxmlformats.org/officeDocument/2006/relationships/slide" Target="slide88.xml"/><Relationship Id="rId18" Type="http://schemas.openxmlformats.org/officeDocument/2006/relationships/slide" Target="slide86.xml"/><Relationship Id="rId19" Type="http://schemas.openxmlformats.org/officeDocument/2006/relationships/slide" Target="slide87.xml"/><Relationship Id="rId20" Type="http://schemas.openxmlformats.org/officeDocument/2006/relationships/slide" Target="slide91.xml"/><Relationship Id="rId21" Type="http://schemas.openxmlformats.org/officeDocument/2006/relationships/notesSlide" Target="../notesSlides/notesSlide7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7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75.xml"/><Relationship Id="rId6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PLATFORM VISION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MRM: faith, learning and care, 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digital platform for all Muslims, with dedicated support for reverts and people who need assistance.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 /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E8C578"/>
                </a:solidFill>
                <a:latin typeface="DejaVu Sans"/>
              </a:defRPr>
            </a:pPr>
            <a:r>
              <a:t>Bismillahirrahmanirrahim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99232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500" b="1">
                <a:solidFill>
                  <a:srgbClr val="F7F9FF"/>
                </a:solidFill>
                <a:latin typeface="DejaVu Sans"/>
              </a:defRPr>
            </a:pPr>
            <a:r>
              <a:t>Every feature should make</a:t>
            </a:r>
          </a:p>
          <a:p>
            <a:pPr algn="l">
              <a:spcAft>
                <a:spcPts val="200"/>
              </a:spcAft>
              <a:defRPr sz="3500" b="1">
                <a:solidFill>
                  <a:srgbClr val="F7F9FF"/>
                </a:solidFill>
                <a:latin typeface="DejaVu Sans"/>
              </a:defRPr>
            </a:pPr>
            <a:r>
              <a:t>the next experience better.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36592"/>
            <a:ext cx="98755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BBC8DF"/>
                </a:solidFill>
                <a:latin typeface="DejaVu Sans"/>
              </a:defRPr>
            </a:pPr>
            <a:r>
              <a:t>Daily practice opens the door. Trusted learning builds participation.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BBC8DF"/>
                </a:solidFill>
                <a:latin typeface="DejaVu Sans"/>
              </a:defRPr>
            </a:pPr>
            <a:r>
              <a:t>Connected service turns a need into accountable care.</a:t>
            </a:r>
          </a:p>
        </p:txBody>
      </p:sp>
      <p:pic>
        <p:nvPicPr>
          <p:cNvPr id="17" name="Picture 16" descr="48-home_dark_mod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5720" y="2423160"/>
            <a:ext cx="2130278" cy="434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20856" y="6839712"/>
            <a:ext cx="224000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48 · Admin Home · dark-theme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89320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E8C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094476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FAITH  /  Useful every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5989320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6094476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LEARNING  /  Approved knowledge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528816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8DD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633972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CARE  /  Responsible follow-up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6528816"/>
            <a:ext cx="4773168" cy="420624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6633972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OPERATIONS  /  A service MRM can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7132320"/>
            <a:ext cx="1005840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7191756"/>
            <a:ext cx="9802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A connected specification, supported by audited MVP visuals and explicit feature relationships.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WHY THIS PLATFORM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The value comes from the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proposal creates an operating service across mobile apps, a public website, administration and shared backend.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55063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Useful every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Prayer, Quran and daily guidance give Muslims reasons to return beyond a one-off 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55063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Trusted participation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Reviewed teachers, verified volunteers and controlled publication make the next action clearer.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45152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91456"/>
            <a:ext cx="32004" cy="1655063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28032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Accountable 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32120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request leads to triage, a confirmed assignment, follow-up and an auditable outcome.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45152"/>
            <a:ext cx="6537960" cy="1947672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91456"/>
            <a:ext cx="32004" cy="1655063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28032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Sustainable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32120"/>
            <a:ext cx="6135624" cy="969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 entitlements and sponsor placements support revenue without gating core assistance.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Success should be measured through real participation, reliable service completion and MRM’s operational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NAVIGATION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A presentation you can explore by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Start with the overall network, then follow a feature into its detailed dependencies, users and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9464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41247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01  Overall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 05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principal cross-feature paths.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157216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358384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02  Individual feature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06–52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47 primary capability networks and their importance.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9674352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9464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9875520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03  End-to-end journeys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53–56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Care, learning, daily use and event delivery.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32004" cy="1664208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41247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04  Extended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57–61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Five financial / impact concepts, clearly qualified.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157216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4727448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358384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05  Delivery &amp; acceptance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62–65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Sequencing, ownership, checks and decisions.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9674352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4727448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9875520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7" b="1">
                <a:solidFill>
                  <a:srgbClr val="F7F9FF"/>
                </a:solidFill>
                <a:latin typeface="DejaVu Sans"/>
              </a:defRPr>
            </a:pPr>
            <a:r>
              <a:t>06  Evidence &amp; connection index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66–72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Source review, traceability and next steps.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Feature nodes and index entries are clickable in PowerPoint and PDF. Every footer returns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AUDIENCE &amp; VALUE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8" b="1">
                <a:solidFill>
                  <a:srgbClr val="F7F9FF"/>
                </a:solidFill>
                <a:latin typeface="DejaVu Sans"/>
              </a:defRPr>
            </a:pPr>
            <a:r>
              <a:t>All Muslims can benefit; specialised support stays focused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Different journeys share an identity foundation while keeping permissions and personal information separate.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9464"/>
            <a:ext cx="32004" cy="1664208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41247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Everyday Muslim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Daily tools, approved resources and programme discovery.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157216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358384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Members / support seekers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Safe requests, personal updates and relevant guidance.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9674352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9875520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Volunteers / applicants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defined approval route and suitable service opportunities.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41247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Teachers / mentors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 teaching and explicit publishing entitlements.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157216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4727448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358384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staff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Duty-based queues, decisions, oversight and controlled reports.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9674352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4727448"/>
            <a:ext cx="32004" cy="1664208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9875520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Partners / sponsors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 referral coordination and accountable recognition.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A role is not a paywall. Paying, earning rank or choosing a demo persona does not create staff privileges.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H="1">
            <a:off x="13990320" y="6227064"/>
            <a:ext cx="24688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4237208" y="3008376"/>
            <a:ext cx="0" cy="3218688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3990320" y="3008376"/>
            <a:ext cx="24688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2595860" y="5138928"/>
            <a:ext cx="0" cy="56692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34539" y="3529584"/>
            <a:ext cx="0" cy="56692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46988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94944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42900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46988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4944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2900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46988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94944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2900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OVERALL 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The overall network: features hand off real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Identity, publishing and participation converge through permission checks, accountable records and relevant updates.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4" b="1">
                <a:solidFill>
                  <a:srgbClr val="F7F9FF"/>
                </a:solidFill>
                <a:latin typeface="DejaVu Sans"/>
              </a:defRPr>
            </a:pPr>
            <a:r>
              <a:t>Identity &amp; verified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Account, approval and visibility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16052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78807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32511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Request &amp;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Triage and eligible volunteer offer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68096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9924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84555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Permitted contact and progress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20140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1968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36599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/ service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Outcome, closure and follow-up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64008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804671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Credentials and professional role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416052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78807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432511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Verified plan rights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Teacher-only publishing privileges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768096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9924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84555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Moderated publishing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posts and programmes</a:t>
            </a:r>
          </a:p>
        </p:txBody>
      </p:sp>
      <p:sp>
        <p:nvSpPr>
          <p:cNvPr id="42" name="Rounded Rectangle 41">
            <a:hlinkClick action="ppaction://hlinksldjump" r:id="rId13"/>
          </p:cNvPr>
          <p:cNvSpPr/>
          <p:nvPr/>
        </p:nvSpPr>
        <p:spPr>
          <a:xfrm>
            <a:off x="1120140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1968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1136599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Classes &amp; calendar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599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Registration, sessions and updates</a:t>
            </a:r>
          </a:p>
        </p:txBody>
      </p:sp>
      <p:sp>
        <p:nvSpPr>
          <p:cNvPr id="46" name="Rounded Rectangle 45">
            <a:hlinkClick action="ppaction://hlinksldjump" r:id="rId14"/>
          </p:cNvPr>
          <p:cNvSpPr/>
          <p:nvPr/>
        </p:nvSpPr>
        <p:spPr>
          <a:xfrm>
            <a:off x="64008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>
            <a:hlinkClick action="ppaction://hlinksldjump" r:id="rId14"/>
          </p:cNvPr>
          <p:cNvSpPr txBox="1"/>
          <p:nvPr/>
        </p:nvSpPr>
        <p:spPr>
          <a:xfrm>
            <a:off x="804671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tools / website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public entry points</a:t>
            </a:r>
          </a:p>
        </p:txBody>
      </p:sp>
      <p:sp>
        <p:nvSpPr>
          <p:cNvPr id="50" name="Rounded Rectangle 49">
            <a:hlinkClick action="ppaction://hlinksldjump" r:id="rId15"/>
          </p:cNvPr>
          <p:cNvSpPr/>
          <p:nvPr/>
        </p:nvSpPr>
        <p:spPr>
          <a:xfrm>
            <a:off x="416052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78807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>
            <a:hlinkClick action="ppaction://hlinksldjump" r:id="rId15"/>
          </p:cNvPr>
          <p:cNvSpPr txBox="1"/>
          <p:nvPr/>
        </p:nvSpPr>
        <p:spPr>
          <a:xfrm>
            <a:off x="432511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Search &amp; discovery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approved content / services</a:t>
            </a:r>
          </a:p>
        </p:txBody>
      </p:sp>
      <p:sp>
        <p:nvSpPr>
          <p:cNvPr id="54" name="Rounded Rectangle 53">
            <a:hlinkClick action="ppaction://hlinksldjump" r:id="rId16"/>
          </p:cNvPr>
          <p:cNvSpPr/>
          <p:nvPr/>
        </p:nvSpPr>
        <p:spPr>
          <a:xfrm>
            <a:off x="768096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9924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784555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Join, apply or request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4555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Take the relevant permitted action</a:t>
            </a:r>
          </a:p>
        </p:txBody>
      </p:sp>
      <p:sp>
        <p:nvSpPr>
          <p:cNvPr id="58" name="Rounded Rectangle 57">
            <a:hlinkClick action="ppaction://hlinksldjump" r:id="rId17"/>
          </p:cNvPr>
          <p:cNvSpPr/>
          <p:nvPr/>
        </p:nvSpPr>
        <p:spPr>
          <a:xfrm>
            <a:off x="1120140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21968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>
            <a:hlinkClick action="ppaction://hlinksldjump" r:id="rId17"/>
          </p:cNvPr>
          <p:cNvSpPr txBox="1"/>
          <p:nvPr/>
        </p:nvSpPr>
        <p:spPr>
          <a:xfrm>
            <a:off x="1136599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Safe alerts &amp; activity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6599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authorised next step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65576" y="2697480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3008" y="273405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gates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86016" y="269748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13448" y="2734056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06455" y="269748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33887" y="2734056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65576" y="4306824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93008" y="434340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86016" y="4306824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34340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06455" y="4306824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33887" y="434340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5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65576" y="5916168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93008" y="595274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86016" y="591616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13448" y="5952744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06455" y="591616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33887" y="5952744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05355" y="3694176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32787" y="3730752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binds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266676" y="530352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294108" y="534009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908024" y="449884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935456" y="453542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Cross-cutting checks: consent • role / record permissions • content approval • audit • recoverable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Welcome people into the right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entry paths turn public interest into learning, participation or a safe request for help.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 / 72</a:t>
            </a:r>
          </a:p>
        </p:txBody>
      </p:sp>
      <p:pic>
        <p:nvPicPr>
          <p:cNvPr id="14" name="Picture 13" descr="02-onboarding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02 · Onboarding · care pillar</a:t>
            </a:r>
          </a:p>
        </p:txBody>
      </p:sp>
      <p:pic>
        <p:nvPicPr>
          <p:cNvPr id="16" name="Picture 15" descr="03-welcome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03 · Welcome and guest entry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entry screens · proposed routing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Public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Mission, programmes and participation routes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4" b="1">
                <a:solidFill>
                  <a:srgbClr val="F7F9FF"/>
                </a:solidFill>
                <a:latin typeface="DejaVu Sans"/>
              </a:defRPr>
            </a:pPr>
            <a:r>
              <a:t>Welcome &amp;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benefits and entry choices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Guest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public tools and resources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4" b="1">
                <a:solidFill>
                  <a:srgbClr val="F7F9FF"/>
                </a:solidFill>
                <a:latin typeface="DejaVu Sans"/>
              </a:defRPr>
            </a:pPr>
            <a:r>
              <a:t>Language preference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approved EN / BM content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4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Create identity for personal services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seeker, volunteer or teacher route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7" b="1">
                <a:solidFill>
                  <a:srgbClr val="62DAE8"/>
                </a:solidFill>
                <a:latin typeface="DejaVu Sans"/>
              </a:defRPr>
            </a:pPr>
            <a:r>
              <a:t>introduces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localises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Language preference → Welcome &amp; onboarding → Guest discovery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Guest-to-service progression; onboarding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Registration connects identity, consent and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single identity supports several authorised roles without duplicating accounts or exposing private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 / 72</a:t>
            </a:r>
          </a:p>
        </p:txBody>
      </p:sp>
      <p:pic>
        <p:nvPicPr>
          <p:cNvPr id="14" name="Picture 13" descr="04-signup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04 · Registration · participation tracks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participation-track form · approval flow proposed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Welcome / guest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Personal service needs a registered identity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Contact details and required verification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&amp;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Maintain the person’s ordinary details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4" b="1">
                <a:solidFill>
                  <a:srgbClr val="F7F9FF"/>
                </a:solidFill>
                <a:latin typeface="DejaVu Sans"/>
              </a:defRPr>
            </a:pPr>
            <a:r>
              <a:t>Terms &amp; privacy consent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notice and participation conditions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for volunteer or teacher privileges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 privileged roles independently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requires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Terms &amp; privacy consent → Account registration → Account &amp; profile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Registration completion; consent capture; duplicate-account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Sign-in connects the person to authorised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Secure recovery and session checks preserve access to ongoing cases and learning without weakening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08 / 72</a:t>
            </a:r>
          </a:p>
        </p:txBody>
      </p:sp>
      <p:pic>
        <p:nvPicPr>
          <p:cNvPr id="14" name="Picture 13" descr="05-login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05 · Sign-in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sign-in UI · Face ID not independently verified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Registered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Existing account and recovery channel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Sign-in &amp;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Authenticate or recover the account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Role-aware workspace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permitted services and actions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0" b="1">
                <a:solidFill>
                  <a:srgbClr val="F7F9FF"/>
                </a:solidFill>
                <a:latin typeface="DejaVu Sans"/>
              </a:defRPr>
            </a:pPr>
            <a:r>
              <a:t>Recovery / device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Re-establish the legitimate user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Authenticated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Expiry, sign-out and supported device lock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Record authorisation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each requested case or 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81" b="1">
                <a:solidFill>
                  <a:srgbClr val="62DAE8"/>
                </a:solidFill>
                <a:latin typeface="DejaVu Sans"/>
              </a:defRPr>
            </a:pPr>
            <a:r>
              <a:t>identifies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restores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Recovery / device checks → Sign-in &amp; recovery → Role-aware workspace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Successful recovery; session expiry; denied-access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Profile and roles connect trust to the right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Role approval controls service access; changing the visible persona must never grant new privileges.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09 / 72</a:t>
            </a:r>
          </a:p>
        </p:txBody>
      </p:sp>
      <p:pic>
        <p:nvPicPr>
          <p:cNvPr id="14" name="Picture 13" descr="12-profil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12 · Profile / role summary</a:t>
            </a:r>
          </a:p>
        </p:txBody>
      </p:sp>
      <p:pic>
        <p:nvPicPr>
          <p:cNvPr id="16" name="Picture 15" descr="45-modal_role_pick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45 · Role-picker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profile and role-picker modal · server permissions unverified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One person may hold several roles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8" b="1">
                <a:solidFill>
                  <a:srgbClr val="F7F9FF"/>
                </a:solidFill>
                <a:latin typeface="DejaVu Sans"/>
              </a:defRPr>
            </a:pPr>
            <a:r>
              <a:t>Approved role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decisions govern privileged access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2" b="1">
                <a:solidFill>
                  <a:srgbClr val="F7F9FF"/>
                </a:solidFill>
                <a:latin typeface="DejaVu Sans"/>
              </a:defRPr>
            </a:pPr>
            <a:r>
              <a:t>Relevant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Member, teacher, volunteer or staff view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19" b="1">
                <a:solidFill>
                  <a:srgbClr val="F7F9FF"/>
                </a:solidFill>
                <a:latin typeface="DejaVu Sans"/>
              </a:defRPr>
            </a:pPr>
            <a:r>
              <a:t>Verification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Volunteer / teacher / staff authority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Visibility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Role, gender and record sensitivity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3" b="1">
                <a:solidFill>
                  <a:srgbClr val="F7F9FF"/>
                </a:solidFill>
                <a:latin typeface="DejaVu Sans"/>
              </a:defRPr>
            </a:pPr>
            <a:r>
              <a:t>Permitted case /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only authorised information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binds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Verification decisions → Approved role record → Relevant workspace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role activation; revoked-access and profile-change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656576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Home connects daily value to meaningful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relevant home screen helps people move from routine practice into learning or contribution without navigating separate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10 / 72</a:t>
            </a:r>
          </a:p>
        </p:txBody>
      </p:sp>
      <p:pic>
        <p:nvPicPr>
          <p:cNvPr id="14" name="Picture 13" descr="06-hom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06 · Admin Ops Home</a:t>
            </a:r>
          </a:p>
        </p:txBody>
      </p:sp>
      <p:pic>
        <p:nvPicPr>
          <p:cNvPr id="16" name="Picture 15" descr="34-role_memb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34 · Member workspace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Admin Ops and Member home states · role differences shown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3" b="1">
                <a:solidFill>
                  <a:srgbClr val="F7F9FF"/>
                </a:solidFill>
                <a:latin typeface="DejaVu Sans"/>
              </a:defRPr>
            </a:pPr>
            <a:r>
              <a:t>Location &amp; 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area and display choices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Role-aware 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Present appropriate daily and service entries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Islamic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Prayer, Quran and approved guidance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7" b="1">
                <a:solidFill>
                  <a:srgbClr val="F7F9FF"/>
                </a:solidFill>
                <a:latin typeface="DejaVu Sans"/>
              </a:defRPr>
            </a:pPr>
            <a:r>
              <a:t>Approved role /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Limit operational actions to eligible accounts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7" b="1">
                <a:solidFill>
                  <a:srgbClr val="F7F9FF"/>
                </a:solidFill>
                <a:latin typeface="DejaVu Sans"/>
              </a:defRPr>
            </a:pPr>
            <a:r>
              <a:t>Service entry 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Request help, learn or contribute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4" b="1">
                <a:solidFill>
                  <a:srgbClr val="F7F9FF"/>
                </a:solidFill>
                <a:latin typeface="DejaVu Sans"/>
              </a:defRPr>
            </a:pPr>
            <a:r>
              <a:t>Assigned work / programme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authorised next task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6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93151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20583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role / access → Role-aware home → Daily Islamic tools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Entry-point use; task completion by authorised role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Discovery connects a need to an approved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search route can help a user find relevant learning, a mosque or support while respecting private-profile restrictions.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11 / 72</a:t>
            </a:r>
          </a:p>
        </p:txBody>
      </p:sp>
      <p:pic>
        <p:nvPicPr>
          <p:cNvPr id="14" name="Picture 13" descr="09-search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09 · Search: utilities and local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utility / mosque search · programme links proposed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User need /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Topic, area or type of support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Search &amp;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relevant categories and filters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6" b="1">
                <a:solidFill>
                  <a:srgbClr val="F7F9FF"/>
                </a:solidFill>
                <a:latin typeface="DejaVu Sans"/>
              </a:defRPr>
            </a:pPr>
            <a:r>
              <a:t>Approved public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Mosques, programmes and resources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Visibility / moderation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Exclude private or unapproved records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2" b="1">
                <a:solidFill>
                  <a:srgbClr val="F7F9FF"/>
                </a:solidFill>
                <a:latin typeface="DejaVu Sans"/>
              </a:defRPr>
            </a:pPr>
            <a:r>
              <a:t>Programme / service detail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Understand eligibility and next action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Registration / request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Join a class or enter the correct support route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Visibility / moderation → Search &amp; discovery → Approved public results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Relevant-result selection; zero-result recovery; visibility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55776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0684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Prayer times connect location, calendar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local settings make daily practice useful and prevent conflicting times across the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12 / 72</a:t>
            </a:r>
          </a:p>
        </p:txBody>
      </p:sp>
      <p:pic>
        <p:nvPicPr>
          <p:cNvPr id="14" name="Picture 13" descr="21-utility_waq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21 · Waqt, fasting and prayer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Waqt, fasting and prayer-window interface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Location preference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Permission or supported manual area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5" b="1">
                <a:solidFill>
                  <a:srgbClr val="F7F9FF"/>
                </a:solidFill>
                <a:latin typeface="DejaVu Sans"/>
              </a:defRPr>
            </a:pPr>
            <a:r>
              <a:t>Approved prayer 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MRM-approved local source / method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local times and guidance</a:t>
            </a:r>
          </a:p>
        </p:txBody>
      </p:sp>
      <p:sp>
        <p:nvSpPr>
          <p:cNvPr id="30" name="Rounded Rectangle 29">
            <a:hlinkClick action="ppaction://hlinksldjump" r:id="rId8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2" b="1">
                <a:solidFill>
                  <a:srgbClr val="F7F9FF"/>
                </a:solidFill>
                <a:latin typeface="DejaVu Sans"/>
              </a:defRPr>
            </a:pPr>
            <a:r>
              <a:t>Calculation / local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adjustments and conventions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8" b="1">
                <a:solidFill>
                  <a:srgbClr val="F7F9FF"/>
                </a:solidFill>
                <a:latin typeface="DejaVu Sans"/>
              </a:defRPr>
            </a:pPr>
            <a:r>
              <a:t>Prayer reminder scheduling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 preference and approved local schedule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Ramadan timetable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consistent approved local times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feeds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Calculation / local policy → Approved prayer schedule → Daily prayer display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accuracy; denied-location fallback; reminder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06" b="1">
                <a:solidFill>
                  <a:srgbClr val="F7F9FF"/>
                </a:solidFill>
                <a:latin typeface="DejaVu Sans"/>
              </a:defRPr>
            </a:pPr>
            <a:r>
              <a:t>Prayer tracking connects practice to a private personal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private log supports consistency without exposing personal worship or turning it into a public 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13 / 72</a:t>
            </a:r>
          </a:p>
        </p:txBody>
      </p:sp>
      <p:pic>
        <p:nvPicPr>
          <p:cNvPr id="14" name="Picture 13" descr="22-utility_track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22 · Private Salah / Qaza tracker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private check-in, sunnah and Qaza-counter UI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same local prayer context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Salah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User-chosen Farz, Sunnah and Qaza check-ins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7" b="1">
                <a:solidFill>
                  <a:srgbClr val="F7F9FF"/>
                </a:solidFill>
                <a:latin typeface="DejaVu Sans"/>
              </a:defRPr>
            </a:pPr>
            <a:r>
              <a:t>Personal practice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Private, correctable progress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Privacy &amp; user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 public worship score or role privilege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Salah / dua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approved learning support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3" b="1">
                <a:solidFill>
                  <a:srgbClr val="F7F9FF"/>
                </a:solidFill>
                <a:latin typeface="DejaVu Sans"/>
              </a:defRPr>
            </a:pPr>
            <a:r>
              <a:t>Continued daily practice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tools at the person’s choice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user control → Private Salah tracker → Personal practice history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Log persistence; private visibility; daily reset and correction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Qibla and mosque discovery connect practice to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local guidance makes the app relevant beyond assistance, while keeping volunteer-location data separately protected.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14 / 72</a:t>
            </a:r>
          </a:p>
        </p:txBody>
      </p:sp>
      <p:pic>
        <p:nvPicPr>
          <p:cNvPr id="14" name="Picture 13" descr="23-utility_qibla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23 · Compass simulation + place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compass simulation and nearby-place list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Location / manual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User-authorised geographic context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Qibla &amp; mosque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Device capability and approved place data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3" b="1">
                <a:solidFill>
                  <a:srgbClr val="F7F9FF"/>
                </a:solidFill>
                <a:latin typeface="DejaVu Sans"/>
              </a:defRPr>
            </a:pPr>
            <a:r>
              <a:t>Nearby mosque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General place information, not private profiles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5" b="1">
                <a:solidFill>
                  <a:srgbClr val="F7F9FF"/>
                </a:solidFill>
                <a:latin typeface="DejaVu Sans"/>
              </a:defRPr>
            </a:pPr>
            <a:r>
              <a:t>Approved data / calibration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Source and sensor limitations are explicit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Prayer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Link to appropriate daily practice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relevant approved learning or 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shows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7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data / calibration → Qibla &amp; mosque tools → Nearby mosque details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Direction guidance; permission fallback; place-data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Quran connects trusted content to continued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Reading and recitation become more valuable when users can continue into approved explanations and classes.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15 / 72</a:t>
            </a:r>
          </a:p>
        </p:txBody>
      </p:sp>
      <p:pic>
        <p:nvPicPr>
          <p:cNvPr id="14" name="Picture 13" descr="24-utility_quran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24 · Al-Fatihah text / reciter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Al-Fatihah text, reciter and tajweed controls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8" b="1">
                <a:solidFill>
                  <a:srgbClr val="F7F9FF"/>
                </a:solidFill>
                <a:latin typeface="DejaVu Sans"/>
              </a:defRPr>
            </a:pPr>
            <a:r>
              <a:t>Religious sources &amp; rights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text, translation and audio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Quran &amp; recitation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Reading, approved tajweed, translation and recitation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9" b="1">
                <a:solidFill>
                  <a:srgbClr val="F7F9FF"/>
                </a:solidFill>
                <a:latin typeface="DejaVu Sans"/>
              </a:defRPr>
            </a:pPr>
            <a:r>
              <a:t>Approved learning 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Related lessons and programme details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0" b="1">
                <a:solidFill>
                  <a:srgbClr val="F7F9FF"/>
                </a:solidFill>
                <a:latin typeface="DejaVu Sans"/>
              </a:defRPr>
            </a:pPr>
            <a:r>
              <a:t>Content administration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references, edits and availability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8" b="1">
                <a:solidFill>
                  <a:srgbClr val="F7F9FF"/>
                </a:solidFill>
                <a:latin typeface="DejaVu Sans"/>
              </a:defRPr>
            </a:pPr>
            <a:r>
              <a:t>Offline / cache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supported content and rights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Repeat daily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Reliable access to approved material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1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administration → Quran &amp; recitation → Approved learning resources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Content-source validation; recitation delivery; learning continuation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98" b="1">
                <a:solidFill>
                  <a:srgbClr val="F7F9FF"/>
                </a:solidFill>
                <a:latin typeface="DejaVu Sans"/>
              </a:defRPr>
            </a:pPr>
            <a:r>
              <a:t>Digital tasbih connects remembrance to simple, private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focused counter supports repeated practice while relevant guidance remains grounded in approved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16 / 72</a:t>
            </a:r>
          </a:p>
        </p:txBody>
      </p:sp>
      <p:pic>
        <p:nvPicPr>
          <p:cNvPr id="14" name="Picture 13" descr="25-utility_tasbih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25 · Digital tasbih counter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tasbih phrase and counter view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5" b="1">
                <a:solidFill>
                  <a:srgbClr val="F7F9FF"/>
                </a:solidFill>
                <a:latin typeface="DejaVu Sans"/>
              </a:defRPr>
            </a:pPr>
            <a:r>
              <a:t>Approved dhikr wording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Religious references and translations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Digital tasbih counter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Selected phrase, target and reset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local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supported, user-controlled state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3" b="1">
                <a:solidFill>
                  <a:srgbClr val="F7F9FF"/>
                </a:solidFill>
                <a:latin typeface="DejaVu Sans"/>
              </a:defRPr>
            </a:pPr>
            <a:r>
              <a:t>User target / preference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supported repetition controls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9" b="1">
                <a:solidFill>
                  <a:srgbClr val="F7F9FF"/>
                </a:solidFill>
                <a:latin typeface="DejaVu Sans"/>
              </a:defRPr>
            </a:pPr>
            <a:r>
              <a:t>Dua / remembrance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related approved material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utility 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Resume personal practice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User target / preference → Digital tasbih counter → Private local history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Counter increment / reset; selected phrase; private state persistence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65" b="1">
                <a:solidFill>
                  <a:srgbClr val="F7F9FF"/>
                </a:solidFill>
                <a:latin typeface="DejaVu Sans"/>
              </a:defRPr>
            </a:pPr>
            <a:r>
              <a:t>Dua discovery connects a situation to an approved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Searchable, categorised supplications make the daily library useful and keep correction and source review 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17 / 72</a:t>
            </a:r>
          </a:p>
        </p:txBody>
      </p:sp>
      <p:pic>
        <p:nvPicPr>
          <p:cNvPr id="14" name="Picture 13" descr="26-utility_dua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26 · Dua categories and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dua categories, text and reference labels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Situation /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Daily need, prayer or fasting context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Dua / adhkar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Topic, wording, translation and reference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7" b="1">
                <a:solidFill>
                  <a:srgbClr val="F7F9FF"/>
                </a:solidFill>
                <a:latin typeface="DejaVu Sans"/>
              </a:defRPr>
            </a:pPr>
            <a:r>
              <a:t>Approved learning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Understand the relevant guidance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9" b="1">
                <a:solidFill>
                  <a:srgbClr val="F7F9FF"/>
                </a:solidFill>
                <a:latin typeface="DejaVu Sans"/>
              </a:defRPr>
            </a:pPr>
            <a:r>
              <a:t>Religious source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References, translations and corrections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4" b="1">
                <a:solidFill>
                  <a:srgbClr val="F7F9FF"/>
                </a:solidFill>
                <a:latin typeface="DejaVu Sans"/>
              </a:defRPr>
            </a:pPr>
            <a:r>
              <a:t>Optional personal practice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Supported counter or saved state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Relevant daily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prayer, fasting or remembrance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Religious source review → Dua / adhkar library → Approved learning detail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Search relevance; source approval; recitation-state behaviour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6" b="1">
                <a:solidFill>
                  <a:srgbClr val="F7F9FF"/>
                </a:solidFill>
                <a:latin typeface="DejaVu Sans"/>
              </a:defRPr>
            </a:pPr>
            <a:r>
              <a:t>Hadith and references connect content to accountable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governed content library keeps daily tools consistent and gives learners a route to deeper understanding.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Arabic, translations and source decisions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Dua / dhikr / hadith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Organised daily guidance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explanation or class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Find material by topic and purpose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can remove inaccurate material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Visible content follows approval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organises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categories → Dua / dhikr / hadith → Relevant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review; content correction; relevant-resource access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Salah guidance connects learning to daily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step-by-step guide gives beginners a practical next step and links learning to the same prayer and direction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19 / 72</a:t>
            </a:r>
          </a:p>
        </p:txBody>
      </p:sp>
      <p:pic>
        <p:nvPicPr>
          <p:cNvPr id="14" name="Picture 13" descr="27-utility_salah_guide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27 · Salah guide · posture 1 of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posture 1 of 7 · pronounce control visible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2" b="1">
                <a:solidFill>
                  <a:srgbClr val="F7F9FF"/>
                </a:solidFill>
                <a:latin typeface="DejaVu Sans"/>
              </a:defRPr>
            </a:pPr>
            <a:r>
              <a:t>Beginner / learning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person seeks practical prayer guidance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17" b="1">
                <a:solidFill>
                  <a:srgbClr val="F7F9FF"/>
                </a:solidFill>
                <a:latin typeface="DejaVu Sans"/>
              </a:defRPr>
            </a:pPr>
            <a:r>
              <a:t>Step-by-step Salah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postures, wording and meanings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correct local time context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3" b="1">
                <a:solidFill>
                  <a:srgbClr val="F7F9FF"/>
                </a:solidFill>
                <a:latin typeface="DejaVu Sans"/>
              </a:defRPr>
            </a:pPr>
            <a:r>
              <a:t>Qibla &amp; content 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Direction guidance and approved material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Mentor / class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authorised teacher can explain further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4" b="1">
                <a:solidFill>
                  <a:srgbClr val="F7F9FF"/>
                </a:solidFill>
                <a:latin typeface="DejaVu Sans"/>
              </a:defRPr>
            </a:pPr>
            <a:r>
              <a:t>Private learning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agreed, consented progress visibility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learns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9" b="1">
                <a:solidFill>
                  <a:srgbClr val="62DAE8"/>
                </a:solidFill>
                <a:latin typeface="DejaVu Sans"/>
              </a:defRPr>
            </a:pPr>
            <a:r>
              <a:t>practises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Qibla &amp; content references → Step-by-step Salah guide → Daily prayer practice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Posture navigation; approved text / audio; guidance-to-practice access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26" b="1">
                <a:solidFill>
                  <a:srgbClr val="F7F9FF"/>
                </a:solidFill>
                <a:latin typeface="DejaVu Sans"/>
              </a:defRPr>
            </a:pPr>
            <a:r>
              <a:t>Asma-ul-Husna connects reference content to reflection and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reviewed names library supports daily learning without inventing religious explanations or unsupported source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20 / 72</a:t>
            </a:r>
          </a:p>
        </p:txBody>
      </p:sp>
      <p:pic>
        <p:nvPicPr>
          <p:cNvPr id="14" name="Picture 13" descr="28-utility_sifa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28 · Asma-ul-Husna names / meanings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Asma-ul-Husna names and meanings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reviews names, Arabic and meanings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7" b="1">
                <a:solidFill>
                  <a:srgbClr val="F7F9FF"/>
                </a:solidFill>
                <a:latin typeface="DejaVu Sans"/>
              </a:defRPr>
            </a:pPr>
            <a:r>
              <a:t>Names &amp; meanings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Readable, searchable reference content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8" b="1">
                <a:solidFill>
                  <a:srgbClr val="F7F9FF"/>
                </a:solidFill>
                <a:latin typeface="DejaVu Sans"/>
              </a:defRPr>
            </a:pPr>
            <a:r>
              <a:t>Related approved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Appropriate explanation or programme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Content categorisation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Organise entries without altering meaning</a:t>
            </a:r>
          </a:p>
        </p:txBody>
      </p:sp>
      <p:sp>
        <p:nvSpPr>
          <p:cNvPr id="34" name="Rounded Rectangle 33">
            <a:hlinkClick action="ppaction://hlinksldjump" r:id="rId8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8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7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Fix unapproved or inaccurate copy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reviewed content remains visible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2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categorisation → Names &amp; meanings library → Related approved learning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names / meanings; search relevance; content correction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34" b="1">
                <a:solidFill>
                  <a:srgbClr val="F7F9FF"/>
                </a:solidFill>
                <a:latin typeface="DejaVu Sans"/>
              </a:defRPr>
            </a:pPr>
            <a:r>
              <a:t>Ingredient guidance connects search to reviewed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ingredient information needs clear sourcing and limits; a prototype label cannot replace an authority’s certification.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21 / 72</a:t>
            </a:r>
          </a:p>
        </p:txBody>
      </p:sp>
      <p:pic>
        <p:nvPicPr>
          <p:cNvPr id="14" name="Picture 13" descr="29-utility_halal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29 · Ingredient reference + Fitrah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E-code list + Fitrah / Fidyah calculator concept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9" b="1">
                <a:solidFill>
                  <a:srgbClr val="F7F9FF"/>
                </a:solidFill>
                <a:latin typeface="DejaVu Sans"/>
              </a:defRPr>
            </a:pPr>
            <a:r>
              <a:t>Ingredient / E-code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Search a named additive or ingredient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6" b="1">
                <a:solidFill>
                  <a:srgbClr val="F7F9FF"/>
                </a:solidFill>
                <a:latin typeface="DejaVu Sans"/>
              </a:defRPr>
            </a:pPr>
            <a:r>
              <a:t>Reviewed ingredient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source and contextual wording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Informational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source and applicable limitations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5" b="1">
                <a:solidFill>
                  <a:srgbClr val="F7F9FF"/>
                </a:solidFill>
                <a:latin typeface="DejaVu Sans"/>
              </a:defRPr>
            </a:pPr>
            <a:r>
              <a:t>MRM content / source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Correct origin and context-dependent claims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5" b="1">
                <a:solidFill>
                  <a:srgbClr val="F7F9FF"/>
                </a:solidFill>
                <a:latin typeface="DejaVu Sans"/>
              </a:defRPr>
            </a:pPr>
            <a:r>
              <a:t>Religious learning / enquiry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uncertainty and next steps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Content correction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Update or withdraw inaccurate guidance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content / source review → Reviewed ingredient reference → Informational result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currency; query accuracy; visible qualification of 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9" b="1">
                <a:solidFill>
                  <a:srgbClr val="F7F9FF"/>
                </a:solidFill>
                <a:latin typeface="DejaVu Sans"/>
              </a:defRPr>
            </a:pPr>
            <a:r>
              <a:t>Hijri and Ramadan connect dates, prayer and programmes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Shared calendar conventions keep seasonal guidance and programme communication coherent.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22 / 72</a:t>
            </a:r>
          </a:p>
        </p:txBody>
      </p:sp>
      <p:pic>
        <p:nvPicPr>
          <p:cNvPr id="14" name="Picture 13" descr="39-calendar_almanac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39 · Calendar almanac / prayer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almanac and local timetable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0" b="1">
                <a:solidFill>
                  <a:srgbClr val="F7F9FF"/>
                </a:solidFill>
                <a:latin typeface="DejaVu Sans"/>
              </a:defRPr>
            </a:pPr>
            <a:r>
              <a:t>Local calendar convention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Hijri / local adjustments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Hijri &amp; Ramadan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the appropriate dates and schedule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58" b="1">
                <a:solidFill>
                  <a:srgbClr val="F7F9FF"/>
                </a:solidFill>
                <a:latin typeface="DejaVu Sans"/>
              </a:defRPr>
            </a:pPr>
            <a:r>
              <a:t>Seasonal programme discovery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classes and community events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prayer times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same local schedule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Event / class 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Programme dates and access details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Permitted reminders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Notify registered or eligible participants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8" b="1">
                <a:solidFill>
                  <a:srgbClr val="62DAE8"/>
                </a:solidFill>
                <a:latin typeface="DejaVu Sans"/>
              </a:defRPr>
            </a:pPr>
            <a:r>
              <a:t>highlights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prayer times → Hijri &amp; Ramadan tools → Seasonal programme discovery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Local-date review; timetable consistency; event reminder delivery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289" b="1">
                <a:solidFill>
                  <a:srgbClr val="F7F9FF"/>
                </a:solidFill>
                <a:latin typeface="DejaVu Sans"/>
              </a:defRPr>
            </a:pPr>
            <a:r>
              <a:t>Zakat, Fitrah and Fidyah estimates connect guidance to responsible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assumptions and method-specific inputs make estimates useful, while the authority retains every assistance eligibility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Method-specific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income/savings or Fitrah/Fidyah rules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Informational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selected, approved calculation method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Guidance /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Understand the estimate and its limits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Necessary calculator inputs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Income/savings or household / missed-fast data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Assistance enquiry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separate route for people needing help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Authority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 and disbursement stay external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signposts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Necessary calculator inputs → Informational estimate → Guidance /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calculation checks; referral consent; correct authority wording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0" b="1">
                <a:solidFill>
                  <a:srgbClr val="F7F9FF"/>
                </a:solidFill>
                <a:latin typeface="DejaVu Sans"/>
              </a:defRPr>
            </a:pPr>
            <a:r>
              <a:t>Help requests connect a personal need to a controlled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complete request lifecycle prevents the app becoming a contact form with no accountable follow-up.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24 / 72</a:t>
            </a:r>
          </a:p>
        </p:txBody>
      </p:sp>
      <p:pic>
        <p:nvPicPr>
          <p:cNvPr id="14" name="Picture 13" descr="31-role_seek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31 · Seeker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Seeker workspace · full request intake not shown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7" b="1">
                <a:solidFill>
                  <a:srgbClr val="F7F9FF"/>
                </a:solidFill>
                <a:latin typeface="DejaVu Sans"/>
              </a:defRPr>
            </a:pPr>
            <a:r>
              <a:t>Member / service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person seeks assistance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request intake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Category, urgency and safe contact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sensitivity and required response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4" b="1">
                <a:solidFill>
                  <a:srgbClr val="F7F9FF"/>
                </a:solidFill>
                <a:latin typeface="DejaVu Sans"/>
              </a:defRPr>
            </a:pPr>
            <a:r>
              <a:t>Consent &amp; privacy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Minimum necessary information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Eligible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routine permitted work is offered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status /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The requester follows authorised progress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privacy rules → Private request intake → MRM triage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Acknowledgement; triage completion; unresolved-request follow-up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48" b="1">
                <a:solidFill>
                  <a:srgbClr val="F7F9FF"/>
                </a:solidFill>
                <a:latin typeface="DejaVu Sans"/>
              </a:defRPr>
            </a:pPr>
            <a:r>
              <a:t>Volunteer verification connects willingness to trusted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Documents and interview decisions must change real eligibility, not merely add a badge to a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25 / 72</a:t>
            </a:r>
          </a:p>
        </p:txBody>
      </p:sp>
      <p:pic>
        <p:nvPicPr>
          <p:cNvPr id="14" name="Picture 13" descr="33-role_applican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33 · Applicant verification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Applicant progress · verification policy still requires MRM approval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Volunteer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Skills, languages, area and availability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70" b="1">
                <a:solidFill>
                  <a:srgbClr val="F7F9FF"/>
                </a:solidFill>
                <a:latin typeface="DejaVu Sans"/>
              </a:defRPr>
            </a:pPr>
            <a:r>
              <a:t>Evidence &amp; interview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checks documents and online interview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3" b="1">
                <a:solidFill>
                  <a:srgbClr val="F7F9FF"/>
                </a:solidFill>
                <a:latin typeface="DejaVu Sans"/>
              </a:defRPr>
            </a:pPr>
            <a:r>
              <a:t>Approved active volunteer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Decision, reason and review history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2" b="1">
                <a:solidFill>
                  <a:srgbClr val="F7F9FF"/>
                </a:solidFill>
                <a:latin typeface="DejaVu Sans"/>
              </a:defRPr>
            </a:pPr>
            <a:r>
              <a:t>Protected verification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Restricted staff access and retention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54" b="1">
                <a:solidFill>
                  <a:srgbClr val="F7F9FF"/>
                </a:solidFill>
                <a:latin typeface="DejaVu Sans"/>
              </a:defRPr>
            </a:pPr>
            <a:r>
              <a:t>Eligible discovery /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only permitted service profiles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Assigned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Approval alone does not expose all cases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Protected verification files → Evidence &amp; interview review → Approved active volunteer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Review completion; interview record; suspension and access 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3" b="1">
                <a:solidFill>
                  <a:srgbClr val="F7F9FF"/>
                </a:solidFill>
                <a:latin typeface="DejaVu Sans"/>
              </a:defRPr>
            </a:pPr>
            <a:r>
              <a:t>Gender and nearby visibility connect policy to every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server filtering prevents a protected profile leaking through search, maps, alerts or direct detail requests.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26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role &amp;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Verified access attributes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Visibility policy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Agreed gender / role / record rules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discovery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Approximate area and approved fields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consent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automatic exact-location sharing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alerts /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same access boundary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case 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Assignment and policy govern disclosure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Location consent → Visibility policy checks → Permitted discovery results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Cross-gender API tests; restricted detail and location tests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65" b="1">
                <a:solidFill>
                  <a:srgbClr val="F7F9FF"/>
                </a:solidFill>
                <a:latin typeface="DejaVu Sans"/>
              </a:defRPr>
            </a:pPr>
            <a:r>
              <a:t>Matching connects a reviewed request to suitable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Eligibility checks improve relevance and preserve confidentiality before any volunteer receives an offer.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27 / 72</a:t>
            </a:r>
          </a:p>
        </p:txBody>
      </p:sp>
      <p:pic>
        <p:nvPicPr>
          <p:cNvPr id="14" name="Picture 13" descr="30-role_volunte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30 · Volunteer on-duty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Volunteer on-duty workspace · actual matching not tested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86" b="1">
                <a:solidFill>
                  <a:srgbClr val="F7F9FF"/>
                </a:solidFill>
                <a:latin typeface="DejaVu Sans"/>
              </a:defRPr>
            </a:pPr>
            <a:r>
              <a:t>Reviewed routine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Category, area, language and urgency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Eligibility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Approved, active, available and permitted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9" b="1">
                <a:solidFill>
                  <a:srgbClr val="F7F9FF"/>
                </a:solidFill>
                <a:latin typeface="DejaVu Sans"/>
              </a:defRPr>
            </a:pPr>
            <a:r>
              <a:t>Limited volunteer offer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Safe summary and approximate area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3" b="1">
                <a:solidFill>
                  <a:srgbClr val="F7F9FF"/>
                </a:solidFill>
                <a:latin typeface="DejaVu Sans"/>
              </a:defRPr>
            </a:pPr>
            <a:r>
              <a:t>Verified volunteer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Skills, availability and gender rules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5" b="1">
                <a:solidFill>
                  <a:srgbClr val="F7F9FF"/>
                </a:solidFill>
                <a:latin typeface="DejaVu Sans"/>
              </a:defRPr>
            </a:pPr>
            <a:r>
              <a:t>Assignment confirmation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Seeker / coordinator accepts the match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Coordinator fallback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Unanswered or unsuitable work is reviewed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5" b="1">
                <a:solidFill>
                  <a:srgbClr val="62DAE8"/>
                </a:solidFill>
                <a:latin typeface="DejaVu Sans"/>
              </a:defRPr>
            </a:pPr>
            <a:r>
              <a:t>provides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77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Verified volunteer capacity → Eligibility matching → Limited volunteer offer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Eligible-offer delivery; unanswered-case handling; access tests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76" b="1">
                <a:solidFill>
                  <a:srgbClr val="F7F9FF"/>
                </a:solidFill>
                <a:latin typeface="DejaVu Sans"/>
              </a:defRPr>
            </a:pPr>
            <a:r>
              <a:t>Assignments connect offers, contact, progress and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Confirmation creates accountable service access and lets MRM manage changes through to a verified outcome.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volunteer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approved volunteer responds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responsible participants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case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authorised details and conversation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Coordinator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reassignment or safety concerns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progress &amp; closure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follow-up and the service outcome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recognition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Award valid credit;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supervises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Coordinator review → Confirmed assignment → Permitted case contact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Confirmed assignment; reassignment; progress and closure records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75" b="1">
                <a:solidFill>
                  <a:srgbClr val="F7F9FF"/>
                </a:solidFill>
                <a:latin typeface="DejaVu Sans"/>
              </a:defRPr>
            </a:pPr>
            <a:r>
              <a:t>Confidential support connects concern to designated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restricted route protects sensitive faith and family information while retaining responsible follow-up.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29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Safe contact and permitted description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Restricted case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Keep outside public discovery / broadcasts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Designated personnel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MRM-authorised adviser or caseworker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73" b="1">
                <a:solidFill>
                  <a:srgbClr val="F7F9FF"/>
                </a:solidFill>
                <a:latin typeface="DejaVu Sans"/>
              </a:defRPr>
            </a:pPr>
            <a:r>
              <a:t>Consent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Access only for the agreed duty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Controlled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Guidance, referral and case updates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history / closure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only the permitted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assigns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71" b="1">
                <a:solidFill>
                  <a:srgbClr val="62DAE8"/>
                </a:solidFill>
                <a:latin typeface="DejaVu Sans"/>
              </a:defRPr>
            </a:pPr>
            <a:r>
              <a:t>coordinates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closes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record permissions → Restricted case intake → Designated personnel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Unrelated-account denial; assigned-staff access; closure history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Safeguarding connects a concern to a responsible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Reporting, restrictions and escalation protect participation without implying guaranteed emergency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30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Conduct / danger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from an authorised service journey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Safeguarding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Designated staff assess and record action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/ contact restriction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Stop unsafe contact or new work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escalation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Coverage, contacts and urgent guidance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Affected assignments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Reassign or follow up existing work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incident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Retain authorised evidence and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8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escalation policy → Safeguarding review → Account / contact restriction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Report handling; account restriction; open-assignment 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Case communication connects an assignment to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Conversation is useful when the right case and participants govern access, continuity and escalation.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31 / 72</a:t>
            </a:r>
          </a:p>
        </p:txBody>
      </p:sp>
      <p:pic>
        <p:nvPicPr>
          <p:cNvPr id="14" name="Picture 13" descr="16-cha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16 · Caseworker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caseworker chat concept · implementation unverified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24" b="1">
                <a:solidFill>
                  <a:srgbClr val="F7F9FF"/>
                </a:solidFill>
                <a:latin typeface="DejaVu Sans"/>
              </a:defRPr>
            </a:pPr>
            <a:r>
              <a:t>Authorised case /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defined support relationship exists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conversation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participants exchange updates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20" b="1">
                <a:solidFill>
                  <a:srgbClr val="F7F9FF"/>
                </a:solidFill>
                <a:latin typeface="DejaVu Sans"/>
              </a:defRPr>
            </a:pPr>
            <a:r>
              <a:t>Progress /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messages support follow-up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64" b="1">
                <a:solidFill>
                  <a:srgbClr val="F7F9FF"/>
                </a:solidFill>
                <a:latin typeface="DejaVu Sans"/>
              </a:defRPr>
            </a:pPr>
            <a:r>
              <a:t>Privacy &amp; participant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Recheck access after role / case changes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21" b="1">
                <a:solidFill>
                  <a:srgbClr val="F7F9FF"/>
                </a:solidFill>
                <a:latin typeface="DejaVu Sans"/>
              </a:defRPr>
            </a:pPr>
            <a:r>
              <a:t>Conduct report / 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Route concerns to designated staff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closure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Decide retention and further access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participant checks → Case conversation → Progress / confirmation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Participant access; case linkage; report and closure behaviour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44" b="1">
                <a:solidFill>
                  <a:srgbClr val="F7F9FF"/>
                </a:solidFill>
                <a:latin typeface="DejaVu Sans"/>
              </a:defRPr>
            </a:pPr>
            <a:r>
              <a:t>Zakat referrals connect consent, review and an external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tracked handoff helps people follow an enquiry without presenting MRM as the eligibility or disbursement authority.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Enquiry + referral consent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Need, region and safe contact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completeness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required information and evidence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authority 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Document recipient, reference and method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Partner sharing 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Forms, permissions and authorised access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Referral status /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received, reviewed, referred or closed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Disclose permitted status;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Partner sharing agreement → MRM completeness review → Approved authority handoff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Complete referral record; permitted status update; partner response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49" b="1">
                <a:solidFill>
                  <a:srgbClr val="F7F9FF"/>
                </a:solidFill>
                <a:latin typeface="DejaVu Sans"/>
              </a:defRPr>
            </a:pPr>
            <a:r>
              <a:t>Recognition connects verified service to continued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Badges are credible when they reflect confirmed activity and do not override safeguarding or access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F7F9FF"/>
                </a:solidFill>
                <a:latin typeface="DejaVu Sans"/>
              </a:defRPr>
            </a:pPr>
            <a:r>
              <a:t>Completed assignment /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qualifying contribution is recorded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Service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Authorised confirmation under MRM criteria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Badges &amp; service ranks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approved thresholds and periods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recognition 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Eligibility, correction and appeal process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service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Show contribution without beneficiary details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Volunteer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Encourage responsible continued 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awards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recognition criteria → Service verification → Badges &amp; service ranks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Verified-credit accuracy; corrections; recognition visibility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17" b="1">
                <a:solidFill>
                  <a:srgbClr val="F7F9FF"/>
                </a:solidFill>
                <a:latin typeface="DejaVu Sans"/>
              </a:defRPr>
            </a:pPr>
            <a:r>
              <a:t>Teacher approval connects credentials to a governed teaching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Learner trust depends on teacher review being independent of whether a person pays for publishing privileges.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34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Subjects, language, experience and evidence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Credential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approves, declines or requests detail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Professional role; no private-case access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teaching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review and evidence requirements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Publishing privileges remain separate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8" b="1">
                <a:solidFill>
                  <a:srgbClr val="F7F9FF"/>
                </a:solidFill>
                <a:latin typeface="DejaVu Sans"/>
              </a:defRPr>
            </a:pPr>
            <a:r>
              <a:t>Moderated programme / posts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needs a publication decision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allows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teaching standards → Credential review → Approved teacher profile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Credential review; role approval; revoked-teacher access tests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5" b="1">
                <a:solidFill>
                  <a:srgbClr val="F7F9FF"/>
                </a:solidFill>
                <a:latin typeface="DejaVu Sans"/>
              </a:defRPr>
            </a:pPr>
            <a:r>
              <a:t>Teacher publishing connects expertise to discoverable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Moderation, plan allowances and clear publication states turn teacher opportunity into controlled learner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35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Teaching role and profile are active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Educational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Post, teaching ad, class or recording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moderation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rights, quality and religious content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Valid plan entitlement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Enforce designated publishing allowances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Schedule, publish, revise or withdraw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Search / website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approved visible material is returned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Valid plan entitlement → Educational submission → MRM moderation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Submission review; allowance enforcement; publication / withdrawal tests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09" b="1">
                <a:solidFill>
                  <a:srgbClr val="F7F9FF"/>
                </a:solidFill>
                <a:latin typeface="DejaVu Sans"/>
              </a:defRPr>
            </a:pPr>
            <a:r>
              <a:t>Teacher subscriptions connect revenue to explicit privileges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can earn recurring teacher revenue while preserving free core assistance and volunteer participation.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36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Credentials approved before paid privileges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defines period and allowances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Applicable billing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required client-owned store setup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commercial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Plan terms, prices and moderation rules</a:t>
            </a:r>
          </a:p>
        </p:txBody>
      </p:sp>
      <p:sp>
        <p:nvSpPr>
          <p:cNvPr id="32" name="Rounded Rectangle 31">
            <a:hlinkClick action="ppaction://hlinksldjump" r:id="rId9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current rights on the server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publishing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still requires moderation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purchases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commercial policy → Teacher plan selection → Applicable billing flow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 active plans; publishing-limit checks; correct expiry handling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93" b="1">
                <a:solidFill>
                  <a:srgbClr val="F7F9FF"/>
                </a:solidFill>
                <a:latin typeface="DejaVu Sans"/>
              </a:defRPr>
            </a:pPr>
            <a:r>
              <a:t>Billing state connects payment events to the correct entitlement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Payment success, renewal and expiry must change privileges reliably without deleting the teacher’s identity or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37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Store purchase / renewal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Applicable verified transaction event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Entitlement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current teacher-plan rights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Publishing permission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Allow or pause the designated privileges</a:t>
            </a:r>
          </a:p>
        </p:txBody>
      </p:sp>
      <p:sp>
        <p:nvSpPr>
          <p:cNvPr id="28" name="Rounded Rectangle 27">
            <a:hlinkClick action="ppaction://hlinksldjump" r:id="rId7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Cancel / fail / 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Handle supported lifecycle events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&amp; content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Preserve records under agreed policy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Billing oversight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reviews available reconciliation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enforces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62DAE8"/>
                </a:solidFill>
                <a:latin typeface="DejaVu Sans"/>
              </a:defRPr>
            </a:pPr>
            <a:r>
              <a:t>preserves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Cancel / fail / restore → Entitlement verification → Publishing permission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renewal / cancellation; restore and expiry tests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7" b="1">
                <a:solidFill>
                  <a:srgbClr val="F7F9FF"/>
                </a:solidFill>
                <a:latin typeface="DejaVu Sans"/>
              </a:defRPr>
            </a:pPr>
            <a:r>
              <a:t>Learning connects approved content to participation and return visits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Discovery becomes sustained learning when programme details, access, reminders and recordings form one journey.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MRM-approved learning material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Topic, language, teacher and schedule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Registration / access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state who can join and how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tools / search / website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Multiple relevant entry points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Calendar &amp; reminders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Registered participants receive updates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Live session / recording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approved links or hosted resources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Daily tools / search / website → Programme discovery → Registration / access rules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Programme access; registration; attendance / recording access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3" b="1">
                <a:solidFill>
                  <a:srgbClr val="F7F9FF"/>
                </a:solidFill>
                <a:latin typeface="DejaVu Sans"/>
              </a:defRPr>
            </a:pPr>
            <a:r>
              <a:t>Mentorship connects an approved adviser to a defined learning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Matching the right mentor to a programme or authorised support relationship adds continuity without exposing unrelated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39 / 72</a:t>
            </a:r>
          </a:p>
        </p:txBody>
      </p:sp>
      <p:pic>
        <p:nvPicPr>
          <p:cNvPr id="14" name="Picture 13" descr="32-role_teach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32 · Scholar / Mentor roster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Scholar / Mentor roster and Start Room control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84" b="1">
                <a:solidFill>
                  <a:srgbClr val="F7F9FF"/>
                </a:solidFill>
                <a:latin typeface="DejaVu Sans"/>
              </a:defRPr>
            </a:pPr>
            <a:r>
              <a:t>Learning / support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Class need or permitted case referral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4" b="1">
                <a:solidFill>
                  <a:srgbClr val="F7F9FF"/>
                </a:solidFill>
                <a:latin typeface="DejaVu Sans"/>
              </a:defRPr>
            </a:pPr>
            <a:r>
              <a:t>Approved mentor relationship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Defined assignment and permitted purpose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4" b="1">
                <a:solidFill>
                  <a:srgbClr val="F7F9FF"/>
                </a:solidFill>
                <a:latin typeface="DejaVu Sans"/>
              </a:defRPr>
            </a:pPr>
            <a:r>
              <a:t>Session / programme roster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relevant learner and timing details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Role &amp; case permissions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Teacher approval alone is insufficient for cases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Permitted contact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session link or case communication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0" b="1">
                <a:solidFill>
                  <a:srgbClr val="F7F9FF"/>
                </a:solidFill>
                <a:latin typeface="DejaVu Sans"/>
              </a:defRPr>
            </a:pPr>
            <a:r>
              <a:t>Follow-up / learning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only the agreed information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13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case permissions → Approved mentor relationship → Session / programme roster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Authorised mentor assignment; schedule access; confidential-record tests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82912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9582912" y="4370831"/>
            <a:ext cx="3166872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749784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11" b="1">
                <a:solidFill>
                  <a:srgbClr val="F7F9FF"/>
                </a:solidFill>
                <a:latin typeface="DejaVu Sans"/>
              </a:defRPr>
            </a:pPr>
            <a:r>
              <a:t>Scheduling connects learning, volunteer capacity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calendar can coordinate participation while keeping a class enrolment separate from a volunteer duty assignment.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40 / 72</a:t>
            </a:r>
          </a:p>
        </p:txBody>
      </p:sp>
      <p:pic>
        <p:nvPicPr>
          <p:cNvPr id="14" name="Picture 13" descr="14-calendar_booking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14 · Halaqa &amp; duty calendar</a:t>
            </a:r>
          </a:p>
        </p:txBody>
      </p:sp>
      <p:pic>
        <p:nvPicPr>
          <p:cNvPr id="16" name="Picture 15" descr="40-calendar_confirm_modal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40 · Slot-confirmation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list and slot-confirmation modal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11" b="1">
                <a:solidFill>
                  <a:srgbClr val="F7F9FF"/>
                </a:solidFill>
                <a:latin typeface="DejaVu Sans"/>
              </a:defRPr>
            </a:pPr>
            <a:r>
              <a:t>Approved class / duty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Programme or service opportunity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1" b="1">
                <a:solidFill>
                  <a:srgbClr val="F7F9FF"/>
                </a:solidFill>
                <a:latin typeface="DejaVu Sans"/>
              </a:defRPr>
            </a:pPr>
            <a:r>
              <a:t>Calendar &amp; 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Dates, tracks and available places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1" b="1">
                <a:solidFill>
                  <a:srgbClr val="F7F9FF"/>
                </a:solidFill>
                <a:latin typeface="DejaVu Sans"/>
              </a:defRPr>
            </a:pPr>
            <a:r>
              <a:t>Registration / shift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Capture the person’s participation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9" b="1">
                <a:solidFill>
                  <a:srgbClr val="F7F9FF"/>
                </a:solidFill>
                <a:latin typeface="DejaVu Sans"/>
              </a:defRPr>
            </a:pPr>
            <a:r>
              <a:t>Role / capacity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access rules and available capacity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8" b="1">
                <a:solidFill>
                  <a:srgbClr val="F7F9FF"/>
                </a:solidFill>
                <a:latin typeface="DejaVu Sans"/>
              </a:defRPr>
            </a:pPr>
            <a:r>
              <a:t>Confirmed participation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the class or duty relationship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25" b="1">
                <a:solidFill>
                  <a:srgbClr val="F7F9FF"/>
                </a:solidFill>
                <a:latin typeface="DejaVu Sans"/>
              </a:defRPr>
            </a:pPr>
            <a:r>
              <a:t>Reminder &amp; activity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right programme or shift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40568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68000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/ capacity checks → Calendar &amp; availability → Registration / shift request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Slot availability; registration conflict; shift / class reminders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2" b="1">
                <a:solidFill>
                  <a:srgbClr val="F7F9FF"/>
                </a:solidFill>
                <a:latin typeface="DejaVu Sans"/>
              </a:defRPr>
            </a:pPr>
            <a:r>
              <a:t>Community updates connect approved stories to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moderated public update can build trust and point people toward programmes without exposing private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41 / 72</a:t>
            </a:r>
          </a:p>
        </p:txBody>
      </p:sp>
      <p:pic>
        <p:nvPicPr>
          <p:cNvPr id="14" name="Picture 13" descr="15-feed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15 · Dawah &amp; Impact Feed</a:t>
            </a:r>
          </a:p>
        </p:txBody>
      </p:sp>
      <p:pic>
        <p:nvPicPr>
          <p:cNvPr id="16" name="Picture 15" descr="41-feed_compos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41 · Community-post composer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feed and composer · moderation controls proposed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63" b="1">
                <a:solidFill>
                  <a:srgbClr val="F7F9FF"/>
                </a:solidFill>
                <a:latin typeface="DejaVu Sans"/>
              </a:defRPr>
            </a:pPr>
            <a:r>
              <a:t>Approved staff / teacher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Author and publication rights are checked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34" b="1">
                <a:solidFill>
                  <a:srgbClr val="F7F9FF"/>
                </a:solidFill>
                <a:latin typeface="DejaVu Sans"/>
              </a:defRPr>
            </a:pPr>
            <a:r>
              <a:t>Moderated community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text, media and consent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90" b="1">
                <a:solidFill>
                  <a:srgbClr val="F7F9FF"/>
                </a:solidFill>
                <a:latin typeface="DejaVu Sans"/>
              </a:defRPr>
            </a:pPr>
            <a:r>
              <a:t>Public programme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Link to approved participation information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77" b="1">
                <a:solidFill>
                  <a:srgbClr val="F7F9FF"/>
                </a:solidFill>
                <a:latin typeface="DejaVu Sans"/>
              </a:defRPr>
            </a:pPr>
            <a:r>
              <a:t>Privacy / beneficiary consent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Never expose private case circumstances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33" b="1">
                <a:solidFill>
                  <a:srgbClr val="F7F9FF"/>
                </a:solidFill>
                <a:latin typeface="DejaVu Sans"/>
              </a:defRPr>
            </a:pPr>
            <a:r>
              <a:t>Approved sponsor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agreed creatives and display period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7" b="1">
                <a:solidFill>
                  <a:srgbClr val="F7F9FF"/>
                </a:solidFill>
                <a:latin typeface="DejaVu Sans"/>
              </a:defRPr>
            </a:pPr>
            <a:r>
              <a:t>Participation / learning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clear destination beyond the 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labels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7F9FF"/>
                </a:solidFill>
                <a:latin typeface="DejaVu Sans"/>
              </a:defRPr>
            </a:pPr>
            <a:r>
              <a:t>Privacy / beneficiary consent → Moderated community update → Public programme discovery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Moderation decisions; privacy review; programme follow-through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4" b="1">
                <a:solidFill>
                  <a:srgbClr val="F7F9FF"/>
                </a:solidFill>
                <a:latin typeface="DejaVu Sans"/>
              </a:defRPr>
            </a:pPr>
            <a:r>
              <a:t>Sponsor recognition connects approved support to visible placements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Scheduled placements create accountable sponsor value without influencing private care or assistance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Sponsor agreement &amp;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confirms claims, creatives and terms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Placement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Location, link, dates and approval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website 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identify sponsored material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/ privacy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targeting from sensitive case data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Aggregate views / clicks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agreed non-identifying performance</a:t>
            </a:r>
          </a:p>
        </p:txBody>
      </p:sp>
      <p:sp>
        <p:nvSpPr>
          <p:cNvPr id="36" name="Rounded Rectangle 35">
            <a:hlinkClick action="ppaction://hlinksldjump" r:id="rId7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7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Renewal / expiry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Remove or renew under MRM configuration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measures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/ privacy rules → Placement configuration → App / website recognition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Placement start / expiry; approved asset use; aggregate delivery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75" b="1">
                <a:solidFill>
                  <a:srgbClr val="F7F9FF"/>
                </a:solidFill>
                <a:latin typeface="DejaVu Sans"/>
              </a:defRPr>
            </a:pPr>
            <a:r>
              <a:t>The website connects public discovery to the correct app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Immediate link access introduces MRM’s work and brings the right audience into learning, volunteering or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Mission, resources, programmes and policies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Responsive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Discover MRM without app installation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participation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Support, volunteer or teacher information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CMS &amp; migration 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 pages, assets and accessible content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/ resource detail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Public information matches approved records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account 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Continue when a personal service is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maintains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directs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hands off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CMS &amp; migration inventory → Responsive website → Relevant participation route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Public-route completion; content currency; app / service handoff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99" b="1">
                <a:solidFill>
                  <a:srgbClr val="F7F9FF"/>
                </a:solidFill>
                <a:latin typeface="DejaVu Sans"/>
              </a:defRPr>
            </a:pPr>
            <a:r>
              <a:t>Notifications connect a service event to the next safe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useful alert opens the correct authorised case, programme or shift without exposing sensitive details on a lock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44 / 72</a:t>
            </a:r>
          </a:p>
        </p:txBody>
      </p:sp>
      <p:pic>
        <p:nvPicPr>
          <p:cNvPr id="14" name="Picture 13" descr="19-notifications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19 · In-app notification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notification list · demo events / receipt claims unverified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8" b="1">
                <a:solidFill>
                  <a:srgbClr val="F7F9FF"/>
                </a:solidFill>
                <a:latin typeface="DejaVu Sans"/>
              </a:defRPr>
            </a:pPr>
            <a:r>
              <a:t>Case / class / shift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relevant state or schedule changes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8" b="1">
                <a:solidFill>
                  <a:srgbClr val="F7F9FF"/>
                </a:solidFill>
                <a:latin typeface="DejaVu Sans"/>
              </a:defRPr>
            </a:pPr>
            <a:r>
              <a:t>Eligibility &amp; preferences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Select the permitted recipient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Privacy-safe notification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Minimal context and approved wording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9" b="1">
                <a:solidFill>
                  <a:srgbClr val="F7F9FF"/>
                </a:solidFill>
                <a:latin typeface="DejaVu Sans"/>
              </a:defRPr>
            </a:pPr>
            <a:r>
              <a:t>Current role / record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Recheck permission at send and open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9" b="1">
                <a:solidFill>
                  <a:srgbClr val="F7F9FF"/>
                </a:solidFill>
                <a:latin typeface="DejaVu Sans"/>
              </a:defRPr>
            </a:pPr>
            <a:r>
              <a:t>Authorised destination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Case, programme, shift or account status</a:t>
            </a:r>
          </a:p>
        </p:txBody>
      </p:sp>
      <p:sp>
        <p:nvSpPr>
          <p:cNvPr id="38" name="Rounded Rectangle 37">
            <a:hlinkClick action="ppaction://hlinksldjump" r:id="rId8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8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7" b="1">
                <a:solidFill>
                  <a:srgbClr val="F7F9FF"/>
                </a:solidFill>
                <a:latin typeface="DejaVu Sans"/>
              </a:defRPr>
            </a:pPr>
            <a:r>
              <a:t>Personal activity /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state and review unattended 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prompts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Current role / record access → Eligibility &amp; preferences → Privacy-safe notification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 delivery; consent; authorised deep link; failed-send handling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62" b="1">
                <a:solidFill>
                  <a:srgbClr val="F7F9FF"/>
                </a:solidFill>
                <a:latin typeface="DejaVu Sans"/>
              </a:defRPr>
            </a:pPr>
            <a:r>
              <a:t>Personal activity connects applications and service status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coherent history reduces uncertainty and keeps users connected to the action that needs their attention.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45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 / case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assignment or referral updates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activity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Store the person’s relevant event history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Next action /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Open the current permitted record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the correct person can see it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6" b="1">
                <a:solidFill>
                  <a:srgbClr val="F7F9FF"/>
                </a:solidFill>
                <a:latin typeface="DejaVu Sans"/>
              </a:defRPr>
            </a:pPr>
            <a:r>
              <a:t>Learning / volunteer schedule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Programme and duty updates stay relevant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reminder /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Notify or route overdue work appropriately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record permissions → Authorised activity record → Next action / detail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own-record visibility; status accuracy; actionable updates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46" b="1">
                <a:solidFill>
                  <a:srgbClr val="F7F9FF"/>
                </a:solidFill>
                <a:latin typeface="DejaVu Sans"/>
              </a:defRPr>
            </a:pPr>
            <a:r>
              <a:t>Administration connects decisions to real operational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staff system is the operating layer that turns applications, requests and content into accountable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46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Applications / cases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Work arrives through approved journeys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Duty-based staff queues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triage and moderation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Recorded staff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Reason, responsible staff and time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14" b="1">
                <a:solidFill>
                  <a:srgbClr val="F7F9FF"/>
                </a:solidFill>
                <a:latin typeface="DejaVu Sans"/>
              </a:defRPr>
            </a:pPr>
            <a:r>
              <a:t>MRM policies &amp; responsibilities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Define decision rights and coverage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Updated feature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Approval, assignment or publication changes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Communicate permitted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changes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policies &amp; responsibilities → Duty-based staff queues → Recorded staff decision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Decision history; queue ownership; correct role-limited staff actions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Reports connect recorded activity to better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Operational summaries are useful only when they derive from verified events and lead to a clear staff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47 / 72</a:t>
            </a:r>
          </a:p>
        </p:txBody>
      </p:sp>
      <p:pic>
        <p:nvPicPr>
          <p:cNvPr id="14" name="Picture 13" descr="08-dashboard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08 · Analytics + calculator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analytics + calculator concept · figures illustrative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0" b="1">
                <a:solidFill>
                  <a:srgbClr val="F7F9FF"/>
                </a:solidFill>
                <a:latin typeface="DejaVu Sans"/>
              </a:defRPr>
            </a:pPr>
            <a:r>
              <a:t>Recorded case / programme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Outcome, status and participation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7" b="1">
                <a:solidFill>
                  <a:srgbClr val="F7F9FF"/>
                </a:solidFill>
                <a:latin typeface="DejaVu Sans"/>
              </a:defRPr>
            </a:pPr>
            <a:r>
              <a:t>Agreed operational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Service queues, capacity and referrals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review &amp;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Investigate bottlenecks and plan resources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9" b="1">
                <a:solidFill>
                  <a:srgbClr val="F7F9FF"/>
                </a:solidFill>
                <a:latin typeface="DejaVu Sans"/>
              </a:defRPr>
            </a:pPr>
            <a:r>
              <a:t>Data quality &amp; access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Aggregate by default; restrict personal exports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1" b="1">
                <a:solidFill>
                  <a:srgbClr val="F7F9FF"/>
                </a:solidFill>
                <a:latin typeface="DejaVu Sans"/>
              </a:defRPr>
            </a:pPr>
            <a:r>
              <a:t>Learning / sponsor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Agreed programme and placement measures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1" b="1">
                <a:solidFill>
                  <a:srgbClr val="F7F9FF"/>
                </a:solidFill>
                <a:latin typeface="DejaVu Sans"/>
              </a:defRPr>
            </a:pPr>
            <a:r>
              <a:t>Documented improvement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Adjust policy, capacity or configuration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43" b="1">
                <a:solidFill>
                  <a:srgbClr val="62DAE8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59" b="1">
                <a:solidFill>
                  <a:srgbClr val="62DAE8"/>
                </a:solidFill>
                <a:latin typeface="DejaVu Sans"/>
              </a:defRPr>
            </a:pPr>
            <a:r>
              <a:t>summarises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acts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2" b="1">
                <a:solidFill>
                  <a:srgbClr val="62DAE8"/>
                </a:solidFill>
                <a:latin typeface="DejaVu Sans"/>
              </a:defRPr>
            </a:pPr>
            <a:r>
              <a:t>improves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Data quality &amp; access rules → Agreed operational summaries → MRM review &amp; action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Metric definitions; source reconciliation; restricted export tests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Privacy and audit connect policy to every data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Access rules must remain effective in the API, files, exports and notifications, not only in visible screens.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Authenticated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Current roles and approved attributes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Record-level authorisation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role, case and gender boundary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case /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Restrict identity files and sensitive records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49" b="1">
                <a:solidFill>
                  <a:srgbClr val="F7F9FF"/>
                </a:solidFill>
                <a:latin typeface="DejaVu Sans"/>
              </a:defRPr>
            </a:pPr>
            <a:r>
              <a:t>MRM privacy / retention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Consent, sharing and retention decisions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notifications /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Minimise disclosure outside the record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Audit / backup / recovery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Accountable action and agreed recovery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privacy / retention policy → Record-level authorisation → Protected case / evidence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 API denial; file permissions; audit / recovery checks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Settings connect local choices to reliable, private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Preferences should change the intended experience consistently without silently changing role or record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49 / 72</a:t>
            </a:r>
          </a:p>
        </p:txBody>
      </p:sp>
      <p:pic>
        <p:nvPicPr>
          <p:cNvPr id="14" name="Picture 13" descr="13-settings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13 · Settings, zone, lock and cache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Settings; distinct dark-theme Home is shown on the main cover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User preferences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Language, theme and local area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Settings &amp; consent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Explicit choices and clear effects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78" b="1">
                <a:solidFill>
                  <a:srgbClr val="F7F9FF"/>
                </a:solidFill>
                <a:latin typeface="DejaVu Sans"/>
              </a:defRPr>
            </a:pPr>
            <a:r>
              <a:t>Prayer / reminder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approved zone and notification choice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95" b="1">
                <a:solidFill>
                  <a:srgbClr val="F7F9FF"/>
                </a:solidFill>
                <a:latin typeface="DejaVu Sans"/>
              </a:defRPr>
            </a:pPr>
            <a:r>
              <a:t>Supported offline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Cache only approved / permitted material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0" b="1">
                <a:solidFill>
                  <a:srgbClr val="F7F9FF"/>
                </a:solidFill>
                <a:latin typeface="DejaVu Sans"/>
              </a:defRPr>
            </a:pPr>
            <a:r>
              <a:t>Device / privacy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Supported lock and safe local handling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Reliable repeated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Respect denied permissions and changed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manages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6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tests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Supported offline content → Settings &amp; consent → Prayer / reminder behaviour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Prayer-zone changes; consent; cache and supported device-lock tests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7" b="1">
                <a:solidFill>
                  <a:srgbClr val="F7F9FF"/>
                </a:solidFill>
                <a:latin typeface="DejaVu Sans"/>
              </a:defRPr>
            </a:pPr>
            <a:r>
              <a:t>Loading, empty and error states connect trust to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failed request must explain what happened and offer the right recovery path without duplicating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50 / 72</a:t>
            </a:r>
          </a:p>
        </p:txBody>
      </p:sp>
      <p:pic>
        <p:nvPicPr>
          <p:cNvPr id="14" name="Picture 13" descr="20-empty_loading_erro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20 · Loading-state skeleton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loading skeleton · empty/error tabs visible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API / content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Load or submit a real service action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Visible state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Loading, empty, success or error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7" b="1">
                <a:solidFill>
                  <a:srgbClr val="F7F9FF"/>
                </a:solidFill>
                <a:latin typeface="DejaVu Sans"/>
              </a:defRPr>
            </a:pPr>
            <a:r>
              <a:t>Safe retry / 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Retry, correct input or return to a valid route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94" b="1">
                <a:solidFill>
                  <a:srgbClr val="F7F9FF"/>
                </a:solidFill>
                <a:latin typeface="DejaVu Sans"/>
              </a:defRPr>
            </a:pPr>
            <a:r>
              <a:t>Permission / network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Distinguish denied access from unavailable data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2" b="1">
                <a:solidFill>
                  <a:srgbClr val="F7F9FF"/>
                </a:solidFill>
                <a:latin typeface="DejaVu Sans"/>
              </a:defRPr>
            </a:pPr>
            <a:r>
              <a:t>Persistent operation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whether the action already completed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4" b="1">
                <a:solidFill>
                  <a:srgbClr val="F7F9FF"/>
                </a:solidFill>
                <a:latin typeface="DejaVu Sans"/>
              </a:defRPr>
            </a:pPr>
            <a:r>
              <a:t>Support / staff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Escalate a genuine unresolved problem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1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545" b="1">
                <a:solidFill>
                  <a:srgbClr val="62DAE8"/>
                </a:solidFill>
                <a:latin typeface="DejaVu Sans"/>
              </a:defRPr>
            </a:pPr>
            <a:r>
              <a:t>prevents loss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Permission / network outcome → Visible state feedback → Safe retry / next action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Retry correctness; no duplicate submissions; recoverable state tests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59" b="1">
                <a:solidFill>
                  <a:srgbClr val="F7F9FF"/>
                </a:solidFill>
                <a:latin typeface="DejaVu Sans"/>
              </a:defRPr>
            </a:pPr>
            <a:r>
              <a:t>Empty states connect a valid zero result to a useful next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genuine empty state reduces confusion without claiming that work is completed simply because nothing is displayed.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51 / 72</a:t>
            </a:r>
          </a:p>
        </p:txBody>
      </p:sp>
      <p:pic>
        <p:nvPicPr>
          <p:cNvPr id="14" name="Picture 13" descr="43-state_empty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43 · Empty-state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“No Active Care Missions” empty-state panel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Authorised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permitted case or content list is loaded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4" b="1">
                <a:solidFill>
                  <a:srgbClr val="F7F9FF"/>
                </a:solidFill>
                <a:latin typeface="DejaVu Sans"/>
              </a:defRPr>
            </a:pPr>
            <a:r>
              <a:t>Confirmed empty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Distinguish no data from network failure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Useful 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relevant tools or participation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8" b="1">
                <a:solidFill>
                  <a:srgbClr val="F7F9FF"/>
                </a:solidFill>
                <a:latin typeface="DejaVu Sans"/>
              </a:defRPr>
            </a:pPr>
            <a:r>
              <a:t>Record / network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Do not treat an error as an empty list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1" b="1">
                <a:solidFill>
                  <a:srgbClr val="F7F9FF"/>
                </a:solidFill>
                <a:latin typeface="DejaVu Sans"/>
              </a:defRPr>
            </a:pPr>
            <a:r>
              <a:t>Service / programme discovery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Offer only an appropriate permitted route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New valid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explicit user action starts a real journey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distinguishes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Record / network checks → Confirmed empty result → Useful next action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zero-state wording; next-action eligibility; no false completion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8" b="1">
                <a:solidFill>
                  <a:srgbClr val="F7F9FF"/>
                </a:solidFill>
                <a:latin typeface="DejaVu Sans"/>
              </a:defRPr>
            </a:pPr>
            <a:r>
              <a:t>Error recovery connects service continuity to truthful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clear failure state should recover the correct operation and preserve data, rather than silently repeat a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52 / 72</a:t>
            </a:r>
          </a:p>
        </p:txBody>
      </p:sp>
      <p:pic>
        <p:nvPicPr>
          <p:cNvPr id="14" name="Picture 13" descr="44-state_erro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44 · Network-error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network-error panel with reconnect control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82" b="1">
                <a:solidFill>
                  <a:srgbClr val="F7F9FF"/>
                </a:solidFill>
                <a:latin typeface="DejaVu Sans"/>
              </a:defRPr>
            </a:pPr>
            <a:r>
              <a:t>Failed service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Network or backend did not complete normally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42" b="1">
                <a:solidFill>
                  <a:srgbClr val="F7F9FF"/>
                </a:solidFill>
                <a:latin typeface="DejaVu Sans"/>
              </a:defRPr>
            </a:pPr>
            <a:r>
              <a:t>Visible error 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State what is unavailable without overclaiming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Safe reconnect / 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Reconcile status before resubmitting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Available offline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previously permitted cached material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2" b="1">
                <a:solidFill>
                  <a:srgbClr val="F7F9FF"/>
                </a:solidFill>
                <a:latin typeface="DejaVu Sans"/>
              </a:defRPr>
            </a:pPr>
            <a:r>
              <a:t>Persistent operation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whether submission already succeeded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4" b="1">
                <a:solidFill>
                  <a:srgbClr val="F7F9FF"/>
                </a:solidFill>
                <a:latin typeface="DejaVu Sans"/>
              </a:defRPr>
            </a:pPr>
            <a:r>
              <a:t>Recovered permitted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Resume or route to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fails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 fallback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2" b="1">
                <a:solidFill>
                  <a:srgbClr val="62DAE8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Available offline content → Visible error explanation → Safe reconnect / retry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Reconnect; idempotent retry; cached access; status reconciliation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24159" y="5372100"/>
            <a:ext cx="777241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29700" y="4389120"/>
            <a:ext cx="0" cy="36576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029700" y="4389120"/>
            <a:ext cx="3566160" cy="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595860" y="4023360"/>
            <a:ext cx="0" cy="36576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595860" y="4023360"/>
            <a:ext cx="0" cy="73152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46620" y="3406139"/>
            <a:ext cx="388620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46620" y="3406139"/>
            <a:ext cx="0" cy="1965961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58000" y="5372100"/>
            <a:ext cx="388620" cy="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424159" y="3406139"/>
            <a:ext cx="777241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858000" y="3406139"/>
            <a:ext cx="777240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END-TO-END CARE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Care is a connected service, not a dispatch 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Verification, matching, contact, closure and recognition have distinct responsibilities and access boundaries.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53 / 72</a:t>
            </a:r>
          </a:p>
        </p:txBody>
      </p:sp>
      <p:pic>
        <p:nvPicPr>
          <p:cNvPr id="14" name="Picture 13" descr="36-onboarding_slide3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36 · Onboarding · volunteer pillar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406908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7368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4233672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Triage selects the routine or restricted route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763524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53527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7799831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Eligible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active volunteer + access rules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120140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19688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1365992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who is responsible for the work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406908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87368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4233672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5" b="1">
                <a:solidFill>
                  <a:srgbClr val="F7F9FF"/>
                </a:solidFill>
                <a:latin typeface="DejaVu Sans"/>
              </a:defRPr>
            </a:pPr>
            <a:r>
              <a:t>Verification &amp; interview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672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evidence before eligible service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763524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53527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799831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0" b="1">
                <a:solidFill>
                  <a:srgbClr val="F7F9FF"/>
                </a:solidFill>
                <a:latin typeface="DejaVu Sans"/>
              </a:defRPr>
            </a:pPr>
            <a:r>
              <a:t>Permitted case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Progress, report concerns and follow up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120140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19688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1365992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Closure &amp;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5992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Verify outcome before service credit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94576" y="309524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22008" y="313182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triages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60735" y="309524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88167" y="313182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9692" y="4270248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07124" y="4306824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266676" y="427024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294108" y="430682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87000" y="4078224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14432" y="4114800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60735" y="506120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88167" y="509778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69080" y="7132320"/>
            <a:ext cx="9921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97096" y="7191756"/>
            <a:ext cx="9665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Restricted faith / family cases go to designated personnel, not the general volunteer broadcast route.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315200" y="4288536"/>
            <a:ext cx="0" cy="402336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315200" y="4288536"/>
            <a:ext cx="470916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24360" y="3886200"/>
            <a:ext cx="0" cy="402336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5330952"/>
            <a:ext cx="77724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END-TO-END LEARNING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6" b="1">
                <a:solidFill>
                  <a:srgbClr val="F7F9FF"/>
                </a:solidFill>
                <a:latin typeface="DejaVu Sans"/>
              </a:defRPr>
            </a:pPr>
            <a:r>
              <a:t>Learning connects content, entitlement, time and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Teacher approval, payment verification and moderation are independent controls serving one learner journey.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54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confirms credentials and role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Plan entitlement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Verify designated publishing privileges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/ rights and publication review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Discovery &amp;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Daily tools and public content open learning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registration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Schedule and access rules are explicit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Session / recording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Permitted access, reminders and continuation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468" b="1">
                <a:solidFill>
                  <a:srgbClr val="C2A3FF"/>
                </a:solidFill>
                <a:latin typeface="DejaVu Sans"/>
              </a:defRPr>
            </a:pPr>
            <a:r>
              <a:t>allows submission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5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08576" y="5020056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6008" y="5056632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3977639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71432" y="4014215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lists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No teacher payment grants private-case access. No proposed subscription paywall for ordinary members or volunteers.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15200" y="3886200"/>
            <a:ext cx="0" cy="804672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960620" y="3246120"/>
            <a:ext cx="38862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960620" y="3246120"/>
            <a:ext cx="0" cy="2084832"/>
          </a:xfrm>
          <a:prstGeom prst="line">
            <a:avLst/>
          </a:prstGeom>
          <a:ln w="17780">
            <a:solidFill>
              <a:srgbClr val="E8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5330952"/>
            <a:ext cx="388620" cy="0"/>
          </a:xfrm>
          <a:prstGeom prst="line">
            <a:avLst/>
          </a:prstGeom>
          <a:ln w="17780">
            <a:solidFill>
              <a:srgbClr val="E8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EVERYDAY MUSLIM JOURNEY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70" b="1">
                <a:solidFill>
                  <a:srgbClr val="F7F9FF"/>
                </a:solidFill>
                <a:latin typeface="DejaVu Sans"/>
              </a:defRPr>
            </a:pPr>
            <a:r>
              <a:t>Daily tools make the platform valuable between service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person can practise, learn and discover relevant participation without needing an assistance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55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/ source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local and content conventions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Islamic 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Prayer, Quran, Qibla and remembrance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explanations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Guides, references and programmes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personal choices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Consent, logs and supported cache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Mosques, classes and support routes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Voluntary participation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Join a programme or begin a request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E8C57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3692" y="4169663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1124" y="42062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personalises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8601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1344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E8C57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Personal worship logs stay private. Community participation is a choice, not a condition of using daily tools.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0" y="5330952"/>
            <a:ext cx="77724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15200" y="4288536"/>
            <a:ext cx="0" cy="402336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315200" y="4288536"/>
            <a:ext cx="470916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024360" y="3886200"/>
            <a:ext cx="0" cy="402336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606039" y="3886200"/>
            <a:ext cx="0" cy="804672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SHARED EVENT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79" b="1">
                <a:solidFill>
                  <a:srgbClr val="F7F9FF"/>
                </a:solidFill>
                <a:latin typeface="DejaVu Sans"/>
              </a:defRPr>
            </a:pPr>
            <a:r>
              <a:t>One event connects state, notification and accountable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An alert is useful only when it points to the right record and preserves the current access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56 / 72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 / case /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legitimate service state changes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Recipient &amp; privacy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Role, record and notification preference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alert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Minimal copy and relevant destination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Persistent event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actual transition and owner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next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Recheck access when the user opens it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Follow-up &amp;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unattended work; aggregate outcomes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7685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7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prompts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977639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71432" y="4014215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08576" y="5020056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36008" y="5056632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0" b="1">
                <a:solidFill>
                  <a:srgbClr val="62DAE8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Failed notification delivery does not erase the case; application state and staff follow-up remain authoritative.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4" b="1">
                <a:solidFill>
                  <a:srgbClr val="F7F9FF"/>
                </a:solidFill>
                <a:latin typeface="DejaVu Sans"/>
              </a:defRPr>
            </a:pPr>
            <a:r>
              <a:t>Relief campaigns connect public interest to a defined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transparent campaign should explain its purpose and owner before a person considers a contribution.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57 / 72</a:t>
            </a:r>
          </a:p>
        </p:txBody>
      </p:sp>
      <p:pic>
        <p:nvPicPr>
          <p:cNvPr id="14" name="Picture 13" descr="10-catalog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10 · Infaq &amp; Relief Campaigns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fundraising / authority approval required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3" b="1">
                <a:solidFill>
                  <a:srgbClr val="F7F9FF"/>
                </a:solidFill>
                <a:latin typeface="DejaVu Sans"/>
              </a:defRPr>
            </a:pPr>
            <a:r>
              <a:t>Approved programme / 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defines the intended relief initiative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Campaign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Categories, information and display period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4" b="1">
                <a:solidFill>
                  <a:srgbClr val="F7F9FF"/>
                </a:solidFill>
                <a:latin typeface="DejaVu Sans"/>
              </a:defRPr>
            </a:pPr>
            <a:r>
              <a:t>Purpose / provisions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what is being supported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9" b="1">
                <a:solidFill>
                  <a:srgbClr val="F7F9FF"/>
                </a:solidFill>
                <a:latin typeface="DejaVu Sans"/>
              </a:defRPr>
            </a:pPr>
            <a:r>
              <a:t>Authority &amp; claim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permissions, tax wording and rights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separate conditional financial journey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6" b="1">
                <a:solidFill>
                  <a:srgbClr val="F7F9FF"/>
                </a:solidFill>
                <a:latin typeface="DejaVu Sans"/>
              </a:defRPr>
            </a:pPr>
            <a:r>
              <a:t>Recorded contribution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verified transaction outcomes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&amp; claim review → Campaign discovery → Purpose / provisions detail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campaign information; correct status; purpose clarity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Campaign detail connects a pledge to explicit provisions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provisions and responsible ownership help supporters understand the intended purpose without relying on unsupported impact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58 / 72</a:t>
            </a:r>
          </a:p>
        </p:txBody>
      </p:sp>
      <p:pic>
        <p:nvPicPr>
          <p:cNvPr id="14" name="Picture 13" descr="11-product_detail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11 · Campaign detail · Overview</a:t>
            </a:r>
          </a:p>
        </p:txBody>
      </p:sp>
      <p:pic>
        <p:nvPicPr>
          <p:cNvPr id="16" name="Picture 15" descr="37-product_provisions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37 · Campaign detail · Provisions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distinct Overview and Provisions tabs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9" b="1">
                <a:solidFill>
                  <a:srgbClr val="F7F9FF"/>
                </a:solidFill>
                <a:latin typeface="DejaVu Sans"/>
              </a:defRPr>
            </a:pPr>
            <a:r>
              <a:t>Campaign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an approved relief initiative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62" b="1">
                <a:solidFill>
                  <a:srgbClr val="F7F9FF"/>
                </a:solidFill>
                <a:latin typeface="DejaVu Sans"/>
              </a:defRPr>
            </a:pPr>
            <a:r>
              <a:t>Purpose &amp; provision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Overview, contents and responsible contact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9" b="1">
                <a:solidFill>
                  <a:srgbClr val="F7F9FF"/>
                </a:solidFill>
                <a:latin typeface="DejaVu Sans"/>
              </a:defRPr>
            </a:pPr>
            <a:r>
              <a:t>Contribution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Quantity or supported allocation choice</a:t>
            </a:r>
          </a:p>
        </p:txBody>
      </p:sp>
      <p:sp>
        <p:nvSpPr>
          <p:cNvPr id="32" name="Rounded Rectangle 31">
            <a:hlinkClick action="ppaction://hlinksldjump" r:id="rId12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5" b="1">
                <a:solidFill>
                  <a:srgbClr val="F7F9FF"/>
                </a:solidFill>
                <a:latin typeface="DejaVu Sans"/>
              </a:defRPr>
            </a:pPr>
            <a:r>
              <a:t>Claims / rights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 assumed tax status or guaranteed delivery</a:t>
            </a:r>
          </a:p>
        </p:txBody>
      </p:sp>
      <p:sp>
        <p:nvSpPr>
          <p:cNvPr id="36" name="Rounded Rectangle 35">
            <a:hlinkClick action="ppaction://hlinksldjump" r:id="rId13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8" b="1">
                <a:solidFill>
                  <a:srgbClr val="F7F9FF"/>
                </a:solidFill>
                <a:latin typeface="DejaVu Sans"/>
              </a:defRPr>
            </a:pPr>
            <a:r>
              <a:t>Permitted impact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approved, consented and evidenced material</a:t>
            </a:r>
          </a:p>
        </p:txBody>
      </p:sp>
      <p:sp>
        <p:nvSpPr>
          <p:cNvPr id="40" name="Rounded Rectangle 39">
            <a:hlinkClick action="ppaction://hlinksldjump" r:id="rId14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66" b="1">
                <a:solidFill>
                  <a:srgbClr val="F7F9FF"/>
                </a:solidFill>
                <a:latin typeface="DejaVu Sans"/>
              </a:defRPr>
            </a:pPr>
            <a:r>
              <a:t>Verified status / confirmation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Do not claim completion before verification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Claims / rights approval → Purpose &amp; provision detail → Contribution selection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provisions; amount calculation; correct purpose selection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26" b="1">
                <a:solidFill>
                  <a:srgbClr val="F7F9FF"/>
                </a:solidFill>
                <a:latin typeface="DejaVu Sans"/>
              </a:defRPr>
            </a:pPr>
            <a:r>
              <a:t>Impact information connects an outcome to trustworthy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Verified and consented evidence can explain value; a sample testimonial must never be presented as a proven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59 / 72</a:t>
            </a:r>
          </a:p>
        </p:txBody>
      </p:sp>
      <p:pic>
        <p:nvPicPr>
          <p:cNvPr id="14" name="Picture 13" descr="38-product_impac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38 · Campaign detail · sample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sample Impact tab, not verified testimonials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43" b="1">
                <a:solidFill>
                  <a:srgbClr val="F7F9FF"/>
                </a:solidFill>
                <a:latin typeface="DejaVu Sans"/>
              </a:defRPr>
            </a:pPr>
            <a:r>
              <a:t>Verified service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accountable event and confirmation exist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6" b="1">
                <a:solidFill>
                  <a:srgbClr val="F7F9FF"/>
                </a:solidFill>
                <a:latin typeface="DejaVu Sans"/>
              </a:defRPr>
            </a:pPr>
            <a:r>
              <a:t>Approved impact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evidence, privacy and consent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3" b="1">
                <a:solidFill>
                  <a:srgbClr val="F7F9FF"/>
                </a:solidFill>
                <a:latin typeface="DejaVu Sans"/>
              </a:defRPr>
            </a:pPr>
            <a:r>
              <a:t>Public campaign /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only permitted, supported statements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15" b="1">
                <a:solidFill>
                  <a:srgbClr val="F7F9FF"/>
                </a:solidFill>
                <a:latin typeface="DejaVu Sans"/>
              </a:defRPr>
            </a:pPr>
            <a:r>
              <a:t>Beneficiary consent &amp; privacy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Exclude identifying private case details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7F9FF"/>
                </a:solidFill>
                <a:latin typeface="DejaVu Sans"/>
              </a:defRPr>
            </a:pPr>
            <a:r>
              <a:t>Aggregate programme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reviews responsible summaries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6" b="1">
                <a:solidFill>
                  <a:srgbClr val="F7F9FF"/>
                </a:solidFill>
                <a:latin typeface="DejaVu Sans"/>
              </a:defRPr>
            </a:pPr>
            <a:r>
              <a:t>Content correction / withdrawal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Remove material when permission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1" b="1">
                <a:solidFill>
                  <a:srgbClr val="C2A3FF"/>
                </a:solidFill>
                <a:latin typeface="DejaVu Sans"/>
              </a:defRPr>
            </a:pPr>
            <a:r>
              <a:t>evidences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5" b="1">
                <a:solidFill>
                  <a:srgbClr val="C2A3FF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corrects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Beneficiary consent &amp; privacy → Approved impact record → Public campaign / report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Evidence traceability; consent; approval and correction records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22" b="1">
                <a:solidFill>
                  <a:srgbClr val="F7F9FF"/>
                </a:solidFill>
                <a:latin typeface="DejaVu Sans"/>
              </a:defRPr>
            </a:pPr>
            <a:r>
              <a:t>Contribution allocation connects intention, purpose and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An explicit allocation and transparent total reduce confusion between donations, business sponsorship and teacher subscriptions.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60 / 72</a:t>
            </a:r>
          </a:p>
        </p:txBody>
      </p:sp>
      <p:pic>
        <p:nvPicPr>
          <p:cNvPr id="14" name="Picture 13" descr="17-cart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17 · Sadaqah &amp; Infaq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Sadaqah / Infaq allocation, not retail cart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0" b="1">
                <a:solidFill>
                  <a:srgbClr val="F7F9FF"/>
                </a:solidFill>
                <a:latin typeface="DejaVu Sans"/>
              </a:defRPr>
            </a:pPr>
            <a:r>
              <a:t>Approved campaign / provision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authorised purpose is selected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Purpose, quantity and optional support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3" b="1">
                <a:solidFill>
                  <a:srgbClr val="F7F9FF"/>
                </a:solidFill>
                <a:latin typeface="DejaVu Sans"/>
              </a:defRPr>
            </a:pPr>
            <a:r>
              <a:t>Amount / purpose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Make the intended commitment clear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5" b="1">
                <a:solidFill>
                  <a:srgbClr val="F7F9FF"/>
                </a:solidFill>
                <a:latin typeface="DejaVu Sans"/>
              </a:defRPr>
            </a:pPr>
            <a:r>
              <a:t>Financial policy &amp; permission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Terms, handling and authority requirements</a:t>
            </a:r>
          </a:p>
        </p:txBody>
      </p:sp>
      <p:sp>
        <p:nvSpPr>
          <p:cNvPr id="34" name="Rounded Rectangle 33">
            <a:hlinkClick action="ppaction://hlinksldjump" r:id="rId10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9" b="1">
                <a:solidFill>
                  <a:srgbClr val="F7F9FF"/>
                </a:solidFill>
                <a:latin typeface="DejaVu Sans"/>
              </a:defRPr>
            </a:pPr>
            <a:r>
              <a:t>Conditional payment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separately authorised financial service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Receipt / status 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after verified transaction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6" b="1">
                <a:solidFill>
                  <a:srgbClr val="C2A3FF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Financial policy &amp; permission → Contribution allocation → Amount / purpose review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Amount consistency; purpose consent; valid financial-state transition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0" b="1">
                <a:solidFill>
                  <a:srgbClr val="F7F9FF"/>
                </a:solidFill>
                <a:latin typeface="DejaVu Sans"/>
              </a:defRPr>
            </a:pPr>
            <a:r>
              <a:t>Donation payment is separate from teacher billing and zakat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Financial confirmation needs verified transactions, approved authority wording and reconciliation before any receipt or disbursement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61 / 72</a:t>
            </a:r>
          </a:p>
        </p:txBody>
      </p:sp>
      <p:pic>
        <p:nvPicPr>
          <p:cNvPr id="14" name="Picture 13" descr="35-onboarding_slide2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35 · Onboarding · welfare / aid pillar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earlier proposal excludes zakat collection / disbursement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permitted purpose and amount are confirmed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61" b="1">
                <a:solidFill>
                  <a:srgbClr val="F7F9FF"/>
                </a:solidFill>
                <a:latin typeface="DejaVu Sans"/>
              </a:defRPr>
            </a:pPr>
            <a:r>
              <a:t>Authorised payment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Provider, account ownership and controls</a:t>
            </a:r>
          </a:p>
        </p:txBody>
      </p:sp>
      <p:sp>
        <p:nvSpPr>
          <p:cNvPr id="26" name="Rounded Rectangle 25">
            <a:hlinkClick action="ppaction://hlinksldjump" r:id="rId10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2" b="1">
                <a:solidFill>
                  <a:srgbClr val="F7F9FF"/>
                </a:solidFill>
                <a:latin typeface="DejaVu Sans"/>
              </a:defRPr>
            </a:pPr>
            <a:r>
              <a:t>Verified transaction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Resolve success, failure or pending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8" b="1">
                <a:solidFill>
                  <a:srgbClr val="F7F9FF"/>
                </a:solidFill>
                <a:latin typeface="DejaVu Sans"/>
              </a:defRPr>
            </a:pPr>
            <a:r>
              <a:t>Authority / financial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Collection, tax and disbursement permissions</a:t>
            </a:r>
          </a:p>
        </p:txBody>
      </p:sp>
      <p:sp>
        <p:nvSpPr>
          <p:cNvPr id="34" name="Rounded Rectangle 33">
            <a:hlinkClick action="ppaction://hlinksldjump" r:id="rId12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1" b="1">
                <a:solidFill>
                  <a:srgbClr val="F7F9FF"/>
                </a:solidFill>
                <a:latin typeface="DejaVu Sans"/>
              </a:defRPr>
            </a:pPr>
            <a:r>
              <a:t>Permitted receipt /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issue what is legally authorised</a:t>
            </a:r>
          </a:p>
        </p:txBody>
      </p:sp>
      <p:sp>
        <p:nvSpPr>
          <p:cNvPr id="38" name="Rounded Rectangle 37">
            <a:hlinkClick action="ppaction://hlinksldjump" r:id="rId13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86" b="1">
                <a:solidFill>
                  <a:srgbClr val="F7F9FF"/>
                </a:solidFill>
                <a:latin typeface="DejaVu Sans"/>
              </a:defRPr>
            </a:pPr>
            <a:r>
              <a:t>Reconciliation / staff oversight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Track the verified financial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initiates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2" b="1">
                <a:solidFill>
                  <a:srgbClr val="C2A3FF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/ financial approval → Authorised payment process → Verified transaction state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failed / duplicate handling; reconciliation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DELIVERY STRATEGY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54" b="1">
                <a:solidFill>
                  <a:srgbClr val="F7F9FF"/>
                </a:solidFill>
                <a:latin typeface="DejaVu Sans"/>
              </a:defRPr>
            </a:pPr>
            <a:r>
              <a:t>Delivery follows dependencies, not disconnected screen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earlier proposal estimates 3–4 months for agreed scope, subject to required inputs and external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62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Source / licence audit, journeys, access matrix, content and acceptance specification.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Working service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Identity, verification, requests, teachers, learning and private records as complete vertical journeys.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Connected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Utilities, website, sponsors, notifications, reports and operational configuration.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Acceptance &amp;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Meaningful permissions / device / billing checks, MRM UAT, training and client-owned submissions.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Extended collection / payment / receipt concepts require separate authority, technical assessment and written scope decisions.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OPERATING MODEL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6" b="1">
                <a:solidFill>
                  <a:srgbClr val="F7F9FF"/>
                </a:solidFill>
                <a:latin typeface="DejaVu Sans"/>
              </a:defRPr>
            </a:pPr>
            <a:r>
              <a:t>The software and the operating service need clear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defines policies and owns its operational decisions; Zylax implements and verifies the agreed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63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programme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Approval criteria, safeguarding policy, content rights, teacher terms and sponsor agreements.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service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Case queues, interviews, follow-up, moderation, learning programmes and partner relationships.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Zylax delivery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Template-consistent implementation, server permissions, persistence, testing, documentation and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Client-owned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Hosting, domain, store verification, billing setup and third-party access with authorised collaboration.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Store submission is a delivery milestone. Public approval and release dates remain controlled by the stores.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ACCEPTANCE EVIDENCE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Acceptance should prove the connections actually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Each check follows an end-to-end journey and attempts the important denied, failed and recovery paths.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64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9464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Identity → correct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Recovery, role activation and direct API denial.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Applicant → eligible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Evidence / interview / decision and immediate suspension.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74352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9464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87" b="1">
                <a:solidFill>
                  <a:srgbClr val="F7F9FF"/>
                </a:solidFill>
                <a:latin typeface="DejaVu Sans"/>
              </a:defRPr>
            </a:pPr>
            <a:r>
              <a:t>Request → confirmed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Triage, matching, assignment, reassignment and closure.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0" b="1">
                <a:solidFill>
                  <a:srgbClr val="F7F9FF"/>
                </a:solidFill>
                <a:latin typeface="DejaVu Sans"/>
              </a:defRPr>
            </a:pPr>
            <a:r>
              <a:t>Teacher → permitted publication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Approval, billing state, allowance and independent moderation.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57216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4727448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3" b="1">
                <a:solidFill>
                  <a:srgbClr val="F7F9FF"/>
                </a:solidFill>
                <a:latin typeface="DejaVu Sans"/>
              </a:defRPr>
            </a:pPr>
            <a:r>
              <a:t>Programme → participant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Registration, reminder, session and recording rights.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74352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4727448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95" b="1">
                <a:solidFill>
                  <a:srgbClr val="F7F9FF"/>
                </a:solidFill>
                <a:latin typeface="DejaVu Sans"/>
              </a:defRPr>
            </a:pPr>
            <a:r>
              <a:t>Confidential case → safe follow-up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Unrelated accounts, evidence files, exports and safe notifications.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Acceptance follows proven journeys, permission boundaries and recoverable failures, with findings recorded and retested.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IMPORTANCE &amp; PRIORITIES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Why every capability belongs in the overall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Different features create different kinds of value; their dependencies determine the implementation sequence.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65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Trust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Identity, permissions, approved sources, file access, reliable state and audit make other features safe to operate.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Service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Triage, verification, assignment and follow-up turn a need into an accountable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Everyday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Prayer, Quran, guidance, search and programmes keep the platform useful for the wider Muslim community.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Sustainable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 entitlements and sponsor delivery connect revenue to explicit privileges and accountable recognition.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Sequence by dependency and operational readiness; keep approved modules visible rather than silently dropping difficult work.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SCREENSHOT EVIDENCE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What the MVP images establish, and what they do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All 48 corrected Drive captures were reviewed as UI states, not as independent proof of operational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66 / 72</a:t>
            </a:r>
          </a:p>
        </p:txBody>
      </p:sp>
      <p:pic>
        <p:nvPicPr>
          <p:cNvPr id="14" name="Picture 13" descr="01-splash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68880"/>
            <a:ext cx="2134763" cy="43525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" y="6894576"/>
            <a:ext cx="224449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01 · Brand / loading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450592"/>
            <a:ext cx="9875520" cy="129844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33087" y="2596896"/>
            <a:ext cx="32004" cy="1005839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633472"/>
            <a:ext cx="94731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Visible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054096"/>
            <a:ext cx="947318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images establish labels, screen structure, selected tabs, role states and the controls that are visible.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913632"/>
            <a:ext cx="9875520" cy="129844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33087" y="4059936"/>
            <a:ext cx="32004" cy="1005839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4096512"/>
            <a:ext cx="94731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Not yet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517136"/>
            <a:ext cx="947318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Persistence, working APIs, live biometrics, encrypted chat, payments, tax status and operational impact need separate checks.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5376672"/>
            <a:ext cx="9875520" cy="129844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33087" y="5522976"/>
            <a:ext cx="32004" cy="1005839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5559552"/>
            <a:ext cx="94731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Religious / policy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5980176"/>
            <a:ext cx="9473184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Sources, local conventions, classifications, verification rules and safeguarding coverage require responsible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7132320"/>
            <a:ext cx="987552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7191756"/>
            <a:ext cx="96194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No statistics, audit badge, testimonial or “sync” label in a prototype is represented here as a proven result.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SOURCE / ARCHITECTURE REVIEW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Internal navigation is not a new technology commitment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directory and menu are useful audit views; development helpers do not establish the delivered app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67 / 72</a:t>
            </a:r>
          </a:p>
        </p:txBody>
      </p:sp>
      <p:pic>
        <p:nvPicPr>
          <p:cNvPr id="14" name="Picture 13" descr="07-menu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450592"/>
            <a:ext cx="2098884" cy="4279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" y="6803136"/>
            <a:ext cx="220861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07 · Menu and utility directory</a:t>
            </a:r>
          </a:p>
        </p:txBody>
      </p:sp>
      <p:pic>
        <p:nvPicPr>
          <p:cNvPr id="16" name="Picture 15" descr="46-modal_navigato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2450592"/>
            <a:ext cx="2098884" cy="42793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71216" y="6803136"/>
            <a:ext cx="220861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46 · Screen-directory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468880"/>
            <a:ext cx="850392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468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2651760"/>
            <a:ext cx="81015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Preserve the chosen source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355848"/>
            <a:ext cx="810158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prior requirement is Zabi v4.3 / Flutter and template preservation. A menu saying Kotlin or a PWA helper is not approval to replace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626864"/>
            <a:ext cx="850392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04688" y="4773168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4809744"/>
            <a:ext cx="81015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Audit before implementation 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5513831"/>
            <a:ext cx="810158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Inspect the actual source, licence, dependencies, routes, backend and platform targets before reconciling the prototype with release requirements.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Capture 47 is developer installation help and is excluded from client feature imagery. No source architecture was validated here.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IMAGE AUDIT &amp; COVERAGE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03" b="1">
                <a:solidFill>
                  <a:srgbClr val="F7F9FF"/>
                </a:solidFill>
                <a:latin typeface="DejaVu Sans"/>
              </a:defRPr>
            </a:pPr>
            <a:r>
              <a:t>Every corrected capture has one deliberate use or exclusion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Variants are identified by what changes on screen; no image is relabelled to imply a different completed feature.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68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48 images reviewed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Content labels, hashes, selected states and use locations are recorded in the accompanying screen register.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45 distinct visual 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Distinct screens, roles, tabs, modals and theme states are used once each in this deck.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3 explicit exclusions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Payment form 18 and receipt 42 contain a full identity number. Image 47 is developer installation help.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Corrected explanations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Catalog / product / cart are relief-purpose views. Mentor roster is not subscription approval; a simulation is not a live sensor test.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See Screen_Audit.json / Screen_Audit.md for the full file-to-page register and capture-specific findings.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TRACEABLE FEATURE INDEX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Feature connection index 1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Choose an entry to open its individual network; each page explains the connection value and what to verify.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69 / 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74980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06   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7"/>
          </p:cNvPr>
          <p:cNvSpPr txBox="1"/>
          <p:nvPr/>
        </p:nvSpPr>
        <p:spPr>
          <a:xfrm>
            <a:off x="74980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07   Registration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8"/>
          </p:cNvPr>
          <p:cNvSpPr txBox="1"/>
          <p:nvPr/>
        </p:nvSpPr>
        <p:spPr>
          <a:xfrm>
            <a:off x="74980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08   Authentication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9"/>
          </p:cNvPr>
          <p:cNvSpPr txBox="1"/>
          <p:nvPr/>
        </p:nvSpPr>
        <p:spPr>
          <a:xfrm>
            <a:off x="74980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09  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10"/>
          </p:cNvPr>
          <p:cNvSpPr txBox="1"/>
          <p:nvPr/>
        </p:nvSpPr>
        <p:spPr>
          <a:xfrm>
            <a:off x="74980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10   Home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>
            <a:hlinkClick action="ppaction://hlinksldjump" r:id="rId11"/>
          </p:cNvPr>
          <p:cNvSpPr txBox="1"/>
          <p:nvPr/>
        </p:nvSpPr>
        <p:spPr>
          <a:xfrm>
            <a:off x="74980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11   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74980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12   Prayer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74980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13   Tracker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74980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14   Mosques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5"/>
          </p:cNvPr>
          <p:cNvSpPr txBox="1"/>
          <p:nvPr/>
        </p:nvSpPr>
        <p:spPr>
          <a:xfrm>
            <a:off x="74980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15   Quran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6"/>
          </p:cNvPr>
          <p:cNvSpPr txBox="1"/>
          <p:nvPr/>
        </p:nvSpPr>
        <p:spPr>
          <a:xfrm>
            <a:off x="74980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16   Tasbih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>
            <a:hlinkClick action="ppaction://hlinksldjump" r:id="rId17"/>
          </p:cNvPr>
          <p:cNvSpPr txBox="1"/>
          <p:nvPr/>
        </p:nvSpPr>
        <p:spPr>
          <a:xfrm>
            <a:off x="74980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17   Dua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18"/>
          </p:cNvPr>
          <p:cNvSpPr txBox="1"/>
          <p:nvPr/>
        </p:nvSpPr>
        <p:spPr>
          <a:xfrm>
            <a:off x="74980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18   Remembrance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Click action="ppaction://hlinksldjump" r:id="rId19"/>
          </p:cNvPr>
          <p:cNvSpPr txBox="1"/>
          <p:nvPr/>
        </p:nvSpPr>
        <p:spPr>
          <a:xfrm>
            <a:off x="756208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19   Salahguide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action="ppaction://hlinksldjump" r:id="rId20"/>
          </p:cNvPr>
          <p:cNvSpPr txBox="1"/>
          <p:nvPr/>
        </p:nvSpPr>
        <p:spPr>
          <a:xfrm>
            <a:off x="756208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20   Asma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action="ppaction://hlinksldjump" r:id="rId21"/>
          </p:cNvPr>
          <p:cNvSpPr txBox="1"/>
          <p:nvPr/>
        </p:nvSpPr>
        <p:spPr>
          <a:xfrm>
            <a:off x="756208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21   Halal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>
            <a:hlinkClick action="ppaction://hlinksldjump" r:id="rId22"/>
          </p:cNvPr>
          <p:cNvSpPr txBox="1"/>
          <p:nvPr/>
        </p:nvSpPr>
        <p:spPr>
          <a:xfrm>
            <a:off x="756208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22   Islamic Calendar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>
            <a:hlinkClick action="ppaction://hlinksldjump" r:id="rId23"/>
          </p:cNvPr>
          <p:cNvSpPr txBox="1"/>
          <p:nvPr/>
        </p:nvSpPr>
        <p:spPr>
          <a:xfrm>
            <a:off x="756208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23   Estimate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24"/>
          </p:cNvPr>
          <p:cNvSpPr txBox="1"/>
          <p:nvPr/>
        </p:nvSpPr>
        <p:spPr>
          <a:xfrm>
            <a:off x="756208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24   Requests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>
            <a:hlinkClick action="ppaction://hlinksldjump" r:id="rId25"/>
          </p:cNvPr>
          <p:cNvSpPr txBox="1"/>
          <p:nvPr/>
        </p:nvSpPr>
        <p:spPr>
          <a:xfrm>
            <a:off x="756208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25   Vetting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>
            <a:hlinkClick action="ppaction://hlinksldjump" r:id="rId26"/>
          </p:cNvPr>
          <p:cNvSpPr txBox="1"/>
          <p:nvPr/>
        </p:nvSpPr>
        <p:spPr>
          <a:xfrm>
            <a:off x="756208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26   Gender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5236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>
            <a:hlinkClick action="ppaction://hlinksldjump" r:id="rId27"/>
          </p:cNvPr>
          <p:cNvSpPr txBox="1"/>
          <p:nvPr/>
        </p:nvSpPr>
        <p:spPr>
          <a:xfrm>
            <a:off x="756208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27   Matching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>
            <a:hlinkClick action="ppaction://hlinksldjump" r:id="rId28"/>
          </p:cNvPr>
          <p:cNvSpPr txBox="1"/>
          <p:nvPr/>
        </p:nvSpPr>
        <p:spPr>
          <a:xfrm>
            <a:off x="756208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28   Assignments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>
            <a:hlinkClick action="ppaction://hlinksldjump" r:id="rId29"/>
          </p:cNvPr>
          <p:cNvSpPr txBox="1"/>
          <p:nvPr/>
        </p:nvSpPr>
        <p:spPr>
          <a:xfrm>
            <a:off x="756208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29   Private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>
            <a:hlinkClick action="ppaction://hlinksldjump" r:id="rId30"/>
          </p:cNvPr>
          <p:cNvSpPr txBox="1"/>
          <p:nvPr/>
        </p:nvSpPr>
        <p:spPr>
          <a:xfrm>
            <a:off x="756208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30   Safeguard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>
            <a:hlinkClick action="ppaction://hlinksldjump" r:id="rId31"/>
          </p:cNvPr>
          <p:cNvSpPr txBox="1"/>
          <p:nvPr/>
        </p:nvSpPr>
        <p:spPr>
          <a:xfrm>
            <a:off x="756208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31   Chat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The separate 52-map atlas uses the same connection model, with larger diagrams and its own feature navigation.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TRACEABLE FEATURE INDEX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Feature connection index 2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Choose an entry to open its individual network; each page explains the connection value and what to verify.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70 / 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74980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32   Referral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7"/>
          </p:cNvPr>
          <p:cNvSpPr txBox="1"/>
          <p:nvPr/>
        </p:nvSpPr>
        <p:spPr>
          <a:xfrm>
            <a:off x="74980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33   Recognition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8"/>
          </p:cNvPr>
          <p:cNvSpPr txBox="1"/>
          <p:nvPr/>
        </p:nvSpPr>
        <p:spPr>
          <a:xfrm>
            <a:off x="74980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34   Teacher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9"/>
          </p:cNvPr>
          <p:cNvSpPr txBox="1"/>
          <p:nvPr/>
        </p:nvSpPr>
        <p:spPr>
          <a:xfrm>
            <a:off x="74980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35   Posts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10"/>
          </p:cNvPr>
          <p:cNvSpPr txBox="1"/>
          <p:nvPr/>
        </p:nvSpPr>
        <p:spPr>
          <a:xfrm>
            <a:off x="74980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36   Subscriptions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>
            <a:hlinkClick action="ppaction://hlinksldjump" r:id="rId11"/>
          </p:cNvPr>
          <p:cNvSpPr txBox="1"/>
          <p:nvPr/>
        </p:nvSpPr>
        <p:spPr>
          <a:xfrm>
            <a:off x="74980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37   Billing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74980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38   Learning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74980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39   Mentoring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74980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40   Schedule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5"/>
          </p:cNvPr>
          <p:cNvSpPr txBox="1"/>
          <p:nvPr/>
        </p:nvSpPr>
        <p:spPr>
          <a:xfrm>
            <a:off x="74980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41   Feed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6"/>
          </p:cNvPr>
          <p:cNvSpPr txBox="1"/>
          <p:nvPr/>
        </p:nvSpPr>
        <p:spPr>
          <a:xfrm>
            <a:off x="74980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42   Sponsors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>
            <a:hlinkClick action="ppaction://hlinksldjump" r:id="rId17"/>
          </p:cNvPr>
          <p:cNvSpPr txBox="1"/>
          <p:nvPr/>
        </p:nvSpPr>
        <p:spPr>
          <a:xfrm>
            <a:off x="74980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43   Website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18"/>
          </p:cNvPr>
          <p:cNvSpPr txBox="1"/>
          <p:nvPr/>
        </p:nvSpPr>
        <p:spPr>
          <a:xfrm>
            <a:off x="74980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44   Alerts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237744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Click action="ppaction://hlinksldjump" r:id="rId19"/>
          </p:cNvPr>
          <p:cNvSpPr txBox="1"/>
          <p:nvPr/>
        </p:nvSpPr>
        <p:spPr>
          <a:xfrm>
            <a:off x="7562088" y="243687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45   Activity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272948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action="ppaction://hlinksldjump" r:id="rId20"/>
          </p:cNvPr>
          <p:cNvSpPr txBox="1"/>
          <p:nvPr/>
        </p:nvSpPr>
        <p:spPr>
          <a:xfrm>
            <a:off x="7562088" y="278892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46   Admin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08152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action="ppaction://hlinksldjump" r:id="rId21"/>
          </p:cNvPr>
          <p:cNvSpPr txBox="1"/>
          <p:nvPr/>
        </p:nvSpPr>
        <p:spPr>
          <a:xfrm>
            <a:off x="7562088" y="314096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47   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433572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>
            <a:hlinkClick action="ppaction://hlinksldjump" r:id="rId22"/>
          </p:cNvPr>
          <p:cNvSpPr txBox="1"/>
          <p:nvPr/>
        </p:nvSpPr>
        <p:spPr>
          <a:xfrm>
            <a:off x="7562088" y="349300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48   Security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3785616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>
            <a:hlinkClick action="ppaction://hlinksldjump" r:id="rId23"/>
          </p:cNvPr>
          <p:cNvSpPr txBox="1"/>
          <p:nvPr/>
        </p:nvSpPr>
        <p:spPr>
          <a:xfrm>
            <a:off x="7562088" y="384505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49   Settings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4137660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24"/>
          </p:cNvPr>
          <p:cNvSpPr txBox="1"/>
          <p:nvPr/>
        </p:nvSpPr>
        <p:spPr>
          <a:xfrm>
            <a:off x="7562088" y="419709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50   Reliability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489704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>
            <a:hlinkClick action="ppaction://hlinksldjump" r:id="rId25"/>
          </p:cNvPr>
          <p:cNvSpPr txBox="1"/>
          <p:nvPr/>
        </p:nvSpPr>
        <p:spPr>
          <a:xfrm>
            <a:off x="7562088" y="454914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51   Empty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4841748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>
            <a:hlinkClick action="ppaction://hlinksldjump" r:id="rId26"/>
          </p:cNvPr>
          <p:cNvSpPr txBox="1"/>
          <p:nvPr/>
        </p:nvSpPr>
        <p:spPr>
          <a:xfrm>
            <a:off x="7562088" y="490118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52   Error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52360" y="5193792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>
            <a:hlinkClick action="ppaction://hlinksldjump" r:id="rId27"/>
          </p:cNvPr>
          <p:cNvSpPr txBox="1"/>
          <p:nvPr/>
        </p:nvSpPr>
        <p:spPr>
          <a:xfrm>
            <a:off x="7562088" y="5253228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57   Campaigns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5545836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>
            <a:hlinkClick action="ppaction://hlinksldjump" r:id="rId28"/>
          </p:cNvPr>
          <p:cNvSpPr txBox="1"/>
          <p:nvPr/>
        </p:nvSpPr>
        <p:spPr>
          <a:xfrm>
            <a:off x="7562088" y="5605272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58   Campaign Detail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5897880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>
            <a:hlinkClick action="ppaction://hlinksldjump" r:id="rId29"/>
          </p:cNvPr>
          <p:cNvSpPr txBox="1"/>
          <p:nvPr/>
        </p:nvSpPr>
        <p:spPr>
          <a:xfrm>
            <a:off x="7562088" y="5957316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59   Impact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6249924"/>
            <a:ext cx="6537960" cy="320040"/>
          </a:xfrm>
          <a:prstGeom prst="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>
            <a:hlinkClick action="ppaction://hlinksldjump" r:id="rId30"/>
          </p:cNvPr>
          <p:cNvSpPr txBox="1"/>
          <p:nvPr/>
        </p:nvSpPr>
        <p:spPr>
          <a:xfrm>
            <a:off x="7562088" y="6309360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60   Allocation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6601968"/>
            <a:ext cx="6537960" cy="320040"/>
          </a:xfrm>
          <a:prstGeom prst="rect">
            <a:avLst/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>
            <a:hlinkClick action="ppaction://hlinksldjump" r:id="rId31"/>
          </p:cNvPr>
          <p:cNvSpPr txBox="1"/>
          <p:nvPr/>
        </p:nvSpPr>
        <p:spPr>
          <a:xfrm>
            <a:off x="7562088" y="6661404"/>
            <a:ext cx="6053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61   Donation Payment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The separate 52-map atlas uses the same connection model, with larger diagrams and its own feature navigation.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DECISION RECORD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Resolve the remaining decisions without inventing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strong delivery specification separates agreed capabilities, operating configuration and genuinely new obligations.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71 /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Source &amp;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current Zabi source, licence, template reference and Android / iOS release architecture.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Service &amp; teaching policies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access exceptions, interview evidence, case escalation, mentor permissions, teacher plans and historical-content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External inputs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religious sources, partner sharing, mapping, streaming / recordings and applicable store billing.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Extended financial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collection authority, payment provider, reconciliation, disbursement and lawful receipt wording before a scope commitment.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Screen concepts inform discussion. They do not by themselves amend an approved SOW or establish authority access.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NEXT STEPS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A platform MRM can use, govern and grow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goal is a coherent service for the wider Muslim community, with focused care and accountable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72 / 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87752"/>
            <a:ext cx="1271016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300" b="1">
                <a:solidFill>
                  <a:srgbClr val="F7F9FF"/>
                </a:solidFill>
                <a:latin typeface="DejaVu Sans"/>
              </a:defRPr>
            </a:pPr>
            <a:r>
              <a:t>Useful daily. Trusted in learning.</a:t>
            </a:r>
          </a:p>
          <a:p>
            <a:pPr algn="l">
              <a:spcAft>
                <a:spcPts val="200"/>
              </a:spcAft>
              <a:defRPr sz="3300" b="1">
                <a:solidFill>
                  <a:srgbClr val="F7F9FF"/>
                </a:solidFill>
                <a:latin typeface="DejaVu Sans"/>
              </a:defRPr>
            </a:pPr>
            <a:r>
              <a:t>Responsible in care.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425696"/>
            <a:ext cx="32004" cy="194767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journeys, policy owners and acceptance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41648" y="4425696"/>
            <a:ext cx="32004" cy="1947672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Build the connected flows with real permissions and persistence.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4425696"/>
            <a:ext cx="32004" cy="194767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8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Demonstrate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Review evidence against meaningful end-to-end checks.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0" y="4279392"/>
            <a:ext cx="3200400" cy="224028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08208" y="4425696"/>
            <a:ext cx="32004" cy="1947672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91088" y="4462272"/>
            <a:ext cx="27980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Launch responsibly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5166359"/>
            <a:ext cx="279806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Train MRM staff and submit through client-owned accounts.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Next step: nominate MRM’s decision makers and conduct the source, service-policy and implementation workshop.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PLATFORM STRATEGY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Connect people’s reasons to use the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person should understand why another feature helps them—and choose whether to cross into 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01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42032"/>
            <a:ext cx="127101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“I came here to teach. Why would I volunteer?”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13308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START WITH A REAL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636008"/>
            <a:ext cx="3877055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Their current role, goal and reason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consider a second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0233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413308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MAKE THE HANDOFF USEFUL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4636008"/>
            <a:ext cx="3877055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relevant invitation, consent and a clear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next action—not just a menu link.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40233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413308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SHOW VALUE ON BOTH SIDES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4636008"/>
            <a:ext cx="3877055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Explain what the person gains and what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recipient or service gains.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739128"/>
            <a:ext cx="128930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15 proposed bridges · 2 complete journeys · role boundaries · implementation priorities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USER-VALUE CONNECTIONS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Quran teacher chooses a second way to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voluntary support participation → a subject-relevant offer a seeker can assess.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02 / 24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640080" y="2560320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9747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804671" y="3127248"/>
            <a:ext cx="38770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Teacher’s 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895344"/>
            <a:ext cx="3877055" cy="1335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“I want to use my Quran expertise to support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someone beyond a scheduled class.”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3931920"/>
            <a:ext cx="274320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hlinkClick action="ppaction://hlinksldjump" r:id="rId6"/>
          </p:cNvPr>
          <p:cNvSpPr/>
          <p:nvPr/>
        </p:nvSpPr>
        <p:spPr>
          <a:xfrm>
            <a:off x="5212080" y="2560320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69747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>
            <a:hlinkClick action="ppaction://hlinksldjump" r:id="rId6"/>
          </p:cNvPr>
          <p:cNvSpPr txBox="1"/>
          <p:nvPr/>
        </p:nvSpPr>
        <p:spPr>
          <a:xfrm>
            <a:off x="5376672" y="3127248"/>
            <a:ext cx="38770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Bridge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895344"/>
            <a:ext cx="3877055" cy="1335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Invite the teacher to offer Quran support;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reuse consented expertise and complete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volunteer checks.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64040" y="3931920"/>
            <a:ext cx="274320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hlinkClick action="ppaction://hlinksldjump" r:id="rId6"/>
          </p:cNvPr>
          <p:cNvSpPr/>
          <p:nvPr/>
        </p:nvSpPr>
        <p:spPr>
          <a:xfrm>
            <a:off x="9784080" y="2560320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269747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9948672" y="3127248"/>
            <a:ext cx="38770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Seeker’s reason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3895344"/>
            <a:ext cx="3877055" cy="1335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“This approved volunteer is also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Quran teacher. I can see why the match is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relevant.”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50992"/>
            <a:ext cx="6492240" cy="1490472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57607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DOES EVERY TEACHER NEED VOLUNTEERING?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6053328"/>
            <a:ext cx="6163055" cy="1005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No. It becomes relevant when they choose to offer support.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5650992"/>
            <a:ext cx="6492240" cy="1490472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1" y="57607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WHAT DOES THE TEACHER BADGE MEAN?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6053328"/>
            <a:ext cx="6163055" cy="1005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Relevant approved expertise—not guaranteed safety or automatic case access.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How the user journeys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Read each row as a reason to move between services. Select an outlined card to explore its bridge.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03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79192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TEACHER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450592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2505456" y="2542032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Teach a 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2889504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Already using learning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25896" y="2843784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27648" y="2450592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6"/>
          </p:cNvPr>
          <p:cNvSpPr txBox="1"/>
          <p:nvPr/>
        </p:nvSpPr>
        <p:spPr>
          <a:xfrm>
            <a:off x="6455664" y="2542032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Offer relevant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889504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Opt in + volunteer approval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76104" y="2843784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77856" y="2450592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10405872" y="2542032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Support a seeker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5872" y="2889504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Relevant credentials 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11880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VOLUNTEER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8"/>
          </p:cNvPr>
          <p:cNvSpPr txBox="1"/>
          <p:nvPr/>
        </p:nvSpPr>
        <p:spPr>
          <a:xfrm>
            <a:off x="2505456" y="3474720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Identify a skill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3822191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 real duty needs preparation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25896" y="3776472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27648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8"/>
          </p:cNvPr>
          <p:cNvSpPr txBox="1"/>
          <p:nvPr/>
        </p:nvSpPr>
        <p:spPr>
          <a:xfrm>
            <a:off x="6455664" y="3474720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Take useful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3822191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Assess readiness separately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76104" y="3776472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77856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9"/>
          </p:cNvPr>
          <p:cNvSpPr txBox="1"/>
          <p:nvPr/>
        </p:nvSpPr>
        <p:spPr>
          <a:xfrm>
            <a:off x="10405872" y="3474720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Return to 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3822191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Approved for suitable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44568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SEEKER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4315968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7"/>
          </p:cNvPr>
          <p:cNvSpPr txBox="1"/>
          <p:nvPr/>
        </p:nvSpPr>
        <p:spPr>
          <a:xfrm>
            <a:off x="2505456" y="4407408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Ask for guidance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4754880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Learning need is expressed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25896" y="4709160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27648" y="4315968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action="ppaction://hlinksldjump" r:id="rId7"/>
          </p:cNvPr>
          <p:cNvSpPr txBox="1"/>
          <p:nvPr/>
        </p:nvSpPr>
        <p:spPr>
          <a:xfrm>
            <a:off x="6455664" y="4407408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Choose a suitable class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4754880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Consent + language + level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76104" y="4709160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277856" y="4315968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>
            <a:hlinkClick action="ppaction://hlinksldjump" r:id="rId10"/>
          </p:cNvPr>
          <p:cNvSpPr txBox="1"/>
          <p:nvPr/>
        </p:nvSpPr>
        <p:spPr>
          <a:xfrm>
            <a:off x="10405872" y="4407408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Request continuity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05872" y="4754880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Optional mentoring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477256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LEARNER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5248656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11"/>
          </p:cNvPr>
          <p:cNvSpPr txBox="1"/>
          <p:nvPr/>
        </p:nvSpPr>
        <p:spPr>
          <a:xfrm>
            <a:off x="2505456" y="5340096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Discover a programme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05456" y="5687568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From an approved topic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25896" y="5641848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327648" y="5248656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>
            <a:hlinkClick action="ppaction://hlinksldjump" r:id="rId12"/>
          </p:cNvPr>
          <p:cNvSpPr txBox="1"/>
          <p:nvPr/>
        </p:nvSpPr>
        <p:spPr>
          <a:xfrm>
            <a:off x="6455664" y="5340096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Build confidence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5687568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Learn at their chosen pace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976104" y="5641848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10277856" y="5248656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>
            <a:hlinkClick action="ppaction://hlinksldjump" r:id="rId12"/>
          </p:cNvPr>
          <p:cNvSpPr txBox="1"/>
          <p:nvPr/>
        </p:nvSpPr>
        <p:spPr>
          <a:xfrm>
            <a:off x="10405872" y="5340096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Choose to contribute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05872" y="5687568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Apply separately to volunteer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6409944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MRM TEAM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0" y="6181344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2505456" y="6272783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See aggregate demand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05456" y="6620256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Protect individual identities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25896" y="6574536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327648" y="6181344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>
            <a:hlinkClick action="ppaction://hlinksldjump" r:id="rId13"/>
          </p:cNvPr>
          <p:cNvSpPr txBox="1"/>
          <p:nvPr/>
        </p:nvSpPr>
        <p:spPr>
          <a:xfrm>
            <a:off x="6455664" y="6272783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Commission learning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55664" y="6620256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Match teachers to a real gap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976104" y="6574536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0277856" y="6181344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>
            <a:hlinkClick action="ppaction://hlinksldjump" r:id="rId7"/>
          </p:cNvPr>
          <p:cNvSpPr txBox="1"/>
          <p:nvPr/>
        </p:nvSpPr>
        <p:spPr>
          <a:xfrm>
            <a:off x="10405872" y="6272783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Refer willing people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05872" y="6620256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Measure usefulness, not pressure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USER-VALUE CONNECTIONS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connection is useful only when the person needs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Feature completeness does not require forcing every person through every service.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04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6492240" cy="19659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71576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YES—WHEN THERE IS A REAL 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218688"/>
            <a:ext cx="6163055" cy="123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teacher wants to contribute; a volunteer needs preparation;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seeker asks for learning help.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06040"/>
            <a:ext cx="6492240" cy="19659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71576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NO—WHEN THE SECOND SERVICE ADDS NO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218688"/>
            <a:ext cx="6163055" cy="123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teacher only wants to teach; a reader only wants Quran; a seeker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needs immediate practical help.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1032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02005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Relevant invitation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31266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Why this action, for this person, at this point?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91032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502005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Voluntary transition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531266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Can they decline without losing their original service?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00760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611733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Useful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640994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What chosen information saves them from starting again?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600760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1" y="611733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Bounded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640994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Which new checks apply before the next role or record opens?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01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teacher can turn expertise into relevant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Volunteer support | An approved Quran teacher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05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teach Quran. I would also like to help someone who needs personal guidance.”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volunteering when the teacher wants to give support beyond scheduled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teacher may only publish and teach. Volunteering stays optional.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Teaching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topics and languages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establish relevant expertise.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to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invitation offers Quran-related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support; the teacher opts in.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Volunteer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checks suitability, training,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capacity and case boundaries.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support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sees approved teaching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credentials and accepts the offer.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With consent: approved teacher status, verified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subject, languages and public profile.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payment does not buy case access. No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student records are shared.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The seeker can judge relevant expertise; the teacher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gains a meaningful way to serve. Credentials support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confidence, not a guarantee of safety.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Eligible teachers opting in → approved volunteers → accepted subject-relevant matches.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02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volunteer can learn before accepting a new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support → Learning centre | A volunteer offered unfamiliar 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06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to help, but I need preparation for this kind of support.”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Recommend an approved course when a real duty requires a skill or refresher.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Existing qualified volunteers do not repeat irrelevant classes; no blanket course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requirement.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Readiness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or coordinator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identifies a specific skill gap.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the approved course with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 and required outcome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explained.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Learning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Record completion; assess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readiness separately where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needed.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Return to duty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updates eligibility and offers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suitable work after approval.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Course reference, completion and separately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assessed competencies, with appropriate visibility.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Completion alone is not volunteer approval.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learning notes stay private.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Volunteers get practical preparation; seekers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receive help from people approved for the task.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Training completion → assessed readiness → eligible task acceptance; monitor support quality.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03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support conversation can open the right learning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requests → Learning centre | A seeker asking for Quran-reading help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07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need a patient beginner class, in my language, at a time I can attend.”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Suggest a class when learning addresses the person’s expressed need and they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want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Urgent welfare support continues independently. No class enrolment is required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for aid.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Expressed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assigned helper asks whether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support would be useful.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Consent to refer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selects a goal,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availability to share.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Suitable programme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beginner classes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relevant teacher credentials.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Optional enrolment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joins; the helper sees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the agreed referral status.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Chosen learning goal, language, availability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ID; share only what is needed.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full case narrative, financial circumstances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chat enters a teacher profile.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The seeker receives a practical next step; teachers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reach learners who want the programme.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Consented referrals → suitable enrolments → attendance and seeker-reported usefulness.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04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Quran reader can find help for a specific learning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Quran utility → Learning centre | A person using Quran reading tools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08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can read this passage, but I want help with pronunciation or meaning.”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 discreet learning action after the person explicitly asks for help on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Reading alone remains complete. Do not infer poor skill or send unsolicited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judgments.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Ask for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reader chooses Learn this topic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 Get reading help.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They select beginner reading,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recitation or an approved topic.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teachers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programmes matching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level.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Return to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After learning, a saved link returns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 the selected passage.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the user-selected passage, learning goal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preferred language.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private reading history or worship-tracker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record is shared with a teacher.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Daily use can become purposeful learning;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teachers receive clearer learner intent.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User-initiated learning opens → relevant enrolments → return to chosen practice.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05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learner can ask for continuity after a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Mentoring | A learner who wants individual follow-up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09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“The class helped. I would like someone to guide my next steps.”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mentoring after a learner requests ongoing guidance or a teacher offers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 enrolment does not enrol a person into mentoring or open private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messaging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Request follow-up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chooses a goal after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programme.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Available mentor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mentors relevant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topic, language and permitted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boundaries.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Mutual acceptance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has capacity; the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 agrees to contact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expectations.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Ongoing guidance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the authorised relationship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optional agreed check-ins.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Chosen programme, learning goal and agreed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availability; selected progress only with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automatic access to class rosters, aid cases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worship records.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Learners gain continuity; mentors support people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whose needs match their expertise.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Follow-up requests → mutually accepted matches → useful agreed check-ins.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06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mentor can refer needs beyond the teaching relationship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Mentoring → Support requests | A mentor hearing about a practical difficulty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10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learner needs help that I am not authorised or qualified to provide.”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 supported referral when the person wants help outside the mentor’s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mentor does not investigate welfare issues or browse existing private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Recognise the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explains the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 route without promising 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outcome.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Person chooses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opens or agrees to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minimal support referral.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MRM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Authorised staff assess urgency,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eligibility and the appropriate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response.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Bounded follow-up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sees only the referral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status the person agreed to share.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Consent, chosen category, contact preference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minimum agreed context.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blanket case access. Safeguarding disclosures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follow the approved escalation policy.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reaches qualified help; the mentor can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stay within a clear teaching role.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Accepted referrals → triaged requests → completed handoffs without excess disclosure.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07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learning event can invite a separate service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events → Volunteer duties | A Halaqa attendee or teacher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11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am attending this event. Can I help with registration or accessibility?”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clearly defined event tasks when organisers need capacity and the person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opts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Attending a class never creates a duty. An event helper does not gain case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Event participation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views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programme and its support needs.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a duty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They select a suitable task, time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window and required checks.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Coordinator confirms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 eligibility and avoid conflict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with the person’s class time.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Event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 separate duty card,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instructions and attendance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confirmation.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Event ID, chosen slot, contact consent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role-specific eligibility.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 attendance and duty acceptance are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separate records; no attendee list is exported.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Organisers gain willing capacity; participants have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specific, manageable way to contribute.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Opt-in duty requests → conflict-free confirmations → completed event tasks.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08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An inspiring post can lead to a relevant 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Community updates → Learning centre | A reader interested in an approved topic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12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article is useful. Where can I learn this with a teacher?”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Attach a specific approved programme when it genuinely expands on the post.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Not every post needs a conversion. General announcements can stand alone.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approved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author explains a topic with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clear source and audience.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Purposeful invitation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 programme details or Meet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teacher explains the next step.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Programme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topic, level, language, date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access information.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Voluntary participation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reader chooses enrolment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can return to the original post.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Post ID, topic and linked programme; aggregate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attribution where agreed.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sensitive-case targeting, fabricated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testimonials or automatic enrolment.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Readers can act on genuine interest; teachers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reach an appropriate audience.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Post-to-programme opens → relevant enrolments; monitor usefulness and opt-outs.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09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Repeated support needs can shape better 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operations → Learning planning | An MRM programme coordinator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13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“We repeatedly receive beginner-learning requests in a language with little capacity.”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 restricted aggregate demand to commission a programme for an evidenced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 not publish identifiable case examples or infer demand from a tiny sensitive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Aggregate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Authorised staff group agreed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categories, languages and waiting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demand.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Plan a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chooses a topic and suitable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teacher capacity.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Publish programme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Create a public description without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beneficiary identities.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Measure the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Track programme capacity,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consented referrals and unmet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demand.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approved aggregate demand, programme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requirements and non-identifying outcomes.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 files and individual identities never enter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programme brief.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Learning supply responds to real community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needs; support teams gain a useful referral option.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Demand gap → commissioned capacity → suitable referrals; review remaining unmet need.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10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verified outcome can invite responsible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Service outcomes → Community updates | A beneficiary willing to share an experience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14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to thank the programme, but I want control over what people can see.”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Publish a verified, consented story with an appropriate participation destination.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Assistance and recognition never depend on agreeing to publicity.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Separate invitation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After service, staff offer an optional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story process with no effect on aid.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Specific consent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 wording, images, visibility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the withdrawal process.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Review and publish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 accuracy, minimisation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moderation before publication.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invitation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Readers can discover a real class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apply to volunteer.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approved story assets and programme links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under the documented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case narrative, identity number or location is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copied by default; no guaranteed outcomes.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storyteller controls disclosure; readers see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credible reasons to participate.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Consent compliance, correction requests and relevant participation; never reward forced stories.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11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local utility can surface a genuinely useful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 / nearby places → Learning events | A person checking prayer times or a mosque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15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“Is there an approved beginner Halaqa near this place?”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nearby programmes when the person requests local learning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Prayer times remain usable without events, location sharing or an account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where supported.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Local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selects a mosque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manually chosen area.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Explore gatherings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separate action requests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programmes nearby.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Check relevance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venue, date, topic,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accessibility information.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to attend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enrols and optionally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enables programme reminders.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venue or area and chosen programme;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prefer manual area selection when sufficient.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background location tracking or attendance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inference from prayer-tool use.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Daily tools create relevant discovery; local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organisers reach interested participants.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User-requested local discovery → suitable event enrolments → confirmed attendance.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12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learner can choose a path from participation to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participation → Volunteer application | A learner who wants to give 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16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helped me. I want to support others when I am ready.”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an optional volunteer path after the person expresses interest in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contributing.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progress, religiosity or aid receipt never creates an obligation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Interest in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chooses a suitable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contribution area.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preparation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actual role expectations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optional or required preparation.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Apply and 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Reuse consented profile details;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complete separate volunteer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Start within limits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volunteers accept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bounded work with coordinator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interests, contact details and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assessed skills with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certificate, course attendance or worship streak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does not confer service authority.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Learners gain an achievable contribution route;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grows prepared, willing capacity.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Interest → applications → approvals → sustained suitable service; watch burden and dropout.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13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volunteer can connect a person to the right specialist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support → Specialist referral | A volunteer whose assigned case exceeds their remit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17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can accompany this person, but their next need requires authorised expertise.”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Route through MRM when a need exceeds the volunteer’s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competence.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app never treats a teaching badge as legal, medical or financial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accreditation.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Recognise a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records a minimal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request on their authorised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Staff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checks consent, urgency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appropriate referral pathway.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Approved handoff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Share necessary information with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authorised partner under policy.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Keep continuity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Track acknowledgement and next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ownership; the volunteer sees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permitted status.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Minimum agreed referral context, consent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case/reference ID to authorised recipients.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public case broadcast, unapproved partner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 or assumption of specialist credentials.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50" b="0">
                <a:solidFill>
                  <a:srgbClr val="BBC8DF"/>
                </a:solidFill>
                <a:latin typeface="DejaVu Sans"/>
              </a:defRPr>
            </a:pPr>
            <a:r>
              <a:t>The seeker avoids repeating the story unnecessarily;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50" b="0">
                <a:solidFill>
                  <a:srgbClr val="BBC8DF"/>
                </a:solidFill>
                <a:latin typeface="DejaVu Sans"/>
              </a:defRPr>
            </a:pPr>
            <a:r>
              <a:t>the volunteer avoids unsafe overreach.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Appropriate referrals → acknowledged handoffs → clear next owner and follow-up.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14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Public discovery can continue into the same service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Website → App participation | A visitor reading a programme or volunteer opportunity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18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this exact programme, not to start again on a generic home screen.”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Preserve the public destination across install, sign-in and eligibility checks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where feasible.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information stays accessible; installation is not needed just to read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Specific public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visitor chooses a programme,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 role or support route.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Keep the destination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Carry a non-sensitive link or short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reference through entry.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Required checks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Sign in or apply when the selected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action requires it.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Resume the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Return to the same programme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application with current availability.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destination ID and safe campaign/source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reference; no private case data in URLs.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secrets in deep links. Expired programmes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receive an honest alternative.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Visitors keep their intent; MRM loses fewer people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between discovery and participation.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Destination retained → intended action completed; test installation and expired-link paths.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15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Service experience can guide a person’s next development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review → Learning development | A volunteer reflecting with a coordinator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19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“What did I do well, and what training would help me contribute better?”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 an agreed private review to recommend learning or future duties.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 not convert volunteer hours or popularity into teaching approval or public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expertise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Review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and authorised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coordinator reflect on a completed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duty.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Agree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 a specific skill goal without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copying beneficiary details.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an approved course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mentor relevant to that goal.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Assess progression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Review learning and suitability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before any new responsibility.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Agreed skill goal and restricted competency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evidence; public recognition only by policy.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beneficiary story or private feedback on public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profiles; no automatic teacher badge.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Volunteers see a development path; MRM builds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capacity with evidence rather than rank.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Agreed plans → useful training → assessed competence; track wellbeing as well as retention.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COMPLETE USER JOURNEY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Teacher journey: teaching becomes an optional way to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One account can support two approved roles. The person chooses whether to use both.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20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Arrive to teach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Apply through the learning centre.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59936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Approved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approves subject and teacher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status.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Optional invitation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“Would you like to offer support in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Quran?”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88752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899648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Apply as volunteer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 availability and complete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separate checks.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permitted offer shows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expertise.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49039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59936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4528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Accepted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Seeker accepts; limited case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 opens.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68896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79792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3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Continue or pause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4383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controls capacity;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coordinator reviews outcomes.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435840" y="4480560"/>
            <a:ext cx="0" cy="164592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176272" y="4645152"/>
            <a:ext cx="10259568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76272" y="4645152"/>
            <a:ext cx="0" cy="201168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064240" y="5257800"/>
            <a:ext cx="283464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No volunteering?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Teaching continues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normally.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COMPLETE USER JOURNEY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Seeker journey: support can open a chosen learning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complements assistance when useful. It is never a condition for receiving help.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21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Ask for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seeker requests beginner Quran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guidance.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59936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Appropriate helper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matches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volunteer; teacher expertise may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 relevant.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accepts an optional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88752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899648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Suitable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Topic, level, language and timing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match the chosen goal.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Learn and follow 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Attend; request mentoring only if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useful.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49039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59936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4528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Continue independently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Return to Quran tools and the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practice.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68896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79792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3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Contribute if desired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4383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later volunteer application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remains separate and optional.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435840" y="4480560"/>
            <a:ext cx="0" cy="164592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176272" y="4645152"/>
            <a:ext cx="10259568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76272" y="4645152"/>
            <a:ext cx="0" cy="201168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064240" y="5257800"/>
            <a:ext cx="283464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Declines learning?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Support stays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available under normal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eligibility.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PRODUCT PRIORITIES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Build the strongest bridges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Sequence by user value and dependence on agreed policy—not by drawing the largest possible network.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22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32888"/>
            <a:ext cx="4206240" cy="46634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715768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500" b="1">
                <a:solidFill>
                  <a:srgbClr val="8DD8B1"/>
                </a:solidFill>
                <a:latin typeface="DejaVu Sans"/>
              </a:defRPr>
            </a:pPr>
            <a:r>
              <a:t>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182112"/>
            <a:ext cx="38404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Clear service handoffs and role boundaries</a:t>
            </a:r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22959" y="4069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05 Learning centre → Volunteer support</a:t>
            </a:r>
          </a:p>
        </p:txBody>
      </p:sp>
      <p:sp>
        <p:nvSpPr>
          <p:cNvPr id="17" name="TextBox 16">
            <a:hlinkClick action="ppaction://hlinksldjump" r:id="rId7"/>
          </p:cNvPr>
          <p:cNvSpPr txBox="1"/>
          <p:nvPr/>
        </p:nvSpPr>
        <p:spPr>
          <a:xfrm>
            <a:off x="822959" y="45262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06 Volunteer support → Learning centre</a:t>
            </a:r>
          </a:p>
        </p:txBody>
      </p:sp>
      <p:sp>
        <p:nvSpPr>
          <p:cNvPr id="18" name="TextBox 17">
            <a:hlinkClick action="ppaction://hlinksldjump" r:id="rId8"/>
          </p:cNvPr>
          <p:cNvSpPr txBox="1"/>
          <p:nvPr/>
        </p:nvSpPr>
        <p:spPr>
          <a:xfrm>
            <a:off x="822959" y="49834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07 Support requests → Learning centre</a:t>
            </a:r>
          </a:p>
        </p:txBody>
      </p:sp>
      <p:sp>
        <p:nvSpPr>
          <p:cNvPr id="19" name="TextBox 18">
            <a:hlinkClick action="ppaction://hlinksldjump" r:id="rId9"/>
          </p:cNvPr>
          <p:cNvSpPr txBox="1"/>
          <p:nvPr/>
        </p:nvSpPr>
        <p:spPr>
          <a:xfrm>
            <a:off x="822959" y="54406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10 Mentoring → Support requests</a:t>
            </a:r>
          </a:p>
        </p:txBody>
      </p:sp>
      <p:sp>
        <p:nvSpPr>
          <p:cNvPr id="20" name="TextBox 19">
            <a:hlinkClick action="ppaction://hlinksldjump" r:id="rId10"/>
          </p:cNvPr>
          <p:cNvSpPr txBox="1"/>
          <p:nvPr/>
        </p:nvSpPr>
        <p:spPr>
          <a:xfrm>
            <a:off x="822959" y="58978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17 Volunteer support → Specialist referral</a:t>
            </a:r>
          </a:p>
        </p:txBody>
      </p:sp>
      <p:sp>
        <p:nvSpPr>
          <p:cNvPr id="21" name="TextBox 20">
            <a:hlinkClick action="ppaction://hlinksldjump" r:id="rId11"/>
          </p:cNvPr>
          <p:cNvSpPr txBox="1"/>
          <p:nvPr/>
        </p:nvSpPr>
        <p:spPr>
          <a:xfrm>
            <a:off x="822959" y="6355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18 Website → App participation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2532888"/>
            <a:ext cx="4206240" cy="46634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5768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500" b="1">
                <a:solidFill>
                  <a:srgbClr val="62DAE8"/>
                </a:solidFill>
                <a:latin typeface="DejaVu Sans"/>
              </a:defRPr>
            </a:pPr>
            <a: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182112"/>
            <a:ext cx="38404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Relevant discovery and development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paths</a:t>
            </a:r>
          </a:p>
        </p:txBody>
      </p:sp>
      <p:sp>
        <p:nvSpPr>
          <p:cNvPr id="25" name="TextBox 24">
            <a:hlinkClick action="ppaction://hlinksldjump" r:id="rId12"/>
          </p:cNvPr>
          <p:cNvSpPr txBox="1"/>
          <p:nvPr/>
        </p:nvSpPr>
        <p:spPr>
          <a:xfrm>
            <a:off x="5394960" y="4069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08 Quran utility → Learning centre</a:t>
            </a:r>
          </a:p>
        </p:txBody>
      </p:sp>
      <p:sp>
        <p:nvSpPr>
          <p:cNvPr id="26" name="TextBox 25">
            <a:hlinkClick action="ppaction://hlinksldjump" r:id="rId13"/>
          </p:cNvPr>
          <p:cNvSpPr txBox="1"/>
          <p:nvPr/>
        </p:nvSpPr>
        <p:spPr>
          <a:xfrm>
            <a:off x="5394960" y="45262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09 Learning centre → Mentoring</a:t>
            </a:r>
          </a:p>
        </p:txBody>
      </p:sp>
      <p:sp>
        <p:nvSpPr>
          <p:cNvPr id="27" name="TextBox 26">
            <a:hlinkClick action="ppaction://hlinksldjump" r:id="rId14"/>
          </p:cNvPr>
          <p:cNvSpPr txBox="1"/>
          <p:nvPr/>
        </p:nvSpPr>
        <p:spPr>
          <a:xfrm>
            <a:off x="5394960" y="49834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11 Learning events → Volunteer duties</a:t>
            </a:r>
          </a:p>
        </p:txBody>
      </p:sp>
      <p:sp>
        <p:nvSpPr>
          <p:cNvPr id="28" name="TextBox 27">
            <a:hlinkClick action="ppaction://hlinksldjump" r:id="rId15"/>
          </p:cNvPr>
          <p:cNvSpPr txBox="1"/>
          <p:nvPr/>
        </p:nvSpPr>
        <p:spPr>
          <a:xfrm>
            <a:off x="5394960" y="54406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12 Community updates → Learning centre</a:t>
            </a:r>
          </a:p>
        </p:txBody>
      </p:sp>
      <p:sp>
        <p:nvSpPr>
          <p:cNvPr id="29" name="TextBox 28">
            <a:hlinkClick action="ppaction://hlinksldjump" r:id="rId16"/>
          </p:cNvPr>
          <p:cNvSpPr txBox="1"/>
          <p:nvPr/>
        </p:nvSpPr>
        <p:spPr>
          <a:xfrm>
            <a:off x="5394960" y="58978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13 Support operations → Learning planning</a:t>
            </a:r>
          </a:p>
        </p:txBody>
      </p:sp>
      <p:sp>
        <p:nvSpPr>
          <p:cNvPr id="30" name="TextBox 29">
            <a:hlinkClick action="ppaction://hlinksldjump" r:id="rId17"/>
          </p:cNvPr>
          <p:cNvSpPr txBox="1"/>
          <p:nvPr/>
        </p:nvSpPr>
        <p:spPr>
          <a:xfrm>
            <a:off x="5394960" y="6355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16 Learning participation → Volunteer application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532888"/>
            <a:ext cx="4206240" cy="46634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59" y="2715768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500" b="1">
                <a:solidFill>
                  <a:srgbClr val="E8C578"/>
                </a:solidFill>
                <a:latin typeface="DejaVu Sans"/>
              </a:defRPr>
            </a:pPr>
            <a:r>
              <a:t>LATER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3182112"/>
            <a:ext cx="38404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Needs stronger operational evidence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consent design</a:t>
            </a:r>
          </a:p>
        </p:txBody>
      </p:sp>
      <p:sp>
        <p:nvSpPr>
          <p:cNvPr id="34" name="TextBox 33">
            <a:hlinkClick action="ppaction://hlinksldjump" r:id="rId18"/>
          </p:cNvPr>
          <p:cNvSpPr txBox="1"/>
          <p:nvPr/>
        </p:nvSpPr>
        <p:spPr>
          <a:xfrm>
            <a:off x="9966959" y="4069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14 Service outcomes → Community updates</a:t>
            </a:r>
          </a:p>
        </p:txBody>
      </p:sp>
      <p:sp>
        <p:nvSpPr>
          <p:cNvPr id="35" name="TextBox 34">
            <a:hlinkClick action="ppaction://hlinksldjump" r:id="rId19"/>
          </p:cNvPr>
          <p:cNvSpPr txBox="1"/>
          <p:nvPr/>
        </p:nvSpPr>
        <p:spPr>
          <a:xfrm>
            <a:off x="9966959" y="45262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15 Prayer / nearby places → Learning events</a:t>
            </a:r>
          </a:p>
        </p:txBody>
      </p:sp>
      <p:sp>
        <p:nvSpPr>
          <p:cNvPr id="36" name="TextBox 35">
            <a:hlinkClick action="ppaction://hlinksldjump" r:id="rId20"/>
          </p:cNvPr>
          <p:cNvSpPr txBox="1"/>
          <p:nvPr/>
        </p:nvSpPr>
        <p:spPr>
          <a:xfrm>
            <a:off x="9966959" y="49834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19 Volunteer review → Learning development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SHARED PRODUCT RULES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Reuse helpful context; grant each role separately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One person can be a learner, teacher and volunteer. Each relationship still has its own approval and permissions.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23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70048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ONE 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62656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Reuse an account and consented profile details. Do not create a new identity for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every feature.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560320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670048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SEPARATE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962656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approval, publishing entitlement and volunteer eligibility are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independent states.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50791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160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EXPLICIT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453128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enrolment, mentor acceptance, duty confirmation or case assignment gives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bounded relationship.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050791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4160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VISIBLE RELEVANCE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4453128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subject expertise and status on a support offer—not private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or worship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41264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5650992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CONTROLLED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943600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Carry selected goals, public programme IDs or referral status. Record who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consented to what.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5541264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1" y="5650992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SAFE EXIT AND 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5943600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Decline, pause or leave the second journey without losing the original service;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handle revoked roles.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DECISIONS AND ACCEPTANCE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Validate that each bridge earns its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the product behaviour, then test it with the people who would actually cross between services.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24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7004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PRODUCT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visible teacher credentials, volunteer checks, invitation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timing, referral ownership and consent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560320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67004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USER VALUE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172968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Can a teacher, volunteer or seeker explain why the suggested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second service helps—and decline it easily?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73168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882896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MEANINGFUL FLOW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385816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Declining keeps teaching available. Payment grants no case access.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Revoked credentials stop appearing as current. Expired links recover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honestly.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773168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4882896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RECIPROCAL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5385816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Measure appropriate accepted handoffs and user-reported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usefulness. Do not optimise pressure to enrol, volunteer or disclose.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7022592"/>
            <a:ext cx="1289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F7F9FF"/>
                </a:solidFill>
                <a:latin typeface="DejaVu Sans"/>
              </a:defRPr>
            </a:pPr>
            <a:r>
              <a:t>A connected platform helps a person take the right next step for their goal.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