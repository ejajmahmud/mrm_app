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from the supplied handoff, eight-page proposal, 29-slide presentation and screenshots.zip. Audience expanded to all Muslims per the current user request. No project pricing or fabricated operational outcomes. Screenshots show provided demo/capture states, not verified production behaviour.</a:t>
            </a:r>
          </a:p>
          <a:p/>
          <a:p>
            <a:r>
              <a:t>Evidence: mobile/09_loaded_alt.png, mobile/03_services.png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proposal excludes zakat collection and disbursement. These existing template donation and payment-method screens are included for completeness, not as a new commitment to enable general donation processing. Teacher subscriptions use applicable verified billing flows. Informational zakat calculator sources and rules require approval.</a:t>
            </a:r>
          </a:p>
          <a:p/>
          <a:p>
            <a:r>
              <a:t>Evidence: backend/08_donations.png, backend/09_payment_methods.png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reflects proposal language, not evidence of a signed contract. The proposal includes a 30-day post-acceptance stabilisation period; confirm it in the commercial agreement. Apple account charge recorded in supplied proposal: USD 99/year; Google Play USD 25 one-time, subject to current policy. No project price has been included. User requested all-Muslim positioning. No marketplace and no member/volunteer subscription paywall.</a:t>
            </a:r>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mobile/01_login.png, mobile/02_home.png, backend/01_login.png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mobile/09_loaded_alt.png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mobile/03_services.png, mobile/06_help_requests.png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mobile/04_activity.png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mobile/05_account.png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mrm-admin-final/04_volunteer_verification.png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mrm-admin-final/03_volunteers_assignments.png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mrm-admin-final/02_cases_safeguarding.png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mrm-admin-final/06_zakat_referrals.png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mrm-admin-final/08_notifications.png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mrm-admin-final/05_learning_events.png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mrm-admin-final/07_sponsors.png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backend/10_prayer_times.png, backend/11_prayer_time_import.png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backend/13_audio_reciters.png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backend/04_dua.png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backend/05_dhikr.png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backend/06_sifat_names.png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backend/03_categories.png, backend/07_haram_codes.png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mrm-admin-final/01_mrm_dashboard.png, backend/02_dashboard.png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backend/14_roles.png, backend/15_users.png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backend/16_settings.png, backend/17_profile.png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backend/18_support.png, backend/19_privacy_policy.png, backend/20_terms.png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mrm-admin-final/09_reports.png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Native diagram / proposed capability, based on supplied scope documents.</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Evidence: mobile/07_volunteer.png, mobile/08_assignments_or_learning.png, backend/12_reciters.png</a:t>
            </a:r>
          </a:p>
          <a:p>
            <a:r>
              <a:t>Screenshots are provided interface/demo evidence. No running application or production data was validated. Diagrams specify proposed journeys; they do not certify implementation. Audience is all Muslims, with specialised MRM revert support. Marketplace excluded; subscriptions apply only to teachers.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mind map. Each branch is a capability family rather than an unrestricted data path. Sifat Names, Haram Codes and donation/payment administration remain supplied template functions with the scope qualifications recorded on pages 38–41.</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and role participation map. Account identity, volunteer approval, teacher approval and subscription entitlement are separate controls. Public website discovery connects users to app entry and relevant participation routes.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 network. MRM triage routes routine requests to eligible matching, while restricted faith/family matters go to designated personnel. Volunteer evidence review and online interview precede approval. Confirmation precedes assigned details. Unanswered work returns to coordinator oversight. Service credit requires verified outcomes.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Teacher-to-learner connectivity. Teacher approval precedes plan selection. Verified entitlements gate publishing allowances, while moderation independently gates publication. Revision is a feedback path. Expiry pauses paid privileges and preserves history; confirm historical-content visibility. Live sessions may use approved external meeting links; no custom conferencing infrastructure is implied.</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Utility dependencies. Location choices affect location-related tools, not blanket access to personal information. Religious references, translations and recitation rights are reviewed separately. Calendar conventions and calculator sources require approval. Utility-to-learning links reference approved content. A zakat estimate does not automate assistance eligibility or disbursement.</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restricted service lanes. General volunteers and teacher subscriptions do not grant access to confidential cases. Zakat referrals use consent and approved data sharing. Status feedback is recorded only where permitted. Relevant authority decisions are external; direct integration depends on authorisation, supported API, documentation and test access.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map. MRM supplies governance, content approval, teacher plan rules and sponsor campaign inputs. Staff publishing feeds app/website experiences; billing state enables teacher entitlements, not content approval or staff privileges. Safe event delivery and audit support accountability. Aggregate reports inform staff oversight; identifiable exports remain restricted.</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index with ten key cross-feature relationships. Each row links to the corresponding detailed original deck page. The chapter maps the proposed product specification and does not certify deployment or complete implementation.</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 Id="rId8" Type="http://schemas.openxmlformats.org/officeDocument/2006/relationships/slide" Target="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slide" Target="slide4.xml"/><Relationship Id="rId9" Type="http://schemas.openxmlformats.org/officeDocument/2006/relationships/slide" Target="slide32.xml"/><Relationship Id="rId10" Type="http://schemas.openxmlformats.org/officeDocument/2006/relationships/slide" Target="slide24.xml"/><Relationship Id="rId11" Type="http://schemas.openxmlformats.org/officeDocument/2006/relationships/slide" Target="slide13.xml"/><Relationship Id="rId1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7.png"/><Relationship Id="rId10" Type="http://schemas.openxmlformats.org/officeDocument/2006/relationships/image" Target="../media/image11.png"/><Relationship Id="rId11" Type="http://schemas.openxmlformats.org/officeDocument/2006/relationships/slide" Target="slide4.xml"/><Relationship Id="rId12" Type="http://schemas.openxmlformats.org/officeDocument/2006/relationships/slide" Target="slide32.xml"/><Relationship Id="rId13" Type="http://schemas.openxmlformats.org/officeDocument/2006/relationships/slide" Target="slide13.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5.xml"/><Relationship Id="rId17" Type="http://schemas.openxmlformats.org/officeDocument/2006/relationships/slide" Target="slide42.xml"/><Relationship Id="rId18"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13.xml"/><Relationship Id="rId14" Type="http://schemas.openxmlformats.org/officeDocument/2006/relationships/slide" Target="slide24.xml"/><Relationship Id="rId15" Type="http://schemas.openxmlformats.org/officeDocument/2006/relationships/slide" Target="slide32.xml"/><Relationship Id="rId16" Type="http://schemas.openxmlformats.org/officeDocument/2006/relationships/slide" Target="slide42.xml"/><Relationship Id="rId17" Type="http://schemas.openxmlformats.org/officeDocument/2006/relationships/slide" Target="slide48.xml"/><Relationship Id="rId18" Type="http://schemas.openxmlformats.org/officeDocument/2006/relationships/notesSlide" Target="../notesSlides/notesSlide6.xml"/><Relationship Id="rId19" Type="http://schemas.openxmlformats.org/officeDocument/2006/relationships/slide" Target="slide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4.xml"/><Relationship Id="rId6" Type="http://schemas.openxmlformats.org/officeDocument/2006/relationships/slide" Target="slide32.xml"/><Relationship Id="rId7" Type="http://schemas.openxmlformats.org/officeDocument/2006/relationships/slide" Target="slide24.xml"/><Relationship Id="rId8" Type="http://schemas.openxmlformats.org/officeDocument/2006/relationships/slide" Target="slide13.xml"/><Relationship Id="rId9" Type="http://schemas.openxmlformats.org/officeDocument/2006/relationships/slide" Target="slide42.xml"/><Relationship Id="rId10" Type="http://schemas.openxmlformats.org/officeDocument/2006/relationships/slide" Target="slide31.xml"/><Relationship Id="rId11" Type="http://schemas.openxmlformats.org/officeDocument/2006/relationships/slide" Target="slide27.xml"/><Relationship Id="rId1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1.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slide" Target="slide4.xml"/><Relationship Id="rId12" Type="http://schemas.openxmlformats.org/officeDocument/2006/relationships/slide" Target="slide32.xml"/><Relationship Id="rId13" Type="http://schemas.openxmlformats.org/officeDocument/2006/relationships/slide" Target="slide13.xml"/><Relationship Id="rId14" Type="http://schemas.openxmlformats.org/officeDocument/2006/relationships/slide" Target="slide24.xml"/><Relationship Id="rId15" Type="http://schemas.openxmlformats.org/officeDocument/2006/relationships/slide" Target="slide18.xml"/><Relationship Id="rId16" Type="http://schemas.openxmlformats.org/officeDocument/2006/relationships/slide" Target="slide30.xml"/><Relationship Id="rId17" Type="http://schemas.openxmlformats.org/officeDocument/2006/relationships/slide" Target="slide41.xml"/><Relationship Id="rId18"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slide" Target="slide4.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2.xml"/><Relationship Id="rId1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slide" Target="slide4.xml"/><Relationship Id="rId9" Type="http://schemas.openxmlformats.org/officeDocument/2006/relationships/slide" Target="slide12.xml"/><Relationship Id="rId10"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23.png"/><Relationship Id="rId8" Type="http://schemas.openxmlformats.org/officeDocument/2006/relationships/image" Target="../media/image9.png"/><Relationship Id="rId9" Type="http://schemas.openxmlformats.org/officeDocument/2006/relationships/slide" Target="slide4.xml"/><Relationship Id="rId10" Type="http://schemas.openxmlformats.org/officeDocument/2006/relationships/slide" Target="slide32.xml"/><Relationship Id="rId11" Type="http://schemas.openxmlformats.org/officeDocument/2006/relationships/slide" Target="slide13.xml"/><Relationship Id="rId12" Type="http://schemas.openxmlformats.org/officeDocument/2006/relationships/slide" Target="slide15.xml"/><Relationship Id="rId13"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slide" Target="slide4.xml"/><Relationship Id="rId9" Type="http://schemas.openxmlformats.org/officeDocument/2006/relationships/slide" Target="slide13.xml"/><Relationship Id="rId10" Type="http://schemas.openxmlformats.org/officeDocument/2006/relationships/slide" Target="slide15.xml"/><Relationship Id="rId11" Type="http://schemas.openxmlformats.org/officeDocument/2006/relationships/slide" Target="slide24.xml"/><Relationship Id="rId1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5.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7.png"/><Relationship Id="rId9" Type="http://schemas.openxmlformats.org/officeDocument/2006/relationships/image" Target="../media/image26.png"/><Relationship Id="rId10" Type="http://schemas.openxmlformats.org/officeDocument/2006/relationships/slide" Target="slide4.xml"/><Relationship Id="rId11" Type="http://schemas.openxmlformats.org/officeDocument/2006/relationships/slide" Target="slide13.xml"/><Relationship Id="rId12" Type="http://schemas.openxmlformats.org/officeDocument/2006/relationships/slide" Target="slide15.xml"/><Relationship Id="rId13" Type="http://schemas.openxmlformats.org/officeDocument/2006/relationships/slide" Target="slide24.xml"/><Relationship Id="rId14" Type="http://schemas.openxmlformats.org/officeDocument/2006/relationships/slide" Target="slide23.xml"/><Relationship Id="rId15"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7.png"/><Relationship Id="rId6" Type="http://schemas.openxmlformats.org/officeDocument/2006/relationships/image" Target="../media/image9.png"/><Relationship Id="rId7" Type="http://schemas.openxmlformats.org/officeDocument/2006/relationships/image" Target="../media/image18.png"/><Relationship Id="rId8" Type="http://schemas.openxmlformats.org/officeDocument/2006/relationships/image" Target="../media/image11.png"/><Relationship Id="rId9" Type="http://schemas.openxmlformats.org/officeDocument/2006/relationships/slide" Target="slide4.xml"/><Relationship Id="rId10" Type="http://schemas.openxmlformats.org/officeDocument/2006/relationships/slide" Target="slide13.xml"/><Relationship Id="rId11" Type="http://schemas.openxmlformats.org/officeDocument/2006/relationships/slide" Target="slide16.xml"/><Relationship Id="rId12" Type="http://schemas.openxmlformats.org/officeDocument/2006/relationships/slide" Target="slide43.xml"/><Relationship Id="rId13"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11.png"/><Relationship Id="rId7" Type="http://schemas.openxmlformats.org/officeDocument/2006/relationships/image" Target="../media/image28.png"/><Relationship Id="rId8" Type="http://schemas.openxmlformats.org/officeDocument/2006/relationships/image" Target="../media/image9.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 Id="rId12" Type="http://schemas.openxmlformats.org/officeDocument/2006/relationships/slide" Target="slide4.xml"/><Relationship Id="rId13" Type="http://schemas.openxmlformats.org/officeDocument/2006/relationships/slide" Target="slide19.xml"/><Relationship Id="rId14" Type="http://schemas.openxmlformats.org/officeDocument/2006/relationships/slide" Target="slide18.xml"/><Relationship Id="rId15"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4.xml"/><Relationship Id="rId6" Type="http://schemas.openxmlformats.org/officeDocument/2006/relationships/slide" Target="slide23.xml"/><Relationship Id="rId7" Type="http://schemas.openxmlformats.org/officeDocument/2006/relationships/slide" Target="slide17.xml"/><Relationship Id="rId8"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2.png"/><Relationship Id="rId6" Type="http://schemas.openxmlformats.org/officeDocument/2006/relationships/slide" Target="slide4.xml"/><Relationship Id="rId7" Type="http://schemas.openxmlformats.org/officeDocument/2006/relationships/slide" Target="slide17.xml"/><Relationship Id="rId8"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23.png"/><Relationship Id="rId9" Type="http://schemas.openxmlformats.org/officeDocument/2006/relationships/image" Target="../media/image18.png"/><Relationship Id="rId10" Type="http://schemas.openxmlformats.org/officeDocument/2006/relationships/image" Target="../media/image34.png"/><Relationship Id="rId11" Type="http://schemas.openxmlformats.org/officeDocument/2006/relationships/slide" Target="slide4.xml"/><Relationship Id="rId12" Type="http://schemas.openxmlformats.org/officeDocument/2006/relationships/slide" Target="slide43.xml"/><Relationship Id="rId13" Type="http://schemas.openxmlformats.org/officeDocument/2006/relationships/slide" Target="slide47.xml"/><Relationship Id="rId14"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5.png"/><Relationship Id="rId6" Type="http://schemas.openxmlformats.org/officeDocument/2006/relationships/slide" Target="slide4.xml"/><Relationship Id="rId7" Type="http://schemas.openxmlformats.org/officeDocument/2006/relationships/slide" Target="slide21.xml"/><Relationship Id="rId8"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6.png"/><Relationship Id="rId6" Type="http://schemas.openxmlformats.org/officeDocument/2006/relationships/slide" Target="slide4.xml"/><Relationship Id="rId7" Type="http://schemas.openxmlformats.org/officeDocument/2006/relationships/slide" Target="slide19.xml"/><Relationship Id="rId8"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18.png"/><Relationship Id="rId7" Type="http://schemas.openxmlformats.org/officeDocument/2006/relationships/slide" Target="slide4.xml"/><Relationship Id="rId8" Type="http://schemas.openxmlformats.org/officeDocument/2006/relationships/slide" Target="slide18.xml"/><Relationship Id="rId9" Type="http://schemas.openxmlformats.org/officeDocument/2006/relationships/slide" Target="slide13.xml"/><Relationship Id="rId10"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7.png"/><Relationship Id="rId6" Type="http://schemas.openxmlformats.org/officeDocument/2006/relationships/slide" Target="slide4.xml"/><Relationship Id="rId7" Type="http://schemas.openxmlformats.org/officeDocument/2006/relationships/slide" Target="slide40.xml"/><Relationship Id="rId8"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8.png"/><Relationship Id="rId6" Type="http://schemas.openxmlformats.org/officeDocument/2006/relationships/image" Target="../media/image34.png"/><Relationship Id="rId7" Type="http://schemas.openxmlformats.org/officeDocument/2006/relationships/image" Target="../media/image39.png"/><Relationship Id="rId8" Type="http://schemas.openxmlformats.org/officeDocument/2006/relationships/image" Target="../media/image10.png"/><Relationship Id="rId9" Type="http://schemas.openxmlformats.org/officeDocument/2006/relationships/image" Target="../media/image29.png"/><Relationship Id="rId10" Type="http://schemas.openxmlformats.org/officeDocument/2006/relationships/image" Target="../media/image40.png"/><Relationship Id="rId11" Type="http://schemas.openxmlformats.org/officeDocument/2006/relationships/slide" Target="slide4.xml"/><Relationship Id="rId12" Type="http://schemas.openxmlformats.org/officeDocument/2006/relationships/slide" Target="slide46.xml"/><Relationship Id="rId13" Type="http://schemas.openxmlformats.org/officeDocument/2006/relationships/slide" Target="slide18.xml"/><Relationship Id="rId14"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1.png"/><Relationship Id="rId6" Type="http://schemas.openxmlformats.org/officeDocument/2006/relationships/image" Target="../media/image23.png"/><Relationship Id="rId7" Type="http://schemas.openxmlformats.org/officeDocument/2006/relationships/image" Target="../media/image11.png"/><Relationship Id="rId8" Type="http://schemas.openxmlformats.org/officeDocument/2006/relationships/image" Target="../media/image42.png"/><Relationship Id="rId9" Type="http://schemas.openxmlformats.org/officeDocument/2006/relationships/slide" Target="slide4.xml"/><Relationship Id="rId10" Type="http://schemas.openxmlformats.org/officeDocument/2006/relationships/slide" Target="slide15.xml"/><Relationship Id="rId11" Type="http://schemas.openxmlformats.org/officeDocument/2006/relationships/slide" Target="slide17.xml"/><Relationship Id="rId12" Type="http://schemas.openxmlformats.org/officeDocument/2006/relationships/slide" Target="slide19.xml"/><Relationship Id="rId13" Type="http://schemas.openxmlformats.org/officeDocument/2006/relationships/slide" Target="slide21.xml"/><Relationship Id="rId14"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3.png"/><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11.png"/><Relationship Id="rId10" Type="http://schemas.openxmlformats.org/officeDocument/2006/relationships/image" Target="../media/image13.png"/><Relationship Id="rId11" Type="http://schemas.openxmlformats.org/officeDocument/2006/relationships/slide" Target="slide4.xml"/><Relationship Id="rId12" Type="http://schemas.openxmlformats.org/officeDocument/2006/relationships/slide" Target="slide25.xml"/><Relationship Id="rId13" Type="http://schemas.openxmlformats.org/officeDocument/2006/relationships/slide" Target="slide32.xml"/><Relationship Id="rId14"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5.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7.png"/><Relationship Id="rId10" Type="http://schemas.openxmlformats.org/officeDocument/2006/relationships/image" Target="../media/image9.png"/><Relationship Id="rId11" Type="http://schemas.openxmlformats.org/officeDocument/2006/relationships/image" Target="../media/image50.png"/><Relationship Id="rId12" Type="http://schemas.openxmlformats.org/officeDocument/2006/relationships/slide" Target="slide4.xml"/><Relationship Id="rId13" Type="http://schemas.openxmlformats.org/officeDocument/2006/relationships/slide" Target="slide26.xml"/><Relationship Id="rId14" Type="http://schemas.openxmlformats.org/officeDocument/2006/relationships/slide" Target="slide47.xml"/><Relationship Id="rId15"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51.png"/><Relationship Id="rId8" Type="http://schemas.openxmlformats.org/officeDocument/2006/relationships/image" Target="../media/image40.png"/><Relationship Id="rId9" Type="http://schemas.openxmlformats.org/officeDocument/2006/relationships/slide" Target="slide4.xml"/><Relationship Id="rId10" Type="http://schemas.openxmlformats.org/officeDocument/2006/relationships/slide" Target="slide24.xml"/><Relationship Id="rId11" Type="http://schemas.openxmlformats.org/officeDocument/2006/relationships/slide" Target="slide27.xml"/><Relationship Id="rId12" Type="http://schemas.openxmlformats.org/officeDocument/2006/relationships/slide" Target="slide29.xml"/><Relationship Id="rId13" Type="http://schemas.openxmlformats.org/officeDocument/2006/relationships/slide" Target="slide41.xml"/><Relationship Id="rId14"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4.xml"/><Relationship Id="rId6" Type="http://schemas.openxmlformats.org/officeDocument/2006/relationships/slide" Target="slide25.xml"/><Relationship Id="rId7" Type="http://schemas.openxmlformats.org/officeDocument/2006/relationships/slide" Target="slide26.xml"/><Relationship Id="rId8"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9.png"/><Relationship Id="rId6" Type="http://schemas.openxmlformats.org/officeDocument/2006/relationships/image" Target="../media/image44.png"/><Relationship Id="rId7" Type="http://schemas.openxmlformats.org/officeDocument/2006/relationships/image" Target="../media/image47.png"/><Relationship Id="rId8" Type="http://schemas.openxmlformats.org/officeDocument/2006/relationships/image" Target="../media/image52.png"/><Relationship Id="rId9" Type="http://schemas.openxmlformats.org/officeDocument/2006/relationships/image" Target="../media/image12.png"/><Relationship Id="rId10" Type="http://schemas.openxmlformats.org/officeDocument/2006/relationships/image" Target="../media/image53.png"/><Relationship Id="rId11" Type="http://schemas.openxmlformats.org/officeDocument/2006/relationships/slide" Target="slide4.xml"/><Relationship Id="rId12" Type="http://schemas.openxmlformats.org/officeDocument/2006/relationships/slide" Target="slide27.xml"/><Relationship Id="rId13" Type="http://schemas.openxmlformats.org/officeDocument/2006/relationships/slide" Target="slide50.xml"/><Relationship Id="rId14" Type="http://schemas.openxmlformats.org/officeDocument/2006/relationships/notesSlide" Target="../notesSlides/notesSlide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4.png"/><Relationship Id="rId6" Type="http://schemas.openxmlformats.org/officeDocument/2006/relationships/slide" Target="slide4.xml"/><Relationship Id="rId7" Type="http://schemas.openxmlformats.org/officeDocument/2006/relationships/slide" Target="slide24.xml"/><Relationship Id="rId8" Type="http://schemas.openxmlformats.org/officeDocument/2006/relationships/notesSlide" Target="../notesSlides/notes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5.png"/><Relationship Id="rId6" Type="http://schemas.openxmlformats.org/officeDocument/2006/relationships/slide" Target="slide4.xml"/><Relationship Id="rId7" Type="http://schemas.openxmlformats.org/officeDocument/2006/relationships/slide" Target="slide46.xml"/><Relationship Id="rId8"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56.png"/><Relationship Id="rId7" Type="http://schemas.openxmlformats.org/officeDocument/2006/relationships/image" Target="../media/image7.png"/><Relationship Id="rId8" Type="http://schemas.openxmlformats.org/officeDocument/2006/relationships/image" Target="../media/image34.png"/><Relationship Id="rId9" Type="http://schemas.openxmlformats.org/officeDocument/2006/relationships/slide" Target="slide4.xml"/><Relationship Id="rId10" Type="http://schemas.openxmlformats.org/officeDocument/2006/relationships/slide" Target="slide2.xml"/><Relationship Id="rId11" Type="http://schemas.openxmlformats.org/officeDocument/2006/relationships/slide" Target="slide13.xml"/><Relationship Id="rId12" Type="http://schemas.openxmlformats.org/officeDocument/2006/relationships/slide" Target="slide24.xml"/><Relationship Id="rId13" Type="http://schemas.openxmlformats.org/officeDocument/2006/relationships/slide" Target="slide45.xml"/><Relationship Id="rId14" Type="http://schemas.openxmlformats.org/officeDocument/2006/relationships/notesSlide" Target="../notesSlides/notesSlide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3.png"/><Relationship Id="rId9" Type="http://schemas.openxmlformats.org/officeDocument/2006/relationships/slide" Target="slide4.xml"/><Relationship Id="rId10" Type="http://schemas.openxmlformats.org/officeDocument/2006/relationships/slide" Target="slide33.xml"/><Relationship Id="rId11" Type="http://schemas.openxmlformats.org/officeDocument/2006/relationships/slide" Target="slide35.xml"/><Relationship Id="rId12" Type="http://schemas.openxmlformats.org/officeDocument/2006/relationships/slide" Target="slide36.xml"/><Relationship Id="rId13" Type="http://schemas.openxmlformats.org/officeDocument/2006/relationships/slide" Target="slide39.xml"/><Relationship Id="rId14" Type="http://schemas.openxmlformats.org/officeDocument/2006/relationships/notesSlide" Target="../notesSlides/notes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slide" Target="slide4.xml"/><Relationship Id="rId8" Type="http://schemas.openxmlformats.org/officeDocument/2006/relationships/notesSlide" Target="../notesSlides/notesSlide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41.png"/><Relationship Id="rId9" Type="http://schemas.openxmlformats.org/officeDocument/2006/relationships/image" Target="../media/image14.png"/><Relationship Id="rId10" Type="http://schemas.openxmlformats.org/officeDocument/2006/relationships/image" Target="../media/image34.png"/><Relationship Id="rId11" Type="http://schemas.openxmlformats.org/officeDocument/2006/relationships/slide" Target="slide4.xml"/><Relationship Id="rId12" Type="http://schemas.openxmlformats.org/officeDocument/2006/relationships/slide" Target="slide47.xml"/><Relationship Id="rId13" Type="http://schemas.openxmlformats.org/officeDocument/2006/relationships/slide" Target="slide50.xml"/><Relationship Id="rId14"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9.png"/><Relationship Id="rId6" Type="http://schemas.openxmlformats.org/officeDocument/2006/relationships/slide" Target="slide4.xml"/><Relationship Id="rId7" Type="http://schemas.openxmlformats.org/officeDocument/2006/relationships/slide" Target="slide24.xml"/><Relationship Id="rId8" Type="http://schemas.openxmlformats.org/officeDocument/2006/relationships/notesSlide" Target="../notesSlides/notes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0.png"/><Relationship Id="rId6" Type="http://schemas.openxmlformats.org/officeDocument/2006/relationships/slide" Target="slide4.xml"/><Relationship Id="rId7" Type="http://schemas.openxmlformats.org/officeDocument/2006/relationships/slide" Target="slide41.xml"/><Relationship Id="rId8" Type="http://schemas.openxmlformats.org/officeDocument/2006/relationships/notesSlide" Target="../notesSlides/notesSlide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1.png"/><Relationship Id="rId6" Type="http://schemas.openxmlformats.org/officeDocument/2006/relationships/slide" Target="slide4.xml"/><Relationship Id="rId7" Type="http://schemas.openxmlformats.org/officeDocument/2006/relationships/slide" Target="slide41.xml"/><Relationship Id="rId8" Type="http://schemas.openxmlformats.org/officeDocument/2006/relationships/notesSlide" Target="../notesSlides/notesSlide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2.png"/><Relationship Id="rId6" Type="http://schemas.openxmlformats.org/officeDocument/2006/relationships/slide" Target="slide4.xml"/><Relationship Id="rId7" Type="http://schemas.openxmlformats.org/officeDocument/2006/relationships/slide" Target="slide32.xml"/><Relationship Id="rId8" Type="http://schemas.openxmlformats.org/officeDocument/2006/relationships/notesSlide" Target="../notesSlides/notes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9.png"/><Relationship Id="rId6" Type="http://schemas.openxmlformats.org/officeDocument/2006/relationships/image" Target="../media/image13.png"/><Relationship Id="rId7" Type="http://schemas.openxmlformats.org/officeDocument/2006/relationships/image" Target="../media/image51.png"/><Relationship Id="rId8" Type="http://schemas.openxmlformats.org/officeDocument/2006/relationships/image" Target="../media/image38.png"/><Relationship Id="rId9" Type="http://schemas.openxmlformats.org/officeDocument/2006/relationships/image" Target="../media/image11.png"/><Relationship Id="rId10" Type="http://schemas.openxmlformats.org/officeDocument/2006/relationships/image" Target="../media/image7.png"/><Relationship Id="rId11" Type="http://schemas.openxmlformats.org/officeDocument/2006/relationships/slide" Target="slide4.xml"/><Relationship Id="rId12" Type="http://schemas.openxmlformats.org/officeDocument/2006/relationships/slide" Target="slide33.xml"/><Relationship Id="rId13" Type="http://schemas.openxmlformats.org/officeDocument/2006/relationships/slide" Target="slide29.xml"/><Relationship Id="rId14" Type="http://schemas.openxmlformats.org/officeDocument/2006/relationships/notesSlide" Target="../notesSlides/notesSlide4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2.xml"/><Relationship Id="rId8"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 Target="slide4.xml"/><Relationship Id="rId8"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slide" Target="slide4.xml"/><Relationship Id="rId8" Type="http://schemas.openxmlformats.org/officeDocument/2006/relationships/slide" Target="slide46.xml"/><Relationship Id="rId9"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slide" Target="slide4.xml"/><Relationship Id="rId8"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slide" Target="slide4.xml"/><Relationship Id="rId8"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slide" Target="slide4.xml"/><Relationship Id="rId9"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6.png"/><Relationship Id="rId6" Type="http://schemas.openxmlformats.org/officeDocument/2006/relationships/slide" Target="slide4.xml"/><Relationship Id="rId7" Type="http://schemas.openxmlformats.org/officeDocument/2006/relationships/slide" Target="slide47.xml"/><Relationship Id="rId8"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23.png"/><Relationship Id="rId8" Type="http://schemas.openxmlformats.org/officeDocument/2006/relationships/image" Target="../media/image31.png"/><Relationship Id="rId9" Type="http://schemas.openxmlformats.org/officeDocument/2006/relationships/image" Target="../media/image77.png"/><Relationship Id="rId10" Type="http://schemas.openxmlformats.org/officeDocument/2006/relationships/slide" Target="slide4.xml"/><Relationship Id="rId11" Type="http://schemas.openxmlformats.org/officeDocument/2006/relationships/slide" Target="slide18.xml"/><Relationship Id="rId12" Type="http://schemas.openxmlformats.org/officeDocument/2006/relationships/slide" Target="slide50.xml"/><Relationship Id="rId13" Type="http://schemas.openxmlformats.org/officeDocument/2006/relationships/notesSlide" Target="../notesSlides/notes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46.png"/><Relationship Id="rId8" Type="http://schemas.openxmlformats.org/officeDocument/2006/relationships/image" Target="../media/image78.png"/><Relationship Id="rId9" Type="http://schemas.openxmlformats.org/officeDocument/2006/relationships/image" Target="../media/image48.png"/><Relationship Id="rId10" Type="http://schemas.openxmlformats.org/officeDocument/2006/relationships/image" Target="../media/image9.png"/><Relationship Id="rId11" Type="http://schemas.openxmlformats.org/officeDocument/2006/relationships/image" Target="../media/image34.png"/><Relationship Id="rId12" Type="http://schemas.openxmlformats.org/officeDocument/2006/relationships/slide" Target="slide4.xml"/><Relationship Id="rId13" Type="http://schemas.openxmlformats.org/officeDocument/2006/relationships/slide" Target="slide50.xml"/><Relationship Id="rId14" Type="http://schemas.openxmlformats.org/officeDocument/2006/relationships/notesSlide" Target="../notesSlides/notes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7.png"/><Relationship Id="rId7" Type="http://schemas.openxmlformats.org/officeDocument/2006/relationships/image" Target="../media/image40.png"/><Relationship Id="rId8" Type="http://schemas.openxmlformats.org/officeDocument/2006/relationships/image" Target="../media/image79.png"/><Relationship Id="rId9" Type="http://schemas.openxmlformats.org/officeDocument/2006/relationships/image" Target="../media/image80.png"/><Relationship Id="rId10" Type="http://schemas.openxmlformats.org/officeDocument/2006/relationships/image" Target="../media/image81.png"/><Relationship Id="rId11" Type="http://schemas.openxmlformats.org/officeDocument/2006/relationships/slide" Target="slide4.xml"/><Relationship Id="rId12" Type="http://schemas.openxmlformats.org/officeDocument/2006/relationships/slide" Target="slide9.xml"/><Relationship Id="rId13" Type="http://schemas.openxmlformats.org/officeDocument/2006/relationships/slide" Target="slide33.xml"/><Relationship Id="rId14" Type="http://schemas.openxmlformats.org/officeDocument/2006/relationships/slide" Target="slide42.xml"/><Relationship Id="rId15" Type="http://schemas.openxmlformats.org/officeDocument/2006/relationships/notesSlide" Target="../notesSlides/notes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1.png"/><Relationship Id="rId6" Type="http://schemas.openxmlformats.org/officeDocument/2006/relationships/image" Target="../media/image77.png"/><Relationship Id="rId7" Type="http://schemas.openxmlformats.org/officeDocument/2006/relationships/image" Target="../media/image45.png"/><Relationship Id="rId8" Type="http://schemas.openxmlformats.org/officeDocument/2006/relationships/image" Target="../media/image34.png"/><Relationship Id="rId9" Type="http://schemas.openxmlformats.org/officeDocument/2006/relationships/notesSlide" Target="../notesSlides/notes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47.xml"/><Relationship Id="rId13" Type="http://schemas.openxmlformats.org/officeDocument/2006/relationships/slide" Target="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1.xml"/><Relationship Id="rId6" Type="http://schemas.openxmlformats.org/officeDocument/2006/relationships/slide" Target="slide4.xml"/><Relationship Id="rId7" Type="http://schemas.openxmlformats.org/officeDocument/2006/relationships/slide" Target="slide32.xml"/><Relationship Id="rId8" Type="http://schemas.openxmlformats.org/officeDocument/2006/relationships/slide" Target="slide24.xml"/><Relationship Id="rId9" Type="http://schemas.openxmlformats.org/officeDocument/2006/relationships/slide" Target="slide13.xml"/><Relationship Id="rId10" Type="http://schemas.openxmlformats.org/officeDocument/2006/relationships/slide" Target="slide18.xml"/><Relationship Id="rId11" Type="http://schemas.openxmlformats.org/officeDocument/2006/relationships/slide" Target="slide31.xml"/><Relationship Id="rId12" Type="http://schemas.openxmlformats.org/officeDocument/2006/relationships/slide" Target="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2.xml"/><Relationship Id="rId6" Type="http://schemas.openxmlformats.org/officeDocument/2006/relationships/slide" Target="slide4.xml"/><Relationship Id="rId7" Type="http://schemas.openxmlformats.org/officeDocument/2006/relationships/slide" Target="slide32.xml"/><Relationship Id="rId8" Type="http://schemas.openxmlformats.org/officeDocument/2006/relationships/slide" Target="slide24.xml"/><Relationship Id="rId9" Type="http://schemas.openxmlformats.org/officeDocument/2006/relationships/slide" Target="slide13.xml"/><Relationship Id="rId10" Type="http://schemas.openxmlformats.org/officeDocument/2006/relationships/slide" Target="slide15.xml"/><Relationship Id="rId11" Type="http://schemas.openxmlformats.org/officeDocument/2006/relationships/slide" Target="slide11.xml"/><Relationship Id="rId12" Type="http://schemas.openxmlformats.org/officeDocument/2006/relationships/slide" Target="slide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3.xml"/><Relationship Id="rId6" Type="http://schemas.openxmlformats.org/officeDocument/2006/relationships/slide" Target="slide4.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15.xml"/><Relationship Id="rId12" Type="http://schemas.openxmlformats.org/officeDocument/2006/relationships/slide" Target="slide17.xml"/><Relationship Id="rId13" Type="http://schemas.openxmlformats.org/officeDocument/2006/relationships/slide" Target="slide23.xml"/><Relationship Id="rId14" Type="http://schemas.openxmlformats.org/officeDocument/2006/relationships/slide" Target="slide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4.xml"/><Relationship Id="rId6" Type="http://schemas.openxmlformats.org/officeDocument/2006/relationships/slide" Target="slide4.xml"/><Relationship Id="rId7" Type="http://schemas.openxmlformats.org/officeDocument/2006/relationships/slide" Target="slide25.xml"/><Relationship Id="rId8" Type="http://schemas.openxmlformats.org/officeDocument/2006/relationships/slide" Target="slide27.xml"/><Relationship Id="rId9" Type="http://schemas.openxmlformats.org/officeDocument/2006/relationships/slide" Target="slide28.xml"/><Relationship Id="rId10" Type="http://schemas.openxmlformats.org/officeDocument/2006/relationships/slide" Target="slide26.xml"/><Relationship Id="rId11" Type="http://schemas.openxmlformats.org/officeDocument/2006/relationships/slide" Target="slide24.xml"/><Relationship Id="rId12" Type="http://schemas.openxmlformats.org/officeDocument/2006/relationships/slide" Target="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5.xml"/><Relationship Id="rId6" Type="http://schemas.openxmlformats.org/officeDocument/2006/relationships/slide" Target="slide4.xml"/><Relationship Id="rId7" Type="http://schemas.openxmlformats.org/officeDocument/2006/relationships/slide" Target="slide12.xml"/><Relationship Id="rId8" Type="http://schemas.openxmlformats.org/officeDocument/2006/relationships/slide" Target="slide33.xml"/><Relationship Id="rId9" Type="http://schemas.openxmlformats.org/officeDocument/2006/relationships/slide" Target="slide34.xml"/><Relationship Id="rId10" Type="http://schemas.openxmlformats.org/officeDocument/2006/relationships/slide" Target="slide41.xml"/><Relationship Id="rId11" Type="http://schemas.openxmlformats.org/officeDocument/2006/relationships/slide" Target="slide35.xml"/><Relationship Id="rId12" Type="http://schemas.openxmlformats.org/officeDocument/2006/relationships/slide" Target="slide36.xml"/><Relationship Id="rId13" Type="http://schemas.openxmlformats.org/officeDocument/2006/relationships/slide" Target="slide39.xml"/><Relationship Id="rId14" Type="http://schemas.openxmlformats.org/officeDocument/2006/relationships/slide" Target="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6.xml"/><Relationship Id="rId6" Type="http://schemas.openxmlformats.org/officeDocument/2006/relationships/slide" Target="slide4.xml"/><Relationship Id="rId7" Type="http://schemas.openxmlformats.org/officeDocument/2006/relationships/slide" Target="slide18.xml"/><Relationship Id="rId8" Type="http://schemas.openxmlformats.org/officeDocument/2006/relationships/slide" Target="slide19.xml"/><Relationship Id="rId9" Type="http://schemas.openxmlformats.org/officeDocument/2006/relationships/slide" Target="slide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7.xml"/><Relationship Id="rId6" Type="http://schemas.openxmlformats.org/officeDocument/2006/relationships/slide" Target="slide4.xml"/><Relationship Id="rId7" Type="http://schemas.openxmlformats.org/officeDocument/2006/relationships/slide" Target="slide42.xml"/><Relationship Id="rId8" Type="http://schemas.openxmlformats.org/officeDocument/2006/relationships/slide" Target="slide31.xml"/><Relationship Id="rId9" Type="http://schemas.openxmlformats.org/officeDocument/2006/relationships/slide" Target="slide30.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3.xml"/><Relationship Id="rId13" Type="http://schemas.openxmlformats.org/officeDocument/2006/relationships/slide" Target="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8.xml"/><Relationship Id="rId6" Type="http://schemas.openxmlformats.org/officeDocument/2006/relationships/slide" Target="slide4.xml"/><Relationship Id="rId7" Type="http://schemas.openxmlformats.org/officeDocument/2006/relationships/slide" Target="slide43.xml"/><Relationship Id="rId8" Type="http://schemas.openxmlformats.org/officeDocument/2006/relationships/slide" Target="slide15.xml"/><Relationship Id="rId9" Type="http://schemas.openxmlformats.org/officeDocument/2006/relationships/slide" Target="slide13.xml"/><Relationship Id="rId10" Type="http://schemas.openxmlformats.org/officeDocument/2006/relationships/slide" Target="slide27.xml"/><Relationship Id="rId11" Type="http://schemas.openxmlformats.org/officeDocument/2006/relationships/slide" Target="slide26.xml"/><Relationship Id="rId12" Type="http://schemas.openxmlformats.org/officeDocument/2006/relationships/slide" Target="slide23.xml"/><Relationship Id="rId13" Type="http://schemas.openxmlformats.org/officeDocument/2006/relationships/slide" Target="slide20.xml"/><Relationship Id="rId14" Type="http://schemas.openxmlformats.org/officeDocument/2006/relationships/slide" Target="slide21.xml"/><Relationship Id="rId15" Type="http://schemas.openxmlformats.org/officeDocument/2006/relationships/slide" Target="slide30.xml"/><Relationship Id="rId16" Type="http://schemas.openxmlformats.org/officeDocument/2006/relationships/slide" Target="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INTRODUCTION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MRM Digital Community Platform</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Faith, learning and community care for all Muslims.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PRODUCT VISION  /  PROPOSED DELIVERY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01 / 58</a:t>
            </a:r>
          </a:p>
        </p:txBody>
      </p:sp>
      <p:sp>
        <p:nvSpPr>
          <p:cNvPr id="14" name="TextBox 13"/>
          <p:cNvSpPr txBox="1"/>
          <p:nvPr/>
        </p:nvSpPr>
        <p:spPr>
          <a:xfrm>
            <a:off x="685800" y="2404872"/>
            <a:ext cx="7406640" cy="411480"/>
          </a:xfrm>
          <a:prstGeom prst="rect">
            <a:avLst/>
          </a:prstGeom>
          <a:noFill/>
        </p:spPr>
        <p:txBody>
          <a:bodyPr wrap="square" lIns="0" rIns="0" tIns="0" bIns="0">
            <a:spAutoFit/>
          </a:bodyPr>
          <a:lstStyle/>
          <a:p>
            <a:pPr>
              <a:spcAft>
                <a:spcPts val="700"/>
              </a:spcAft>
              <a:defRPr sz="1700" b="0">
                <a:solidFill>
                  <a:srgbClr val="E8C578"/>
                </a:solidFill>
                <a:latin typeface="DejaVu Sans"/>
              </a:defRPr>
            </a:pPr>
            <a:r>
              <a:t>Bismillahirrahmanirrahim</a:t>
            </a:r>
          </a:p>
        </p:txBody>
      </p:sp>
      <p:sp>
        <p:nvSpPr>
          <p:cNvPr id="15" name="TextBox 14"/>
          <p:cNvSpPr txBox="1"/>
          <p:nvPr/>
        </p:nvSpPr>
        <p:spPr>
          <a:xfrm>
            <a:off x="640080" y="2980944"/>
            <a:ext cx="7863840" cy="1463040"/>
          </a:xfrm>
          <a:prstGeom prst="rect">
            <a:avLst/>
          </a:prstGeom>
          <a:noFill/>
        </p:spPr>
        <p:txBody>
          <a:bodyPr wrap="square" lIns="0" rIns="0" tIns="0" bIns="0">
            <a:spAutoFit/>
          </a:bodyPr>
          <a:lstStyle/>
          <a:p>
            <a:pPr>
              <a:spcAft>
                <a:spcPts val="700"/>
              </a:spcAft>
              <a:defRPr sz="3800" b="1">
                <a:solidFill>
                  <a:srgbClr val="F7F9FF"/>
                </a:solidFill>
                <a:latin typeface="DejaVu Sans"/>
              </a:defRPr>
            </a:pPr>
            <a:r>
              <a:t>One community.</a:t>
            </a:r>
          </a:p>
          <a:p>
            <a:pPr>
              <a:spcAft>
                <a:spcPts val="700"/>
              </a:spcAft>
              <a:defRPr sz="3800" b="1">
                <a:solidFill>
                  <a:srgbClr val="F7F9FF"/>
                </a:solidFill>
                <a:latin typeface="DejaVu Sans"/>
              </a:defRPr>
            </a:pPr>
            <a:r>
              <a:t>Connected through care.</a:t>
            </a:r>
          </a:p>
        </p:txBody>
      </p:sp>
      <p:sp>
        <p:nvSpPr>
          <p:cNvPr id="16" name="TextBox 15"/>
          <p:cNvSpPr txBox="1"/>
          <p:nvPr/>
        </p:nvSpPr>
        <p:spPr>
          <a:xfrm>
            <a:off x="685800" y="4809744"/>
            <a:ext cx="7086600" cy="932688"/>
          </a:xfrm>
          <a:prstGeom prst="rect">
            <a:avLst/>
          </a:prstGeom>
          <a:noFill/>
        </p:spPr>
        <p:txBody>
          <a:bodyPr wrap="square" lIns="0" rIns="0" tIns="0" bIns="0">
            <a:spAutoFit/>
          </a:bodyPr>
          <a:lstStyle/>
          <a:p>
            <a:pPr>
              <a:spcAft>
                <a:spcPts val="700"/>
              </a:spcAft>
              <a:defRPr sz="2100" b="0">
                <a:solidFill>
                  <a:srgbClr val="BBC8DF"/>
                </a:solidFill>
                <a:latin typeface="DejaVu Sans"/>
              </a:defRPr>
            </a:pPr>
            <a:r>
              <a:t>Daily Islamic tools, trusted learning and coordinated assistance, with dedicated support for reverts and people who need it.</a:t>
            </a:r>
          </a:p>
        </p:txBody>
      </p:sp>
      <p:sp>
        <p:nvSpPr>
          <p:cNvPr id="17" name="Rounded Rectangle 16"/>
          <p:cNvSpPr/>
          <p:nvPr/>
        </p:nvSpPr>
        <p:spPr>
          <a:xfrm>
            <a:off x="685800" y="6236208"/>
            <a:ext cx="1691640"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6281928"/>
            <a:ext cx="1472184"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ANDROID + iOS</a:t>
            </a:r>
          </a:p>
        </p:txBody>
      </p:sp>
      <p:sp>
        <p:nvSpPr>
          <p:cNvPr id="19" name="Rounded Rectangle 18"/>
          <p:cNvSpPr/>
          <p:nvPr/>
        </p:nvSpPr>
        <p:spPr>
          <a:xfrm>
            <a:off x="2606040" y="6236208"/>
            <a:ext cx="1874519"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15768" y="6281928"/>
            <a:ext cx="1655063" cy="246888"/>
          </a:xfrm>
          <a:prstGeom prst="rect">
            <a:avLst/>
          </a:prstGeom>
          <a:noFill/>
        </p:spPr>
        <p:txBody>
          <a:bodyPr wrap="square" lIns="0" rIns="0" tIns="0" bIns="0">
            <a:spAutoFit/>
          </a:bodyPr>
          <a:lstStyle/>
          <a:p>
            <a:pPr>
              <a:spcAft>
                <a:spcPts val="700"/>
              </a:spcAft>
              <a:defRPr sz="1000" b="1">
                <a:solidFill>
                  <a:srgbClr val="C2A3FF"/>
                </a:solidFill>
                <a:latin typeface="DejaVu Sans"/>
              </a:defRPr>
            </a:pPr>
            <a:r>
              <a:t>PUBLIC WEBSITE</a:t>
            </a:r>
          </a:p>
        </p:txBody>
      </p:sp>
      <p:sp>
        <p:nvSpPr>
          <p:cNvPr id="21" name="Rounded Rectangle 20"/>
          <p:cNvSpPr/>
          <p:nvPr/>
        </p:nvSpPr>
        <p:spPr>
          <a:xfrm>
            <a:off x="4709160" y="6236208"/>
            <a:ext cx="2057400"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6281928"/>
            <a:ext cx="1837943" cy="246888"/>
          </a:xfrm>
          <a:prstGeom prst="rect">
            <a:avLst/>
          </a:prstGeom>
          <a:noFill/>
        </p:spPr>
        <p:txBody>
          <a:bodyPr wrap="square" lIns="0" rIns="0" tIns="0" bIns="0">
            <a:spAutoFit/>
          </a:bodyPr>
          <a:lstStyle/>
          <a:p>
            <a:pPr>
              <a:spcAft>
                <a:spcPts val="700"/>
              </a:spcAft>
              <a:defRPr sz="1000" b="1">
                <a:solidFill>
                  <a:srgbClr val="E8C578"/>
                </a:solidFill>
                <a:latin typeface="DejaVu Sans"/>
              </a:defRPr>
            </a:pPr>
            <a:r>
              <a:t>MRM OPERATIONS</a:t>
            </a:r>
          </a:p>
        </p:txBody>
      </p:sp>
      <p:pic>
        <p:nvPicPr>
          <p:cNvPr id="23" name="Picture 22" descr="09_loaded_alt.png"/>
          <p:cNvPicPr>
            <a:picLocks noChangeAspect="1"/>
          </p:cNvPicPr>
          <p:nvPr/>
        </p:nvPicPr>
        <p:blipFill>
          <a:blip r:embed="rId5"/>
          <a:stretch>
            <a:fillRect/>
          </a:stretch>
        </p:blipFill>
        <p:spPr>
          <a:xfrm>
            <a:off x="9144000" y="2313432"/>
            <a:ext cx="2219415" cy="4526280"/>
          </a:xfrm>
          <a:prstGeom prst="rect">
            <a:avLst/>
          </a:prstGeom>
        </p:spPr>
      </p:pic>
      <p:pic>
        <p:nvPicPr>
          <p:cNvPr id="24" name="Picture 23" descr="03_services.png"/>
          <p:cNvPicPr>
            <a:picLocks noChangeAspect="1"/>
          </p:cNvPicPr>
          <p:nvPr/>
        </p:nvPicPr>
        <p:blipFill>
          <a:blip r:embed="rId6"/>
          <a:stretch>
            <a:fillRect/>
          </a:stretch>
        </p:blipFill>
        <p:spPr>
          <a:xfrm>
            <a:off x="11521440" y="2907792"/>
            <a:ext cx="1945911" cy="396849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VISION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Built for the wider Muslim community</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Universal daily value, with focused services where additional support is needed.</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02 / 58</a:t>
            </a:r>
          </a:p>
        </p:txBody>
      </p:sp>
      <p:sp>
        <p:nvSpPr>
          <p:cNvPr id="14" name="Rounded Rectangle 13">
            <a:hlinkClick action="ppaction://hlinksldjump" r:id="rId9"/>
          </p:cNvPr>
          <p:cNvSpPr/>
          <p:nvPr/>
        </p:nvSpPr>
        <p:spPr>
          <a:xfrm>
            <a:off x="640080" y="2423160"/>
            <a:ext cx="4315968" cy="31546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moon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9"/>
          </p:cNvPr>
          <p:cNvSpPr txBox="1"/>
          <p:nvPr/>
        </p:nvSpPr>
        <p:spPr>
          <a:xfrm>
            <a:off x="1353312"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Everyday faith</a:t>
            </a:r>
          </a:p>
        </p:txBody>
      </p:sp>
      <p:sp>
        <p:nvSpPr>
          <p:cNvPr id="17" name="TextBox 16"/>
          <p:cNvSpPr txBox="1"/>
          <p:nvPr/>
        </p:nvSpPr>
        <p:spPr>
          <a:xfrm>
            <a:off x="859536" y="3255264"/>
            <a:ext cx="3877056" cy="2203704"/>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Prayer, Quran, Qibla and remembrance give Muslims a reason to return throughout the week.</a:t>
            </a:r>
          </a:p>
        </p:txBody>
      </p:sp>
      <p:sp>
        <p:nvSpPr>
          <p:cNvPr id="18" name="Rounded Rectangle 17">
            <a:hlinkClick action="ppaction://hlinksldjump" r:id="rId10"/>
          </p:cNvPr>
          <p:cNvSpPr/>
          <p:nvPr/>
        </p:nvSpPr>
        <p:spPr>
          <a:xfrm>
            <a:off x="5157216" y="2423160"/>
            <a:ext cx="4315968" cy="31546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book_C2A3FF.png"/>
          <p:cNvPicPr>
            <a:picLocks noChangeAspect="1"/>
          </p:cNvPicPr>
          <p:nvPr/>
        </p:nvPicPr>
        <p:blipFill>
          <a:blip r:embed="rId6"/>
          <a:stretch>
            <a:fillRect/>
          </a:stretch>
        </p:blipFill>
        <p:spPr>
          <a:xfrm>
            <a:off x="5358383" y="2606040"/>
            <a:ext cx="384048" cy="384048"/>
          </a:xfrm>
          <a:prstGeom prst="rect">
            <a:avLst/>
          </a:prstGeom>
        </p:spPr>
      </p:pic>
      <p:sp>
        <p:nvSpPr>
          <p:cNvPr id="20" name="TextBox 19">
            <a:hlinkClick action="ppaction://hlinksldjump" r:id="rId10"/>
          </p:cNvPr>
          <p:cNvSpPr txBox="1"/>
          <p:nvPr/>
        </p:nvSpPr>
        <p:spPr>
          <a:xfrm>
            <a:off x="5870448"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Lifelong learning</a:t>
            </a:r>
          </a:p>
        </p:txBody>
      </p:sp>
      <p:sp>
        <p:nvSpPr>
          <p:cNvPr id="21" name="TextBox 20"/>
          <p:cNvSpPr txBox="1"/>
          <p:nvPr/>
        </p:nvSpPr>
        <p:spPr>
          <a:xfrm>
            <a:off x="5376672" y="3255264"/>
            <a:ext cx="3877056" cy="2203704"/>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teachers, live classes and recorded resources connect learners with trusted content.</a:t>
            </a:r>
          </a:p>
        </p:txBody>
      </p:sp>
      <p:sp>
        <p:nvSpPr>
          <p:cNvPr id="22" name="Rounded Rectangle 21">
            <a:hlinkClick action="ppaction://hlinksldjump" r:id="rId11"/>
          </p:cNvPr>
          <p:cNvSpPr/>
          <p:nvPr/>
        </p:nvSpPr>
        <p:spPr>
          <a:xfrm>
            <a:off x="9674351" y="2423160"/>
            <a:ext cx="4315968" cy="31546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heart_8DD8B1.png"/>
          <p:cNvPicPr>
            <a:picLocks noChangeAspect="1"/>
          </p:cNvPicPr>
          <p:nvPr/>
        </p:nvPicPr>
        <p:blipFill>
          <a:blip r:embed="rId7"/>
          <a:stretch>
            <a:fillRect/>
          </a:stretch>
        </p:blipFill>
        <p:spPr>
          <a:xfrm>
            <a:off x="9875519" y="2606040"/>
            <a:ext cx="384048" cy="384048"/>
          </a:xfrm>
          <a:prstGeom prst="rect">
            <a:avLst/>
          </a:prstGeom>
        </p:spPr>
      </p:pic>
      <p:sp>
        <p:nvSpPr>
          <p:cNvPr id="24" name="TextBox 23">
            <a:hlinkClick action="ppaction://hlinksldjump" r:id="rId11"/>
          </p:cNvPr>
          <p:cNvSpPr txBox="1"/>
          <p:nvPr/>
        </p:nvSpPr>
        <p:spPr>
          <a:xfrm>
            <a:off x="10387583"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Community care</a:t>
            </a:r>
          </a:p>
        </p:txBody>
      </p:sp>
      <p:sp>
        <p:nvSpPr>
          <p:cNvPr id="25" name="TextBox 24"/>
          <p:cNvSpPr txBox="1"/>
          <p:nvPr/>
        </p:nvSpPr>
        <p:spPr>
          <a:xfrm>
            <a:off x="9893807" y="3255264"/>
            <a:ext cx="3877056" cy="2203704"/>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Members seek help, volunteers contribute and MRM coordinates safe follow-up.</a:t>
            </a:r>
          </a:p>
        </p:txBody>
      </p:sp>
      <p:sp>
        <p:nvSpPr>
          <p:cNvPr id="26" name="TextBox 25"/>
          <p:cNvSpPr txBox="1"/>
          <p:nvPr/>
        </p:nvSpPr>
        <p:spPr>
          <a:xfrm>
            <a:off x="804672" y="5998464"/>
            <a:ext cx="12801600" cy="685800"/>
          </a:xfrm>
          <a:prstGeom prst="rect">
            <a:avLst/>
          </a:prstGeom>
          <a:noFill/>
        </p:spPr>
        <p:txBody>
          <a:bodyPr wrap="square" lIns="0" rIns="0" tIns="0" bIns="0">
            <a:spAutoFit/>
          </a:bodyPr>
          <a:lstStyle/>
          <a:p>
            <a:pPr>
              <a:spcAft>
                <a:spcPts val="700"/>
              </a:spcAft>
              <a:defRPr sz="2200" b="1">
                <a:solidFill>
                  <a:srgbClr val="F7F9FF"/>
                </a:solidFill>
                <a:latin typeface="DejaVu Sans"/>
              </a:defRPr>
            </a:pPr>
            <a:r>
              <a:t>Revert support remains a core MRM service. It sits within a platform that welcomes all Muslims.</a:t>
            </a:r>
          </a:p>
        </p:txBody>
      </p:sp>
      <p:sp>
        <p:nvSpPr>
          <p:cNvPr id="27" name="Rounded Rectangle 26"/>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Audience → daily use → learning → participation → coordinated support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VISION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One platform, clearly defined roles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An account can hold more than one authorised role; access follows the role and the individual record.</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03 / 58</a:t>
            </a:r>
          </a:p>
        </p:txBody>
      </p:sp>
      <p:sp>
        <p:nvSpPr>
          <p:cNvPr id="14" name="Rounded Rectangle 13">
            <a:hlinkClick action="ppaction://hlinksldjump" r:id="rId12"/>
          </p:cNvPr>
          <p:cNvSpPr/>
          <p:nvPr/>
        </p:nvSpPr>
        <p:spPr>
          <a:xfrm>
            <a:off x="640080"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moon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2"/>
          </p:cNvPr>
          <p:cNvSpPr txBox="1"/>
          <p:nvPr/>
        </p:nvSpPr>
        <p:spPr>
          <a:xfrm>
            <a:off x="1353312"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Muslim users</a:t>
            </a:r>
          </a:p>
        </p:txBody>
      </p:sp>
      <p:sp>
        <p:nvSpPr>
          <p:cNvPr id="17" name="TextBox 16"/>
          <p:cNvSpPr txBox="1"/>
          <p:nvPr/>
        </p:nvSpPr>
        <p:spPr>
          <a:xfrm>
            <a:off x="859536"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daily tools and approved learning; register where a personal service requires an account.</a:t>
            </a:r>
          </a:p>
        </p:txBody>
      </p:sp>
      <p:sp>
        <p:nvSpPr>
          <p:cNvPr id="18" name="Rounded Rectangle 17">
            <a:hlinkClick action="ppaction://hlinksldjump" r:id="rId13"/>
          </p:cNvPr>
          <p:cNvSpPr/>
          <p:nvPr/>
        </p:nvSpPr>
        <p:spPr>
          <a:xfrm>
            <a:off x="5157216"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heart_8DD8B1.png"/>
          <p:cNvPicPr>
            <a:picLocks noChangeAspect="1"/>
          </p:cNvPicPr>
          <p:nvPr/>
        </p:nvPicPr>
        <p:blipFill>
          <a:blip r:embed="rId6"/>
          <a:stretch>
            <a:fillRect/>
          </a:stretch>
        </p:blipFill>
        <p:spPr>
          <a:xfrm>
            <a:off x="5358383" y="2606040"/>
            <a:ext cx="384048" cy="384048"/>
          </a:xfrm>
          <a:prstGeom prst="rect">
            <a:avLst/>
          </a:prstGeom>
        </p:spPr>
      </p:pic>
      <p:sp>
        <p:nvSpPr>
          <p:cNvPr id="20" name="TextBox 19">
            <a:hlinkClick action="ppaction://hlinksldjump" r:id="rId13"/>
          </p:cNvPr>
          <p:cNvSpPr txBox="1"/>
          <p:nvPr/>
        </p:nvSpPr>
        <p:spPr>
          <a:xfrm>
            <a:off x="5870448"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Members / support seekers</a:t>
            </a:r>
          </a:p>
        </p:txBody>
      </p:sp>
      <p:sp>
        <p:nvSpPr>
          <p:cNvPr id="21" name="TextBox 20"/>
          <p:cNvSpPr txBox="1"/>
          <p:nvPr/>
        </p:nvSpPr>
        <p:spPr>
          <a:xfrm>
            <a:off x="5376672"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Submit requests, choose safe contact preferences and follow their own case updates.</a:t>
            </a:r>
          </a:p>
        </p:txBody>
      </p:sp>
      <p:sp>
        <p:nvSpPr>
          <p:cNvPr id="22" name="Rounded Rectangle 21">
            <a:hlinkClick action="ppaction://hlinksldjump" r:id="rId14"/>
          </p:cNvPr>
          <p:cNvSpPr/>
          <p:nvPr/>
        </p:nvSpPr>
        <p:spPr>
          <a:xfrm>
            <a:off x="9674351"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people_62DAE8.png"/>
          <p:cNvPicPr>
            <a:picLocks noChangeAspect="1"/>
          </p:cNvPicPr>
          <p:nvPr/>
        </p:nvPicPr>
        <p:blipFill>
          <a:blip r:embed="rId7"/>
          <a:stretch>
            <a:fillRect/>
          </a:stretch>
        </p:blipFill>
        <p:spPr>
          <a:xfrm>
            <a:off x="9875519" y="2606040"/>
            <a:ext cx="384048" cy="384048"/>
          </a:xfrm>
          <a:prstGeom prst="rect">
            <a:avLst/>
          </a:prstGeom>
        </p:spPr>
      </p:pic>
      <p:sp>
        <p:nvSpPr>
          <p:cNvPr id="24" name="TextBox 23">
            <a:hlinkClick action="ppaction://hlinksldjump" r:id="rId14"/>
          </p:cNvPr>
          <p:cNvSpPr txBox="1"/>
          <p:nvPr/>
        </p:nvSpPr>
        <p:spPr>
          <a:xfrm>
            <a:off x="10387583"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Volunteer applicants</a:t>
            </a:r>
          </a:p>
        </p:txBody>
      </p:sp>
      <p:sp>
        <p:nvSpPr>
          <p:cNvPr id="25" name="TextBox 24"/>
          <p:cNvSpPr txBox="1"/>
          <p:nvPr/>
        </p:nvSpPr>
        <p:spPr>
          <a:xfrm>
            <a:off x="9893807"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Apply, supply evidence and attend an interview before restricted service access.</a:t>
            </a:r>
          </a:p>
        </p:txBody>
      </p:sp>
      <p:sp>
        <p:nvSpPr>
          <p:cNvPr id="26" name="Rounded Rectangle 25">
            <a:hlinkClick action="ppaction://hlinksldjump" r:id="rId15"/>
          </p:cNvPr>
          <p:cNvSpPr/>
          <p:nvPr/>
        </p:nvSpPr>
        <p:spPr>
          <a:xfrm>
            <a:off x="640080"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tar_E8C578.png"/>
          <p:cNvPicPr>
            <a:picLocks noChangeAspect="1"/>
          </p:cNvPicPr>
          <p:nvPr/>
        </p:nvPicPr>
        <p:blipFill>
          <a:blip r:embed="rId8"/>
          <a:stretch>
            <a:fillRect/>
          </a:stretch>
        </p:blipFill>
        <p:spPr>
          <a:xfrm>
            <a:off x="841247" y="4901184"/>
            <a:ext cx="384048" cy="384048"/>
          </a:xfrm>
          <a:prstGeom prst="rect">
            <a:avLst/>
          </a:prstGeom>
        </p:spPr>
      </p:pic>
      <p:sp>
        <p:nvSpPr>
          <p:cNvPr id="28" name="TextBox 27">
            <a:hlinkClick action="ppaction://hlinksldjump" r:id="rId15"/>
          </p:cNvPr>
          <p:cNvSpPr txBox="1"/>
          <p:nvPr/>
        </p:nvSpPr>
        <p:spPr>
          <a:xfrm>
            <a:off x="1353312"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Approved volunteers</a:t>
            </a:r>
          </a:p>
        </p:txBody>
      </p:sp>
      <p:sp>
        <p:nvSpPr>
          <p:cNvPr id="29" name="TextBox 28"/>
          <p:cNvSpPr txBox="1"/>
          <p:nvPr/>
        </p:nvSpPr>
        <p:spPr>
          <a:xfrm>
            <a:off x="859536"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Receive eligible work, manage assigned service and view verified recognition.</a:t>
            </a:r>
          </a:p>
        </p:txBody>
      </p:sp>
      <p:sp>
        <p:nvSpPr>
          <p:cNvPr id="30" name="Rounded Rectangle 29">
            <a:hlinkClick action="ppaction://hlinksldjump" r:id="rId16"/>
          </p:cNvPr>
          <p:cNvSpPr/>
          <p:nvPr/>
        </p:nvSpPr>
        <p:spPr>
          <a:xfrm>
            <a:off x="5157216"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on_book_C2A3FF.png"/>
          <p:cNvPicPr>
            <a:picLocks noChangeAspect="1"/>
          </p:cNvPicPr>
          <p:nvPr/>
        </p:nvPicPr>
        <p:blipFill>
          <a:blip r:embed="rId9"/>
          <a:stretch>
            <a:fillRect/>
          </a:stretch>
        </p:blipFill>
        <p:spPr>
          <a:xfrm>
            <a:off x="5358383" y="4901184"/>
            <a:ext cx="384048" cy="384048"/>
          </a:xfrm>
          <a:prstGeom prst="rect">
            <a:avLst/>
          </a:prstGeom>
        </p:spPr>
      </p:pic>
      <p:sp>
        <p:nvSpPr>
          <p:cNvPr id="32" name="TextBox 31">
            <a:hlinkClick action="ppaction://hlinksldjump" r:id="rId16"/>
          </p:cNvPr>
          <p:cNvSpPr txBox="1"/>
          <p:nvPr/>
        </p:nvSpPr>
        <p:spPr>
          <a:xfrm>
            <a:off x="5870448"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Approved teachers</a:t>
            </a:r>
          </a:p>
        </p:txBody>
      </p:sp>
      <p:sp>
        <p:nvSpPr>
          <p:cNvPr id="33" name="TextBox 32"/>
          <p:cNvSpPr txBox="1"/>
          <p:nvPr/>
        </p:nvSpPr>
        <p:spPr>
          <a:xfrm>
            <a:off x="5376672"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Submit learning and advertisements; subscriptions govern designated publishing privileges.</a:t>
            </a:r>
          </a:p>
        </p:txBody>
      </p:sp>
      <p:sp>
        <p:nvSpPr>
          <p:cNvPr id="34" name="Rounded Rectangle 33">
            <a:hlinkClick action="ppaction://hlinksldjump" r:id="rId17"/>
          </p:cNvPr>
          <p:cNvSpPr/>
          <p:nvPr/>
        </p:nvSpPr>
        <p:spPr>
          <a:xfrm>
            <a:off x="9674351"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on_shield_62DAE8.png"/>
          <p:cNvPicPr>
            <a:picLocks noChangeAspect="1"/>
          </p:cNvPicPr>
          <p:nvPr/>
        </p:nvPicPr>
        <p:blipFill>
          <a:blip r:embed="rId10"/>
          <a:stretch>
            <a:fillRect/>
          </a:stretch>
        </p:blipFill>
        <p:spPr>
          <a:xfrm>
            <a:off x="9875519" y="4901184"/>
            <a:ext cx="384048" cy="384048"/>
          </a:xfrm>
          <a:prstGeom prst="rect">
            <a:avLst/>
          </a:prstGeom>
        </p:spPr>
      </p:pic>
      <p:sp>
        <p:nvSpPr>
          <p:cNvPr id="36" name="TextBox 35">
            <a:hlinkClick action="ppaction://hlinksldjump" r:id="rId17"/>
          </p:cNvPr>
          <p:cNvSpPr txBox="1"/>
          <p:nvPr/>
        </p:nvSpPr>
        <p:spPr>
          <a:xfrm>
            <a:off x="10387583"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MRM staff</a:t>
            </a:r>
          </a:p>
        </p:txBody>
      </p:sp>
      <p:sp>
        <p:nvSpPr>
          <p:cNvPr id="37" name="TextBox 36"/>
          <p:cNvSpPr txBox="1"/>
          <p:nvPr/>
        </p:nvSpPr>
        <p:spPr>
          <a:xfrm>
            <a:off x="9893807"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Verify, triage, safeguard, moderate and administer within duty-based permissions.</a:t>
            </a:r>
          </a:p>
        </p:txBody>
      </p:sp>
      <p:sp>
        <p:nvSpPr>
          <p:cNvPr id="38" name="Rounded Rectangle 3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Discover freely  •  Authenticate for personal records  •  Approve before privileged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CONTENTS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Explore the complete platform</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Click a section card in PowerPoint or the PDF to jump to its opening page.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INTERACTIVE CONTENTS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04 / 58</a:t>
            </a:r>
          </a:p>
        </p:txBody>
      </p:sp>
      <p:sp>
        <p:nvSpPr>
          <p:cNvPr id="14" name="Rounded Rectangle 13">
            <a:hlinkClick action="ppaction://hlinksldjump" r:id="rId12"/>
          </p:cNvPr>
          <p:cNvSpPr/>
          <p:nvPr/>
        </p:nvSpPr>
        <p:spPr>
          <a:xfrm>
            <a:off x="640080"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route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2"/>
          </p:cNvPr>
          <p:cNvSpPr txBox="1"/>
          <p:nvPr/>
        </p:nvSpPr>
        <p:spPr>
          <a:xfrm>
            <a:off x="1353312"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01  Experience</a:t>
            </a:r>
          </a:p>
        </p:txBody>
      </p:sp>
      <p:sp>
        <p:nvSpPr>
          <p:cNvPr id="17" name="TextBox 16"/>
          <p:cNvSpPr txBox="1"/>
          <p:nvPr/>
        </p:nvSpPr>
        <p:spPr>
          <a:xfrm>
            <a:off x="859536"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05–12</a:t>
            </a:r>
          </a:p>
          <a:p>
            <a:pPr>
              <a:spcAft>
                <a:spcPts val="700"/>
              </a:spcAft>
              <a:defRPr sz="1400" b="0">
                <a:solidFill>
                  <a:srgbClr val="BBC8DF"/>
                </a:solidFill>
                <a:latin typeface="DejaVu Sans"/>
              </a:defRPr>
            </a:pPr>
            <a:r>
              <a:t>Ecosystem, features, app navigation and current mobile screens.</a:t>
            </a:r>
          </a:p>
        </p:txBody>
      </p:sp>
      <p:sp>
        <p:nvSpPr>
          <p:cNvPr id="18" name="Rounded Rectangle 17">
            <a:hlinkClick action="ppaction://hlinksldjump" r:id="rId13"/>
          </p:cNvPr>
          <p:cNvSpPr/>
          <p:nvPr/>
        </p:nvSpPr>
        <p:spPr>
          <a:xfrm>
            <a:off x="5157216"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heart_8DD8B1.png"/>
          <p:cNvPicPr>
            <a:picLocks noChangeAspect="1"/>
          </p:cNvPicPr>
          <p:nvPr/>
        </p:nvPicPr>
        <p:blipFill>
          <a:blip r:embed="rId6"/>
          <a:stretch>
            <a:fillRect/>
          </a:stretch>
        </p:blipFill>
        <p:spPr>
          <a:xfrm>
            <a:off x="5358383" y="2606040"/>
            <a:ext cx="384048" cy="384048"/>
          </a:xfrm>
          <a:prstGeom prst="rect">
            <a:avLst/>
          </a:prstGeom>
        </p:spPr>
      </p:pic>
      <p:sp>
        <p:nvSpPr>
          <p:cNvPr id="20" name="TextBox 19">
            <a:hlinkClick action="ppaction://hlinksldjump" r:id="rId13"/>
          </p:cNvPr>
          <p:cNvSpPr txBox="1"/>
          <p:nvPr/>
        </p:nvSpPr>
        <p:spPr>
          <a:xfrm>
            <a:off x="5870448"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02  Care &amp; volunteering</a:t>
            </a:r>
          </a:p>
        </p:txBody>
      </p:sp>
      <p:sp>
        <p:nvSpPr>
          <p:cNvPr id="21" name="TextBox 20"/>
          <p:cNvSpPr txBox="1"/>
          <p:nvPr/>
        </p:nvSpPr>
        <p:spPr>
          <a:xfrm>
            <a:off x="5376672"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13–23</a:t>
            </a:r>
          </a:p>
          <a:p>
            <a:pPr>
              <a:spcAft>
                <a:spcPts val="700"/>
              </a:spcAft>
              <a:defRPr sz="1400" b="0">
                <a:solidFill>
                  <a:srgbClr val="BBC8DF"/>
                </a:solidFill>
                <a:latin typeface="DejaVu Sans"/>
              </a:defRPr>
            </a:pPr>
            <a:r>
              <a:t>Assistance, verification, safe discovery, private cases and zakat referrals.</a:t>
            </a:r>
          </a:p>
        </p:txBody>
      </p:sp>
      <p:sp>
        <p:nvSpPr>
          <p:cNvPr id="22" name="Rounded Rectangle 21">
            <a:hlinkClick action="ppaction://hlinksldjump" r:id="rId14"/>
          </p:cNvPr>
          <p:cNvSpPr/>
          <p:nvPr/>
        </p:nvSpPr>
        <p:spPr>
          <a:xfrm>
            <a:off x="9674351" y="2423160"/>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book_C2A3FF.png"/>
          <p:cNvPicPr>
            <a:picLocks noChangeAspect="1"/>
          </p:cNvPicPr>
          <p:nvPr/>
        </p:nvPicPr>
        <p:blipFill>
          <a:blip r:embed="rId7"/>
          <a:stretch>
            <a:fillRect/>
          </a:stretch>
        </p:blipFill>
        <p:spPr>
          <a:xfrm>
            <a:off x="9875519" y="2606040"/>
            <a:ext cx="384048" cy="384048"/>
          </a:xfrm>
          <a:prstGeom prst="rect">
            <a:avLst/>
          </a:prstGeom>
        </p:spPr>
      </p:pic>
      <p:sp>
        <p:nvSpPr>
          <p:cNvPr id="24" name="TextBox 23">
            <a:hlinkClick action="ppaction://hlinksldjump" r:id="rId14"/>
          </p:cNvPr>
          <p:cNvSpPr txBox="1"/>
          <p:nvPr/>
        </p:nvSpPr>
        <p:spPr>
          <a:xfrm>
            <a:off x="10387583"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03  Learning &amp; revenue</a:t>
            </a:r>
          </a:p>
        </p:txBody>
      </p:sp>
      <p:sp>
        <p:nvSpPr>
          <p:cNvPr id="25" name="TextBox 24"/>
          <p:cNvSpPr txBox="1"/>
          <p:nvPr/>
        </p:nvSpPr>
        <p:spPr>
          <a:xfrm>
            <a:off x="9893807" y="3255264"/>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24–31</a:t>
            </a:r>
          </a:p>
          <a:p>
            <a:pPr>
              <a:spcAft>
                <a:spcPts val="700"/>
              </a:spcAft>
              <a:defRPr sz="1400" b="0">
                <a:solidFill>
                  <a:srgbClr val="BBC8DF"/>
                </a:solidFill>
                <a:latin typeface="DejaVu Sans"/>
              </a:defRPr>
            </a:pPr>
            <a:r>
              <a:t>Teachers, subscription flows, classes, sponsors and website journeys.</a:t>
            </a:r>
          </a:p>
        </p:txBody>
      </p:sp>
      <p:sp>
        <p:nvSpPr>
          <p:cNvPr id="26" name="Rounded Rectangle 25">
            <a:hlinkClick action="ppaction://hlinksldjump" r:id="rId15"/>
          </p:cNvPr>
          <p:cNvSpPr/>
          <p:nvPr/>
        </p:nvSpPr>
        <p:spPr>
          <a:xfrm>
            <a:off x="640080"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moon_E8C578.png"/>
          <p:cNvPicPr>
            <a:picLocks noChangeAspect="1"/>
          </p:cNvPicPr>
          <p:nvPr/>
        </p:nvPicPr>
        <p:blipFill>
          <a:blip r:embed="rId8"/>
          <a:stretch>
            <a:fillRect/>
          </a:stretch>
        </p:blipFill>
        <p:spPr>
          <a:xfrm>
            <a:off x="841247" y="4901184"/>
            <a:ext cx="384048" cy="384048"/>
          </a:xfrm>
          <a:prstGeom prst="rect">
            <a:avLst/>
          </a:prstGeom>
        </p:spPr>
      </p:pic>
      <p:sp>
        <p:nvSpPr>
          <p:cNvPr id="28" name="TextBox 27">
            <a:hlinkClick action="ppaction://hlinksldjump" r:id="rId15"/>
          </p:cNvPr>
          <p:cNvSpPr txBox="1"/>
          <p:nvPr/>
        </p:nvSpPr>
        <p:spPr>
          <a:xfrm>
            <a:off x="1353312"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04  Islamic utilities</a:t>
            </a:r>
          </a:p>
        </p:txBody>
      </p:sp>
      <p:sp>
        <p:nvSpPr>
          <p:cNvPr id="29" name="TextBox 28"/>
          <p:cNvSpPr txBox="1"/>
          <p:nvPr/>
        </p:nvSpPr>
        <p:spPr>
          <a:xfrm>
            <a:off x="859536"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32–41</a:t>
            </a:r>
          </a:p>
          <a:p>
            <a:pPr>
              <a:spcAft>
                <a:spcPts val="700"/>
              </a:spcAft>
              <a:defRPr sz="1400" b="0">
                <a:solidFill>
                  <a:srgbClr val="BBC8DF"/>
                </a:solidFill>
                <a:latin typeface="DejaVu Sans"/>
              </a:defRPr>
            </a:pPr>
            <a:r>
              <a:t>Prayer, Qibla, Quran, remembrance, calendar and content administration.</a:t>
            </a:r>
          </a:p>
        </p:txBody>
      </p:sp>
      <p:sp>
        <p:nvSpPr>
          <p:cNvPr id="30" name="Rounded Rectangle 29">
            <a:hlinkClick action="ppaction://hlinksldjump" r:id="rId16"/>
          </p:cNvPr>
          <p:cNvSpPr/>
          <p:nvPr/>
        </p:nvSpPr>
        <p:spPr>
          <a:xfrm>
            <a:off x="5157216"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on_gear_62DAE8.png"/>
          <p:cNvPicPr>
            <a:picLocks noChangeAspect="1"/>
          </p:cNvPicPr>
          <p:nvPr/>
        </p:nvPicPr>
        <p:blipFill>
          <a:blip r:embed="rId9"/>
          <a:stretch>
            <a:fillRect/>
          </a:stretch>
        </p:blipFill>
        <p:spPr>
          <a:xfrm>
            <a:off x="5358383" y="4901184"/>
            <a:ext cx="384048" cy="384048"/>
          </a:xfrm>
          <a:prstGeom prst="rect">
            <a:avLst/>
          </a:prstGeom>
        </p:spPr>
      </p:pic>
      <p:sp>
        <p:nvSpPr>
          <p:cNvPr id="32" name="TextBox 31">
            <a:hlinkClick action="ppaction://hlinksldjump" r:id="rId16"/>
          </p:cNvPr>
          <p:cNvSpPr txBox="1"/>
          <p:nvPr/>
        </p:nvSpPr>
        <p:spPr>
          <a:xfrm>
            <a:off x="5870448"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05  MRM operations</a:t>
            </a:r>
          </a:p>
        </p:txBody>
      </p:sp>
      <p:sp>
        <p:nvSpPr>
          <p:cNvPr id="33" name="TextBox 32"/>
          <p:cNvSpPr txBox="1"/>
          <p:nvPr/>
        </p:nvSpPr>
        <p:spPr>
          <a:xfrm>
            <a:off x="5376672"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42–47</a:t>
            </a:r>
          </a:p>
          <a:p>
            <a:pPr>
              <a:spcAft>
                <a:spcPts val="700"/>
              </a:spcAft>
              <a:defRPr sz="1400" b="0">
                <a:solidFill>
                  <a:srgbClr val="BBC8DF"/>
                </a:solidFill>
                <a:latin typeface="DejaVu Sans"/>
              </a:defRPr>
            </a:pPr>
            <a:r>
              <a:t>Dashboard, accounts, configuration, policies, reports and security.</a:t>
            </a:r>
          </a:p>
        </p:txBody>
      </p:sp>
      <p:sp>
        <p:nvSpPr>
          <p:cNvPr id="34" name="Rounded Rectangle 33">
            <a:hlinkClick action="ppaction://hlinksldjump" r:id="rId17"/>
          </p:cNvPr>
          <p:cNvSpPr/>
          <p:nvPr/>
        </p:nvSpPr>
        <p:spPr>
          <a:xfrm>
            <a:off x="9674351" y="4718304"/>
            <a:ext cx="4315968" cy="209397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on_chart_C2A3FF.png"/>
          <p:cNvPicPr>
            <a:picLocks noChangeAspect="1"/>
          </p:cNvPicPr>
          <p:nvPr/>
        </p:nvPicPr>
        <p:blipFill>
          <a:blip r:embed="rId10"/>
          <a:stretch>
            <a:fillRect/>
          </a:stretch>
        </p:blipFill>
        <p:spPr>
          <a:xfrm>
            <a:off x="9875519" y="4901184"/>
            <a:ext cx="384048" cy="384048"/>
          </a:xfrm>
          <a:prstGeom prst="rect">
            <a:avLst/>
          </a:prstGeom>
        </p:spPr>
      </p:pic>
      <p:sp>
        <p:nvSpPr>
          <p:cNvPr id="36" name="TextBox 35">
            <a:hlinkClick action="ppaction://hlinksldjump" r:id="rId17"/>
          </p:cNvPr>
          <p:cNvSpPr txBox="1"/>
          <p:nvPr/>
        </p:nvSpPr>
        <p:spPr>
          <a:xfrm>
            <a:off x="10387583" y="490118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06  Delivery &amp; evidence</a:t>
            </a:r>
          </a:p>
        </p:txBody>
      </p:sp>
      <p:sp>
        <p:nvSpPr>
          <p:cNvPr id="37" name="TextBox 36"/>
          <p:cNvSpPr txBox="1"/>
          <p:nvPr/>
        </p:nvSpPr>
        <p:spPr>
          <a:xfrm>
            <a:off x="9893807" y="5550408"/>
            <a:ext cx="3877056" cy="114300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Pages 48–50</a:t>
            </a:r>
          </a:p>
          <a:p>
            <a:pPr>
              <a:spcAft>
                <a:spcPts val="700"/>
              </a:spcAft>
              <a:defRPr sz="1400" b="0">
                <a:solidFill>
                  <a:srgbClr val="BBC8DF"/>
                </a:solidFill>
                <a:latin typeface="DejaVu Sans"/>
              </a:defRPr>
            </a:pPr>
            <a:r>
              <a:t>Milestones, screen coverage and acceptance responsibilities.</a:t>
            </a:r>
          </a:p>
        </p:txBody>
      </p:sp>
      <p:sp>
        <p:nvSpPr>
          <p:cNvPr id="38" name="Rounded Rectangle 3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Every page footer returns to this contents page. Feature chips link related journeys.</a:t>
            </a:r>
          </a:p>
        </p:txBody>
      </p:sp>
      <p:sp>
        <p:nvSpPr>
          <p:cNvPr id="40" name="Rounded Rectangle 39">
            <a:hlinkClick action="ppaction://hlinksldjump" r:id="rId19"/>
          </p:cNvPr>
          <p:cNvSpPr/>
          <p:nvPr/>
        </p:nvSpPr>
        <p:spPr>
          <a:xfrm>
            <a:off x="640080" y="7104888"/>
            <a:ext cx="13350240" cy="365760"/>
          </a:xfrm>
          <a:prstGeom prst="roundRect">
            <a:avLst>
              <a:gd name="adj" fmla="val 10000"/>
            </a:avLst>
          </a:prstGeom>
          <a:solidFill>
            <a:srgbClr val="253854"/>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a:hlinkClick action="ppaction://hlinksldjump" r:id="rId19"/>
          </p:cNvPr>
          <p:cNvSpPr txBox="1"/>
          <p:nvPr/>
        </p:nvSpPr>
        <p:spPr>
          <a:xfrm>
            <a:off x="822960" y="7187184"/>
            <a:ext cx="12801600" cy="228600"/>
          </a:xfrm>
          <a:prstGeom prst="rect">
            <a:avLst/>
          </a:prstGeom>
          <a:noFill/>
        </p:spPr>
        <p:txBody>
          <a:bodyPr wrap="square" lIns="0" tIns="0" rIns="0" bIns="0">
            <a:spAutoFit/>
          </a:bodyPr>
          <a:lstStyle/>
          <a:p>
            <a:pPr algn="l">
              <a:spcAft>
                <a:spcPts val="200"/>
              </a:spcAft>
              <a:defRPr sz="1100" b="1">
                <a:solidFill>
                  <a:srgbClr val="62DAE8"/>
                </a:solidFill>
                <a:latin typeface="DejaVu Sans"/>
              </a:defRPr>
            </a:pPr>
            <a:r>
              <a:t>NEW  07  FEATURE CONNECTIVITY MIND MAPS   /   PAGES 51–58   /   SELECT TO EXPLORE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How every feature connects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Shared identity, content and permissions connect public discovery, daily use and community service.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5"/>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FEATURE ARCHITECTURE</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05 / 58</a:t>
            </a:r>
          </a:p>
        </p:txBody>
      </p:sp>
      <p:sp>
        <p:nvSpPr>
          <p:cNvPr id="14" name="Rounded Rectangle 13"/>
          <p:cNvSpPr/>
          <p:nvPr/>
        </p:nvSpPr>
        <p:spPr>
          <a:xfrm>
            <a:off x="5303520" y="3657600"/>
            <a:ext cx="4023360" cy="1325880"/>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9824" y="3803904"/>
            <a:ext cx="373075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MRM PLATFORM</a:t>
            </a:r>
          </a:p>
        </p:txBody>
      </p:sp>
      <p:sp>
        <p:nvSpPr>
          <p:cNvPr id="16" name="TextBox 15"/>
          <p:cNvSpPr txBox="1"/>
          <p:nvPr/>
        </p:nvSpPr>
        <p:spPr>
          <a:xfrm>
            <a:off x="5468112" y="4370832"/>
            <a:ext cx="3694176" cy="54864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Shared identity • permissions • content</a:t>
            </a:r>
          </a:p>
        </p:txBody>
      </p:sp>
      <p:sp>
        <p:nvSpPr>
          <p:cNvPr id="17" name="Rounded Rectangle 16">
            <a:hlinkClick action="ppaction://hlinksldjump" r:id="rId6"/>
          </p:cNvPr>
          <p:cNvSpPr/>
          <p:nvPr/>
        </p:nvSpPr>
        <p:spPr>
          <a:xfrm>
            <a:off x="640080" y="2423160"/>
            <a:ext cx="3657600" cy="1170432"/>
          </a:xfrm>
          <a:prstGeom prst="roundRect">
            <a:avLst>
              <a:gd name="adj" fmla="val 12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a:hlinkClick action="ppaction://hlinksldjump" r:id="rId6"/>
          </p:cNvPr>
          <p:cNvSpPr txBox="1"/>
          <p:nvPr/>
        </p:nvSpPr>
        <p:spPr>
          <a:xfrm>
            <a:off x="786384" y="2569464"/>
            <a:ext cx="33649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Islamic utilities</a:t>
            </a:r>
          </a:p>
        </p:txBody>
      </p:sp>
      <p:sp>
        <p:nvSpPr>
          <p:cNvPr id="19" name="TextBox 18"/>
          <p:cNvSpPr txBox="1"/>
          <p:nvPr/>
        </p:nvSpPr>
        <p:spPr>
          <a:xfrm>
            <a:off x="804671" y="3136391"/>
            <a:ext cx="332841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Prayer • Quran • Qibla • remembrance</a:t>
            </a:r>
          </a:p>
        </p:txBody>
      </p:sp>
      <p:sp>
        <p:nvSpPr>
          <p:cNvPr id="20" name="Rounded Rectangle 19">
            <a:hlinkClick action="ppaction://hlinksldjump" r:id="rId7"/>
          </p:cNvPr>
          <p:cNvSpPr/>
          <p:nvPr/>
        </p:nvSpPr>
        <p:spPr>
          <a:xfrm>
            <a:off x="10332720" y="2423160"/>
            <a:ext cx="3657600" cy="1170432"/>
          </a:xfrm>
          <a:prstGeom prst="roundRect">
            <a:avLst>
              <a:gd name="adj" fmla="val 12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7"/>
          </p:cNvPr>
          <p:cNvSpPr txBox="1"/>
          <p:nvPr/>
        </p:nvSpPr>
        <p:spPr>
          <a:xfrm>
            <a:off x="10479024" y="2569464"/>
            <a:ext cx="33649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Learning</a:t>
            </a:r>
          </a:p>
        </p:txBody>
      </p:sp>
      <p:sp>
        <p:nvSpPr>
          <p:cNvPr id="22" name="TextBox 21"/>
          <p:cNvSpPr txBox="1"/>
          <p:nvPr/>
        </p:nvSpPr>
        <p:spPr>
          <a:xfrm>
            <a:off x="10497312" y="3136391"/>
            <a:ext cx="332841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Teachers • classes • recordings</a:t>
            </a:r>
          </a:p>
        </p:txBody>
      </p:sp>
      <p:sp>
        <p:nvSpPr>
          <p:cNvPr id="23" name="Rounded Rectangle 22">
            <a:hlinkClick action="ppaction://hlinksldjump" r:id="rId8"/>
          </p:cNvPr>
          <p:cNvSpPr/>
          <p:nvPr/>
        </p:nvSpPr>
        <p:spPr>
          <a:xfrm>
            <a:off x="640080" y="5321808"/>
            <a:ext cx="3657600" cy="1170432"/>
          </a:xfrm>
          <a:prstGeom prst="roundRect">
            <a:avLst>
              <a:gd name="adj" fmla="val 12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8"/>
          </p:cNvPr>
          <p:cNvSpPr txBox="1"/>
          <p:nvPr/>
        </p:nvSpPr>
        <p:spPr>
          <a:xfrm>
            <a:off x="786384" y="5468112"/>
            <a:ext cx="33649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Community care</a:t>
            </a:r>
          </a:p>
        </p:txBody>
      </p:sp>
      <p:sp>
        <p:nvSpPr>
          <p:cNvPr id="25" name="TextBox 24"/>
          <p:cNvSpPr txBox="1"/>
          <p:nvPr/>
        </p:nvSpPr>
        <p:spPr>
          <a:xfrm>
            <a:off x="804671" y="6035040"/>
            <a:ext cx="332841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Requests • volunteers • zakat</a:t>
            </a:r>
          </a:p>
        </p:txBody>
      </p:sp>
      <p:sp>
        <p:nvSpPr>
          <p:cNvPr id="26" name="Rounded Rectangle 25">
            <a:hlinkClick action="ppaction://hlinksldjump" r:id="rId9"/>
          </p:cNvPr>
          <p:cNvSpPr/>
          <p:nvPr/>
        </p:nvSpPr>
        <p:spPr>
          <a:xfrm>
            <a:off x="10332720" y="5321808"/>
            <a:ext cx="3657600" cy="1170432"/>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a:hlinkClick action="ppaction://hlinksldjump" r:id="rId9"/>
          </p:cNvPr>
          <p:cNvSpPr txBox="1"/>
          <p:nvPr/>
        </p:nvSpPr>
        <p:spPr>
          <a:xfrm>
            <a:off x="10479024" y="5468112"/>
            <a:ext cx="33649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MRM operations</a:t>
            </a:r>
          </a:p>
        </p:txBody>
      </p:sp>
      <p:sp>
        <p:nvSpPr>
          <p:cNvPr id="28" name="TextBox 27"/>
          <p:cNvSpPr txBox="1"/>
          <p:nvPr/>
        </p:nvSpPr>
        <p:spPr>
          <a:xfrm>
            <a:off x="10497312" y="6035040"/>
            <a:ext cx="332841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Moderation • cases • reports</a:t>
            </a:r>
          </a:p>
        </p:txBody>
      </p:sp>
      <p:sp>
        <p:nvSpPr>
          <p:cNvPr id="29" name="Rounded Rectangle 28">
            <a:hlinkClick action="ppaction://hlinksldjump" r:id="rId10"/>
          </p:cNvPr>
          <p:cNvSpPr/>
          <p:nvPr/>
        </p:nvSpPr>
        <p:spPr>
          <a:xfrm>
            <a:off x="5303520" y="2395728"/>
            <a:ext cx="4023360" cy="1170432"/>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a:hlinkClick action="ppaction://hlinksldjump" r:id="rId10"/>
          </p:cNvPr>
          <p:cNvSpPr txBox="1"/>
          <p:nvPr/>
        </p:nvSpPr>
        <p:spPr>
          <a:xfrm>
            <a:off x="5449824" y="2542032"/>
            <a:ext cx="373075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Public website</a:t>
            </a:r>
          </a:p>
        </p:txBody>
      </p:sp>
      <p:sp>
        <p:nvSpPr>
          <p:cNvPr id="31" name="TextBox 30"/>
          <p:cNvSpPr txBox="1"/>
          <p:nvPr/>
        </p:nvSpPr>
        <p:spPr>
          <a:xfrm>
            <a:off x="5468112" y="3108960"/>
            <a:ext cx="369417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Discover • participate • download</a:t>
            </a:r>
          </a:p>
        </p:txBody>
      </p:sp>
      <p:sp>
        <p:nvSpPr>
          <p:cNvPr id="32" name="Rounded Rectangle 31">
            <a:hlinkClick action="ppaction://hlinksldjump" r:id="rId11"/>
          </p:cNvPr>
          <p:cNvSpPr/>
          <p:nvPr/>
        </p:nvSpPr>
        <p:spPr>
          <a:xfrm>
            <a:off x="5303520" y="5559552"/>
            <a:ext cx="4023360" cy="1170432"/>
          </a:xfrm>
          <a:prstGeom prst="roundRect">
            <a:avLst>
              <a:gd name="adj" fmla="val 12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a:hlinkClick action="ppaction://hlinksldjump" r:id="rId11"/>
          </p:cNvPr>
          <p:cNvSpPr txBox="1"/>
          <p:nvPr/>
        </p:nvSpPr>
        <p:spPr>
          <a:xfrm>
            <a:off x="5449824" y="5705856"/>
            <a:ext cx="373075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Sustainable support</a:t>
            </a:r>
          </a:p>
        </p:txBody>
      </p:sp>
      <p:sp>
        <p:nvSpPr>
          <p:cNvPr id="34" name="TextBox 33"/>
          <p:cNvSpPr txBox="1"/>
          <p:nvPr/>
        </p:nvSpPr>
        <p:spPr>
          <a:xfrm>
            <a:off x="5468112" y="6272784"/>
            <a:ext cx="3694176" cy="393192"/>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Teacher subscriptions • sponsors</a:t>
            </a:r>
          </a:p>
        </p:txBody>
      </p:sp>
      <p:cxnSp>
        <p:nvCxnSpPr>
          <p:cNvPr id="35" name="Connector 34"/>
          <p:cNvCxnSpPr/>
          <p:nvPr/>
        </p:nvCxnSpPr>
        <p:spPr>
          <a:xfrm>
            <a:off x="4297680" y="3108960"/>
            <a:ext cx="1005840" cy="82296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3108960"/>
            <a:ext cx="1005840" cy="82296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97680" y="4663440"/>
            <a:ext cx="1005840" cy="1097280"/>
          </a:xfrm>
          <a:prstGeom prst="line">
            <a:avLst/>
          </a:prstGeom>
          <a:ln w="20320">
            <a:solidFill>
              <a:srgbClr val="8DD8B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9326880" y="4663440"/>
            <a:ext cx="1005840" cy="109728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315200" y="3566160"/>
            <a:ext cx="0" cy="9144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315200" y="4983480"/>
            <a:ext cx="0" cy="576072"/>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Public information supports discovery; private records remain within authorised service journeys.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Complete feature landscape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proposed service scope and the supplied template functions are shown with their distinct purposes.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06 / 58</a:t>
            </a:r>
          </a:p>
        </p:txBody>
      </p:sp>
      <p:sp>
        <p:nvSpPr>
          <p:cNvPr id="14" name="Rounded Rectangle 13">
            <a:hlinkClick action="ppaction://hlinksldjump" r:id="rId12"/>
          </p:cNvPr>
          <p:cNvSpPr/>
          <p:nvPr/>
        </p:nvSpPr>
        <p:spPr>
          <a:xfrm>
            <a:off x="640080" y="2423160"/>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moon_E8C57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2"/>
          </p:cNvPr>
          <p:cNvSpPr txBox="1"/>
          <p:nvPr/>
        </p:nvSpPr>
        <p:spPr>
          <a:xfrm>
            <a:off x="1353312"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Daily Islamic practice</a:t>
            </a:r>
          </a:p>
        </p:txBody>
      </p:sp>
      <p:sp>
        <p:nvSpPr>
          <p:cNvPr id="17" name="TextBox 16"/>
          <p:cNvSpPr txBox="1"/>
          <p:nvPr/>
        </p:nvSpPr>
        <p:spPr>
          <a:xfrm>
            <a:off x="859536" y="3255264"/>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Prayer times • Qibla • Quran • dua • dhikr</a:t>
            </a:r>
          </a:p>
          <a:p>
            <a:pPr>
              <a:spcAft>
                <a:spcPts val="700"/>
              </a:spcAft>
              <a:defRPr sz="1400" b="0">
                <a:solidFill>
                  <a:srgbClr val="BBC8DF"/>
                </a:solidFill>
                <a:latin typeface="DejaVu Sans"/>
              </a:defRPr>
            </a:pPr>
            <a:r>
              <a:t>Hadith • Hijri/Ramadan • nearby mosques</a:t>
            </a:r>
          </a:p>
          <a:p>
            <a:pPr>
              <a:spcAft>
                <a:spcPts val="700"/>
              </a:spcAft>
              <a:defRPr sz="1400" b="0">
                <a:solidFill>
                  <a:srgbClr val="BBC8DF"/>
                </a:solidFill>
                <a:latin typeface="DejaVu Sans"/>
              </a:defRPr>
            </a:pPr>
            <a:r>
              <a:t>Informational zakat estimate</a:t>
            </a:r>
          </a:p>
        </p:txBody>
      </p:sp>
      <p:sp>
        <p:nvSpPr>
          <p:cNvPr id="18" name="Rounded Rectangle 17">
            <a:hlinkClick action="ppaction://hlinksldjump" r:id="rId13"/>
          </p:cNvPr>
          <p:cNvSpPr/>
          <p:nvPr/>
        </p:nvSpPr>
        <p:spPr>
          <a:xfrm>
            <a:off x="5157216" y="2423160"/>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heart_8DD8B1.png"/>
          <p:cNvPicPr>
            <a:picLocks noChangeAspect="1"/>
          </p:cNvPicPr>
          <p:nvPr/>
        </p:nvPicPr>
        <p:blipFill>
          <a:blip r:embed="rId6"/>
          <a:stretch>
            <a:fillRect/>
          </a:stretch>
        </p:blipFill>
        <p:spPr>
          <a:xfrm>
            <a:off x="5358383" y="2606040"/>
            <a:ext cx="384048" cy="384048"/>
          </a:xfrm>
          <a:prstGeom prst="rect">
            <a:avLst/>
          </a:prstGeom>
        </p:spPr>
      </p:pic>
      <p:sp>
        <p:nvSpPr>
          <p:cNvPr id="20" name="TextBox 19">
            <a:hlinkClick action="ppaction://hlinksldjump" r:id="rId13"/>
          </p:cNvPr>
          <p:cNvSpPr txBox="1"/>
          <p:nvPr/>
        </p:nvSpPr>
        <p:spPr>
          <a:xfrm>
            <a:off x="5870448"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Assistance &amp; volunteering</a:t>
            </a:r>
          </a:p>
        </p:txBody>
      </p:sp>
      <p:sp>
        <p:nvSpPr>
          <p:cNvPr id="21" name="TextBox 20"/>
          <p:cNvSpPr txBox="1"/>
          <p:nvPr/>
        </p:nvSpPr>
        <p:spPr>
          <a:xfrm>
            <a:off x="5376672" y="3255264"/>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Requests • alerts • assignment • case tracking</a:t>
            </a:r>
          </a:p>
          <a:p>
            <a:pPr>
              <a:spcAft>
                <a:spcPts val="700"/>
              </a:spcAft>
              <a:defRPr sz="1400" b="0">
                <a:solidFill>
                  <a:srgbClr val="BBC8DF"/>
                </a:solidFill>
                <a:latin typeface="DejaVu Sans"/>
              </a:defRPr>
            </a:pPr>
            <a:r>
              <a:t>Evidence review • online interview • discovery</a:t>
            </a:r>
          </a:p>
          <a:p>
            <a:pPr>
              <a:spcAft>
                <a:spcPts val="700"/>
              </a:spcAft>
              <a:defRPr sz="1400" b="0">
                <a:solidFill>
                  <a:srgbClr val="BBC8DF"/>
                </a:solidFill>
                <a:latin typeface="DejaVu Sans"/>
              </a:defRPr>
            </a:pPr>
            <a:r>
              <a:t>Gender access • ranks • safeguarding</a:t>
            </a:r>
          </a:p>
        </p:txBody>
      </p:sp>
      <p:sp>
        <p:nvSpPr>
          <p:cNvPr id="22" name="Rounded Rectangle 21">
            <a:hlinkClick action="ppaction://hlinksldjump" r:id="rId14"/>
          </p:cNvPr>
          <p:cNvSpPr/>
          <p:nvPr/>
        </p:nvSpPr>
        <p:spPr>
          <a:xfrm>
            <a:off x="9674351" y="2423160"/>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book_C2A3FF.png"/>
          <p:cNvPicPr>
            <a:picLocks noChangeAspect="1"/>
          </p:cNvPicPr>
          <p:nvPr/>
        </p:nvPicPr>
        <p:blipFill>
          <a:blip r:embed="rId7"/>
          <a:stretch>
            <a:fillRect/>
          </a:stretch>
        </p:blipFill>
        <p:spPr>
          <a:xfrm>
            <a:off x="9875519" y="2606040"/>
            <a:ext cx="384048" cy="384048"/>
          </a:xfrm>
          <a:prstGeom prst="rect">
            <a:avLst/>
          </a:prstGeom>
        </p:spPr>
      </p:pic>
      <p:sp>
        <p:nvSpPr>
          <p:cNvPr id="24" name="TextBox 23">
            <a:hlinkClick action="ppaction://hlinksldjump" r:id="rId14"/>
          </p:cNvPr>
          <p:cNvSpPr txBox="1"/>
          <p:nvPr/>
        </p:nvSpPr>
        <p:spPr>
          <a:xfrm>
            <a:off x="10387583" y="2606040"/>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Teachers &amp; learning</a:t>
            </a:r>
          </a:p>
        </p:txBody>
      </p:sp>
      <p:sp>
        <p:nvSpPr>
          <p:cNvPr id="25" name="TextBox 24"/>
          <p:cNvSpPr txBox="1"/>
          <p:nvPr/>
        </p:nvSpPr>
        <p:spPr>
          <a:xfrm>
            <a:off x="9893807" y="3255264"/>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Teacher approval • posts • teaching ads</a:t>
            </a:r>
          </a:p>
          <a:p>
            <a:pPr>
              <a:spcAft>
                <a:spcPts val="700"/>
              </a:spcAft>
              <a:defRPr sz="1400" b="0">
                <a:solidFill>
                  <a:srgbClr val="BBC8DF"/>
                </a:solidFill>
                <a:latin typeface="DejaVu Sans"/>
              </a:defRPr>
            </a:pPr>
            <a:r>
              <a:t>Teacher-only plans • verified entitlements</a:t>
            </a:r>
          </a:p>
          <a:p>
            <a:pPr>
              <a:spcAft>
                <a:spcPts val="700"/>
              </a:spcAft>
              <a:defRPr sz="1400" b="0">
                <a:solidFill>
                  <a:srgbClr val="BBC8DF"/>
                </a:solidFill>
                <a:latin typeface="DejaVu Sans"/>
              </a:defRPr>
            </a:pPr>
            <a:r>
              <a:t>Live sessions • recordings • classes/events</a:t>
            </a:r>
          </a:p>
        </p:txBody>
      </p:sp>
      <p:sp>
        <p:nvSpPr>
          <p:cNvPr id="26" name="Rounded Rectangle 25">
            <a:hlinkClick action="ppaction://hlinksldjump" r:id="rId15"/>
          </p:cNvPr>
          <p:cNvSpPr/>
          <p:nvPr/>
        </p:nvSpPr>
        <p:spPr>
          <a:xfrm>
            <a:off x="640080" y="4741164"/>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hield_62DAE8.png"/>
          <p:cNvPicPr>
            <a:picLocks noChangeAspect="1"/>
          </p:cNvPicPr>
          <p:nvPr/>
        </p:nvPicPr>
        <p:blipFill>
          <a:blip r:embed="rId8"/>
          <a:stretch>
            <a:fillRect/>
          </a:stretch>
        </p:blipFill>
        <p:spPr>
          <a:xfrm>
            <a:off x="841247" y="4924044"/>
            <a:ext cx="384048" cy="384048"/>
          </a:xfrm>
          <a:prstGeom prst="rect">
            <a:avLst/>
          </a:prstGeom>
        </p:spPr>
      </p:pic>
      <p:sp>
        <p:nvSpPr>
          <p:cNvPr id="28" name="TextBox 27">
            <a:hlinkClick action="ppaction://hlinksldjump" r:id="rId15"/>
          </p:cNvPr>
          <p:cNvSpPr txBox="1"/>
          <p:nvPr/>
        </p:nvSpPr>
        <p:spPr>
          <a:xfrm>
            <a:off x="1353312" y="492404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Zakat &amp; confidential support</a:t>
            </a:r>
          </a:p>
        </p:txBody>
      </p:sp>
      <p:sp>
        <p:nvSpPr>
          <p:cNvPr id="29" name="TextBox 28"/>
          <p:cNvSpPr txBox="1"/>
          <p:nvPr/>
        </p:nvSpPr>
        <p:spPr>
          <a:xfrm>
            <a:off x="859536" y="5573268"/>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Private faith/family intake • restricted staff</a:t>
            </a:r>
          </a:p>
          <a:p>
            <a:pPr>
              <a:spcAft>
                <a:spcPts val="700"/>
              </a:spcAft>
              <a:defRPr sz="1400" b="0">
                <a:solidFill>
                  <a:srgbClr val="BBC8DF"/>
                </a:solidFill>
                <a:latin typeface="DejaVu Sans"/>
              </a:defRPr>
            </a:pPr>
            <a:r>
              <a:t>Consent • review • referral • follow-up</a:t>
            </a:r>
          </a:p>
          <a:p>
            <a:pPr>
              <a:spcAft>
                <a:spcPts val="700"/>
              </a:spcAft>
              <a:defRPr sz="1400" b="0">
                <a:solidFill>
                  <a:srgbClr val="BBC8DF"/>
                </a:solidFill>
                <a:latin typeface="DejaVu Sans"/>
              </a:defRPr>
            </a:pPr>
            <a:r>
              <a:t>Authority-controlled eligibility/disbursement</a:t>
            </a:r>
          </a:p>
        </p:txBody>
      </p:sp>
      <p:sp>
        <p:nvSpPr>
          <p:cNvPr id="30" name="Rounded Rectangle 29">
            <a:hlinkClick action="ppaction://hlinksldjump" r:id="rId16"/>
          </p:cNvPr>
          <p:cNvSpPr/>
          <p:nvPr/>
        </p:nvSpPr>
        <p:spPr>
          <a:xfrm>
            <a:off x="5157216" y="4741164"/>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on_globe_62DAE8.png"/>
          <p:cNvPicPr>
            <a:picLocks noChangeAspect="1"/>
          </p:cNvPicPr>
          <p:nvPr/>
        </p:nvPicPr>
        <p:blipFill>
          <a:blip r:embed="rId9"/>
          <a:stretch>
            <a:fillRect/>
          </a:stretch>
        </p:blipFill>
        <p:spPr>
          <a:xfrm>
            <a:off x="5358383" y="4924044"/>
            <a:ext cx="384048" cy="384048"/>
          </a:xfrm>
          <a:prstGeom prst="rect">
            <a:avLst/>
          </a:prstGeom>
        </p:spPr>
      </p:pic>
      <p:sp>
        <p:nvSpPr>
          <p:cNvPr id="32" name="TextBox 31">
            <a:hlinkClick action="ppaction://hlinksldjump" r:id="rId16"/>
          </p:cNvPr>
          <p:cNvSpPr txBox="1"/>
          <p:nvPr/>
        </p:nvSpPr>
        <p:spPr>
          <a:xfrm>
            <a:off x="5870448" y="492404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Public engagement &amp; sponsors</a:t>
            </a:r>
          </a:p>
        </p:txBody>
      </p:sp>
      <p:sp>
        <p:nvSpPr>
          <p:cNvPr id="33" name="TextBox 32"/>
          <p:cNvSpPr txBox="1"/>
          <p:nvPr/>
        </p:nvSpPr>
        <p:spPr>
          <a:xfrm>
            <a:off x="5376672" y="5573268"/>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Website • participation routes • content</a:t>
            </a:r>
          </a:p>
          <a:p>
            <a:pPr>
              <a:spcAft>
                <a:spcPts val="700"/>
              </a:spcAft>
              <a:defRPr sz="1400" b="0">
                <a:solidFill>
                  <a:srgbClr val="BBC8DF"/>
                </a:solidFill>
                <a:latin typeface="DejaVu Sans"/>
              </a:defRPr>
            </a:pPr>
            <a:r>
              <a:t>Sponsor profiles • scheduled placements</a:t>
            </a:r>
          </a:p>
          <a:p>
            <a:pPr>
              <a:spcAft>
                <a:spcPts val="700"/>
              </a:spcAft>
              <a:defRPr sz="1400" b="0">
                <a:solidFill>
                  <a:srgbClr val="BBC8DF"/>
                </a:solidFill>
                <a:latin typeface="DejaVu Sans"/>
              </a:defRPr>
            </a:pPr>
            <a:r>
              <a:t>Recognition • aggregate performance</a:t>
            </a:r>
          </a:p>
        </p:txBody>
      </p:sp>
      <p:sp>
        <p:nvSpPr>
          <p:cNvPr id="34" name="Rounded Rectangle 33">
            <a:hlinkClick action="ppaction://hlinksldjump" r:id="rId17"/>
          </p:cNvPr>
          <p:cNvSpPr/>
          <p:nvPr/>
        </p:nvSpPr>
        <p:spPr>
          <a:xfrm>
            <a:off x="9674351" y="4741164"/>
            <a:ext cx="4315968" cy="211683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on_gear_C2A3FF.png"/>
          <p:cNvPicPr>
            <a:picLocks noChangeAspect="1"/>
          </p:cNvPicPr>
          <p:nvPr/>
        </p:nvPicPr>
        <p:blipFill>
          <a:blip r:embed="rId10"/>
          <a:stretch>
            <a:fillRect/>
          </a:stretch>
        </p:blipFill>
        <p:spPr>
          <a:xfrm>
            <a:off x="9875519" y="4924044"/>
            <a:ext cx="384048" cy="384048"/>
          </a:xfrm>
          <a:prstGeom prst="rect">
            <a:avLst/>
          </a:prstGeom>
        </p:spPr>
      </p:pic>
      <p:sp>
        <p:nvSpPr>
          <p:cNvPr id="36" name="TextBox 35">
            <a:hlinkClick action="ppaction://hlinksldjump" r:id="rId17"/>
          </p:cNvPr>
          <p:cNvSpPr txBox="1"/>
          <p:nvPr/>
        </p:nvSpPr>
        <p:spPr>
          <a:xfrm>
            <a:off x="10387583" y="4924044"/>
            <a:ext cx="342900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Operations &amp; template library</a:t>
            </a:r>
          </a:p>
        </p:txBody>
      </p:sp>
      <p:sp>
        <p:nvSpPr>
          <p:cNvPr id="37" name="TextBox 36"/>
          <p:cNvSpPr txBox="1"/>
          <p:nvPr/>
        </p:nvSpPr>
        <p:spPr>
          <a:xfrm>
            <a:off x="9893807" y="5573268"/>
            <a:ext cx="3877056" cy="116586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Accounts • permissions • audit • reports</a:t>
            </a:r>
          </a:p>
          <a:p>
            <a:pPr>
              <a:spcAft>
                <a:spcPts val="700"/>
              </a:spcAft>
              <a:defRPr sz="1400" b="0">
                <a:solidFill>
                  <a:srgbClr val="BBC8DF"/>
                </a:solidFill>
                <a:latin typeface="DejaVu Sans"/>
              </a:defRPr>
            </a:pPr>
            <a:r>
              <a:t>Categories • Sifat Names • Haram Codes</a:t>
            </a:r>
          </a:p>
          <a:p>
            <a:pPr>
              <a:spcAft>
                <a:spcPts val="700"/>
              </a:spcAft>
              <a:defRPr sz="1400" b="0">
                <a:solidFill>
                  <a:srgbClr val="BBC8DF"/>
                </a:solidFill>
                <a:latin typeface="DejaVu Sans"/>
              </a:defRPr>
            </a:pPr>
            <a:r>
              <a:t>Existing donation/payment configuration</a:t>
            </a:r>
          </a:p>
        </p:txBody>
      </p:sp>
      <p:sp>
        <p:nvSpPr>
          <p:cNvPr id="38" name="Rounded Rectangle 3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Marketplace excluded  •  Core participation stays free  •  Template-only functions are labelled on pages 40–41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 connected app journey</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Navigation keeps daily use, personal service and role-specific work within one coherent experience.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07 / 58</a:t>
            </a:r>
          </a:p>
        </p:txBody>
      </p:sp>
      <p:sp>
        <p:nvSpPr>
          <p:cNvPr id="14" name="Rounded Rectangle 13"/>
          <p:cNvSpPr/>
          <p:nvPr/>
        </p:nvSpPr>
        <p:spPr>
          <a:xfrm>
            <a:off x="640080" y="2514600"/>
            <a:ext cx="3076956" cy="23317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01</a:t>
            </a:r>
          </a:p>
        </p:txBody>
      </p:sp>
      <p:pic>
        <p:nvPicPr>
          <p:cNvPr id="16" name="Picture 15" descr="icon_moon_62DAE8.png"/>
          <p:cNvPicPr>
            <a:picLocks noChangeAspect="1"/>
          </p:cNvPicPr>
          <p:nvPr/>
        </p:nvPicPr>
        <p:blipFill>
          <a:blip r:embed="rId5"/>
          <a:stretch>
            <a:fillRect/>
          </a:stretch>
        </p:blipFill>
        <p:spPr>
          <a:xfrm>
            <a:off x="2967227" y="2688336"/>
            <a:ext cx="438912" cy="438912"/>
          </a:xfrm>
          <a:prstGeom prst="rect">
            <a:avLst/>
          </a:prstGeom>
        </p:spPr>
      </p:pic>
      <p:sp>
        <p:nvSpPr>
          <p:cNvPr id="17" name="TextBox 16"/>
          <p:cNvSpPr txBox="1"/>
          <p:nvPr/>
        </p:nvSpPr>
        <p:spPr>
          <a:xfrm>
            <a:off x="859536" y="334670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Open the app</a:t>
            </a:r>
          </a:p>
        </p:txBody>
      </p:sp>
      <p:sp>
        <p:nvSpPr>
          <p:cNvPr id="18" name="TextBox 17"/>
          <p:cNvSpPr txBox="1"/>
          <p:nvPr/>
        </p:nvSpPr>
        <p:spPr>
          <a:xfrm>
            <a:off x="859536" y="4023360"/>
            <a:ext cx="2638044" cy="7040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Daily tools and approved public resources.</a:t>
            </a:r>
          </a:p>
        </p:txBody>
      </p:sp>
      <p:cxnSp>
        <p:nvCxnSpPr>
          <p:cNvPr id="19" name="Connector 18"/>
          <p:cNvCxnSpPr/>
          <p:nvPr/>
        </p:nvCxnSpPr>
        <p:spPr>
          <a:xfrm>
            <a:off x="3753611" y="368046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14600"/>
            <a:ext cx="3076956" cy="23317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02</a:t>
            </a:r>
          </a:p>
        </p:txBody>
      </p:sp>
      <p:pic>
        <p:nvPicPr>
          <p:cNvPr id="22" name="Picture 21" descr="icon_route_62DAE8.png"/>
          <p:cNvPicPr>
            <a:picLocks noChangeAspect="1"/>
          </p:cNvPicPr>
          <p:nvPr/>
        </p:nvPicPr>
        <p:blipFill>
          <a:blip r:embed="rId6"/>
          <a:stretch>
            <a:fillRect/>
          </a:stretch>
        </p:blipFill>
        <p:spPr>
          <a:xfrm>
            <a:off x="6391655" y="2688336"/>
            <a:ext cx="438912" cy="438912"/>
          </a:xfrm>
          <a:prstGeom prst="rect">
            <a:avLst/>
          </a:prstGeom>
        </p:spPr>
      </p:pic>
      <p:sp>
        <p:nvSpPr>
          <p:cNvPr id="23" name="TextBox 22"/>
          <p:cNvSpPr txBox="1"/>
          <p:nvPr/>
        </p:nvSpPr>
        <p:spPr>
          <a:xfrm>
            <a:off x="4283964" y="334670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Choose a purpose</a:t>
            </a:r>
          </a:p>
        </p:txBody>
      </p:sp>
      <p:sp>
        <p:nvSpPr>
          <p:cNvPr id="24" name="TextBox 23"/>
          <p:cNvSpPr txBox="1"/>
          <p:nvPr/>
        </p:nvSpPr>
        <p:spPr>
          <a:xfrm>
            <a:off x="4283964" y="4023360"/>
            <a:ext cx="2638044" cy="7040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Learn, seek support or contribute.</a:t>
            </a:r>
          </a:p>
        </p:txBody>
      </p:sp>
      <p:cxnSp>
        <p:nvCxnSpPr>
          <p:cNvPr id="25" name="Connector 24"/>
          <p:cNvCxnSpPr/>
          <p:nvPr/>
        </p:nvCxnSpPr>
        <p:spPr>
          <a:xfrm>
            <a:off x="7178039" y="3680460"/>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14600"/>
            <a:ext cx="3076956" cy="23317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03</a:t>
            </a:r>
          </a:p>
        </p:txBody>
      </p:sp>
      <p:pic>
        <p:nvPicPr>
          <p:cNvPr id="28" name="Picture 27" descr="icon_lock_62DAE8.png"/>
          <p:cNvPicPr>
            <a:picLocks noChangeAspect="1"/>
          </p:cNvPicPr>
          <p:nvPr/>
        </p:nvPicPr>
        <p:blipFill>
          <a:blip r:embed="rId7"/>
          <a:stretch>
            <a:fillRect/>
          </a:stretch>
        </p:blipFill>
        <p:spPr>
          <a:xfrm>
            <a:off x="9816084" y="2688336"/>
            <a:ext cx="438912" cy="438912"/>
          </a:xfrm>
          <a:prstGeom prst="rect">
            <a:avLst/>
          </a:prstGeom>
        </p:spPr>
      </p:pic>
      <p:sp>
        <p:nvSpPr>
          <p:cNvPr id="29" name="TextBox 28"/>
          <p:cNvSpPr txBox="1"/>
          <p:nvPr/>
        </p:nvSpPr>
        <p:spPr>
          <a:xfrm>
            <a:off x="7708392" y="334670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Use the right access</a:t>
            </a:r>
          </a:p>
        </p:txBody>
      </p:sp>
      <p:sp>
        <p:nvSpPr>
          <p:cNvPr id="30" name="TextBox 29"/>
          <p:cNvSpPr txBox="1"/>
          <p:nvPr/>
        </p:nvSpPr>
        <p:spPr>
          <a:xfrm>
            <a:off x="7708392" y="4023360"/>
            <a:ext cx="2638044" cy="7040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Sign in; verified roles unlock relevant work.</a:t>
            </a:r>
          </a:p>
        </p:txBody>
      </p:sp>
      <p:cxnSp>
        <p:nvCxnSpPr>
          <p:cNvPr id="31" name="Connector 30"/>
          <p:cNvCxnSpPr/>
          <p:nvPr/>
        </p:nvCxnSpPr>
        <p:spPr>
          <a:xfrm>
            <a:off x="10602467" y="3680460"/>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14600"/>
            <a:ext cx="3076956" cy="23317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04</a:t>
            </a:r>
          </a:p>
        </p:txBody>
      </p:sp>
      <p:pic>
        <p:nvPicPr>
          <p:cNvPr id="34" name="Picture 33" descr="icon_clock_62DAE8.png"/>
          <p:cNvPicPr>
            <a:picLocks noChangeAspect="1"/>
          </p:cNvPicPr>
          <p:nvPr/>
        </p:nvPicPr>
        <p:blipFill>
          <a:blip r:embed="rId8"/>
          <a:stretch>
            <a:fillRect/>
          </a:stretch>
        </p:blipFill>
        <p:spPr>
          <a:xfrm>
            <a:off x="13240511" y="2688336"/>
            <a:ext cx="438912" cy="438912"/>
          </a:xfrm>
          <a:prstGeom prst="rect">
            <a:avLst/>
          </a:prstGeom>
        </p:spPr>
      </p:pic>
      <p:sp>
        <p:nvSpPr>
          <p:cNvPr id="35" name="TextBox 34"/>
          <p:cNvSpPr txBox="1"/>
          <p:nvPr/>
        </p:nvSpPr>
        <p:spPr>
          <a:xfrm>
            <a:off x="11132819" y="334670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Follow progress</a:t>
            </a:r>
          </a:p>
        </p:txBody>
      </p:sp>
      <p:sp>
        <p:nvSpPr>
          <p:cNvPr id="36" name="TextBox 35"/>
          <p:cNvSpPr txBox="1"/>
          <p:nvPr/>
        </p:nvSpPr>
        <p:spPr>
          <a:xfrm>
            <a:off x="11132819" y="4023360"/>
            <a:ext cx="2638044" cy="7040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Requests, applications and learning updates.</a:t>
            </a:r>
          </a:p>
        </p:txBody>
      </p:sp>
      <p:sp>
        <p:nvSpPr>
          <p:cNvPr id="37" name="Rounded Rectangle 36">
            <a:hlinkClick action="ppaction://hlinksldjump" r:id="rId10"/>
          </p:cNvPr>
          <p:cNvSpPr/>
          <p:nvPr/>
        </p:nvSpPr>
        <p:spPr>
          <a:xfrm>
            <a:off x="640080" y="5266944"/>
            <a:ext cx="4270248" cy="1463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route_62DAE8.png"/>
          <p:cNvPicPr>
            <a:picLocks noChangeAspect="1"/>
          </p:cNvPicPr>
          <p:nvPr/>
        </p:nvPicPr>
        <p:blipFill>
          <a:blip r:embed="rId6"/>
          <a:stretch>
            <a:fillRect/>
          </a:stretch>
        </p:blipFill>
        <p:spPr>
          <a:xfrm>
            <a:off x="841247" y="5449824"/>
            <a:ext cx="329184" cy="329184"/>
          </a:xfrm>
          <a:prstGeom prst="rect">
            <a:avLst/>
          </a:prstGeom>
        </p:spPr>
      </p:pic>
      <p:sp>
        <p:nvSpPr>
          <p:cNvPr id="39" name="TextBox 38">
            <a:hlinkClick action="ppaction://hlinksldjump" r:id="rId10"/>
          </p:cNvPr>
          <p:cNvSpPr txBox="1"/>
          <p:nvPr/>
        </p:nvSpPr>
        <p:spPr>
          <a:xfrm>
            <a:off x="1353312" y="5449824"/>
            <a:ext cx="338328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Home</a:t>
            </a:r>
          </a:p>
        </p:txBody>
      </p:sp>
      <p:sp>
        <p:nvSpPr>
          <p:cNvPr id="40" name="TextBox 39"/>
          <p:cNvSpPr txBox="1"/>
          <p:nvPr/>
        </p:nvSpPr>
        <p:spPr>
          <a:xfrm>
            <a:off x="859536" y="5907024"/>
            <a:ext cx="3831335" cy="7040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Daily value and service entry points</a:t>
            </a:r>
          </a:p>
        </p:txBody>
      </p:sp>
      <p:sp>
        <p:nvSpPr>
          <p:cNvPr id="41" name="Rounded Rectangle 40">
            <a:hlinkClick action="ppaction://hlinksldjump" r:id="rId11"/>
          </p:cNvPr>
          <p:cNvSpPr/>
          <p:nvPr/>
        </p:nvSpPr>
        <p:spPr>
          <a:xfrm>
            <a:off x="5175504" y="5266944"/>
            <a:ext cx="4270248" cy="1463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route_62DAE8.png"/>
          <p:cNvPicPr>
            <a:picLocks noChangeAspect="1"/>
          </p:cNvPicPr>
          <p:nvPr/>
        </p:nvPicPr>
        <p:blipFill>
          <a:blip r:embed="rId6"/>
          <a:stretch>
            <a:fillRect/>
          </a:stretch>
        </p:blipFill>
        <p:spPr>
          <a:xfrm>
            <a:off x="5376672" y="5449824"/>
            <a:ext cx="329184" cy="329184"/>
          </a:xfrm>
          <a:prstGeom prst="rect">
            <a:avLst/>
          </a:prstGeom>
        </p:spPr>
      </p:pic>
      <p:sp>
        <p:nvSpPr>
          <p:cNvPr id="43" name="TextBox 42">
            <a:hlinkClick action="ppaction://hlinksldjump" r:id="rId11"/>
          </p:cNvPr>
          <p:cNvSpPr txBox="1"/>
          <p:nvPr/>
        </p:nvSpPr>
        <p:spPr>
          <a:xfrm>
            <a:off x="5888736" y="5449824"/>
            <a:ext cx="338328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Services</a:t>
            </a:r>
          </a:p>
        </p:txBody>
      </p:sp>
      <p:sp>
        <p:nvSpPr>
          <p:cNvPr id="44" name="TextBox 43"/>
          <p:cNvSpPr txBox="1"/>
          <p:nvPr/>
        </p:nvSpPr>
        <p:spPr>
          <a:xfrm>
            <a:off x="5394960" y="5907024"/>
            <a:ext cx="3831335" cy="7040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Assistance, volunteering and learning</a:t>
            </a:r>
          </a:p>
        </p:txBody>
      </p:sp>
      <p:sp>
        <p:nvSpPr>
          <p:cNvPr id="45" name="Rounded Rectangle 44">
            <a:hlinkClick action="ppaction://hlinksldjump" r:id="rId12"/>
          </p:cNvPr>
          <p:cNvSpPr/>
          <p:nvPr/>
        </p:nvSpPr>
        <p:spPr>
          <a:xfrm>
            <a:off x="9720072" y="5266944"/>
            <a:ext cx="4270248" cy="1463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con_route_62DAE8.png"/>
          <p:cNvPicPr>
            <a:picLocks noChangeAspect="1"/>
          </p:cNvPicPr>
          <p:nvPr/>
        </p:nvPicPr>
        <p:blipFill>
          <a:blip r:embed="rId6"/>
          <a:stretch>
            <a:fillRect/>
          </a:stretch>
        </p:blipFill>
        <p:spPr>
          <a:xfrm>
            <a:off x="9921240" y="5449824"/>
            <a:ext cx="329184" cy="329184"/>
          </a:xfrm>
          <a:prstGeom prst="rect">
            <a:avLst/>
          </a:prstGeom>
        </p:spPr>
      </p:pic>
      <p:sp>
        <p:nvSpPr>
          <p:cNvPr id="47" name="TextBox 46">
            <a:hlinkClick action="ppaction://hlinksldjump" r:id="rId12"/>
          </p:cNvPr>
          <p:cNvSpPr txBox="1"/>
          <p:nvPr/>
        </p:nvSpPr>
        <p:spPr>
          <a:xfrm>
            <a:off x="10433304" y="5449824"/>
            <a:ext cx="3383280"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My account</a:t>
            </a:r>
          </a:p>
        </p:txBody>
      </p:sp>
      <p:sp>
        <p:nvSpPr>
          <p:cNvPr id="48" name="TextBox 47"/>
          <p:cNvSpPr txBox="1"/>
          <p:nvPr/>
        </p:nvSpPr>
        <p:spPr>
          <a:xfrm>
            <a:off x="9939528" y="5907024"/>
            <a:ext cx="3831335" cy="7040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Preferences and authorised role journeys</a:t>
            </a:r>
          </a:p>
        </p:txBody>
      </p:sp>
      <p:sp>
        <p:nvSpPr>
          <p:cNvPr id="49" name="Rounded Rectangle 48"/>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Daily tools ↔ learning  •  Services ↔ personal activity  •  Role changes ↔ authorised access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Entry, identity and session access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Brand introduction and authentication are separate stages in the user journey.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SCREENS + PROPOSED ACCOUNT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08 / 58</a:t>
            </a:r>
          </a:p>
        </p:txBody>
      </p:sp>
      <p:pic>
        <p:nvPicPr>
          <p:cNvPr id="14" name="Picture 13" descr="01_login.png"/>
          <p:cNvPicPr>
            <a:picLocks noChangeAspect="1"/>
          </p:cNvPicPr>
          <p:nvPr/>
        </p:nvPicPr>
        <p:blipFill>
          <a:blip r:embed="rId5"/>
          <a:stretch>
            <a:fillRect/>
          </a:stretch>
        </p:blipFill>
        <p:spPr>
          <a:xfrm>
            <a:off x="777240" y="2423160"/>
            <a:ext cx="2026617" cy="4133087"/>
          </a:xfrm>
          <a:prstGeom prst="rect">
            <a:avLst/>
          </a:prstGeom>
        </p:spPr>
      </p:pic>
      <p:sp>
        <p:nvSpPr>
          <p:cNvPr id="15" name="TextBox 14"/>
          <p:cNvSpPr txBox="1"/>
          <p:nvPr/>
        </p:nvSpPr>
        <p:spPr>
          <a:xfrm>
            <a:off x="594359" y="6629400"/>
            <a:ext cx="2392377"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Capture 01 · logo / splash</a:t>
            </a:r>
          </a:p>
        </p:txBody>
      </p:sp>
      <p:pic>
        <p:nvPicPr>
          <p:cNvPr id="16" name="Picture 15" descr="02_home.png"/>
          <p:cNvPicPr>
            <a:picLocks noChangeAspect="1"/>
          </p:cNvPicPr>
          <p:nvPr/>
        </p:nvPicPr>
        <p:blipFill>
          <a:blip r:embed="rId6"/>
          <a:stretch>
            <a:fillRect/>
          </a:stretch>
        </p:blipFill>
        <p:spPr>
          <a:xfrm>
            <a:off x="3063240" y="2423160"/>
            <a:ext cx="2026617" cy="4133087"/>
          </a:xfrm>
          <a:prstGeom prst="rect">
            <a:avLst/>
          </a:prstGeom>
        </p:spPr>
      </p:pic>
      <p:sp>
        <p:nvSpPr>
          <p:cNvPr id="17" name="TextBox 16"/>
          <p:cNvSpPr txBox="1"/>
          <p:nvPr/>
        </p:nvSpPr>
        <p:spPr>
          <a:xfrm>
            <a:off x="2880360" y="6629400"/>
            <a:ext cx="2392377"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Capture 02 · loading state</a:t>
            </a:r>
          </a:p>
        </p:txBody>
      </p:sp>
      <p:sp>
        <p:nvSpPr>
          <p:cNvPr id="18" name="Rounded Rectangle 17"/>
          <p:cNvSpPr/>
          <p:nvPr/>
        </p:nvSpPr>
        <p:spPr>
          <a:xfrm>
            <a:off x="5760720" y="2450592"/>
            <a:ext cx="4023360" cy="336499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0" y="2450592"/>
            <a:ext cx="402336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70448" y="2551176"/>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89320" y="2551176"/>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108192" y="2551176"/>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519172"/>
            <a:ext cx="288036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4" name="Picture 23" descr="01_login.png"/>
          <p:cNvPicPr>
            <a:picLocks noChangeAspect="1"/>
          </p:cNvPicPr>
          <p:nvPr/>
        </p:nvPicPr>
        <p:blipFill>
          <a:blip r:embed="rId7"/>
          <a:srcRect b="1273"/>
          <a:stretch>
            <a:fillRect/>
          </a:stretch>
        </p:blipFill>
        <p:spPr>
          <a:xfrm>
            <a:off x="5760720" y="2734056"/>
            <a:ext cx="4023360" cy="3081528"/>
          </a:xfrm>
          <a:prstGeom prst="rect">
            <a:avLst/>
          </a:prstGeom>
        </p:spPr>
      </p:pic>
      <p:sp>
        <p:nvSpPr>
          <p:cNvPr id="25" name="TextBox 24"/>
          <p:cNvSpPr txBox="1"/>
          <p:nvPr/>
        </p:nvSpPr>
        <p:spPr>
          <a:xfrm>
            <a:off x="5760720" y="5888736"/>
            <a:ext cx="402336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administration sign-in screen</a:t>
            </a:r>
          </a:p>
        </p:txBody>
      </p:sp>
      <p:sp>
        <p:nvSpPr>
          <p:cNvPr id="26" name="TextBox 25"/>
          <p:cNvSpPr txBox="1"/>
          <p:nvPr/>
        </p:nvSpPr>
        <p:spPr>
          <a:xfrm>
            <a:off x="10149840" y="2560320"/>
            <a:ext cx="3749039" cy="411480"/>
          </a:xfrm>
          <a:prstGeom prst="rect">
            <a:avLst/>
          </a:prstGeom>
          <a:noFill/>
        </p:spPr>
        <p:txBody>
          <a:bodyPr wrap="square" lIns="0" rIns="0" tIns="0" bIns="0">
            <a:spAutoFit/>
          </a:bodyPr>
          <a:lstStyle/>
          <a:p>
            <a:pPr>
              <a:spcAft>
                <a:spcPts val="700"/>
              </a:spcAft>
              <a:defRPr sz="2000" b="1">
                <a:solidFill>
                  <a:srgbClr val="F7F9FF"/>
                </a:solidFill>
                <a:latin typeface="DejaVu Sans"/>
              </a:defRPr>
            </a:pPr>
            <a:r>
              <a:t>Personal access</a:t>
            </a:r>
          </a:p>
        </p:txBody>
      </p:sp>
      <p:sp>
        <p:nvSpPr>
          <p:cNvPr id="27" name="TextBox 26"/>
          <p:cNvSpPr txBox="1"/>
          <p:nvPr/>
        </p:nvSpPr>
        <p:spPr>
          <a:xfrm>
            <a:off x="10149840" y="3154680"/>
            <a:ext cx="3749039" cy="1920240"/>
          </a:xfrm>
          <a:prstGeom prst="rect">
            <a:avLst/>
          </a:prstGeom>
          <a:noFill/>
        </p:spPr>
        <p:txBody>
          <a:bodyPr wrap="square" lIns="0" rIns="0" tIns="0" bIns="0">
            <a:spAutoFit/>
          </a:bodyPr>
          <a:lstStyle/>
          <a:p>
            <a:pPr>
              <a:spcAft>
                <a:spcPts val="700"/>
              </a:spcAft>
              <a:defRPr sz="1800" b="0">
                <a:solidFill>
                  <a:srgbClr val="BBC8DF"/>
                </a:solidFill>
                <a:latin typeface="DejaVu Sans"/>
              </a:defRPr>
            </a:pPr>
            <a:r>
              <a:t>Contact verification and recovery support personal records. Consent, location and notification choices remain explicit.</a:t>
            </a:r>
          </a:p>
        </p:txBody>
      </p:sp>
      <p:sp>
        <p:nvSpPr>
          <p:cNvPr id="28" name="TextBox 27"/>
          <p:cNvSpPr txBox="1"/>
          <p:nvPr/>
        </p:nvSpPr>
        <p:spPr>
          <a:xfrm>
            <a:off x="10149840" y="5330952"/>
            <a:ext cx="3749039" cy="914400"/>
          </a:xfrm>
          <a:prstGeom prst="rect">
            <a:avLst/>
          </a:prstGeom>
          <a:noFill/>
        </p:spPr>
        <p:txBody>
          <a:bodyPr wrap="square" lIns="0" rIns="0" tIns="0" bIns="0">
            <a:spAutoFit/>
          </a:bodyPr>
          <a:lstStyle/>
          <a:p>
            <a:pPr>
              <a:spcAft>
                <a:spcPts val="700"/>
              </a:spcAft>
              <a:defRPr sz="1500" b="0">
                <a:solidFill>
                  <a:srgbClr val="E8C578"/>
                </a:solidFill>
                <a:latin typeface="DejaVu Sans"/>
              </a:defRPr>
            </a:pPr>
            <a:r>
              <a:t>These mobile captures show entry states, not a completed sign-in form.</a:t>
            </a:r>
          </a:p>
        </p:txBody>
      </p:sp>
      <p:sp>
        <p:nvSpPr>
          <p:cNvPr id="29" name="Rounded Rectangle 28"/>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Identity → account → role eligibility → permitted records</a:t>
            </a:r>
          </a:p>
        </p:txBody>
      </p:sp>
      <p:sp>
        <p:nvSpPr>
          <p:cNvPr id="31" name="Rounded Rectangle 30">
            <a:hlinkClick action="ppaction://hlinksldjump" r:id="rId9"/>
          </p:cNvPr>
          <p:cNvSpPr/>
          <p:nvPr/>
        </p:nvSpPr>
        <p:spPr>
          <a:xfrm>
            <a:off x="685800" y="2084831"/>
            <a:ext cx="1237183"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9"/>
          </p:cNvPr>
          <p:cNvSpPr txBox="1"/>
          <p:nvPr/>
        </p:nvSpPr>
        <p:spPr>
          <a:xfrm>
            <a:off x="795528" y="2130551"/>
            <a:ext cx="1017727"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Account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Home: a clear route to participate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loaded home capture combines a welcome, help entry point, volunteer participation and recent activity.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MOBILE SCREEN + PROPOSED CONNECTIONS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09 / 58</a:t>
            </a:r>
          </a:p>
        </p:txBody>
      </p:sp>
      <p:pic>
        <p:nvPicPr>
          <p:cNvPr id="14" name="Picture 13" descr="09_loaded_alt.png"/>
          <p:cNvPicPr>
            <a:picLocks noChangeAspect="1"/>
          </p:cNvPicPr>
          <p:nvPr/>
        </p:nvPicPr>
        <p:blipFill>
          <a:blip r:embed="rId5"/>
          <a:stretch>
            <a:fillRect/>
          </a:stretch>
        </p:blipFill>
        <p:spPr>
          <a:xfrm>
            <a:off x="1097280" y="2331720"/>
            <a:ext cx="2161127" cy="4407408"/>
          </a:xfrm>
          <a:prstGeom prst="rect">
            <a:avLst/>
          </a:prstGeom>
        </p:spPr>
      </p:pic>
      <p:sp>
        <p:nvSpPr>
          <p:cNvPr id="15" name="TextBox 14"/>
          <p:cNvSpPr txBox="1"/>
          <p:nvPr/>
        </p:nvSpPr>
        <p:spPr>
          <a:xfrm>
            <a:off x="914400" y="6812280"/>
            <a:ext cx="2526887"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Provided loaded home screen</a:t>
            </a:r>
          </a:p>
        </p:txBody>
      </p:sp>
      <p:sp>
        <p:nvSpPr>
          <p:cNvPr id="16" name="Rounded Rectangle 15">
            <a:hlinkClick action="ppaction://hlinksldjump" r:id="rId10"/>
          </p:cNvPr>
          <p:cNvSpPr/>
          <p:nvPr/>
        </p:nvSpPr>
        <p:spPr>
          <a:xfrm>
            <a:off x="4160520" y="2423160"/>
            <a:ext cx="982980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moon_62DAE8.png"/>
          <p:cNvPicPr>
            <a:picLocks noChangeAspect="1"/>
          </p:cNvPicPr>
          <p:nvPr/>
        </p:nvPicPr>
        <p:blipFill>
          <a:blip r:embed="rId6"/>
          <a:stretch>
            <a:fillRect/>
          </a:stretch>
        </p:blipFill>
        <p:spPr>
          <a:xfrm>
            <a:off x="4361688" y="2606040"/>
            <a:ext cx="329184" cy="329184"/>
          </a:xfrm>
          <a:prstGeom prst="rect">
            <a:avLst/>
          </a:prstGeom>
        </p:spPr>
      </p:pic>
      <p:sp>
        <p:nvSpPr>
          <p:cNvPr id="18" name="TextBox 17">
            <a:hlinkClick action="ppaction://hlinksldjump" r:id="rId10"/>
          </p:cNvPr>
          <p:cNvSpPr txBox="1"/>
          <p:nvPr/>
        </p:nvSpPr>
        <p:spPr>
          <a:xfrm>
            <a:off x="4873752" y="2606040"/>
            <a:ext cx="894283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Daily value</a:t>
            </a:r>
          </a:p>
        </p:txBody>
      </p:sp>
      <p:sp>
        <p:nvSpPr>
          <p:cNvPr id="19" name="TextBox 18"/>
          <p:cNvSpPr txBox="1"/>
          <p:nvPr/>
        </p:nvSpPr>
        <p:spPr>
          <a:xfrm>
            <a:off x="4379976" y="3063239"/>
            <a:ext cx="939088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Connect Islamic tools and learning to recurring use.</a:t>
            </a:r>
          </a:p>
        </p:txBody>
      </p:sp>
      <p:sp>
        <p:nvSpPr>
          <p:cNvPr id="20" name="Rounded Rectangle 19">
            <a:hlinkClick action="ppaction://hlinksldjump" r:id="rId11"/>
          </p:cNvPr>
          <p:cNvSpPr/>
          <p:nvPr/>
        </p:nvSpPr>
        <p:spPr>
          <a:xfrm>
            <a:off x="4160520" y="3895344"/>
            <a:ext cx="982980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heart_62DAE8.png"/>
          <p:cNvPicPr>
            <a:picLocks noChangeAspect="1"/>
          </p:cNvPicPr>
          <p:nvPr/>
        </p:nvPicPr>
        <p:blipFill>
          <a:blip r:embed="rId7"/>
          <a:stretch>
            <a:fillRect/>
          </a:stretch>
        </p:blipFill>
        <p:spPr>
          <a:xfrm>
            <a:off x="4361688" y="4078224"/>
            <a:ext cx="329184" cy="329184"/>
          </a:xfrm>
          <a:prstGeom prst="rect">
            <a:avLst/>
          </a:prstGeom>
        </p:spPr>
      </p:pic>
      <p:sp>
        <p:nvSpPr>
          <p:cNvPr id="22" name="TextBox 21">
            <a:hlinkClick action="ppaction://hlinksldjump" r:id="rId11"/>
          </p:cNvPr>
          <p:cNvSpPr txBox="1"/>
          <p:nvPr/>
        </p:nvSpPr>
        <p:spPr>
          <a:xfrm>
            <a:off x="4873752" y="4078224"/>
            <a:ext cx="894283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Request assistance</a:t>
            </a:r>
          </a:p>
        </p:txBody>
      </p:sp>
      <p:sp>
        <p:nvSpPr>
          <p:cNvPr id="23" name="TextBox 22"/>
          <p:cNvSpPr txBox="1"/>
          <p:nvPr/>
        </p:nvSpPr>
        <p:spPr>
          <a:xfrm>
            <a:off x="4379976" y="4535424"/>
            <a:ext cx="939088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Open a safe intake route and follow your own case.</a:t>
            </a:r>
          </a:p>
        </p:txBody>
      </p:sp>
      <p:sp>
        <p:nvSpPr>
          <p:cNvPr id="24" name="Rounded Rectangle 23">
            <a:hlinkClick action="ppaction://hlinksldjump" r:id="rId12"/>
          </p:cNvPr>
          <p:cNvSpPr/>
          <p:nvPr/>
        </p:nvSpPr>
        <p:spPr>
          <a:xfrm>
            <a:off x="4160520" y="5367528"/>
            <a:ext cx="982980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on_people_62DAE8.png"/>
          <p:cNvPicPr>
            <a:picLocks noChangeAspect="1"/>
          </p:cNvPicPr>
          <p:nvPr/>
        </p:nvPicPr>
        <p:blipFill>
          <a:blip r:embed="rId8"/>
          <a:stretch>
            <a:fillRect/>
          </a:stretch>
        </p:blipFill>
        <p:spPr>
          <a:xfrm>
            <a:off x="4361688" y="5550408"/>
            <a:ext cx="329184" cy="329184"/>
          </a:xfrm>
          <a:prstGeom prst="rect">
            <a:avLst/>
          </a:prstGeom>
        </p:spPr>
      </p:pic>
      <p:sp>
        <p:nvSpPr>
          <p:cNvPr id="26" name="TextBox 25">
            <a:hlinkClick action="ppaction://hlinksldjump" r:id="rId12"/>
          </p:cNvPr>
          <p:cNvSpPr txBox="1"/>
          <p:nvPr/>
        </p:nvSpPr>
        <p:spPr>
          <a:xfrm>
            <a:off x="4873752" y="5550408"/>
            <a:ext cx="894283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Volunteer with MRM</a:t>
            </a:r>
          </a:p>
        </p:txBody>
      </p:sp>
      <p:sp>
        <p:nvSpPr>
          <p:cNvPr id="27" name="TextBox 26"/>
          <p:cNvSpPr txBox="1"/>
          <p:nvPr/>
        </p:nvSpPr>
        <p:spPr>
          <a:xfrm>
            <a:off x="4379976" y="6007608"/>
            <a:ext cx="939088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Apply, verify and contribute to suitable service.</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Home → daily tools [32]  •  Home → requests [13]  •  Home → volunteer onboarding [15]</a:t>
            </a:r>
          </a:p>
        </p:txBody>
      </p:sp>
      <p:sp>
        <p:nvSpPr>
          <p:cNvPr id="30" name="Rounded Rectangle 29">
            <a:hlinkClick action="ppaction://hlinksldjump" r:id="rId11"/>
          </p:cNvPr>
          <p:cNvSpPr/>
          <p:nvPr/>
        </p:nvSpPr>
        <p:spPr>
          <a:xfrm>
            <a:off x="685800" y="2084831"/>
            <a:ext cx="1459382"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11"/>
          </p:cNvPr>
          <p:cNvSpPr txBox="1"/>
          <p:nvPr/>
        </p:nvSpPr>
        <p:spPr>
          <a:xfrm>
            <a:off x="795528" y="2130551"/>
            <a:ext cx="1239926"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Assistance  › 13</a:t>
            </a:r>
          </a:p>
        </p:txBody>
      </p:sp>
      <p:sp>
        <p:nvSpPr>
          <p:cNvPr id="32" name="Rounded Rectangle 31">
            <a:hlinkClick action="ppaction://hlinksldjump" r:id="rId10"/>
          </p:cNvPr>
          <p:cNvSpPr/>
          <p:nvPr/>
        </p:nvSpPr>
        <p:spPr>
          <a:xfrm>
            <a:off x="2291486" y="2084831"/>
            <a:ext cx="1533448"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a:hlinkClick action="ppaction://hlinksldjump" r:id="rId10"/>
          </p:cNvPr>
          <p:cNvSpPr txBox="1"/>
          <p:nvPr/>
        </p:nvSpPr>
        <p:spPr>
          <a:xfrm>
            <a:off x="2401214" y="2130551"/>
            <a:ext cx="1313992"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Daily tools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Services: clear paths into community care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supplied service captures show help, volunteering, assignments and learning entry points.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MOBILE SCREENS + PROPOSED ROUTING</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10 / 58</a:t>
            </a:r>
          </a:p>
        </p:txBody>
      </p:sp>
      <p:pic>
        <p:nvPicPr>
          <p:cNvPr id="14" name="Picture 13" descr="03_services.png"/>
          <p:cNvPicPr>
            <a:picLocks noChangeAspect="1"/>
          </p:cNvPicPr>
          <p:nvPr/>
        </p:nvPicPr>
        <p:blipFill>
          <a:blip r:embed="rId5"/>
          <a:stretch>
            <a:fillRect/>
          </a:stretch>
        </p:blipFill>
        <p:spPr>
          <a:xfrm>
            <a:off x="822960" y="2423160"/>
            <a:ext cx="2040068" cy="4160520"/>
          </a:xfrm>
          <a:prstGeom prst="rect">
            <a:avLst/>
          </a:prstGeom>
        </p:spPr>
      </p:pic>
      <p:sp>
        <p:nvSpPr>
          <p:cNvPr id="15" name="TextBox 14"/>
          <p:cNvSpPr txBox="1"/>
          <p:nvPr/>
        </p:nvSpPr>
        <p:spPr>
          <a:xfrm>
            <a:off x="640080" y="6656831"/>
            <a:ext cx="2405828"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Capture 03 · service hub</a:t>
            </a:r>
          </a:p>
        </p:txBody>
      </p:sp>
      <p:pic>
        <p:nvPicPr>
          <p:cNvPr id="16" name="Picture 15" descr="06_help_requests.png"/>
          <p:cNvPicPr>
            <a:picLocks noChangeAspect="1"/>
          </p:cNvPicPr>
          <p:nvPr/>
        </p:nvPicPr>
        <p:blipFill>
          <a:blip r:embed="rId6"/>
          <a:stretch>
            <a:fillRect/>
          </a:stretch>
        </p:blipFill>
        <p:spPr>
          <a:xfrm>
            <a:off x="3108960" y="2423160"/>
            <a:ext cx="2040068" cy="4160520"/>
          </a:xfrm>
          <a:prstGeom prst="rect">
            <a:avLst/>
          </a:prstGeom>
        </p:spPr>
      </p:pic>
      <p:sp>
        <p:nvSpPr>
          <p:cNvPr id="17" name="TextBox 16"/>
          <p:cNvSpPr txBox="1"/>
          <p:nvPr/>
        </p:nvSpPr>
        <p:spPr>
          <a:xfrm>
            <a:off x="2926079" y="6656831"/>
            <a:ext cx="2405828"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Capture 06 · same hub state</a:t>
            </a:r>
          </a:p>
        </p:txBody>
      </p:sp>
      <p:sp>
        <p:nvSpPr>
          <p:cNvPr id="18" name="Rounded Rectangle 17">
            <a:hlinkClick action="ppaction://hlinksldjump" r:id="rId9"/>
          </p:cNvPr>
          <p:cNvSpPr/>
          <p:nvPr/>
        </p:nvSpPr>
        <p:spPr>
          <a:xfrm>
            <a:off x="5943600" y="2468880"/>
            <a:ext cx="804672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route_62DAE8.png"/>
          <p:cNvPicPr>
            <a:picLocks noChangeAspect="1"/>
          </p:cNvPicPr>
          <p:nvPr/>
        </p:nvPicPr>
        <p:blipFill>
          <a:blip r:embed="rId7"/>
          <a:stretch>
            <a:fillRect/>
          </a:stretch>
        </p:blipFill>
        <p:spPr>
          <a:xfrm>
            <a:off x="6144768" y="2651760"/>
            <a:ext cx="329184" cy="329184"/>
          </a:xfrm>
          <a:prstGeom prst="rect">
            <a:avLst/>
          </a:prstGeom>
        </p:spPr>
      </p:pic>
      <p:sp>
        <p:nvSpPr>
          <p:cNvPr id="20" name="TextBox 19">
            <a:hlinkClick action="ppaction://hlinksldjump" r:id="rId9"/>
          </p:cNvPr>
          <p:cNvSpPr txBox="1"/>
          <p:nvPr/>
        </p:nvSpPr>
        <p:spPr>
          <a:xfrm>
            <a:off x="6656832" y="2651760"/>
            <a:ext cx="715975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Help &amp; support</a:t>
            </a:r>
          </a:p>
        </p:txBody>
      </p:sp>
      <p:sp>
        <p:nvSpPr>
          <p:cNvPr id="21" name="TextBox 20"/>
          <p:cNvSpPr txBox="1"/>
          <p:nvPr/>
        </p:nvSpPr>
        <p:spPr>
          <a:xfrm>
            <a:off x="6163056" y="3108960"/>
            <a:ext cx="760780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Private intake with triage and controlled follow-up.</a:t>
            </a:r>
          </a:p>
        </p:txBody>
      </p:sp>
      <p:sp>
        <p:nvSpPr>
          <p:cNvPr id="22" name="Rounded Rectangle 21">
            <a:hlinkClick action="ppaction://hlinksldjump" r:id="rId10"/>
          </p:cNvPr>
          <p:cNvSpPr/>
          <p:nvPr/>
        </p:nvSpPr>
        <p:spPr>
          <a:xfrm>
            <a:off x="5943600" y="3922776"/>
            <a:ext cx="804672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route_62DAE8.png"/>
          <p:cNvPicPr>
            <a:picLocks noChangeAspect="1"/>
          </p:cNvPicPr>
          <p:nvPr/>
        </p:nvPicPr>
        <p:blipFill>
          <a:blip r:embed="rId7"/>
          <a:stretch>
            <a:fillRect/>
          </a:stretch>
        </p:blipFill>
        <p:spPr>
          <a:xfrm>
            <a:off x="6144768" y="4105656"/>
            <a:ext cx="329184" cy="329184"/>
          </a:xfrm>
          <a:prstGeom prst="rect">
            <a:avLst/>
          </a:prstGeom>
        </p:spPr>
      </p:pic>
      <p:sp>
        <p:nvSpPr>
          <p:cNvPr id="24" name="TextBox 23">
            <a:hlinkClick action="ppaction://hlinksldjump" r:id="rId10"/>
          </p:cNvPr>
          <p:cNvSpPr txBox="1"/>
          <p:nvPr/>
        </p:nvSpPr>
        <p:spPr>
          <a:xfrm>
            <a:off x="6656832" y="4105656"/>
            <a:ext cx="715975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Volunteer &amp; assignments</a:t>
            </a:r>
          </a:p>
        </p:txBody>
      </p:sp>
      <p:sp>
        <p:nvSpPr>
          <p:cNvPr id="25" name="TextBox 24"/>
          <p:cNvSpPr txBox="1"/>
          <p:nvPr/>
        </p:nvSpPr>
        <p:spPr>
          <a:xfrm>
            <a:off x="6163056" y="4562856"/>
            <a:ext cx="760780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Verification precedes eligible work and assigned access.</a:t>
            </a:r>
          </a:p>
        </p:txBody>
      </p:sp>
      <p:sp>
        <p:nvSpPr>
          <p:cNvPr id="26" name="Rounded Rectangle 25">
            <a:hlinkClick action="ppaction://hlinksldjump" r:id="rId11"/>
          </p:cNvPr>
          <p:cNvSpPr/>
          <p:nvPr/>
        </p:nvSpPr>
        <p:spPr>
          <a:xfrm>
            <a:off x="5943600" y="5376672"/>
            <a:ext cx="804672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route_62DAE8.png"/>
          <p:cNvPicPr>
            <a:picLocks noChangeAspect="1"/>
          </p:cNvPicPr>
          <p:nvPr/>
        </p:nvPicPr>
        <p:blipFill>
          <a:blip r:embed="rId7"/>
          <a:stretch>
            <a:fillRect/>
          </a:stretch>
        </p:blipFill>
        <p:spPr>
          <a:xfrm>
            <a:off x="6144768" y="5559552"/>
            <a:ext cx="329184" cy="329184"/>
          </a:xfrm>
          <a:prstGeom prst="rect">
            <a:avLst/>
          </a:prstGeom>
        </p:spPr>
      </p:pic>
      <p:sp>
        <p:nvSpPr>
          <p:cNvPr id="28" name="TextBox 27">
            <a:hlinkClick action="ppaction://hlinksldjump" r:id="rId11"/>
          </p:cNvPr>
          <p:cNvSpPr txBox="1"/>
          <p:nvPr/>
        </p:nvSpPr>
        <p:spPr>
          <a:xfrm>
            <a:off x="6656832" y="5559552"/>
            <a:ext cx="715975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Learning &amp; events</a:t>
            </a:r>
          </a:p>
        </p:txBody>
      </p:sp>
      <p:sp>
        <p:nvSpPr>
          <p:cNvPr id="29" name="TextBox 28"/>
          <p:cNvSpPr txBox="1"/>
          <p:nvPr/>
        </p:nvSpPr>
        <p:spPr>
          <a:xfrm>
            <a:off x="6163056" y="6016752"/>
            <a:ext cx="760780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Discover approved programmes and participation details.</a:t>
            </a:r>
          </a:p>
        </p:txBody>
      </p:sp>
      <p:sp>
        <p:nvSpPr>
          <p:cNvPr id="30" name="Rounded Rectangle 29"/>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 service-menu capture does not demonstrate the request form, assignment detail or learning flow.</a:t>
            </a:r>
          </a:p>
        </p:txBody>
      </p:sp>
      <p:sp>
        <p:nvSpPr>
          <p:cNvPr id="32" name="Rounded Rectangle 31">
            <a:hlinkClick action="ppaction://hlinksldjump" r:id="rId10"/>
          </p:cNvPr>
          <p:cNvSpPr/>
          <p:nvPr/>
        </p:nvSpPr>
        <p:spPr>
          <a:xfrm>
            <a:off x="685800" y="2084831"/>
            <a:ext cx="1385316"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a:hlinkClick action="ppaction://hlinksldjump" r:id="rId10"/>
          </p:cNvPr>
          <p:cNvSpPr txBox="1"/>
          <p:nvPr/>
        </p:nvSpPr>
        <p:spPr>
          <a:xfrm>
            <a:off x="795528" y="2130551"/>
            <a:ext cx="1165860"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Volunteer  › 15</a:t>
            </a:r>
          </a:p>
        </p:txBody>
      </p:sp>
      <p:sp>
        <p:nvSpPr>
          <p:cNvPr id="34" name="Rounded Rectangle 33">
            <a:hlinkClick action="ppaction://hlinksldjump" r:id="rId11"/>
          </p:cNvPr>
          <p:cNvSpPr/>
          <p:nvPr/>
        </p:nvSpPr>
        <p:spPr>
          <a:xfrm>
            <a:off x="2217420" y="2084831"/>
            <a:ext cx="1311249"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action="ppaction://hlinksldjump" r:id="rId11"/>
          </p:cNvPr>
          <p:cNvSpPr txBox="1"/>
          <p:nvPr/>
        </p:nvSpPr>
        <p:spPr>
          <a:xfrm>
            <a:off x="2327148" y="2130551"/>
            <a:ext cx="1091793"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Activity: a personal service timeline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current capture is an empty state; the proposed journey connects it to meaningful updates.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0"/>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EMPTY STATE + PROPOSED STATUS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11 / 58</a:t>
            </a:r>
          </a:p>
        </p:txBody>
      </p:sp>
      <p:pic>
        <p:nvPicPr>
          <p:cNvPr id="14" name="Picture 13" descr="04_activity.png"/>
          <p:cNvPicPr>
            <a:picLocks noChangeAspect="1"/>
          </p:cNvPicPr>
          <p:nvPr/>
        </p:nvPicPr>
        <p:blipFill>
          <a:blip r:embed="rId5"/>
          <a:stretch>
            <a:fillRect/>
          </a:stretch>
        </p:blipFill>
        <p:spPr>
          <a:xfrm>
            <a:off x="1097280" y="2377440"/>
            <a:ext cx="2116291" cy="4315968"/>
          </a:xfrm>
          <a:prstGeom prst="rect">
            <a:avLst/>
          </a:prstGeom>
        </p:spPr>
      </p:pic>
      <p:sp>
        <p:nvSpPr>
          <p:cNvPr id="15" name="TextBox 14"/>
          <p:cNvSpPr txBox="1"/>
          <p:nvPr/>
        </p:nvSpPr>
        <p:spPr>
          <a:xfrm>
            <a:off x="914400" y="6766560"/>
            <a:ext cx="2482050"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Provided activity screen · empty state</a:t>
            </a:r>
          </a:p>
        </p:txBody>
      </p:sp>
      <p:sp>
        <p:nvSpPr>
          <p:cNvPr id="16" name="Rounded Rectangle 15">
            <a:hlinkClick action="ppaction://hlinksldjump" r:id="rId11"/>
          </p:cNvPr>
          <p:cNvSpPr/>
          <p:nvPr/>
        </p:nvSpPr>
        <p:spPr>
          <a:xfrm>
            <a:off x="4206240" y="2468880"/>
            <a:ext cx="4727448" cy="18288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heart_8DD8B1.png"/>
          <p:cNvPicPr>
            <a:picLocks noChangeAspect="1"/>
          </p:cNvPicPr>
          <p:nvPr/>
        </p:nvPicPr>
        <p:blipFill>
          <a:blip r:embed="rId6"/>
          <a:stretch>
            <a:fillRect/>
          </a:stretch>
        </p:blipFill>
        <p:spPr>
          <a:xfrm>
            <a:off x="4407407" y="2651760"/>
            <a:ext cx="384048" cy="384048"/>
          </a:xfrm>
          <a:prstGeom prst="rect">
            <a:avLst/>
          </a:prstGeom>
        </p:spPr>
      </p:pic>
      <p:sp>
        <p:nvSpPr>
          <p:cNvPr id="18" name="TextBox 17">
            <a:hlinkClick action="ppaction://hlinksldjump" r:id="rId11"/>
          </p:cNvPr>
          <p:cNvSpPr txBox="1"/>
          <p:nvPr/>
        </p:nvSpPr>
        <p:spPr>
          <a:xfrm>
            <a:off x="4919472" y="2651760"/>
            <a:ext cx="3840480"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Requests &amp; referrals</a:t>
            </a:r>
          </a:p>
        </p:txBody>
      </p:sp>
      <p:sp>
        <p:nvSpPr>
          <p:cNvPr id="19" name="TextBox 18"/>
          <p:cNvSpPr txBox="1"/>
          <p:nvPr/>
        </p:nvSpPr>
        <p:spPr>
          <a:xfrm>
            <a:off x="4425696" y="3300984"/>
            <a:ext cx="4288536" cy="877823"/>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Acknowledgement, assignment changes and referral progress visible to the person concerned.</a:t>
            </a:r>
          </a:p>
        </p:txBody>
      </p:sp>
      <p:sp>
        <p:nvSpPr>
          <p:cNvPr id="20" name="Rounded Rectangle 19">
            <a:hlinkClick action="ppaction://hlinksldjump" r:id="rId12"/>
          </p:cNvPr>
          <p:cNvSpPr/>
          <p:nvPr/>
        </p:nvSpPr>
        <p:spPr>
          <a:xfrm>
            <a:off x="9162288" y="2468880"/>
            <a:ext cx="4828032" cy="18288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people_62DAE8.png"/>
          <p:cNvPicPr>
            <a:picLocks noChangeAspect="1"/>
          </p:cNvPicPr>
          <p:nvPr/>
        </p:nvPicPr>
        <p:blipFill>
          <a:blip r:embed="rId7"/>
          <a:stretch>
            <a:fillRect/>
          </a:stretch>
        </p:blipFill>
        <p:spPr>
          <a:xfrm>
            <a:off x="9363456" y="2651760"/>
            <a:ext cx="384048" cy="384048"/>
          </a:xfrm>
          <a:prstGeom prst="rect">
            <a:avLst/>
          </a:prstGeom>
        </p:spPr>
      </p:pic>
      <p:sp>
        <p:nvSpPr>
          <p:cNvPr id="22" name="TextBox 21">
            <a:hlinkClick action="ppaction://hlinksldjump" r:id="rId12"/>
          </p:cNvPr>
          <p:cNvSpPr txBox="1"/>
          <p:nvPr/>
        </p:nvSpPr>
        <p:spPr>
          <a:xfrm>
            <a:off x="9875519" y="2651760"/>
            <a:ext cx="3941064"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Applications &amp; service</a:t>
            </a:r>
          </a:p>
        </p:txBody>
      </p:sp>
      <p:sp>
        <p:nvSpPr>
          <p:cNvPr id="23" name="TextBox 22"/>
          <p:cNvSpPr txBox="1"/>
          <p:nvPr/>
        </p:nvSpPr>
        <p:spPr>
          <a:xfrm>
            <a:off x="9381744" y="3300984"/>
            <a:ext cx="4389120" cy="877823"/>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Verification outcomes and authorised assignment updates with a clear next action.</a:t>
            </a:r>
          </a:p>
        </p:txBody>
      </p:sp>
      <p:sp>
        <p:nvSpPr>
          <p:cNvPr id="24" name="Rounded Rectangle 23">
            <a:hlinkClick action="ppaction://hlinksldjump" r:id="rId13"/>
          </p:cNvPr>
          <p:cNvSpPr/>
          <p:nvPr/>
        </p:nvSpPr>
        <p:spPr>
          <a:xfrm>
            <a:off x="4206240" y="4572000"/>
            <a:ext cx="4727448" cy="18288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on_book_C2A3FF.png"/>
          <p:cNvPicPr>
            <a:picLocks noChangeAspect="1"/>
          </p:cNvPicPr>
          <p:nvPr/>
        </p:nvPicPr>
        <p:blipFill>
          <a:blip r:embed="rId8"/>
          <a:stretch>
            <a:fillRect/>
          </a:stretch>
        </p:blipFill>
        <p:spPr>
          <a:xfrm>
            <a:off x="4407407" y="4754880"/>
            <a:ext cx="384048" cy="384048"/>
          </a:xfrm>
          <a:prstGeom prst="rect">
            <a:avLst/>
          </a:prstGeom>
        </p:spPr>
      </p:pic>
      <p:sp>
        <p:nvSpPr>
          <p:cNvPr id="26" name="TextBox 25">
            <a:hlinkClick action="ppaction://hlinksldjump" r:id="rId13"/>
          </p:cNvPr>
          <p:cNvSpPr txBox="1"/>
          <p:nvPr/>
        </p:nvSpPr>
        <p:spPr>
          <a:xfrm>
            <a:off x="4919472" y="4754880"/>
            <a:ext cx="3840480"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Learning updates</a:t>
            </a:r>
          </a:p>
        </p:txBody>
      </p:sp>
      <p:sp>
        <p:nvSpPr>
          <p:cNvPr id="27" name="TextBox 26"/>
          <p:cNvSpPr txBox="1"/>
          <p:nvPr/>
        </p:nvSpPr>
        <p:spPr>
          <a:xfrm>
            <a:off x="4425696" y="5404104"/>
            <a:ext cx="4288536" cy="877823"/>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Class reminders and relevant publication updates link to approved content.</a:t>
            </a:r>
          </a:p>
        </p:txBody>
      </p:sp>
      <p:sp>
        <p:nvSpPr>
          <p:cNvPr id="28" name="Rounded Rectangle 27">
            <a:hlinkClick action="ppaction://hlinksldjump" r:id="rId14"/>
          </p:cNvPr>
          <p:cNvSpPr/>
          <p:nvPr/>
        </p:nvSpPr>
        <p:spPr>
          <a:xfrm>
            <a:off x="9162288" y="4572000"/>
            <a:ext cx="4828032" cy="18288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on_bell_E8C578.png"/>
          <p:cNvPicPr>
            <a:picLocks noChangeAspect="1"/>
          </p:cNvPicPr>
          <p:nvPr/>
        </p:nvPicPr>
        <p:blipFill>
          <a:blip r:embed="rId9"/>
          <a:stretch>
            <a:fillRect/>
          </a:stretch>
        </p:blipFill>
        <p:spPr>
          <a:xfrm>
            <a:off x="9363456" y="4754880"/>
            <a:ext cx="384048" cy="384048"/>
          </a:xfrm>
          <a:prstGeom prst="rect">
            <a:avLst/>
          </a:prstGeom>
        </p:spPr>
      </p:pic>
      <p:sp>
        <p:nvSpPr>
          <p:cNvPr id="30" name="TextBox 29">
            <a:hlinkClick action="ppaction://hlinksldjump" r:id="rId14"/>
          </p:cNvPr>
          <p:cNvSpPr txBox="1"/>
          <p:nvPr/>
        </p:nvSpPr>
        <p:spPr>
          <a:xfrm>
            <a:off x="9875519" y="4754880"/>
            <a:ext cx="3941064"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Controlled notifications</a:t>
            </a:r>
          </a:p>
        </p:txBody>
      </p:sp>
      <p:sp>
        <p:nvSpPr>
          <p:cNvPr id="31" name="TextBox 30"/>
          <p:cNvSpPr txBox="1"/>
          <p:nvPr/>
        </p:nvSpPr>
        <p:spPr>
          <a:xfrm>
            <a:off x="9381744" y="5404104"/>
            <a:ext cx="4389120" cy="877823"/>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Open the app for details; sensitive descriptions stay out of lock-screen alerts.</a:t>
            </a:r>
          </a:p>
        </p:txBody>
      </p:sp>
      <p:sp>
        <p:nvSpPr>
          <p:cNvPr id="32" name="Rounded Rectangle 31"/>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Event → authorised recipient → notification → relevant detail → updated personal timeline</a:t>
            </a:r>
          </a:p>
        </p:txBody>
      </p:sp>
      <p:sp>
        <p:nvSpPr>
          <p:cNvPr id="34" name="Rounded Rectangle 33">
            <a:hlinkClick action="ppaction://hlinksldjump" r:id="rId14"/>
          </p:cNvPr>
          <p:cNvSpPr/>
          <p:nvPr/>
        </p:nvSpPr>
        <p:spPr>
          <a:xfrm>
            <a:off x="685800" y="2084831"/>
            <a:ext cx="1163116"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action="ppaction://hlinksldjump" r:id="rId14"/>
          </p:cNvPr>
          <p:cNvSpPr txBox="1"/>
          <p:nvPr/>
        </p:nvSpPr>
        <p:spPr>
          <a:xfrm>
            <a:off x="795528" y="2130551"/>
            <a:ext cx="943660"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Alerts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EXPERIENCE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Account: identity, preferences and permissions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Account settings support safe participation without conflating membership, approval and paid entitlement.</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ACCOUNT SCREEN + PROPOSED ACCESS RULES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12 / 58</a:t>
            </a:r>
          </a:p>
        </p:txBody>
      </p:sp>
      <p:pic>
        <p:nvPicPr>
          <p:cNvPr id="14" name="Picture 13" descr="05_account.png"/>
          <p:cNvPicPr>
            <a:picLocks noChangeAspect="1"/>
          </p:cNvPicPr>
          <p:nvPr/>
        </p:nvPicPr>
        <p:blipFill>
          <a:blip r:embed="rId5"/>
          <a:stretch>
            <a:fillRect/>
          </a:stretch>
        </p:blipFill>
        <p:spPr>
          <a:xfrm>
            <a:off x="1097280" y="2377440"/>
            <a:ext cx="2116291" cy="4315968"/>
          </a:xfrm>
          <a:prstGeom prst="rect">
            <a:avLst/>
          </a:prstGeom>
        </p:spPr>
      </p:pic>
      <p:sp>
        <p:nvSpPr>
          <p:cNvPr id="15" name="TextBox 14"/>
          <p:cNvSpPr txBox="1"/>
          <p:nvPr/>
        </p:nvSpPr>
        <p:spPr>
          <a:xfrm>
            <a:off x="914400" y="6766560"/>
            <a:ext cx="2482050" cy="365760"/>
          </a:xfrm>
          <a:prstGeom prst="rect">
            <a:avLst/>
          </a:prstGeom>
          <a:noFill/>
        </p:spPr>
        <p:txBody>
          <a:bodyPr wrap="square" lIns="0" rIns="0" tIns="0" bIns="0">
            <a:spAutoFit/>
          </a:bodyPr>
          <a:lstStyle/>
          <a:p>
            <a:pPr algn="ctr">
              <a:spcAft>
                <a:spcPts val="700"/>
              </a:spcAft>
              <a:defRPr sz="1100" b="0">
                <a:solidFill>
                  <a:srgbClr val="BBC8DF"/>
                </a:solidFill>
                <a:latin typeface="DejaVu Sans"/>
              </a:defRPr>
            </a:pPr>
            <a:r>
              <a:t>Provided demo account screen</a:t>
            </a:r>
          </a:p>
        </p:txBody>
      </p:sp>
      <p:sp>
        <p:nvSpPr>
          <p:cNvPr id="16" name="Rounded Rectangle 15">
            <a:hlinkClick action="ppaction://hlinksldjump" r:id="rId10"/>
          </p:cNvPr>
          <p:cNvSpPr/>
          <p:nvPr/>
        </p:nvSpPr>
        <p:spPr>
          <a:xfrm>
            <a:off x="4206240" y="2468880"/>
            <a:ext cx="97840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people_62DAE8.png"/>
          <p:cNvPicPr>
            <a:picLocks noChangeAspect="1"/>
          </p:cNvPicPr>
          <p:nvPr/>
        </p:nvPicPr>
        <p:blipFill>
          <a:blip r:embed="rId6"/>
          <a:stretch>
            <a:fillRect/>
          </a:stretch>
        </p:blipFill>
        <p:spPr>
          <a:xfrm>
            <a:off x="4407407" y="2651760"/>
            <a:ext cx="329184" cy="329184"/>
          </a:xfrm>
          <a:prstGeom prst="rect">
            <a:avLst/>
          </a:prstGeom>
        </p:spPr>
      </p:pic>
      <p:sp>
        <p:nvSpPr>
          <p:cNvPr id="18" name="TextBox 17">
            <a:hlinkClick action="ppaction://hlinksldjump" r:id="rId10"/>
          </p:cNvPr>
          <p:cNvSpPr txBox="1"/>
          <p:nvPr/>
        </p:nvSpPr>
        <p:spPr>
          <a:xfrm>
            <a:off x="4919472" y="2651760"/>
            <a:ext cx="8897111"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Member preferences</a:t>
            </a:r>
          </a:p>
        </p:txBody>
      </p:sp>
      <p:sp>
        <p:nvSpPr>
          <p:cNvPr id="19" name="TextBox 18"/>
          <p:cNvSpPr txBox="1"/>
          <p:nvPr/>
        </p:nvSpPr>
        <p:spPr>
          <a:xfrm>
            <a:off x="4425696" y="3108960"/>
            <a:ext cx="9345167"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Service area, language and safe contact preferences inform support.</a:t>
            </a:r>
          </a:p>
        </p:txBody>
      </p:sp>
      <p:sp>
        <p:nvSpPr>
          <p:cNvPr id="20" name="Rounded Rectangle 19">
            <a:hlinkClick action="ppaction://hlinksldjump" r:id="rId11"/>
          </p:cNvPr>
          <p:cNvSpPr/>
          <p:nvPr/>
        </p:nvSpPr>
        <p:spPr>
          <a:xfrm>
            <a:off x="4206240" y="3904488"/>
            <a:ext cx="97840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lock_62DAE8.png"/>
          <p:cNvPicPr>
            <a:picLocks noChangeAspect="1"/>
          </p:cNvPicPr>
          <p:nvPr/>
        </p:nvPicPr>
        <p:blipFill>
          <a:blip r:embed="rId7"/>
          <a:stretch>
            <a:fillRect/>
          </a:stretch>
        </p:blipFill>
        <p:spPr>
          <a:xfrm>
            <a:off x="4407407" y="4087368"/>
            <a:ext cx="329184" cy="329184"/>
          </a:xfrm>
          <a:prstGeom prst="rect">
            <a:avLst/>
          </a:prstGeom>
        </p:spPr>
      </p:pic>
      <p:sp>
        <p:nvSpPr>
          <p:cNvPr id="22" name="TextBox 21">
            <a:hlinkClick action="ppaction://hlinksldjump" r:id="rId11"/>
          </p:cNvPr>
          <p:cNvSpPr txBox="1"/>
          <p:nvPr/>
        </p:nvSpPr>
        <p:spPr>
          <a:xfrm>
            <a:off x="4919472" y="4087368"/>
            <a:ext cx="8897111"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Consent &amp; permissions</a:t>
            </a:r>
          </a:p>
        </p:txBody>
      </p:sp>
      <p:sp>
        <p:nvSpPr>
          <p:cNvPr id="23" name="TextBox 22"/>
          <p:cNvSpPr txBox="1"/>
          <p:nvPr/>
        </p:nvSpPr>
        <p:spPr>
          <a:xfrm>
            <a:off x="4425696" y="4544568"/>
            <a:ext cx="9345167"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Location and notifications are separate choices; allow manual area selection.</a:t>
            </a:r>
          </a:p>
        </p:txBody>
      </p:sp>
      <p:sp>
        <p:nvSpPr>
          <p:cNvPr id="24" name="Rounded Rectangle 23">
            <a:hlinkClick action="ppaction://hlinksldjump" r:id="rId12"/>
          </p:cNvPr>
          <p:cNvSpPr/>
          <p:nvPr/>
        </p:nvSpPr>
        <p:spPr>
          <a:xfrm>
            <a:off x="4206240" y="5340096"/>
            <a:ext cx="97840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on_shield_62DAE8.png"/>
          <p:cNvPicPr>
            <a:picLocks noChangeAspect="1"/>
          </p:cNvPicPr>
          <p:nvPr/>
        </p:nvPicPr>
        <p:blipFill>
          <a:blip r:embed="rId8"/>
          <a:stretch>
            <a:fillRect/>
          </a:stretch>
        </p:blipFill>
        <p:spPr>
          <a:xfrm>
            <a:off x="4407407" y="5522976"/>
            <a:ext cx="329184" cy="329184"/>
          </a:xfrm>
          <a:prstGeom prst="rect">
            <a:avLst/>
          </a:prstGeom>
        </p:spPr>
      </p:pic>
      <p:sp>
        <p:nvSpPr>
          <p:cNvPr id="26" name="TextBox 25">
            <a:hlinkClick action="ppaction://hlinksldjump" r:id="rId12"/>
          </p:cNvPr>
          <p:cNvSpPr txBox="1"/>
          <p:nvPr/>
        </p:nvSpPr>
        <p:spPr>
          <a:xfrm>
            <a:off x="4919472" y="5522976"/>
            <a:ext cx="8897111"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Authorised roles</a:t>
            </a:r>
          </a:p>
        </p:txBody>
      </p:sp>
      <p:sp>
        <p:nvSpPr>
          <p:cNvPr id="27" name="TextBox 26"/>
          <p:cNvSpPr txBox="1"/>
          <p:nvPr/>
        </p:nvSpPr>
        <p:spPr>
          <a:xfrm>
            <a:off x="4425696" y="5980176"/>
            <a:ext cx="9345167"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MRM approves roles. Subscription entitlement never grants staff access.</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Account identity ≠ volunteer approval ≠ teacher approval ≠ subscription entitlement</a:t>
            </a:r>
          </a:p>
        </p:txBody>
      </p:sp>
      <p:sp>
        <p:nvSpPr>
          <p:cNvPr id="30" name="Rounded Rectangle 29">
            <a:hlinkClick action="ppaction://hlinksldjump" r:id="rId12"/>
          </p:cNvPr>
          <p:cNvSpPr/>
          <p:nvPr/>
        </p:nvSpPr>
        <p:spPr>
          <a:xfrm>
            <a:off x="685800" y="2084831"/>
            <a:ext cx="1089050"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12"/>
          </p:cNvPr>
          <p:cNvSpPr txBox="1"/>
          <p:nvPr/>
        </p:nvSpPr>
        <p:spPr>
          <a:xfrm>
            <a:off x="795528" y="2130551"/>
            <a:ext cx="869594"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Roles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Assistance: from request to resolution</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service is coordinated by MRM, with limited alerts and private details shared only when authorised.</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2"/>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13 / 58</a:t>
            </a:r>
          </a:p>
        </p:txBody>
      </p:sp>
      <p:sp>
        <p:nvSpPr>
          <p:cNvPr id="14" name="Rounded Rectangle 13"/>
          <p:cNvSpPr/>
          <p:nvPr/>
        </p:nvSpPr>
        <p:spPr>
          <a:xfrm>
            <a:off x="640080" y="251460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01</a:t>
            </a:r>
          </a:p>
        </p:txBody>
      </p:sp>
      <p:pic>
        <p:nvPicPr>
          <p:cNvPr id="16" name="Picture 15" descr="icon_heart_62DAE8.png"/>
          <p:cNvPicPr>
            <a:picLocks noChangeAspect="1"/>
          </p:cNvPicPr>
          <p:nvPr/>
        </p:nvPicPr>
        <p:blipFill>
          <a:blip r:embed="rId5"/>
          <a:stretch>
            <a:fillRect/>
          </a:stretch>
        </p:blipFill>
        <p:spPr>
          <a:xfrm>
            <a:off x="2282342" y="2688336"/>
            <a:ext cx="438912" cy="438912"/>
          </a:xfrm>
          <a:prstGeom prst="rect">
            <a:avLst/>
          </a:prstGeom>
        </p:spPr>
      </p:pic>
      <p:sp>
        <p:nvSpPr>
          <p:cNvPr id="17" name="TextBox 16"/>
          <p:cNvSpPr txBox="1"/>
          <p:nvPr/>
        </p:nvSpPr>
        <p:spPr>
          <a:xfrm>
            <a:off x="859536" y="334670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Submit</a:t>
            </a:r>
          </a:p>
        </p:txBody>
      </p:sp>
      <p:sp>
        <p:nvSpPr>
          <p:cNvPr id="18" name="TextBox 17"/>
          <p:cNvSpPr txBox="1"/>
          <p:nvPr/>
        </p:nvSpPr>
        <p:spPr>
          <a:xfrm>
            <a:off x="859536" y="4023360"/>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Category, safe description, urgency and approximate area.</a:t>
            </a:r>
          </a:p>
        </p:txBody>
      </p:sp>
      <p:cxnSp>
        <p:nvCxnSpPr>
          <p:cNvPr id="19" name="Connector 18"/>
          <p:cNvCxnSpPr/>
          <p:nvPr/>
        </p:nvCxnSpPr>
        <p:spPr>
          <a:xfrm>
            <a:off x="3068726" y="381762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79622" y="251460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9078"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02</a:t>
            </a:r>
          </a:p>
        </p:txBody>
      </p:sp>
      <p:pic>
        <p:nvPicPr>
          <p:cNvPr id="22" name="Picture 21" descr="icon_shield_62DAE8.png"/>
          <p:cNvPicPr>
            <a:picLocks noChangeAspect="1"/>
          </p:cNvPicPr>
          <p:nvPr/>
        </p:nvPicPr>
        <p:blipFill>
          <a:blip r:embed="rId6"/>
          <a:stretch>
            <a:fillRect/>
          </a:stretch>
        </p:blipFill>
        <p:spPr>
          <a:xfrm>
            <a:off x="5021884" y="2688336"/>
            <a:ext cx="438912" cy="438912"/>
          </a:xfrm>
          <a:prstGeom prst="rect">
            <a:avLst/>
          </a:prstGeom>
        </p:spPr>
      </p:pic>
      <p:sp>
        <p:nvSpPr>
          <p:cNvPr id="23" name="TextBox 22"/>
          <p:cNvSpPr txBox="1"/>
          <p:nvPr/>
        </p:nvSpPr>
        <p:spPr>
          <a:xfrm>
            <a:off x="3599078" y="334670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Triage</a:t>
            </a:r>
          </a:p>
        </p:txBody>
      </p:sp>
      <p:sp>
        <p:nvSpPr>
          <p:cNvPr id="24" name="TextBox 23"/>
          <p:cNvSpPr txBox="1"/>
          <p:nvPr/>
        </p:nvSpPr>
        <p:spPr>
          <a:xfrm>
            <a:off x="3599078" y="4023360"/>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MRM reviews need, sensitivity and eligibility.</a:t>
            </a:r>
          </a:p>
        </p:txBody>
      </p:sp>
      <p:cxnSp>
        <p:nvCxnSpPr>
          <p:cNvPr id="25" name="Connector 24"/>
          <p:cNvCxnSpPr/>
          <p:nvPr/>
        </p:nvCxnSpPr>
        <p:spPr>
          <a:xfrm>
            <a:off x="5808268" y="381762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119164" y="251460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8620"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03</a:t>
            </a:r>
          </a:p>
        </p:txBody>
      </p:sp>
      <p:pic>
        <p:nvPicPr>
          <p:cNvPr id="28" name="Picture 27" descr="icon_bell_62DAE8.png"/>
          <p:cNvPicPr>
            <a:picLocks noChangeAspect="1"/>
          </p:cNvPicPr>
          <p:nvPr/>
        </p:nvPicPr>
        <p:blipFill>
          <a:blip r:embed="rId7"/>
          <a:stretch>
            <a:fillRect/>
          </a:stretch>
        </p:blipFill>
        <p:spPr>
          <a:xfrm>
            <a:off x="7761427" y="2688336"/>
            <a:ext cx="438912" cy="438912"/>
          </a:xfrm>
          <a:prstGeom prst="rect">
            <a:avLst/>
          </a:prstGeom>
        </p:spPr>
      </p:pic>
      <p:sp>
        <p:nvSpPr>
          <p:cNvPr id="29" name="TextBox 28"/>
          <p:cNvSpPr txBox="1"/>
          <p:nvPr/>
        </p:nvSpPr>
        <p:spPr>
          <a:xfrm>
            <a:off x="6338620" y="334670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Offer</a:t>
            </a:r>
          </a:p>
        </p:txBody>
      </p:sp>
      <p:sp>
        <p:nvSpPr>
          <p:cNvPr id="30" name="TextBox 29"/>
          <p:cNvSpPr txBox="1"/>
          <p:nvPr/>
        </p:nvSpPr>
        <p:spPr>
          <a:xfrm>
            <a:off x="6338620" y="4023360"/>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Suitable approved volunteers receive limited alerts.</a:t>
            </a:r>
          </a:p>
        </p:txBody>
      </p:sp>
      <p:cxnSp>
        <p:nvCxnSpPr>
          <p:cNvPr id="31" name="Connector 30"/>
          <p:cNvCxnSpPr/>
          <p:nvPr/>
        </p:nvCxnSpPr>
        <p:spPr>
          <a:xfrm>
            <a:off x="8547811" y="381762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858707" y="251460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8163"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04</a:t>
            </a:r>
          </a:p>
        </p:txBody>
      </p:sp>
      <p:pic>
        <p:nvPicPr>
          <p:cNvPr id="34" name="Picture 33" descr="icon_people_62DAE8.png"/>
          <p:cNvPicPr>
            <a:picLocks noChangeAspect="1"/>
          </p:cNvPicPr>
          <p:nvPr/>
        </p:nvPicPr>
        <p:blipFill>
          <a:blip r:embed="rId8"/>
          <a:stretch>
            <a:fillRect/>
          </a:stretch>
        </p:blipFill>
        <p:spPr>
          <a:xfrm>
            <a:off x="10500969" y="2688336"/>
            <a:ext cx="438912" cy="438912"/>
          </a:xfrm>
          <a:prstGeom prst="rect">
            <a:avLst/>
          </a:prstGeom>
        </p:spPr>
      </p:pic>
      <p:sp>
        <p:nvSpPr>
          <p:cNvPr id="35" name="TextBox 34"/>
          <p:cNvSpPr txBox="1"/>
          <p:nvPr/>
        </p:nvSpPr>
        <p:spPr>
          <a:xfrm>
            <a:off x="9078163" y="334670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Assign</a:t>
            </a:r>
          </a:p>
        </p:txBody>
      </p:sp>
      <p:sp>
        <p:nvSpPr>
          <p:cNvPr id="36" name="TextBox 35"/>
          <p:cNvSpPr txBox="1"/>
          <p:nvPr/>
        </p:nvSpPr>
        <p:spPr>
          <a:xfrm>
            <a:off x="9078163" y="4023360"/>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Seeker or coordinator confirms the assignment.</a:t>
            </a:r>
          </a:p>
        </p:txBody>
      </p:sp>
      <p:cxnSp>
        <p:nvCxnSpPr>
          <p:cNvPr id="37" name="Connector 36"/>
          <p:cNvCxnSpPr/>
          <p:nvPr/>
        </p:nvCxnSpPr>
        <p:spPr>
          <a:xfrm>
            <a:off x="11287353" y="381762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1598249" y="251460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17705" y="271576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05</a:t>
            </a:r>
          </a:p>
        </p:txBody>
      </p:sp>
      <p:pic>
        <p:nvPicPr>
          <p:cNvPr id="40" name="Picture 39" descr="icon_check_62DAE8.png"/>
          <p:cNvPicPr>
            <a:picLocks noChangeAspect="1"/>
          </p:cNvPicPr>
          <p:nvPr/>
        </p:nvPicPr>
        <p:blipFill>
          <a:blip r:embed="rId9"/>
          <a:stretch>
            <a:fillRect/>
          </a:stretch>
        </p:blipFill>
        <p:spPr>
          <a:xfrm>
            <a:off x="13240511" y="2688336"/>
            <a:ext cx="438912" cy="438912"/>
          </a:xfrm>
          <a:prstGeom prst="rect">
            <a:avLst/>
          </a:prstGeom>
        </p:spPr>
      </p:pic>
      <p:sp>
        <p:nvSpPr>
          <p:cNvPr id="41" name="TextBox 40"/>
          <p:cNvSpPr txBox="1"/>
          <p:nvPr/>
        </p:nvSpPr>
        <p:spPr>
          <a:xfrm>
            <a:off x="11817705" y="334670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Resolve</a:t>
            </a:r>
          </a:p>
        </p:txBody>
      </p:sp>
      <p:sp>
        <p:nvSpPr>
          <p:cNvPr id="42" name="TextBox 41"/>
          <p:cNvSpPr txBox="1"/>
          <p:nvPr/>
        </p:nvSpPr>
        <p:spPr>
          <a:xfrm>
            <a:off x="11817705" y="4023360"/>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Progress, feedback, follow-up and closure.</a:t>
            </a:r>
          </a:p>
        </p:txBody>
      </p:sp>
      <p:sp>
        <p:nvSpPr>
          <p:cNvPr id="43" name="Rounded Rectangle 42">
            <a:hlinkClick action="ppaction://hlinksldjump" r:id="rId13"/>
          </p:cNvPr>
          <p:cNvSpPr/>
          <p:nvPr/>
        </p:nvSpPr>
        <p:spPr>
          <a:xfrm>
            <a:off x="640080" y="5449824"/>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on_lock_8DD8B1.png"/>
          <p:cNvPicPr>
            <a:picLocks noChangeAspect="1"/>
          </p:cNvPicPr>
          <p:nvPr/>
        </p:nvPicPr>
        <p:blipFill>
          <a:blip r:embed="rId10"/>
          <a:stretch>
            <a:fillRect/>
          </a:stretch>
        </p:blipFill>
        <p:spPr>
          <a:xfrm>
            <a:off x="841247" y="5632704"/>
            <a:ext cx="329184" cy="329184"/>
          </a:xfrm>
          <a:prstGeom prst="rect">
            <a:avLst/>
          </a:prstGeom>
        </p:spPr>
      </p:pic>
      <p:sp>
        <p:nvSpPr>
          <p:cNvPr id="45" name="TextBox 44">
            <a:hlinkClick action="ppaction://hlinksldjump" r:id="rId13"/>
          </p:cNvPr>
          <p:cNvSpPr txBox="1"/>
          <p:nvPr/>
        </p:nvSpPr>
        <p:spPr>
          <a:xfrm>
            <a:off x="1353312" y="5632704"/>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Member control</a:t>
            </a:r>
          </a:p>
        </p:txBody>
      </p:sp>
      <p:sp>
        <p:nvSpPr>
          <p:cNvPr id="46" name="TextBox 45"/>
          <p:cNvSpPr txBox="1"/>
          <p:nvPr/>
        </p:nvSpPr>
        <p:spPr>
          <a:xfrm>
            <a:off x="859536" y="6089904"/>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Stop contact, request reassignment or report a concern.</a:t>
            </a:r>
          </a:p>
        </p:txBody>
      </p:sp>
      <p:sp>
        <p:nvSpPr>
          <p:cNvPr id="47" name="Rounded Rectangle 46">
            <a:hlinkClick action="ppaction://hlinksldjump" r:id="rId14"/>
          </p:cNvPr>
          <p:cNvSpPr/>
          <p:nvPr/>
        </p:nvSpPr>
        <p:spPr>
          <a:xfrm>
            <a:off x="7406640" y="5449824"/>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on_chart_62DAE8.png"/>
          <p:cNvPicPr>
            <a:picLocks noChangeAspect="1"/>
          </p:cNvPicPr>
          <p:nvPr/>
        </p:nvPicPr>
        <p:blipFill>
          <a:blip r:embed="rId11"/>
          <a:stretch>
            <a:fillRect/>
          </a:stretch>
        </p:blipFill>
        <p:spPr>
          <a:xfrm>
            <a:off x="7607808" y="5632704"/>
            <a:ext cx="329184" cy="329184"/>
          </a:xfrm>
          <a:prstGeom prst="rect">
            <a:avLst/>
          </a:prstGeom>
        </p:spPr>
      </p:pic>
      <p:sp>
        <p:nvSpPr>
          <p:cNvPr id="49" name="TextBox 48">
            <a:hlinkClick action="ppaction://hlinksldjump" r:id="rId14"/>
          </p:cNvPr>
          <p:cNvSpPr txBox="1"/>
          <p:nvPr/>
        </p:nvSpPr>
        <p:spPr>
          <a:xfrm>
            <a:off x="8119871" y="5632704"/>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Coordinator control</a:t>
            </a:r>
          </a:p>
        </p:txBody>
      </p:sp>
      <p:sp>
        <p:nvSpPr>
          <p:cNvPr id="50" name="TextBox 49"/>
          <p:cNvSpPr txBox="1"/>
          <p:nvPr/>
        </p:nvSpPr>
        <p:spPr>
          <a:xfrm>
            <a:off x="7626096" y="6089904"/>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Review unanswered work and record accountable decisions.</a:t>
            </a:r>
          </a:p>
        </p:txBody>
      </p:sp>
      <p:sp>
        <p:nvSpPr>
          <p:cNvPr id="51" name="Rounded Rectangle 5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Request → eligible match → confirmed assignment → progress → closure → verified recognition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Matching: eligibility before assignment</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Category, service area, language, availability and access rules determine who can receive an offer.</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5"/>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MATCHING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14 / 58</a:t>
            </a:r>
          </a:p>
        </p:txBody>
      </p:sp>
      <p:sp>
        <p:nvSpPr>
          <p:cNvPr id="14" name="Rounded Rectangle 13"/>
          <p:cNvSpPr/>
          <p:nvPr/>
        </p:nvSpPr>
        <p:spPr>
          <a:xfrm>
            <a:off x="640080" y="2971800"/>
            <a:ext cx="2468880" cy="1508760"/>
          </a:xfrm>
          <a:prstGeom prst="roundRect">
            <a:avLst>
              <a:gd name="adj" fmla="val 12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118104"/>
            <a:ext cx="217627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Reviewed request</a:t>
            </a:r>
          </a:p>
        </p:txBody>
      </p:sp>
      <p:sp>
        <p:nvSpPr>
          <p:cNvPr id="16" name="TextBox 15"/>
          <p:cNvSpPr txBox="1"/>
          <p:nvPr/>
        </p:nvSpPr>
        <p:spPr>
          <a:xfrm>
            <a:off x="804671" y="3685032"/>
            <a:ext cx="2139696" cy="731519"/>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Routine request cleared for matching</a:t>
            </a:r>
          </a:p>
        </p:txBody>
      </p:sp>
      <p:sp>
        <p:nvSpPr>
          <p:cNvPr id="17" name="Rounded Rectangle 16"/>
          <p:cNvSpPr/>
          <p:nvPr/>
        </p:nvSpPr>
        <p:spPr>
          <a:xfrm>
            <a:off x="3703320" y="2971800"/>
            <a:ext cx="2834640" cy="1508760"/>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9624" y="3118104"/>
            <a:ext cx="254203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Eligibility checks</a:t>
            </a:r>
          </a:p>
        </p:txBody>
      </p:sp>
      <p:sp>
        <p:nvSpPr>
          <p:cNvPr id="19" name="TextBox 18"/>
          <p:cNvSpPr txBox="1"/>
          <p:nvPr/>
        </p:nvSpPr>
        <p:spPr>
          <a:xfrm>
            <a:off x="3867911" y="3685032"/>
            <a:ext cx="2505456" cy="731519"/>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Approved + active + suitable + permitted</a:t>
            </a:r>
          </a:p>
        </p:txBody>
      </p:sp>
      <p:sp>
        <p:nvSpPr>
          <p:cNvPr id="20" name="Rounded Rectangle 19">
            <a:hlinkClick action="ppaction://hlinksldjump" r:id="rId6"/>
          </p:cNvPr>
          <p:cNvSpPr/>
          <p:nvPr/>
        </p:nvSpPr>
        <p:spPr>
          <a:xfrm>
            <a:off x="7132320" y="2971800"/>
            <a:ext cx="2834640" cy="1508760"/>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6"/>
          </p:cNvPr>
          <p:cNvSpPr txBox="1"/>
          <p:nvPr/>
        </p:nvSpPr>
        <p:spPr>
          <a:xfrm>
            <a:off x="7278624" y="3118104"/>
            <a:ext cx="254203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Limited alert</a:t>
            </a:r>
          </a:p>
        </p:txBody>
      </p:sp>
      <p:sp>
        <p:nvSpPr>
          <p:cNvPr id="22" name="TextBox 21"/>
          <p:cNvSpPr txBox="1"/>
          <p:nvPr/>
        </p:nvSpPr>
        <p:spPr>
          <a:xfrm>
            <a:off x="7296912" y="3685032"/>
            <a:ext cx="2505456" cy="731519"/>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Approximate area and safe summary</a:t>
            </a:r>
          </a:p>
        </p:txBody>
      </p:sp>
      <p:sp>
        <p:nvSpPr>
          <p:cNvPr id="23" name="Rounded Rectangle 22">
            <a:hlinkClick action="ppaction://hlinksldjump" r:id="rId7"/>
          </p:cNvPr>
          <p:cNvSpPr/>
          <p:nvPr/>
        </p:nvSpPr>
        <p:spPr>
          <a:xfrm>
            <a:off x="10561320" y="2971800"/>
            <a:ext cx="3429000" cy="1508760"/>
          </a:xfrm>
          <a:prstGeom prst="roundRect">
            <a:avLst>
              <a:gd name="adj" fmla="val 12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7"/>
          </p:cNvPr>
          <p:cNvSpPr txBox="1"/>
          <p:nvPr/>
        </p:nvSpPr>
        <p:spPr>
          <a:xfrm>
            <a:off x="10707624" y="3118104"/>
            <a:ext cx="31363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Confirmed assignment</a:t>
            </a:r>
          </a:p>
        </p:txBody>
      </p:sp>
      <p:sp>
        <p:nvSpPr>
          <p:cNvPr id="25" name="TextBox 24"/>
          <p:cNvSpPr txBox="1"/>
          <p:nvPr/>
        </p:nvSpPr>
        <p:spPr>
          <a:xfrm>
            <a:off x="10725912" y="3685032"/>
            <a:ext cx="3099816" cy="731519"/>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Volunteer offers; authorised party confirms</a:t>
            </a:r>
          </a:p>
        </p:txBody>
      </p:sp>
      <p:cxnSp>
        <p:nvCxnSpPr>
          <p:cNvPr id="26" name="Connector 25"/>
          <p:cNvCxnSpPr/>
          <p:nvPr/>
        </p:nvCxnSpPr>
        <p:spPr>
          <a:xfrm>
            <a:off x="3108960" y="3730752"/>
            <a:ext cx="59436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37960" y="3730752"/>
            <a:ext cx="59436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66960" y="3730752"/>
            <a:ext cx="59436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703320" y="5321808"/>
            <a:ext cx="6263640" cy="1078992"/>
          </a:xfrm>
          <a:prstGeom prst="roundRect">
            <a:avLst>
              <a:gd name="adj" fmla="val 12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9624" y="5468112"/>
            <a:ext cx="5971031"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No eligible response</a:t>
            </a:r>
          </a:p>
        </p:txBody>
      </p:sp>
      <p:sp>
        <p:nvSpPr>
          <p:cNvPr id="31" name="TextBox 30"/>
          <p:cNvSpPr txBox="1"/>
          <p:nvPr/>
        </p:nvSpPr>
        <p:spPr>
          <a:xfrm>
            <a:off x="3867911" y="6035040"/>
            <a:ext cx="5934455" cy="301751"/>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Return to coordinator queue for follow-up</a:t>
            </a:r>
          </a:p>
        </p:txBody>
      </p:sp>
      <p:cxnSp>
        <p:nvCxnSpPr>
          <p:cNvPr id="32" name="Connector 31"/>
          <p:cNvCxnSpPr/>
          <p:nvPr/>
        </p:nvCxnSpPr>
        <p:spPr>
          <a:xfrm>
            <a:off x="5120640" y="4480560"/>
            <a:ext cx="0" cy="841248"/>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2423160"/>
            <a:ext cx="1325880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Access is checked before a notification or case record is disclosed.</a:t>
            </a:r>
          </a:p>
        </p:txBody>
      </p:sp>
      <p:sp>
        <p:nvSpPr>
          <p:cNvPr id="34" name="Rounded Rectangle 33"/>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Sensitive cases use the restricted staff route [18], rather than routine volunteer matching.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Volunteer approval is a complete workflow</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Application, evidence review and online interview precede approval for service.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ADMINISTRATION SCREEN + PROPOSED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15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4_volunteer_verification.png"/>
          <p:cNvPicPr>
            <a:picLocks noChangeAspect="1"/>
          </p:cNvPicPr>
          <p:nvPr/>
        </p:nvPicPr>
        <p:blipFill>
          <a:blip r:embed="rId5"/>
          <a:srcRect b="40097"/>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Apply &amp; provide evidence</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Skills, languages, service area, availability and MRM-required documents.</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Review &amp; interview</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Staff examine documents and record an online interview; request clarification when needed.</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Approve, decline or suspend</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Only approved active volunteers receive eligible new work. Decisions retain a reason and history.</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Applicant → document review → online interview → MRM decision → eligible service [17]</a:t>
            </a:r>
          </a:p>
        </p:txBody>
      </p:sp>
      <p:sp>
        <p:nvSpPr>
          <p:cNvPr id="30" name="Rounded Rectangle 29">
            <a:hlinkClick action="ppaction://hlinksldjump" r:id="rId7"/>
          </p:cNvPr>
          <p:cNvSpPr/>
          <p:nvPr/>
        </p:nvSpPr>
        <p:spPr>
          <a:xfrm>
            <a:off x="685800" y="2084831"/>
            <a:ext cx="1533448"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313992"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Assignments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Nearby discovery, with privacy boundaries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volunteer discovery uses approximate areas and server-enforced visibility rules.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DISCOVERY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16 / 58</a:t>
            </a:r>
          </a:p>
        </p:txBody>
      </p:sp>
      <p:sp>
        <p:nvSpPr>
          <p:cNvPr id="14" name="Rounded Rectangle 13"/>
          <p:cNvSpPr/>
          <p:nvPr/>
        </p:nvSpPr>
        <p:spPr>
          <a:xfrm>
            <a:off x="640080"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01</a:t>
            </a:r>
          </a:p>
        </p:txBody>
      </p:sp>
      <p:pic>
        <p:nvPicPr>
          <p:cNvPr id="16" name="Picture 15" descr="icon_pin_62DAE8.png"/>
          <p:cNvPicPr>
            <a:picLocks noChangeAspect="1"/>
          </p:cNvPicPr>
          <p:nvPr/>
        </p:nvPicPr>
        <p:blipFill>
          <a:blip r:embed="rId5"/>
          <a:stretch>
            <a:fillRect/>
          </a:stretch>
        </p:blipFill>
        <p:spPr>
          <a:xfrm>
            <a:off x="2967227" y="2734056"/>
            <a:ext cx="438912" cy="438912"/>
          </a:xfrm>
          <a:prstGeom prst="rect">
            <a:avLst/>
          </a:prstGeom>
        </p:spPr>
      </p:pic>
      <p:sp>
        <p:nvSpPr>
          <p:cNvPr id="17" name="TextBox 16"/>
          <p:cNvSpPr txBox="1"/>
          <p:nvPr/>
        </p:nvSpPr>
        <p:spPr>
          <a:xfrm>
            <a:off x="859536"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Choose an area</a:t>
            </a:r>
          </a:p>
        </p:txBody>
      </p:sp>
      <p:sp>
        <p:nvSpPr>
          <p:cNvPr id="18" name="TextBox 17"/>
          <p:cNvSpPr txBox="1"/>
          <p:nvPr/>
        </p:nvSpPr>
        <p:spPr>
          <a:xfrm>
            <a:off x="859536"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Location permission or manual service-area selection.</a:t>
            </a:r>
          </a:p>
        </p:txBody>
      </p:sp>
      <p:cxnSp>
        <p:nvCxnSpPr>
          <p:cNvPr id="19" name="Connector 18"/>
          <p:cNvCxnSpPr/>
          <p:nvPr/>
        </p:nvCxnSpPr>
        <p:spPr>
          <a:xfrm>
            <a:off x="3753611" y="3840479"/>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02</a:t>
            </a:r>
          </a:p>
        </p:txBody>
      </p:sp>
      <p:pic>
        <p:nvPicPr>
          <p:cNvPr id="22" name="Picture 21" descr="icon_shield_62DAE8.png"/>
          <p:cNvPicPr>
            <a:picLocks noChangeAspect="1"/>
          </p:cNvPicPr>
          <p:nvPr/>
        </p:nvPicPr>
        <p:blipFill>
          <a:blip r:embed="rId6"/>
          <a:stretch>
            <a:fillRect/>
          </a:stretch>
        </p:blipFill>
        <p:spPr>
          <a:xfrm>
            <a:off x="6391655" y="2734056"/>
            <a:ext cx="438912" cy="438912"/>
          </a:xfrm>
          <a:prstGeom prst="rect">
            <a:avLst/>
          </a:prstGeom>
        </p:spPr>
      </p:pic>
      <p:sp>
        <p:nvSpPr>
          <p:cNvPr id="23" name="TextBox 22"/>
          <p:cNvSpPr txBox="1"/>
          <p:nvPr/>
        </p:nvSpPr>
        <p:spPr>
          <a:xfrm>
            <a:off x="4283964"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Filter eligible profiles</a:t>
            </a:r>
          </a:p>
        </p:txBody>
      </p:sp>
      <p:sp>
        <p:nvSpPr>
          <p:cNvPr id="24" name="TextBox 23"/>
          <p:cNvSpPr txBox="1"/>
          <p:nvPr/>
        </p:nvSpPr>
        <p:spPr>
          <a:xfrm>
            <a:off x="4283964"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Approved, active and permitted under MRM gender rules.</a:t>
            </a:r>
          </a:p>
        </p:txBody>
      </p:sp>
      <p:cxnSp>
        <p:nvCxnSpPr>
          <p:cNvPr id="25" name="Connector 24"/>
          <p:cNvCxnSpPr/>
          <p:nvPr/>
        </p:nvCxnSpPr>
        <p:spPr>
          <a:xfrm>
            <a:off x="7178039" y="3840479"/>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03</a:t>
            </a:r>
          </a:p>
        </p:txBody>
      </p:sp>
      <p:pic>
        <p:nvPicPr>
          <p:cNvPr id="28" name="Picture 27" descr="icon_people_62DAE8.png"/>
          <p:cNvPicPr>
            <a:picLocks noChangeAspect="1"/>
          </p:cNvPicPr>
          <p:nvPr/>
        </p:nvPicPr>
        <p:blipFill>
          <a:blip r:embed="rId7"/>
          <a:stretch>
            <a:fillRect/>
          </a:stretch>
        </p:blipFill>
        <p:spPr>
          <a:xfrm>
            <a:off x="9816084" y="2734056"/>
            <a:ext cx="438912" cy="438912"/>
          </a:xfrm>
          <a:prstGeom prst="rect">
            <a:avLst/>
          </a:prstGeom>
        </p:spPr>
      </p:pic>
      <p:sp>
        <p:nvSpPr>
          <p:cNvPr id="29" name="TextBox 28"/>
          <p:cNvSpPr txBox="1"/>
          <p:nvPr/>
        </p:nvSpPr>
        <p:spPr>
          <a:xfrm>
            <a:off x="7708392"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View permitted detail</a:t>
            </a:r>
          </a:p>
        </p:txBody>
      </p:sp>
      <p:sp>
        <p:nvSpPr>
          <p:cNvPr id="30" name="TextBox 29"/>
          <p:cNvSpPr txBox="1"/>
          <p:nvPr/>
        </p:nvSpPr>
        <p:spPr>
          <a:xfrm>
            <a:off x="7708392"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General area, skills and approved profile fields.</a:t>
            </a:r>
          </a:p>
        </p:txBody>
      </p:sp>
      <p:cxnSp>
        <p:nvCxnSpPr>
          <p:cNvPr id="31" name="Connector 30"/>
          <p:cNvCxnSpPr/>
          <p:nvPr/>
        </p:nvCxnSpPr>
        <p:spPr>
          <a:xfrm>
            <a:off x="10602467" y="3840479"/>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04</a:t>
            </a:r>
          </a:p>
        </p:txBody>
      </p:sp>
      <p:pic>
        <p:nvPicPr>
          <p:cNvPr id="34" name="Picture 33" descr="icon_heart_62DAE8.png"/>
          <p:cNvPicPr>
            <a:picLocks noChangeAspect="1"/>
          </p:cNvPicPr>
          <p:nvPr/>
        </p:nvPicPr>
        <p:blipFill>
          <a:blip r:embed="rId8"/>
          <a:stretch>
            <a:fillRect/>
          </a:stretch>
        </p:blipFill>
        <p:spPr>
          <a:xfrm>
            <a:off x="13240511" y="2734056"/>
            <a:ext cx="438912" cy="438912"/>
          </a:xfrm>
          <a:prstGeom prst="rect">
            <a:avLst/>
          </a:prstGeom>
        </p:spPr>
      </p:pic>
      <p:sp>
        <p:nvSpPr>
          <p:cNvPr id="35" name="TextBox 34"/>
          <p:cNvSpPr txBox="1"/>
          <p:nvPr/>
        </p:nvSpPr>
        <p:spPr>
          <a:xfrm>
            <a:off x="11132819"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Take a safe action</a:t>
            </a:r>
          </a:p>
        </p:txBody>
      </p:sp>
      <p:sp>
        <p:nvSpPr>
          <p:cNvPr id="36" name="TextBox 35"/>
          <p:cNvSpPr txBox="1"/>
          <p:nvPr/>
        </p:nvSpPr>
        <p:spPr>
          <a:xfrm>
            <a:off x="11132819"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Permitted contact or a coordinated service request.</a:t>
            </a:r>
          </a:p>
        </p:txBody>
      </p:sp>
      <p:sp>
        <p:nvSpPr>
          <p:cNvPr id="37" name="Rounded Rectangle 36">
            <a:hlinkClick action="ppaction://hlinksldjump" r:id="rId12"/>
          </p:cNvPr>
          <p:cNvSpPr/>
          <p:nvPr/>
        </p:nvSpPr>
        <p:spPr>
          <a:xfrm>
            <a:off x="640080" y="5468112"/>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lock_62DAE8.png"/>
          <p:cNvPicPr>
            <a:picLocks noChangeAspect="1"/>
          </p:cNvPicPr>
          <p:nvPr/>
        </p:nvPicPr>
        <p:blipFill>
          <a:blip r:embed="rId9"/>
          <a:stretch>
            <a:fillRect/>
          </a:stretch>
        </p:blipFill>
        <p:spPr>
          <a:xfrm>
            <a:off x="841247" y="5650992"/>
            <a:ext cx="329184" cy="329184"/>
          </a:xfrm>
          <a:prstGeom prst="rect">
            <a:avLst/>
          </a:prstGeom>
        </p:spPr>
      </p:pic>
      <p:sp>
        <p:nvSpPr>
          <p:cNvPr id="39" name="TextBox 38">
            <a:hlinkClick action="ppaction://hlinksldjump" r:id="rId12"/>
          </p:cNvPr>
          <p:cNvSpPr txBox="1"/>
          <p:nvPr/>
        </p:nvSpPr>
        <p:spPr>
          <a:xfrm>
            <a:off x="1353312"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Gender visibility</a:t>
            </a:r>
          </a:p>
        </p:txBody>
      </p:sp>
      <p:sp>
        <p:nvSpPr>
          <p:cNvPr id="40" name="TextBox 39"/>
          <p:cNvSpPr txBox="1"/>
          <p:nvPr/>
        </p:nvSpPr>
        <p:spPr>
          <a:xfrm>
            <a:off x="859536" y="6108192"/>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Male and female profiles remain separated in the agreed discovery/contact scope.</a:t>
            </a:r>
          </a:p>
        </p:txBody>
      </p:sp>
      <p:sp>
        <p:nvSpPr>
          <p:cNvPr id="41" name="Rounded Rectangle 40">
            <a:hlinkClick action="ppaction://hlinksldjump" r:id="rId13"/>
          </p:cNvPr>
          <p:cNvSpPr/>
          <p:nvPr/>
        </p:nvSpPr>
        <p:spPr>
          <a:xfrm>
            <a:off x="7406640" y="5468112"/>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shield_E8C578.png"/>
          <p:cNvPicPr>
            <a:picLocks noChangeAspect="1"/>
          </p:cNvPicPr>
          <p:nvPr/>
        </p:nvPicPr>
        <p:blipFill>
          <a:blip r:embed="rId10"/>
          <a:stretch>
            <a:fillRect/>
          </a:stretch>
        </p:blipFill>
        <p:spPr>
          <a:xfrm>
            <a:off x="7607808" y="5650992"/>
            <a:ext cx="329184" cy="329184"/>
          </a:xfrm>
          <a:prstGeom prst="rect">
            <a:avLst/>
          </a:prstGeom>
        </p:spPr>
      </p:pic>
      <p:sp>
        <p:nvSpPr>
          <p:cNvPr id="43" name="TextBox 42">
            <a:hlinkClick action="ppaction://hlinksldjump" r:id="rId13"/>
          </p:cNvPr>
          <p:cNvSpPr txBox="1"/>
          <p:nvPr/>
        </p:nvSpPr>
        <p:spPr>
          <a:xfrm>
            <a:off x="8119871"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Controlled exceptions</a:t>
            </a:r>
          </a:p>
        </p:txBody>
      </p:sp>
      <p:sp>
        <p:nvSpPr>
          <p:cNvPr id="44" name="TextBox 43"/>
          <p:cNvSpPr txBox="1"/>
          <p:nvPr/>
        </p:nvSpPr>
        <p:spPr>
          <a:xfrm>
            <a:off x="7626096" y="6108192"/>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MRM defines staff/teacher exceptions before enabling them.</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Apply rules to search, map markers, detail routes, notifications and direct API requests.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Assignments: controlled service delivery</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Offers and assignments connect verified volunteers to suitable requests and accountable progress.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ADMINISTRATION + PROPOSED SERVICE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17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3_volunteers_assignments.png"/>
          <p:cNvPicPr>
            <a:picLocks noChangeAspect="1"/>
          </p:cNvPicPr>
          <p:nvPr/>
        </p:nvPicPr>
        <p:blipFill>
          <a:blip r:embed="rId5"/>
          <a:srcRect b="61662"/>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Offer is not assignment</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 volunteer response becomes service access only after confirmation.</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Assigned access</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Permitted case details support contact, progress updates and completion.</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Changes stay accountable</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Reassignment, cancellation and suspension return affected work to staff review.</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Verified volunteer [15] → eligible offer [14] → assignment → outcome → service credit [21]</a:t>
            </a:r>
          </a:p>
        </p:txBody>
      </p:sp>
      <p:sp>
        <p:nvSpPr>
          <p:cNvPr id="30" name="Rounded Rectangle 29">
            <a:hlinkClick action="ppaction://hlinksldjump" r:id="rId7"/>
          </p:cNvPr>
          <p:cNvSpPr/>
          <p:nvPr/>
        </p:nvSpPr>
        <p:spPr>
          <a:xfrm>
            <a:off x="685800" y="2084831"/>
            <a:ext cx="1533448"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313992"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Recognition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Private cases require a restricted route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Confidential faith and family concerns are handled by designated MRM personnel.</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CASE SCREEN + PROPOSED SAFEGUARDING</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18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2_cases_safeguarding.png"/>
          <p:cNvPicPr>
            <a:picLocks noChangeAspect="1"/>
          </p:cNvPicPr>
          <p:nvPr/>
        </p:nvPicPr>
        <p:blipFill>
          <a:blip r:embed="rId5"/>
          <a:srcRect b="82459"/>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Confidential intake</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The person chooses safe contact details and submits the concern privately.</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Designated staff review</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Restricted queues, adviser assignment and controlled follow-up protect case information.</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Responsible closure</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Record outcome or referral under MRM policy; no automated religious judgement.</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Private intake → designated staff → authorised follow-up → controlled closure / referral</a:t>
            </a:r>
          </a:p>
        </p:txBody>
      </p:sp>
      <p:sp>
        <p:nvSpPr>
          <p:cNvPr id="30" name="Rounded Rectangle 29">
            <a:hlinkClick action="ppaction://hlinksldjump" r:id="rId7"/>
          </p:cNvPr>
          <p:cNvSpPr/>
          <p:nvPr/>
        </p:nvSpPr>
        <p:spPr>
          <a:xfrm>
            <a:off x="685800" y="2084831"/>
            <a:ext cx="1607515"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388059"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Safeguarding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Safeguarding: clear escalation and user control</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platform supports coordination while MRM defines coverage, response procedures and escalation contacts.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SAFEGUARDING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19 / 58</a:t>
            </a:r>
          </a:p>
        </p:txBody>
      </p:sp>
      <p:sp>
        <p:nvSpPr>
          <p:cNvPr id="14" name="Rounded Rectangle 13"/>
          <p:cNvSpPr/>
          <p:nvPr/>
        </p:nvSpPr>
        <p:spPr>
          <a:xfrm>
            <a:off x="640080" y="2743200"/>
            <a:ext cx="3017520" cy="1371600"/>
          </a:xfrm>
          <a:prstGeom prst="roundRect">
            <a:avLst>
              <a:gd name="adj" fmla="val 12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889504"/>
            <a:ext cx="272491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Concern reported</a:t>
            </a:r>
          </a:p>
        </p:txBody>
      </p:sp>
      <p:sp>
        <p:nvSpPr>
          <p:cNvPr id="16" name="TextBox 15"/>
          <p:cNvSpPr txBox="1"/>
          <p:nvPr/>
        </p:nvSpPr>
        <p:spPr>
          <a:xfrm>
            <a:off x="804671" y="3456432"/>
            <a:ext cx="268833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Danger, misconduct or contact concern</a:t>
            </a:r>
          </a:p>
        </p:txBody>
      </p:sp>
      <p:sp>
        <p:nvSpPr>
          <p:cNvPr id="17" name="Rounded Rectangle 16"/>
          <p:cNvSpPr/>
          <p:nvPr/>
        </p:nvSpPr>
        <p:spPr>
          <a:xfrm>
            <a:off x="4160520" y="2743200"/>
            <a:ext cx="3977639" cy="1371600"/>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06824" y="2889504"/>
            <a:ext cx="3685031"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Assess and restrict</a:t>
            </a:r>
          </a:p>
        </p:txBody>
      </p:sp>
      <p:sp>
        <p:nvSpPr>
          <p:cNvPr id="19" name="TextBox 18"/>
          <p:cNvSpPr txBox="1"/>
          <p:nvPr/>
        </p:nvSpPr>
        <p:spPr>
          <a:xfrm>
            <a:off x="4325112" y="3456432"/>
            <a:ext cx="364845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Designated staff review; protect records</a:t>
            </a:r>
          </a:p>
        </p:txBody>
      </p:sp>
      <p:sp>
        <p:nvSpPr>
          <p:cNvPr id="20" name="Rounded Rectangle 19"/>
          <p:cNvSpPr/>
          <p:nvPr/>
        </p:nvSpPr>
        <p:spPr>
          <a:xfrm>
            <a:off x="8732520" y="2743200"/>
            <a:ext cx="5257800" cy="1371600"/>
          </a:xfrm>
          <a:prstGeom prst="roundRect">
            <a:avLst>
              <a:gd name="adj" fmla="val 12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78824" y="2889504"/>
            <a:ext cx="49651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Follow up and record action</a:t>
            </a:r>
          </a:p>
        </p:txBody>
      </p:sp>
      <p:sp>
        <p:nvSpPr>
          <p:cNvPr id="22" name="TextBox 21"/>
          <p:cNvSpPr txBox="1"/>
          <p:nvPr/>
        </p:nvSpPr>
        <p:spPr>
          <a:xfrm>
            <a:off x="8897112" y="3456432"/>
            <a:ext cx="492861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Escalation, account restriction or case reassignment</a:t>
            </a:r>
          </a:p>
        </p:txBody>
      </p:sp>
      <p:cxnSp>
        <p:nvCxnSpPr>
          <p:cNvPr id="23" name="Connector 22"/>
          <p:cNvCxnSpPr/>
          <p:nvPr/>
        </p:nvCxnSpPr>
        <p:spPr>
          <a:xfrm>
            <a:off x="3657600" y="3429000"/>
            <a:ext cx="5029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138160" y="3429000"/>
            <a:ext cx="59436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a:hlinkClick action="ppaction://hlinksldjump" r:id="rId8"/>
          </p:cNvPr>
          <p:cNvSpPr/>
          <p:nvPr/>
        </p:nvSpPr>
        <p:spPr>
          <a:xfrm>
            <a:off x="640080" y="4663440"/>
            <a:ext cx="6583680" cy="190195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con_shield_E8C578.png"/>
          <p:cNvPicPr>
            <a:picLocks noChangeAspect="1"/>
          </p:cNvPicPr>
          <p:nvPr/>
        </p:nvPicPr>
        <p:blipFill>
          <a:blip r:embed="rId5"/>
          <a:stretch>
            <a:fillRect/>
          </a:stretch>
        </p:blipFill>
        <p:spPr>
          <a:xfrm>
            <a:off x="841247" y="4846320"/>
            <a:ext cx="384048" cy="384048"/>
          </a:xfrm>
          <a:prstGeom prst="rect">
            <a:avLst/>
          </a:prstGeom>
        </p:spPr>
      </p:pic>
      <p:sp>
        <p:nvSpPr>
          <p:cNvPr id="27" name="TextBox 26">
            <a:hlinkClick action="ppaction://hlinksldjump" r:id="rId8"/>
          </p:cNvPr>
          <p:cNvSpPr txBox="1"/>
          <p:nvPr/>
        </p:nvSpPr>
        <p:spPr>
          <a:xfrm>
            <a:off x="1353312" y="484632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Immediate danger</a:t>
            </a:r>
          </a:p>
        </p:txBody>
      </p:sp>
      <p:sp>
        <p:nvSpPr>
          <p:cNvPr id="28" name="TextBox 27"/>
          <p:cNvSpPr txBox="1"/>
          <p:nvPr/>
        </p:nvSpPr>
        <p:spPr>
          <a:xfrm>
            <a:off x="859536" y="5495544"/>
            <a:ext cx="6144768" cy="950976"/>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Show clear emergency contact guidance. The application does not guarantee emergency response.</a:t>
            </a:r>
          </a:p>
        </p:txBody>
      </p:sp>
      <p:sp>
        <p:nvSpPr>
          <p:cNvPr id="29" name="Rounded Rectangle 28">
            <a:hlinkClick action="ppaction://hlinksldjump" r:id="rId9"/>
          </p:cNvPr>
          <p:cNvSpPr/>
          <p:nvPr/>
        </p:nvSpPr>
        <p:spPr>
          <a:xfrm>
            <a:off x="7406640" y="4663440"/>
            <a:ext cx="6583680" cy="190195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con_lock_62DAE8.png"/>
          <p:cNvPicPr>
            <a:picLocks noChangeAspect="1"/>
          </p:cNvPicPr>
          <p:nvPr/>
        </p:nvPicPr>
        <p:blipFill>
          <a:blip r:embed="rId6"/>
          <a:stretch>
            <a:fillRect/>
          </a:stretch>
        </p:blipFill>
        <p:spPr>
          <a:xfrm>
            <a:off x="7607808" y="4846320"/>
            <a:ext cx="384048" cy="384048"/>
          </a:xfrm>
          <a:prstGeom prst="rect">
            <a:avLst/>
          </a:prstGeom>
        </p:spPr>
      </p:pic>
      <p:sp>
        <p:nvSpPr>
          <p:cNvPr id="31" name="TextBox 30">
            <a:hlinkClick action="ppaction://hlinksldjump" r:id="rId9"/>
          </p:cNvPr>
          <p:cNvSpPr txBox="1"/>
          <p:nvPr/>
        </p:nvSpPr>
        <p:spPr>
          <a:xfrm>
            <a:off x="8119871" y="484632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Personal control</a:t>
            </a:r>
          </a:p>
        </p:txBody>
      </p:sp>
      <p:sp>
        <p:nvSpPr>
          <p:cNvPr id="32" name="TextBox 31"/>
          <p:cNvSpPr txBox="1"/>
          <p:nvPr/>
        </p:nvSpPr>
        <p:spPr>
          <a:xfrm>
            <a:off x="7626096" y="5495544"/>
            <a:ext cx="6144768" cy="950976"/>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 member can stop contact, report behaviour or request reassignment without public exposure.</a:t>
            </a:r>
          </a:p>
        </p:txBody>
      </p:sp>
      <p:sp>
        <p:nvSpPr>
          <p:cNvPr id="33" name="Rounded Rectangle 32"/>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MRM supplies incident classifications, response hours, authorised staff and escalation contacts.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Zakat assistance: referral, not an eligibility decision</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Consent, review and institutional handoff connect members to the relevant zakat authority.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REFERRAL SCREEN + PROPOSED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20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6_zakat_referrals.png"/>
          <p:cNvPicPr>
            <a:picLocks noChangeAspect="1"/>
          </p:cNvPicPr>
          <p:nvPr/>
        </p:nvPicPr>
        <p:blipFill>
          <a:blip r:embed="rId5"/>
          <a:srcRect b="59157"/>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Submit with consent</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Need, region and safe contact preference enter the MRM review queue.</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Coordinate referral</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Record recipient, reference, authorised sharing and partner follow-up.</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Authority decision</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Eligibility, approval and disbursement remain with the zakat authority. API access is conditional.</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Enquiry → review → referral → partner response → closure  •  No zakat collection/disbursement included</a:t>
            </a:r>
          </a:p>
        </p:txBody>
      </p:sp>
      <p:sp>
        <p:nvSpPr>
          <p:cNvPr id="30" name="Rounded Rectangle 29">
            <a:hlinkClick action="ppaction://hlinksldjump" r:id="rId7"/>
          </p:cNvPr>
          <p:cNvSpPr/>
          <p:nvPr/>
        </p:nvSpPr>
        <p:spPr>
          <a:xfrm>
            <a:off x="685800" y="2084831"/>
            <a:ext cx="1755648"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536192"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Zakat estimate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Recognition follows verified contribution</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Badges and ranks acknowledge service without overriding safeguarding or access permissions.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21 / 58</a:t>
            </a:r>
          </a:p>
        </p:txBody>
      </p:sp>
      <p:sp>
        <p:nvSpPr>
          <p:cNvPr id="14" name="Rounded Rectangle 13"/>
          <p:cNvSpPr/>
          <p:nvPr/>
        </p:nvSpPr>
        <p:spPr>
          <a:xfrm>
            <a:off x="640080" y="2606040"/>
            <a:ext cx="3076956" cy="2423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01</a:t>
            </a:r>
          </a:p>
        </p:txBody>
      </p:sp>
      <p:pic>
        <p:nvPicPr>
          <p:cNvPr id="16" name="Picture 15" descr="icon_people_E8C578.png"/>
          <p:cNvPicPr>
            <a:picLocks noChangeAspect="1"/>
          </p:cNvPicPr>
          <p:nvPr/>
        </p:nvPicPr>
        <p:blipFill>
          <a:blip r:embed="rId5"/>
          <a:stretch>
            <a:fillRect/>
          </a:stretch>
        </p:blipFill>
        <p:spPr>
          <a:xfrm>
            <a:off x="2967227" y="2779776"/>
            <a:ext cx="438912" cy="438912"/>
          </a:xfrm>
          <a:prstGeom prst="rect">
            <a:avLst/>
          </a:prstGeom>
        </p:spPr>
      </p:pic>
      <p:sp>
        <p:nvSpPr>
          <p:cNvPr id="17" name="TextBox 16"/>
          <p:cNvSpPr txBox="1"/>
          <p:nvPr/>
        </p:nvSpPr>
        <p:spPr>
          <a:xfrm>
            <a:off x="859536"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Record service</a:t>
            </a:r>
          </a:p>
        </p:txBody>
      </p:sp>
      <p:sp>
        <p:nvSpPr>
          <p:cNvPr id="18" name="TextBox 17"/>
          <p:cNvSpPr txBox="1"/>
          <p:nvPr/>
        </p:nvSpPr>
        <p:spPr>
          <a:xfrm>
            <a:off x="859536" y="4114800"/>
            <a:ext cx="2638044" cy="79552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Assignment outcome, approved event or training.</a:t>
            </a:r>
          </a:p>
        </p:txBody>
      </p:sp>
      <p:cxnSp>
        <p:nvCxnSpPr>
          <p:cNvPr id="19" name="Connector 18"/>
          <p:cNvCxnSpPr/>
          <p:nvPr/>
        </p:nvCxnSpPr>
        <p:spPr>
          <a:xfrm>
            <a:off x="3753611" y="3817620"/>
            <a:ext cx="274320"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606040"/>
            <a:ext cx="3076956" cy="2423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02</a:t>
            </a:r>
          </a:p>
        </p:txBody>
      </p:sp>
      <p:pic>
        <p:nvPicPr>
          <p:cNvPr id="22" name="Picture 21" descr="icon_shield_E8C578.png"/>
          <p:cNvPicPr>
            <a:picLocks noChangeAspect="1"/>
          </p:cNvPicPr>
          <p:nvPr/>
        </p:nvPicPr>
        <p:blipFill>
          <a:blip r:embed="rId6"/>
          <a:stretch>
            <a:fillRect/>
          </a:stretch>
        </p:blipFill>
        <p:spPr>
          <a:xfrm>
            <a:off x="6391655" y="2779776"/>
            <a:ext cx="438912" cy="438912"/>
          </a:xfrm>
          <a:prstGeom prst="rect">
            <a:avLst/>
          </a:prstGeom>
        </p:spPr>
      </p:pic>
      <p:sp>
        <p:nvSpPr>
          <p:cNvPr id="23" name="TextBox 22"/>
          <p:cNvSpPr txBox="1"/>
          <p:nvPr/>
        </p:nvSpPr>
        <p:spPr>
          <a:xfrm>
            <a:off x="4283964"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Verify contribution</a:t>
            </a:r>
          </a:p>
        </p:txBody>
      </p:sp>
      <p:sp>
        <p:nvSpPr>
          <p:cNvPr id="24" name="TextBox 23"/>
          <p:cNvSpPr txBox="1"/>
          <p:nvPr/>
        </p:nvSpPr>
        <p:spPr>
          <a:xfrm>
            <a:off x="4283964" y="4114800"/>
            <a:ext cx="2638044" cy="79552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Coordinator or permitted confirming party validates credit.</a:t>
            </a:r>
          </a:p>
        </p:txBody>
      </p:sp>
      <p:cxnSp>
        <p:nvCxnSpPr>
          <p:cNvPr id="25" name="Connector 24"/>
          <p:cNvCxnSpPr/>
          <p:nvPr/>
        </p:nvCxnSpPr>
        <p:spPr>
          <a:xfrm>
            <a:off x="7178039" y="3817620"/>
            <a:ext cx="274321"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606040"/>
            <a:ext cx="3076956" cy="2423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03</a:t>
            </a:r>
          </a:p>
        </p:txBody>
      </p:sp>
      <p:pic>
        <p:nvPicPr>
          <p:cNvPr id="28" name="Picture 27" descr="icon_gear_E8C578.png"/>
          <p:cNvPicPr>
            <a:picLocks noChangeAspect="1"/>
          </p:cNvPicPr>
          <p:nvPr/>
        </p:nvPicPr>
        <p:blipFill>
          <a:blip r:embed="rId7"/>
          <a:stretch>
            <a:fillRect/>
          </a:stretch>
        </p:blipFill>
        <p:spPr>
          <a:xfrm>
            <a:off x="9816084" y="2779776"/>
            <a:ext cx="438912" cy="438912"/>
          </a:xfrm>
          <a:prstGeom prst="rect">
            <a:avLst/>
          </a:prstGeom>
        </p:spPr>
      </p:pic>
      <p:sp>
        <p:nvSpPr>
          <p:cNvPr id="29" name="TextBox 28"/>
          <p:cNvSpPr txBox="1"/>
          <p:nvPr/>
        </p:nvSpPr>
        <p:spPr>
          <a:xfrm>
            <a:off x="7708392"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Apply MRM criteria</a:t>
            </a:r>
          </a:p>
        </p:txBody>
      </p:sp>
      <p:sp>
        <p:nvSpPr>
          <p:cNvPr id="30" name="TextBox 29"/>
          <p:cNvSpPr txBox="1"/>
          <p:nvPr/>
        </p:nvSpPr>
        <p:spPr>
          <a:xfrm>
            <a:off x="7708392" y="4114800"/>
            <a:ext cx="2638044" cy="79552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Configured thresholds, award basis and eligibility.</a:t>
            </a:r>
          </a:p>
        </p:txBody>
      </p:sp>
      <p:cxnSp>
        <p:nvCxnSpPr>
          <p:cNvPr id="31" name="Connector 30"/>
          <p:cNvCxnSpPr/>
          <p:nvPr/>
        </p:nvCxnSpPr>
        <p:spPr>
          <a:xfrm>
            <a:off x="10602467" y="3817620"/>
            <a:ext cx="274321"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606040"/>
            <a:ext cx="3076956" cy="2423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04</a:t>
            </a:r>
          </a:p>
        </p:txBody>
      </p:sp>
      <p:pic>
        <p:nvPicPr>
          <p:cNvPr id="34" name="Picture 33" descr="icon_star_E8C578.png"/>
          <p:cNvPicPr>
            <a:picLocks noChangeAspect="1"/>
          </p:cNvPicPr>
          <p:nvPr/>
        </p:nvPicPr>
        <p:blipFill>
          <a:blip r:embed="rId8"/>
          <a:stretch>
            <a:fillRect/>
          </a:stretch>
        </p:blipFill>
        <p:spPr>
          <a:xfrm>
            <a:off x="13240511" y="2779776"/>
            <a:ext cx="438912" cy="438912"/>
          </a:xfrm>
          <a:prstGeom prst="rect">
            <a:avLst/>
          </a:prstGeom>
        </p:spPr>
      </p:pic>
      <p:sp>
        <p:nvSpPr>
          <p:cNvPr id="35" name="TextBox 34"/>
          <p:cNvSpPr txBox="1"/>
          <p:nvPr/>
        </p:nvSpPr>
        <p:spPr>
          <a:xfrm>
            <a:off x="11132819"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Recognise</a:t>
            </a:r>
          </a:p>
        </p:txBody>
      </p:sp>
      <p:sp>
        <p:nvSpPr>
          <p:cNvPr id="36" name="TextBox 35"/>
          <p:cNvSpPr txBox="1"/>
          <p:nvPr/>
        </p:nvSpPr>
        <p:spPr>
          <a:xfrm>
            <a:off x="11132819" y="4114800"/>
            <a:ext cx="2638044" cy="79552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Show badges and service summary without beneficiary details.</a:t>
            </a:r>
          </a:p>
        </p:txBody>
      </p:sp>
      <p:sp>
        <p:nvSpPr>
          <p:cNvPr id="37" name="Rounded Rectangle 36">
            <a:hlinkClick action="ppaction://hlinksldjump" r:id="rId12"/>
          </p:cNvPr>
          <p:cNvSpPr/>
          <p:nvPr/>
        </p:nvSpPr>
        <p:spPr>
          <a:xfrm>
            <a:off x="640080" y="5394960"/>
            <a:ext cx="6583680" cy="13716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check_62DAE8.png"/>
          <p:cNvPicPr>
            <a:picLocks noChangeAspect="1"/>
          </p:cNvPicPr>
          <p:nvPr/>
        </p:nvPicPr>
        <p:blipFill>
          <a:blip r:embed="rId9"/>
          <a:stretch>
            <a:fillRect/>
          </a:stretch>
        </p:blipFill>
        <p:spPr>
          <a:xfrm>
            <a:off x="841247" y="5577840"/>
            <a:ext cx="329184" cy="329184"/>
          </a:xfrm>
          <a:prstGeom prst="rect">
            <a:avLst/>
          </a:prstGeom>
        </p:spPr>
      </p:pic>
      <p:sp>
        <p:nvSpPr>
          <p:cNvPr id="39" name="TextBox 38">
            <a:hlinkClick action="ppaction://hlinksldjump" r:id="rId12"/>
          </p:cNvPr>
          <p:cNvSpPr txBox="1"/>
          <p:nvPr/>
        </p:nvSpPr>
        <p:spPr>
          <a:xfrm>
            <a:off x="1353312" y="557784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Correction &amp; appeal</a:t>
            </a:r>
          </a:p>
        </p:txBody>
      </p:sp>
      <p:sp>
        <p:nvSpPr>
          <p:cNvPr id="40" name="TextBox 39"/>
          <p:cNvSpPr txBox="1"/>
          <p:nvPr/>
        </p:nvSpPr>
        <p:spPr>
          <a:xfrm>
            <a:off x="859536" y="6035040"/>
            <a:ext cx="6144768" cy="61264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Staff can correct or revoke credit and retain the reason.</a:t>
            </a:r>
          </a:p>
        </p:txBody>
      </p:sp>
      <p:sp>
        <p:nvSpPr>
          <p:cNvPr id="41" name="Rounded Rectangle 40">
            <a:hlinkClick action="ppaction://hlinksldjump" r:id="rId13"/>
          </p:cNvPr>
          <p:cNvSpPr/>
          <p:nvPr/>
        </p:nvSpPr>
        <p:spPr>
          <a:xfrm>
            <a:off x="7406640" y="5394960"/>
            <a:ext cx="6583680" cy="13716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shield_8DD8B1.png"/>
          <p:cNvPicPr>
            <a:picLocks noChangeAspect="1"/>
          </p:cNvPicPr>
          <p:nvPr/>
        </p:nvPicPr>
        <p:blipFill>
          <a:blip r:embed="rId10"/>
          <a:stretch>
            <a:fillRect/>
          </a:stretch>
        </p:blipFill>
        <p:spPr>
          <a:xfrm>
            <a:off x="7607808" y="5577840"/>
            <a:ext cx="329184" cy="329184"/>
          </a:xfrm>
          <a:prstGeom prst="rect">
            <a:avLst/>
          </a:prstGeom>
        </p:spPr>
      </p:pic>
      <p:sp>
        <p:nvSpPr>
          <p:cNvPr id="43" name="TextBox 42">
            <a:hlinkClick action="ppaction://hlinksldjump" r:id="rId13"/>
          </p:cNvPr>
          <p:cNvSpPr txBox="1"/>
          <p:nvPr/>
        </p:nvSpPr>
        <p:spPr>
          <a:xfrm>
            <a:off x="8119871" y="557784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Safe incentives</a:t>
            </a:r>
          </a:p>
        </p:txBody>
      </p:sp>
      <p:sp>
        <p:nvSpPr>
          <p:cNvPr id="44" name="TextBox 43"/>
          <p:cNvSpPr txBox="1"/>
          <p:nvPr/>
        </p:nvSpPr>
        <p:spPr>
          <a:xfrm>
            <a:off x="7626096" y="6035040"/>
            <a:ext cx="6144768" cy="61264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No sensitive-case priority from rank; no reward for risk or speed alone.</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Assignments [17] + verified participation [29] → contribution history → recognition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The volunteer participation loop</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 sustainable service connects preparation, suitable work, support and recognition.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PARTICIPATION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22 / 58</a:t>
            </a:r>
          </a:p>
        </p:txBody>
      </p:sp>
      <p:sp>
        <p:nvSpPr>
          <p:cNvPr id="14" name="Rounded Rectangle 13">
            <a:hlinkClick action="ppaction://hlinksldjump" r:id="rId10"/>
          </p:cNvPr>
          <p:cNvSpPr/>
          <p:nvPr/>
        </p:nvSpPr>
        <p:spPr>
          <a:xfrm>
            <a:off x="640080" y="2514600"/>
            <a:ext cx="4297680" cy="16916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book_62DAE8.png"/>
          <p:cNvPicPr>
            <a:picLocks noChangeAspect="1"/>
          </p:cNvPicPr>
          <p:nvPr/>
        </p:nvPicPr>
        <p:blipFill>
          <a:blip r:embed="rId5"/>
          <a:stretch>
            <a:fillRect/>
          </a:stretch>
        </p:blipFill>
        <p:spPr>
          <a:xfrm>
            <a:off x="841247" y="2697480"/>
            <a:ext cx="329184" cy="329184"/>
          </a:xfrm>
          <a:prstGeom prst="rect">
            <a:avLst/>
          </a:prstGeom>
        </p:spPr>
      </p:pic>
      <p:sp>
        <p:nvSpPr>
          <p:cNvPr id="16" name="TextBox 15">
            <a:hlinkClick action="ppaction://hlinksldjump" r:id="rId10"/>
          </p:cNvPr>
          <p:cNvSpPr txBox="1"/>
          <p:nvPr/>
        </p:nvSpPr>
        <p:spPr>
          <a:xfrm>
            <a:off x="1353312" y="2697480"/>
            <a:ext cx="341071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Prepare</a:t>
            </a:r>
          </a:p>
        </p:txBody>
      </p:sp>
      <p:sp>
        <p:nvSpPr>
          <p:cNvPr id="17" name="TextBox 16"/>
          <p:cNvSpPr txBox="1"/>
          <p:nvPr/>
        </p:nvSpPr>
        <p:spPr>
          <a:xfrm>
            <a:off x="859536" y="3154680"/>
            <a:ext cx="3858768" cy="9326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Apply, verify and learn MRM conduct rules</a:t>
            </a:r>
          </a:p>
        </p:txBody>
      </p:sp>
      <p:sp>
        <p:nvSpPr>
          <p:cNvPr id="18" name="Rounded Rectangle 17">
            <a:hlinkClick action="ppaction://hlinksldjump" r:id="rId11"/>
          </p:cNvPr>
          <p:cNvSpPr/>
          <p:nvPr/>
        </p:nvSpPr>
        <p:spPr>
          <a:xfrm>
            <a:off x="5166360" y="2514600"/>
            <a:ext cx="4297680" cy="16916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heart_62DAE8.png"/>
          <p:cNvPicPr>
            <a:picLocks noChangeAspect="1"/>
          </p:cNvPicPr>
          <p:nvPr/>
        </p:nvPicPr>
        <p:blipFill>
          <a:blip r:embed="rId6"/>
          <a:stretch>
            <a:fillRect/>
          </a:stretch>
        </p:blipFill>
        <p:spPr>
          <a:xfrm>
            <a:off x="5367528" y="2697480"/>
            <a:ext cx="329184" cy="329184"/>
          </a:xfrm>
          <a:prstGeom prst="rect">
            <a:avLst/>
          </a:prstGeom>
        </p:spPr>
      </p:pic>
      <p:sp>
        <p:nvSpPr>
          <p:cNvPr id="20" name="TextBox 19">
            <a:hlinkClick action="ppaction://hlinksldjump" r:id="rId11"/>
          </p:cNvPr>
          <p:cNvSpPr txBox="1"/>
          <p:nvPr/>
        </p:nvSpPr>
        <p:spPr>
          <a:xfrm>
            <a:off x="5879592" y="2697480"/>
            <a:ext cx="341071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Serve</a:t>
            </a:r>
          </a:p>
        </p:txBody>
      </p:sp>
      <p:sp>
        <p:nvSpPr>
          <p:cNvPr id="21" name="TextBox 20"/>
          <p:cNvSpPr txBox="1"/>
          <p:nvPr/>
        </p:nvSpPr>
        <p:spPr>
          <a:xfrm>
            <a:off x="5385816" y="3154680"/>
            <a:ext cx="3858768" cy="9326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Respond to suitable work and confirm assignment</a:t>
            </a:r>
          </a:p>
        </p:txBody>
      </p:sp>
      <p:sp>
        <p:nvSpPr>
          <p:cNvPr id="22" name="Rounded Rectangle 21">
            <a:hlinkClick action="ppaction://hlinksldjump" r:id="rId12"/>
          </p:cNvPr>
          <p:cNvSpPr/>
          <p:nvPr/>
        </p:nvSpPr>
        <p:spPr>
          <a:xfrm>
            <a:off x="9692640" y="2514600"/>
            <a:ext cx="4297680" cy="16916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shield_62DAE8.png"/>
          <p:cNvPicPr>
            <a:picLocks noChangeAspect="1"/>
          </p:cNvPicPr>
          <p:nvPr/>
        </p:nvPicPr>
        <p:blipFill>
          <a:blip r:embed="rId7"/>
          <a:stretch>
            <a:fillRect/>
          </a:stretch>
        </p:blipFill>
        <p:spPr>
          <a:xfrm>
            <a:off x="9893808" y="2697480"/>
            <a:ext cx="329184" cy="329184"/>
          </a:xfrm>
          <a:prstGeom prst="rect">
            <a:avLst/>
          </a:prstGeom>
        </p:spPr>
      </p:pic>
      <p:sp>
        <p:nvSpPr>
          <p:cNvPr id="24" name="TextBox 23">
            <a:hlinkClick action="ppaction://hlinksldjump" r:id="rId12"/>
          </p:cNvPr>
          <p:cNvSpPr txBox="1"/>
          <p:nvPr/>
        </p:nvSpPr>
        <p:spPr>
          <a:xfrm>
            <a:off x="10405872" y="2697480"/>
            <a:ext cx="341071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Follow up</a:t>
            </a:r>
          </a:p>
        </p:txBody>
      </p:sp>
      <p:sp>
        <p:nvSpPr>
          <p:cNvPr id="25" name="TextBox 24"/>
          <p:cNvSpPr txBox="1"/>
          <p:nvPr/>
        </p:nvSpPr>
        <p:spPr>
          <a:xfrm>
            <a:off x="9912096" y="3154680"/>
            <a:ext cx="3858768" cy="9326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Record progress and escalate concerns safely</a:t>
            </a:r>
          </a:p>
        </p:txBody>
      </p:sp>
      <p:sp>
        <p:nvSpPr>
          <p:cNvPr id="26" name="Rounded Rectangle 25">
            <a:hlinkClick action="ppaction://hlinksldjump" r:id="rId13"/>
          </p:cNvPr>
          <p:cNvSpPr/>
          <p:nvPr/>
        </p:nvSpPr>
        <p:spPr>
          <a:xfrm>
            <a:off x="5166360" y="4983480"/>
            <a:ext cx="4297680" cy="16916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tar_62DAE8.png"/>
          <p:cNvPicPr>
            <a:picLocks noChangeAspect="1"/>
          </p:cNvPicPr>
          <p:nvPr/>
        </p:nvPicPr>
        <p:blipFill>
          <a:blip r:embed="rId8"/>
          <a:stretch>
            <a:fillRect/>
          </a:stretch>
        </p:blipFill>
        <p:spPr>
          <a:xfrm>
            <a:off x="5367528" y="5166360"/>
            <a:ext cx="329184" cy="329184"/>
          </a:xfrm>
          <a:prstGeom prst="rect">
            <a:avLst/>
          </a:prstGeom>
        </p:spPr>
      </p:pic>
      <p:sp>
        <p:nvSpPr>
          <p:cNvPr id="28" name="TextBox 27">
            <a:hlinkClick action="ppaction://hlinksldjump" r:id="rId13"/>
          </p:cNvPr>
          <p:cNvSpPr txBox="1"/>
          <p:nvPr/>
        </p:nvSpPr>
        <p:spPr>
          <a:xfrm>
            <a:off x="5879592" y="5166360"/>
            <a:ext cx="341071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Recognise &amp; improve</a:t>
            </a:r>
          </a:p>
        </p:txBody>
      </p:sp>
      <p:sp>
        <p:nvSpPr>
          <p:cNvPr id="29" name="TextBox 28"/>
          <p:cNvSpPr txBox="1"/>
          <p:nvPr/>
        </p:nvSpPr>
        <p:spPr>
          <a:xfrm>
            <a:off x="5385816" y="5623560"/>
            <a:ext cx="3858768" cy="93268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Verified service and approved learning support growth</a:t>
            </a:r>
          </a:p>
        </p:txBody>
      </p:sp>
      <p:cxnSp>
        <p:nvCxnSpPr>
          <p:cNvPr id="30" name="Connector 29"/>
          <p:cNvCxnSpPr/>
          <p:nvPr/>
        </p:nvCxnSpPr>
        <p:spPr>
          <a:xfrm>
            <a:off x="4937760" y="3383280"/>
            <a:ext cx="22860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464040" y="3383280"/>
            <a:ext cx="22860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841480" y="4206240"/>
            <a:ext cx="0" cy="164592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464040" y="5852160"/>
            <a:ext cx="237744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788920" y="5852160"/>
            <a:ext cx="237744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88920" y="4206240"/>
            <a:ext cx="0" cy="164592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Availability and approval remain current; suspension immediately withholds eligible new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CARE &amp; VOLUNTEERING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Notifications connect people to the next action</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Alerts are role-aware and privacy-safe, with relevant detail opened inside the app.</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NOTIFICATION SCREEN + PROPOSED DELIVERY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23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8_notifications.png"/>
          <p:cNvPicPr>
            <a:picLocks noChangeAspect="1"/>
          </p:cNvPicPr>
          <p:nvPr/>
        </p:nvPicPr>
        <p:blipFill>
          <a:blip r:embed="rId5"/>
          <a:srcRect b="64624"/>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Relevant triggers</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Eligible request offers, assignment changes, class reminders and application updates.</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Safe payloads</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approximate areas and limited summaries. Keep sensitive descriptions off lock screens.</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Accountable delivery</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Record send status, respect preferences and return unattended cases to staff follow-up.</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Service event → eligibility check → safe alert → authorised detail → activity update [11]</a:t>
            </a:r>
          </a:p>
        </p:txBody>
      </p:sp>
      <p:sp>
        <p:nvSpPr>
          <p:cNvPr id="30" name="Rounded Rectangle 29">
            <a:hlinkClick action="ppaction://hlinksldjump" r:id="rId7"/>
          </p:cNvPr>
          <p:cNvSpPr/>
          <p:nvPr/>
        </p:nvSpPr>
        <p:spPr>
          <a:xfrm>
            <a:off x="685800" y="2084831"/>
            <a:ext cx="1311249"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091793"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Activity  › 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Learning for every Muslim</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programmes connect discovery, participation and continued learning.</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24 / 58</a:t>
            </a:r>
          </a:p>
        </p:txBody>
      </p:sp>
      <p:sp>
        <p:nvSpPr>
          <p:cNvPr id="14" name="Rounded Rectangle 13"/>
          <p:cNvSpPr/>
          <p:nvPr/>
        </p:nvSpPr>
        <p:spPr>
          <a:xfrm>
            <a:off x="640080" y="2542032"/>
            <a:ext cx="3076956" cy="2432304"/>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43200"/>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01</a:t>
            </a:r>
          </a:p>
        </p:txBody>
      </p:sp>
      <p:pic>
        <p:nvPicPr>
          <p:cNvPr id="16" name="Picture 15" descr="icon_book_C2A3FF.png"/>
          <p:cNvPicPr>
            <a:picLocks noChangeAspect="1"/>
          </p:cNvPicPr>
          <p:nvPr/>
        </p:nvPicPr>
        <p:blipFill>
          <a:blip r:embed="rId5"/>
          <a:stretch>
            <a:fillRect/>
          </a:stretch>
        </p:blipFill>
        <p:spPr>
          <a:xfrm>
            <a:off x="2967227" y="2715768"/>
            <a:ext cx="438912" cy="438912"/>
          </a:xfrm>
          <a:prstGeom prst="rect">
            <a:avLst/>
          </a:prstGeom>
        </p:spPr>
      </p:pic>
      <p:sp>
        <p:nvSpPr>
          <p:cNvPr id="17" name="TextBox 16"/>
          <p:cNvSpPr txBox="1"/>
          <p:nvPr/>
        </p:nvSpPr>
        <p:spPr>
          <a:xfrm>
            <a:off x="859536" y="3374136"/>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Discover</a:t>
            </a:r>
          </a:p>
        </p:txBody>
      </p:sp>
      <p:sp>
        <p:nvSpPr>
          <p:cNvPr id="18" name="TextBox 17"/>
          <p:cNvSpPr txBox="1"/>
          <p:nvPr/>
        </p:nvSpPr>
        <p:spPr>
          <a:xfrm>
            <a:off x="859536" y="4050791"/>
            <a:ext cx="2638044" cy="804672"/>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Browse by topic, language, teacher and programme.</a:t>
            </a:r>
          </a:p>
        </p:txBody>
      </p:sp>
      <p:cxnSp>
        <p:nvCxnSpPr>
          <p:cNvPr id="19" name="Connector 18"/>
          <p:cNvCxnSpPr/>
          <p:nvPr/>
        </p:nvCxnSpPr>
        <p:spPr>
          <a:xfrm>
            <a:off x="3753611" y="3758183"/>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42032"/>
            <a:ext cx="3076956" cy="2432304"/>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43200"/>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02</a:t>
            </a:r>
          </a:p>
        </p:txBody>
      </p:sp>
      <p:pic>
        <p:nvPicPr>
          <p:cNvPr id="22" name="Picture 21" descr="icon_clock_C2A3FF.png"/>
          <p:cNvPicPr>
            <a:picLocks noChangeAspect="1"/>
          </p:cNvPicPr>
          <p:nvPr/>
        </p:nvPicPr>
        <p:blipFill>
          <a:blip r:embed="rId6"/>
          <a:stretch>
            <a:fillRect/>
          </a:stretch>
        </p:blipFill>
        <p:spPr>
          <a:xfrm>
            <a:off x="6391655" y="2715768"/>
            <a:ext cx="438912" cy="438912"/>
          </a:xfrm>
          <a:prstGeom prst="rect">
            <a:avLst/>
          </a:prstGeom>
        </p:spPr>
      </p:pic>
      <p:sp>
        <p:nvSpPr>
          <p:cNvPr id="23" name="TextBox 22"/>
          <p:cNvSpPr txBox="1"/>
          <p:nvPr/>
        </p:nvSpPr>
        <p:spPr>
          <a:xfrm>
            <a:off x="4283964" y="3374136"/>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Understand</a:t>
            </a:r>
          </a:p>
        </p:txBody>
      </p:sp>
      <p:sp>
        <p:nvSpPr>
          <p:cNvPr id="24" name="TextBox 23"/>
          <p:cNvSpPr txBox="1"/>
          <p:nvPr/>
        </p:nvSpPr>
        <p:spPr>
          <a:xfrm>
            <a:off x="4283964" y="4050791"/>
            <a:ext cx="2638044" cy="804672"/>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View schedule, access rules and approved details.</a:t>
            </a:r>
          </a:p>
        </p:txBody>
      </p:sp>
      <p:cxnSp>
        <p:nvCxnSpPr>
          <p:cNvPr id="25" name="Connector 24"/>
          <p:cNvCxnSpPr/>
          <p:nvPr/>
        </p:nvCxnSpPr>
        <p:spPr>
          <a:xfrm>
            <a:off x="7178039" y="3758183"/>
            <a:ext cx="274321"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42032"/>
            <a:ext cx="3076956" cy="2432304"/>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43200"/>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03</a:t>
            </a:r>
          </a:p>
        </p:txBody>
      </p:sp>
      <p:pic>
        <p:nvPicPr>
          <p:cNvPr id="28" name="Picture 27" descr="icon_people_C2A3FF.png"/>
          <p:cNvPicPr>
            <a:picLocks noChangeAspect="1"/>
          </p:cNvPicPr>
          <p:nvPr/>
        </p:nvPicPr>
        <p:blipFill>
          <a:blip r:embed="rId7"/>
          <a:stretch>
            <a:fillRect/>
          </a:stretch>
        </p:blipFill>
        <p:spPr>
          <a:xfrm>
            <a:off x="9816084" y="2715768"/>
            <a:ext cx="438912" cy="438912"/>
          </a:xfrm>
          <a:prstGeom prst="rect">
            <a:avLst/>
          </a:prstGeom>
        </p:spPr>
      </p:pic>
      <p:sp>
        <p:nvSpPr>
          <p:cNvPr id="29" name="TextBox 28"/>
          <p:cNvSpPr txBox="1"/>
          <p:nvPr/>
        </p:nvSpPr>
        <p:spPr>
          <a:xfrm>
            <a:off x="7708392" y="3374136"/>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Participate</a:t>
            </a:r>
          </a:p>
        </p:txBody>
      </p:sp>
      <p:sp>
        <p:nvSpPr>
          <p:cNvPr id="30" name="TextBox 29"/>
          <p:cNvSpPr txBox="1"/>
          <p:nvPr/>
        </p:nvSpPr>
        <p:spPr>
          <a:xfrm>
            <a:off x="7708392" y="4050791"/>
            <a:ext cx="2638044" cy="804672"/>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Register where required and open the live session.</a:t>
            </a:r>
          </a:p>
        </p:txBody>
      </p:sp>
      <p:cxnSp>
        <p:nvCxnSpPr>
          <p:cNvPr id="31" name="Connector 30"/>
          <p:cNvCxnSpPr/>
          <p:nvPr/>
        </p:nvCxnSpPr>
        <p:spPr>
          <a:xfrm>
            <a:off x="10602467" y="3758183"/>
            <a:ext cx="274321"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42032"/>
            <a:ext cx="3076956" cy="2432304"/>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43200"/>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04</a:t>
            </a:r>
          </a:p>
        </p:txBody>
      </p:sp>
      <p:pic>
        <p:nvPicPr>
          <p:cNvPr id="34" name="Picture 33" descr="icon_route_C2A3FF.png"/>
          <p:cNvPicPr>
            <a:picLocks noChangeAspect="1"/>
          </p:cNvPicPr>
          <p:nvPr/>
        </p:nvPicPr>
        <p:blipFill>
          <a:blip r:embed="rId8"/>
          <a:stretch>
            <a:fillRect/>
          </a:stretch>
        </p:blipFill>
        <p:spPr>
          <a:xfrm>
            <a:off x="13240511" y="2715768"/>
            <a:ext cx="438912" cy="438912"/>
          </a:xfrm>
          <a:prstGeom prst="rect">
            <a:avLst/>
          </a:prstGeom>
        </p:spPr>
      </p:pic>
      <p:sp>
        <p:nvSpPr>
          <p:cNvPr id="35" name="TextBox 34"/>
          <p:cNvSpPr txBox="1"/>
          <p:nvPr/>
        </p:nvSpPr>
        <p:spPr>
          <a:xfrm>
            <a:off x="11132819" y="3374136"/>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Continue</a:t>
            </a:r>
          </a:p>
        </p:txBody>
      </p:sp>
      <p:sp>
        <p:nvSpPr>
          <p:cNvPr id="36" name="TextBox 35"/>
          <p:cNvSpPr txBox="1"/>
          <p:nvPr/>
        </p:nvSpPr>
        <p:spPr>
          <a:xfrm>
            <a:off x="11132819" y="4050791"/>
            <a:ext cx="2638044" cy="804672"/>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approved recordings and relevant resources.</a:t>
            </a:r>
          </a:p>
        </p:txBody>
      </p:sp>
      <p:sp>
        <p:nvSpPr>
          <p:cNvPr id="37" name="Rounded Rectangle 36">
            <a:hlinkClick action="ppaction://hlinksldjump" r:id="rId12"/>
          </p:cNvPr>
          <p:cNvSpPr/>
          <p:nvPr/>
        </p:nvSpPr>
        <p:spPr>
          <a:xfrm>
            <a:off x="640080" y="5367528"/>
            <a:ext cx="6583680" cy="13716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shield_62DAE8.png"/>
          <p:cNvPicPr>
            <a:picLocks noChangeAspect="1"/>
          </p:cNvPicPr>
          <p:nvPr/>
        </p:nvPicPr>
        <p:blipFill>
          <a:blip r:embed="rId9"/>
          <a:stretch>
            <a:fillRect/>
          </a:stretch>
        </p:blipFill>
        <p:spPr>
          <a:xfrm>
            <a:off x="841247" y="5550408"/>
            <a:ext cx="329184" cy="329184"/>
          </a:xfrm>
          <a:prstGeom prst="rect">
            <a:avLst/>
          </a:prstGeom>
        </p:spPr>
      </p:pic>
      <p:sp>
        <p:nvSpPr>
          <p:cNvPr id="39" name="TextBox 38">
            <a:hlinkClick action="ppaction://hlinksldjump" r:id="rId12"/>
          </p:cNvPr>
          <p:cNvSpPr txBox="1"/>
          <p:nvPr/>
        </p:nvSpPr>
        <p:spPr>
          <a:xfrm>
            <a:off x="1353312" y="5550408"/>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Trusted publication</a:t>
            </a:r>
          </a:p>
        </p:txBody>
      </p:sp>
      <p:sp>
        <p:nvSpPr>
          <p:cNvPr id="40" name="TextBox 39"/>
          <p:cNvSpPr txBox="1"/>
          <p:nvPr/>
        </p:nvSpPr>
        <p:spPr>
          <a:xfrm>
            <a:off x="859536" y="6007608"/>
            <a:ext cx="6144768" cy="61264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MRM approves religious material and teacher permissions.</a:t>
            </a:r>
          </a:p>
        </p:txBody>
      </p:sp>
      <p:sp>
        <p:nvSpPr>
          <p:cNvPr id="41" name="Rounded Rectangle 40">
            <a:hlinkClick action="ppaction://hlinksldjump" r:id="rId13"/>
          </p:cNvPr>
          <p:cNvSpPr/>
          <p:nvPr/>
        </p:nvSpPr>
        <p:spPr>
          <a:xfrm>
            <a:off x="7406640" y="5367528"/>
            <a:ext cx="6583680" cy="137160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moon_E8C578.png"/>
          <p:cNvPicPr>
            <a:picLocks noChangeAspect="1"/>
          </p:cNvPicPr>
          <p:nvPr/>
        </p:nvPicPr>
        <p:blipFill>
          <a:blip r:embed="rId10"/>
          <a:stretch>
            <a:fillRect/>
          </a:stretch>
        </p:blipFill>
        <p:spPr>
          <a:xfrm>
            <a:off x="7607808" y="5550408"/>
            <a:ext cx="329184" cy="329184"/>
          </a:xfrm>
          <a:prstGeom prst="rect">
            <a:avLst/>
          </a:prstGeom>
        </p:spPr>
      </p:pic>
      <p:sp>
        <p:nvSpPr>
          <p:cNvPr id="43" name="TextBox 42">
            <a:hlinkClick action="ppaction://hlinksldjump" r:id="rId13"/>
          </p:cNvPr>
          <p:cNvSpPr txBox="1"/>
          <p:nvPr/>
        </p:nvSpPr>
        <p:spPr>
          <a:xfrm>
            <a:off x="8119871" y="5550408"/>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Daily practice connection</a:t>
            </a:r>
          </a:p>
        </p:txBody>
      </p:sp>
      <p:sp>
        <p:nvSpPr>
          <p:cNvPr id="44" name="TextBox 43"/>
          <p:cNvSpPr txBox="1"/>
          <p:nvPr/>
        </p:nvSpPr>
        <p:spPr>
          <a:xfrm>
            <a:off x="7626096" y="6007608"/>
            <a:ext cx="6144768" cy="61264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Learning links to Quran, dua, prayer guidance and approved resources.</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Approved teacher [25] → moderated content [26] → programme [29] → member participation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Teachers: approval before publishing</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Teaching opportunities are governed by credentials, moderation and appropriate entitlements.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2"/>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TEACHER APPROVAL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25 / 58</a:t>
            </a:r>
          </a:p>
        </p:txBody>
      </p:sp>
      <p:sp>
        <p:nvSpPr>
          <p:cNvPr id="14" name="Rounded Rectangle 13"/>
          <p:cNvSpPr/>
          <p:nvPr/>
        </p:nvSpPr>
        <p:spPr>
          <a:xfrm>
            <a:off x="640080" y="2578608"/>
            <a:ext cx="2392070"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79776"/>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01</a:t>
            </a:r>
          </a:p>
        </p:txBody>
      </p:sp>
      <p:pic>
        <p:nvPicPr>
          <p:cNvPr id="16" name="Picture 15" descr="icon_people_C2A3FF.png"/>
          <p:cNvPicPr>
            <a:picLocks noChangeAspect="1"/>
          </p:cNvPicPr>
          <p:nvPr/>
        </p:nvPicPr>
        <p:blipFill>
          <a:blip r:embed="rId5"/>
          <a:stretch>
            <a:fillRect/>
          </a:stretch>
        </p:blipFill>
        <p:spPr>
          <a:xfrm>
            <a:off x="2282342" y="2752344"/>
            <a:ext cx="438912" cy="438912"/>
          </a:xfrm>
          <a:prstGeom prst="rect">
            <a:avLst/>
          </a:prstGeom>
        </p:spPr>
      </p:pic>
      <p:sp>
        <p:nvSpPr>
          <p:cNvPr id="17" name="TextBox 16"/>
          <p:cNvSpPr txBox="1"/>
          <p:nvPr/>
        </p:nvSpPr>
        <p:spPr>
          <a:xfrm>
            <a:off x="859536" y="3410712"/>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Apply</a:t>
            </a:r>
          </a:p>
        </p:txBody>
      </p:sp>
      <p:sp>
        <p:nvSpPr>
          <p:cNvPr id="18" name="TextBox 17"/>
          <p:cNvSpPr txBox="1"/>
          <p:nvPr/>
        </p:nvSpPr>
        <p:spPr>
          <a:xfrm>
            <a:off x="859536" y="4087368"/>
            <a:ext cx="1953158" cy="93268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Profile, subjects, languages, experience and evidence.</a:t>
            </a:r>
          </a:p>
        </p:txBody>
      </p:sp>
      <p:cxnSp>
        <p:nvCxnSpPr>
          <p:cNvPr id="19" name="Connector 18"/>
          <p:cNvCxnSpPr/>
          <p:nvPr/>
        </p:nvCxnSpPr>
        <p:spPr>
          <a:xfrm>
            <a:off x="3068726" y="3858768"/>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79622" y="2578608"/>
            <a:ext cx="2392070"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9078" y="2779776"/>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02</a:t>
            </a:r>
          </a:p>
        </p:txBody>
      </p:sp>
      <p:pic>
        <p:nvPicPr>
          <p:cNvPr id="22" name="Picture 21" descr="icon_shield_C2A3FF.png"/>
          <p:cNvPicPr>
            <a:picLocks noChangeAspect="1"/>
          </p:cNvPicPr>
          <p:nvPr/>
        </p:nvPicPr>
        <p:blipFill>
          <a:blip r:embed="rId6"/>
          <a:stretch>
            <a:fillRect/>
          </a:stretch>
        </p:blipFill>
        <p:spPr>
          <a:xfrm>
            <a:off x="5021884" y="2752344"/>
            <a:ext cx="438912" cy="438912"/>
          </a:xfrm>
          <a:prstGeom prst="rect">
            <a:avLst/>
          </a:prstGeom>
        </p:spPr>
      </p:pic>
      <p:sp>
        <p:nvSpPr>
          <p:cNvPr id="23" name="TextBox 22"/>
          <p:cNvSpPr txBox="1"/>
          <p:nvPr/>
        </p:nvSpPr>
        <p:spPr>
          <a:xfrm>
            <a:off x="3599078" y="3410712"/>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Review</a:t>
            </a:r>
          </a:p>
        </p:txBody>
      </p:sp>
      <p:sp>
        <p:nvSpPr>
          <p:cNvPr id="24" name="TextBox 23"/>
          <p:cNvSpPr txBox="1"/>
          <p:nvPr/>
        </p:nvSpPr>
        <p:spPr>
          <a:xfrm>
            <a:off x="3599078" y="4087368"/>
            <a:ext cx="1953158" cy="93268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MRM examines credentials and requests clarification.</a:t>
            </a:r>
          </a:p>
        </p:txBody>
      </p:sp>
      <p:cxnSp>
        <p:nvCxnSpPr>
          <p:cNvPr id="25" name="Connector 24"/>
          <p:cNvCxnSpPr/>
          <p:nvPr/>
        </p:nvCxnSpPr>
        <p:spPr>
          <a:xfrm>
            <a:off x="5808268" y="3858768"/>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119164" y="2578608"/>
            <a:ext cx="2392070"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8620" y="2779776"/>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03</a:t>
            </a:r>
          </a:p>
        </p:txBody>
      </p:sp>
      <p:pic>
        <p:nvPicPr>
          <p:cNvPr id="28" name="Picture 27" descr="icon_check_C2A3FF.png"/>
          <p:cNvPicPr>
            <a:picLocks noChangeAspect="1"/>
          </p:cNvPicPr>
          <p:nvPr/>
        </p:nvPicPr>
        <p:blipFill>
          <a:blip r:embed="rId7"/>
          <a:stretch>
            <a:fillRect/>
          </a:stretch>
        </p:blipFill>
        <p:spPr>
          <a:xfrm>
            <a:off x="7761427" y="2752344"/>
            <a:ext cx="438912" cy="438912"/>
          </a:xfrm>
          <a:prstGeom prst="rect">
            <a:avLst/>
          </a:prstGeom>
        </p:spPr>
      </p:pic>
      <p:sp>
        <p:nvSpPr>
          <p:cNvPr id="29" name="TextBox 28"/>
          <p:cNvSpPr txBox="1"/>
          <p:nvPr/>
        </p:nvSpPr>
        <p:spPr>
          <a:xfrm>
            <a:off x="6338620" y="3410712"/>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Approve</a:t>
            </a:r>
          </a:p>
        </p:txBody>
      </p:sp>
      <p:sp>
        <p:nvSpPr>
          <p:cNvPr id="30" name="TextBox 29"/>
          <p:cNvSpPr txBox="1"/>
          <p:nvPr/>
        </p:nvSpPr>
        <p:spPr>
          <a:xfrm>
            <a:off x="6338620" y="4087368"/>
            <a:ext cx="1953158" cy="93268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Teacher role enables a permitted workspace.</a:t>
            </a:r>
          </a:p>
        </p:txBody>
      </p:sp>
      <p:cxnSp>
        <p:nvCxnSpPr>
          <p:cNvPr id="31" name="Connector 30"/>
          <p:cNvCxnSpPr/>
          <p:nvPr/>
        </p:nvCxnSpPr>
        <p:spPr>
          <a:xfrm>
            <a:off x="8547811" y="3858768"/>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858707" y="2578608"/>
            <a:ext cx="2392070"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8163" y="2779776"/>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04</a:t>
            </a:r>
          </a:p>
        </p:txBody>
      </p:sp>
      <p:pic>
        <p:nvPicPr>
          <p:cNvPr id="34" name="Picture 33" descr="icon_card_C2A3FF.png"/>
          <p:cNvPicPr>
            <a:picLocks noChangeAspect="1"/>
          </p:cNvPicPr>
          <p:nvPr/>
        </p:nvPicPr>
        <p:blipFill>
          <a:blip r:embed="rId8"/>
          <a:stretch>
            <a:fillRect/>
          </a:stretch>
        </p:blipFill>
        <p:spPr>
          <a:xfrm>
            <a:off x="10500969" y="2752344"/>
            <a:ext cx="438912" cy="438912"/>
          </a:xfrm>
          <a:prstGeom prst="rect">
            <a:avLst/>
          </a:prstGeom>
        </p:spPr>
      </p:pic>
      <p:sp>
        <p:nvSpPr>
          <p:cNvPr id="35" name="TextBox 34"/>
          <p:cNvSpPr txBox="1"/>
          <p:nvPr/>
        </p:nvSpPr>
        <p:spPr>
          <a:xfrm>
            <a:off x="9078163" y="3410712"/>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Enable privileges</a:t>
            </a:r>
          </a:p>
        </p:txBody>
      </p:sp>
      <p:sp>
        <p:nvSpPr>
          <p:cNvPr id="36" name="TextBox 35"/>
          <p:cNvSpPr txBox="1"/>
          <p:nvPr/>
        </p:nvSpPr>
        <p:spPr>
          <a:xfrm>
            <a:off x="9078163" y="4087368"/>
            <a:ext cx="1953158" cy="93268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Applicable plan controls designated publishing.</a:t>
            </a:r>
          </a:p>
        </p:txBody>
      </p:sp>
      <p:cxnSp>
        <p:nvCxnSpPr>
          <p:cNvPr id="37" name="Connector 36"/>
          <p:cNvCxnSpPr/>
          <p:nvPr/>
        </p:nvCxnSpPr>
        <p:spPr>
          <a:xfrm>
            <a:off x="11287353" y="3858768"/>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1598249" y="2578608"/>
            <a:ext cx="2392070"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17705" y="2779776"/>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05</a:t>
            </a:r>
          </a:p>
        </p:txBody>
      </p:sp>
      <p:pic>
        <p:nvPicPr>
          <p:cNvPr id="40" name="Picture 39" descr="icon_book_C2A3FF.png"/>
          <p:cNvPicPr>
            <a:picLocks noChangeAspect="1"/>
          </p:cNvPicPr>
          <p:nvPr/>
        </p:nvPicPr>
        <p:blipFill>
          <a:blip r:embed="rId9"/>
          <a:stretch>
            <a:fillRect/>
          </a:stretch>
        </p:blipFill>
        <p:spPr>
          <a:xfrm>
            <a:off x="13240511" y="2752344"/>
            <a:ext cx="438912" cy="438912"/>
          </a:xfrm>
          <a:prstGeom prst="rect">
            <a:avLst/>
          </a:prstGeom>
        </p:spPr>
      </p:pic>
      <p:sp>
        <p:nvSpPr>
          <p:cNvPr id="41" name="TextBox 40"/>
          <p:cNvSpPr txBox="1"/>
          <p:nvPr/>
        </p:nvSpPr>
        <p:spPr>
          <a:xfrm>
            <a:off x="11817705" y="3410712"/>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Moderate</a:t>
            </a:r>
          </a:p>
        </p:txBody>
      </p:sp>
      <p:sp>
        <p:nvSpPr>
          <p:cNvPr id="42" name="TextBox 41"/>
          <p:cNvSpPr txBox="1"/>
          <p:nvPr/>
        </p:nvSpPr>
        <p:spPr>
          <a:xfrm>
            <a:off x="11817705" y="4087368"/>
            <a:ext cx="1953158" cy="93268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Submitted material is reviewed before publication.</a:t>
            </a:r>
          </a:p>
        </p:txBody>
      </p:sp>
      <p:sp>
        <p:nvSpPr>
          <p:cNvPr id="43" name="Rounded Rectangle 42">
            <a:hlinkClick action="ppaction://hlinksldjump" r:id="rId13"/>
          </p:cNvPr>
          <p:cNvSpPr/>
          <p:nvPr/>
        </p:nvSpPr>
        <p:spPr>
          <a:xfrm>
            <a:off x="640080" y="5458968"/>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on_people_62DAE8.png"/>
          <p:cNvPicPr>
            <a:picLocks noChangeAspect="1"/>
          </p:cNvPicPr>
          <p:nvPr/>
        </p:nvPicPr>
        <p:blipFill>
          <a:blip r:embed="rId10"/>
          <a:stretch>
            <a:fillRect/>
          </a:stretch>
        </p:blipFill>
        <p:spPr>
          <a:xfrm>
            <a:off x="841247" y="5641848"/>
            <a:ext cx="329184" cy="329184"/>
          </a:xfrm>
          <a:prstGeom prst="rect">
            <a:avLst/>
          </a:prstGeom>
        </p:spPr>
      </p:pic>
      <p:sp>
        <p:nvSpPr>
          <p:cNvPr id="45" name="TextBox 44">
            <a:hlinkClick action="ppaction://hlinksldjump" r:id="rId13"/>
          </p:cNvPr>
          <p:cNvSpPr txBox="1"/>
          <p:nvPr/>
        </p:nvSpPr>
        <p:spPr>
          <a:xfrm>
            <a:off x="1353312" y="5641848"/>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Professional presence</a:t>
            </a:r>
          </a:p>
        </p:txBody>
      </p:sp>
      <p:sp>
        <p:nvSpPr>
          <p:cNvPr id="46" name="TextBox 45"/>
          <p:cNvSpPr txBox="1"/>
          <p:nvPr/>
        </p:nvSpPr>
        <p:spPr>
          <a:xfrm>
            <a:off x="859536" y="6099048"/>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Approved profile and teaching opportunities connect learners to teachers.</a:t>
            </a:r>
          </a:p>
        </p:txBody>
      </p:sp>
      <p:sp>
        <p:nvSpPr>
          <p:cNvPr id="47" name="Rounded Rectangle 46">
            <a:hlinkClick action="ppaction://hlinksldjump" r:id="rId14"/>
          </p:cNvPr>
          <p:cNvSpPr/>
          <p:nvPr/>
        </p:nvSpPr>
        <p:spPr>
          <a:xfrm>
            <a:off x="7406640" y="5458968"/>
            <a:ext cx="6583680" cy="128016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on_lock_E8C578.png"/>
          <p:cNvPicPr>
            <a:picLocks noChangeAspect="1"/>
          </p:cNvPicPr>
          <p:nvPr/>
        </p:nvPicPr>
        <p:blipFill>
          <a:blip r:embed="rId11"/>
          <a:stretch>
            <a:fillRect/>
          </a:stretch>
        </p:blipFill>
        <p:spPr>
          <a:xfrm>
            <a:off x="7607808" y="5641848"/>
            <a:ext cx="329184" cy="329184"/>
          </a:xfrm>
          <a:prstGeom prst="rect">
            <a:avLst/>
          </a:prstGeom>
        </p:spPr>
      </p:pic>
      <p:sp>
        <p:nvSpPr>
          <p:cNvPr id="49" name="TextBox 48">
            <a:hlinkClick action="ppaction://hlinksldjump" r:id="rId14"/>
          </p:cNvPr>
          <p:cNvSpPr txBox="1"/>
          <p:nvPr/>
        </p:nvSpPr>
        <p:spPr>
          <a:xfrm>
            <a:off x="8119871" y="5641848"/>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Role boundary</a:t>
            </a:r>
          </a:p>
        </p:txBody>
      </p:sp>
      <p:sp>
        <p:nvSpPr>
          <p:cNvPr id="50" name="TextBox 49"/>
          <p:cNvSpPr txBox="1"/>
          <p:nvPr/>
        </p:nvSpPr>
        <p:spPr>
          <a:xfrm>
            <a:off x="7626096" y="6099048"/>
            <a:ext cx="6144768" cy="521207"/>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Teacher approval or payment never provides private support-case access.</a:t>
            </a:r>
          </a:p>
        </p:txBody>
      </p:sp>
      <p:sp>
        <p:nvSpPr>
          <p:cNvPr id="51" name="Rounded Rectangle 5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Teacher approval and payment entitlement are separate checks; neither substitutes for moderation.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Teaching opportunities and moderated content</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Teachers submit educational material and clearly identified teaching advertisements.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26 / 58</a:t>
            </a:r>
          </a:p>
        </p:txBody>
      </p:sp>
      <p:sp>
        <p:nvSpPr>
          <p:cNvPr id="14" name="Rounded Rectangle 13">
            <a:hlinkClick action="ppaction://hlinksldjump" r:id="rId10"/>
          </p:cNvPr>
          <p:cNvSpPr/>
          <p:nvPr/>
        </p:nvSpPr>
        <p:spPr>
          <a:xfrm>
            <a:off x="640080"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book_C2A3FF.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0"/>
          </p:cNvPr>
          <p:cNvSpPr txBox="1"/>
          <p:nvPr/>
        </p:nvSpPr>
        <p:spPr>
          <a:xfrm>
            <a:off x="1353312"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Educational posts</a:t>
            </a:r>
          </a:p>
        </p:txBody>
      </p:sp>
      <p:sp>
        <p:nvSpPr>
          <p:cNvPr id="17" name="TextBox 16"/>
          <p:cNvSpPr txBox="1"/>
          <p:nvPr/>
        </p:nvSpPr>
        <p:spPr>
          <a:xfrm>
            <a:off x="859536"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Approved articles and posts organised by subject and language.</a:t>
            </a:r>
          </a:p>
        </p:txBody>
      </p:sp>
      <p:sp>
        <p:nvSpPr>
          <p:cNvPr id="18" name="Rounded Rectangle 17">
            <a:hlinkClick action="ppaction://hlinksldjump" r:id="rId11"/>
          </p:cNvPr>
          <p:cNvSpPr/>
          <p:nvPr/>
        </p:nvSpPr>
        <p:spPr>
          <a:xfrm>
            <a:off x="7415783"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people_62DAE8.png"/>
          <p:cNvPicPr>
            <a:picLocks noChangeAspect="1"/>
          </p:cNvPicPr>
          <p:nvPr/>
        </p:nvPicPr>
        <p:blipFill>
          <a:blip r:embed="rId6"/>
          <a:stretch>
            <a:fillRect/>
          </a:stretch>
        </p:blipFill>
        <p:spPr>
          <a:xfrm>
            <a:off x="7616952" y="2606040"/>
            <a:ext cx="384048" cy="384048"/>
          </a:xfrm>
          <a:prstGeom prst="rect">
            <a:avLst/>
          </a:prstGeom>
        </p:spPr>
      </p:pic>
      <p:sp>
        <p:nvSpPr>
          <p:cNvPr id="20" name="TextBox 19">
            <a:hlinkClick action="ppaction://hlinksldjump" r:id="rId11"/>
          </p:cNvPr>
          <p:cNvSpPr txBox="1"/>
          <p:nvPr/>
        </p:nvSpPr>
        <p:spPr>
          <a:xfrm>
            <a:off x="8129015"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Teaching advertisements</a:t>
            </a:r>
          </a:p>
        </p:txBody>
      </p:sp>
      <p:sp>
        <p:nvSpPr>
          <p:cNvPr id="21" name="TextBox 20"/>
          <p:cNvSpPr txBox="1"/>
          <p:nvPr/>
        </p:nvSpPr>
        <p:spPr>
          <a:xfrm>
            <a:off x="7635240"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Teacher, offer, approved media and a clear enquiry route in learning areas.</a:t>
            </a:r>
          </a:p>
        </p:txBody>
      </p:sp>
      <p:sp>
        <p:nvSpPr>
          <p:cNvPr id="22" name="Rounded Rectangle 21">
            <a:hlinkClick action="ppaction://hlinksldjump" r:id="rId12"/>
          </p:cNvPr>
          <p:cNvSpPr/>
          <p:nvPr/>
        </p:nvSpPr>
        <p:spPr>
          <a:xfrm>
            <a:off x="640080"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clock_E8C578.png"/>
          <p:cNvPicPr>
            <a:picLocks noChangeAspect="1"/>
          </p:cNvPicPr>
          <p:nvPr/>
        </p:nvPicPr>
        <p:blipFill>
          <a:blip r:embed="rId7"/>
          <a:stretch>
            <a:fillRect/>
          </a:stretch>
        </p:blipFill>
        <p:spPr>
          <a:xfrm>
            <a:off x="841247" y="4832604"/>
            <a:ext cx="384048" cy="384048"/>
          </a:xfrm>
          <a:prstGeom prst="rect">
            <a:avLst/>
          </a:prstGeom>
        </p:spPr>
      </p:pic>
      <p:sp>
        <p:nvSpPr>
          <p:cNvPr id="24" name="TextBox 23">
            <a:hlinkClick action="ppaction://hlinksldjump" r:id="rId12"/>
          </p:cNvPr>
          <p:cNvSpPr txBox="1"/>
          <p:nvPr/>
        </p:nvSpPr>
        <p:spPr>
          <a:xfrm>
            <a:off x="1353312"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Classes &amp; recordings</a:t>
            </a:r>
          </a:p>
        </p:txBody>
      </p:sp>
      <p:sp>
        <p:nvSpPr>
          <p:cNvPr id="25" name="TextBox 24"/>
          <p:cNvSpPr txBox="1"/>
          <p:nvPr/>
        </p:nvSpPr>
        <p:spPr>
          <a:xfrm>
            <a:off x="859536"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Proposed programmes and lessons enter MRM’s review queue.</a:t>
            </a:r>
          </a:p>
        </p:txBody>
      </p:sp>
      <p:sp>
        <p:nvSpPr>
          <p:cNvPr id="26" name="Rounded Rectangle 25">
            <a:hlinkClick action="ppaction://hlinksldjump" r:id="rId13"/>
          </p:cNvPr>
          <p:cNvSpPr/>
          <p:nvPr/>
        </p:nvSpPr>
        <p:spPr>
          <a:xfrm>
            <a:off x="7415783"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hield_8DD8B1.png"/>
          <p:cNvPicPr>
            <a:picLocks noChangeAspect="1"/>
          </p:cNvPicPr>
          <p:nvPr/>
        </p:nvPicPr>
        <p:blipFill>
          <a:blip r:embed="rId8"/>
          <a:stretch>
            <a:fillRect/>
          </a:stretch>
        </p:blipFill>
        <p:spPr>
          <a:xfrm>
            <a:off x="7616952" y="4832604"/>
            <a:ext cx="384048" cy="384048"/>
          </a:xfrm>
          <a:prstGeom prst="rect">
            <a:avLst/>
          </a:prstGeom>
        </p:spPr>
      </p:pic>
      <p:sp>
        <p:nvSpPr>
          <p:cNvPr id="28" name="TextBox 27">
            <a:hlinkClick action="ppaction://hlinksldjump" r:id="rId13"/>
          </p:cNvPr>
          <p:cNvSpPr txBox="1"/>
          <p:nvPr/>
        </p:nvSpPr>
        <p:spPr>
          <a:xfrm>
            <a:off x="8129015"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Publication control</a:t>
            </a:r>
          </a:p>
        </p:txBody>
      </p:sp>
      <p:sp>
        <p:nvSpPr>
          <p:cNvPr id="29" name="TextBox 28"/>
          <p:cNvSpPr txBox="1"/>
          <p:nvPr/>
        </p:nvSpPr>
        <p:spPr>
          <a:xfrm>
            <a:off x="7635240"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Approve, return, schedule, reject, withdraw or archive with recorded outcomes.</a:t>
            </a:r>
          </a:p>
        </p:txBody>
      </p:sp>
      <p:sp>
        <p:nvSpPr>
          <p:cNvPr id="30" name="Rounded Rectangle 29"/>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Submit → review → revise if needed → publish → monitor  •  No teacher ads in private case screens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Teacher subscriptions: approval, payment, entitlement</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Only approved teachers use paid publishing plans. Member assistance and volunteering remain free.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5"/>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TEACHER SUBSCRIPTION FLOWCHART</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27 / 58</a:t>
            </a:r>
          </a:p>
        </p:txBody>
      </p:sp>
      <p:sp>
        <p:nvSpPr>
          <p:cNvPr id="14" name="Rounded Rectangle 13">
            <a:hlinkClick action="ppaction://hlinksldjump" r:id="rId6"/>
          </p:cNvPr>
          <p:cNvSpPr/>
          <p:nvPr/>
        </p:nvSpPr>
        <p:spPr>
          <a:xfrm>
            <a:off x="640080" y="2606040"/>
            <a:ext cx="2743200" cy="1371600"/>
          </a:xfrm>
          <a:prstGeom prst="roundRect">
            <a:avLst>
              <a:gd name="adj" fmla="val 12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786384" y="2752344"/>
            <a:ext cx="245059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Approved teacher</a:t>
            </a:r>
          </a:p>
        </p:txBody>
      </p:sp>
      <p:sp>
        <p:nvSpPr>
          <p:cNvPr id="16" name="TextBox 15"/>
          <p:cNvSpPr txBox="1"/>
          <p:nvPr/>
        </p:nvSpPr>
        <p:spPr>
          <a:xfrm>
            <a:off x="804671" y="3319272"/>
            <a:ext cx="241401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MRM approval is required</a:t>
            </a:r>
          </a:p>
        </p:txBody>
      </p:sp>
      <p:sp>
        <p:nvSpPr>
          <p:cNvPr id="17" name="Rounded Rectangle 16"/>
          <p:cNvSpPr/>
          <p:nvPr/>
        </p:nvSpPr>
        <p:spPr>
          <a:xfrm>
            <a:off x="3840480" y="2606040"/>
            <a:ext cx="3017520" cy="1371600"/>
          </a:xfrm>
          <a:prstGeom prst="roundRect">
            <a:avLst>
              <a:gd name="adj" fmla="val 12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6784" y="2752344"/>
            <a:ext cx="272491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Select plan</a:t>
            </a:r>
          </a:p>
        </p:txBody>
      </p:sp>
      <p:sp>
        <p:nvSpPr>
          <p:cNvPr id="19" name="TextBox 18"/>
          <p:cNvSpPr txBox="1"/>
          <p:nvPr/>
        </p:nvSpPr>
        <p:spPr>
          <a:xfrm>
            <a:off x="4005072" y="3319272"/>
            <a:ext cx="268833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MRM-defined period and allowances</a:t>
            </a:r>
          </a:p>
        </p:txBody>
      </p:sp>
      <p:sp>
        <p:nvSpPr>
          <p:cNvPr id="20" name="Rounded Rectangle 19"/>
          <p:cNvSpPr/>
          <p:nvPr/>
        </p:nvSpPr>
        <p:spPr>
          <a:xfrm>
            <a:off x="7315200" y="2606040"/>
            <a:ext cx="2834640" cy="1371600"/>
          </a:xfrm>
          <a:prstGeom prst="roundRect">
            <a:avLst>
              <a:gd name="adj" fmla="val 12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752344"/>
            <a:ext cx="254203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Applicable billing</a:t>
            </a:r>
          </a:p>
        </p:txBody>
      </p:sp>
      <p:sp>
        <p:nvSpPr>
          <p:cNvPr id="22" name="TextBox 21"/>
          <p:cNvSpPr txBox="1"/>
          <p:nvPr/>
        </p:nvSpPr>
        <p:spPr>
          <a:xfrm>
            <a:off x="7479792" y="3319272"/>
            <a:ext cx="250545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Client-owned app-store products</a:t>
            </a:r>
          </a:p>
        </p:txBody>
      </p:sp>
      <p:sp>
        <p:nvSpPr>
          <p:cNvPr id="23" name="Rounded Rectangle 22"/>
          <p:cNvSpPr/>
          <p:nvPr/>
        </p:nvSpPr>
        <p:spPr>
          <a:xfrm>
            <a:off x="10607040" y="2606040"/>
            <a:ext cx="3383280" cy="1371600"/>
          </a:xfrm>
          <a:prstGeom prst="roundRect">
            <a:avLst>
              <a:gd name="adj" fmla="val 12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53344" y="2752344"/>
            <a:ext cx="309067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Verify entitlement</a:t>
            </a:r>
          </a:p>
        </p:txBody>
      </p:sp>
      <p:sp>
        <p:nvSpPr>
          <p:cNvPr id="25" name="TextBox 24"/>
          <p:cNvSpPr txBox="1"/>
          <p:nvPr/>
        </p:nvSpPr>
        <p:spPr>
          <a:xfrm>
            <a:off x="10771632" y="3319272"/>
            <a:ext cx="305409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Server verifies active paid privileges</a:t>
            </a:r>
          </a:p>
        </p:txBody>
      </p:sp>
      <p:cxnSp>
        <p:nvCxnSpPr>
          <p:cNvPr id="26" name="Connector 25"/>
          <p:cNvCxnSpPr/>
          <p:nvPr/>
        </p:nvCxnSpPr>
        <p:spPr>
          <a:xfrm>
            <a:off x="3383280" y="3291840"/>
            <a:ext cx="45720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8000" y="3291840"/>
            <a:ext cx="45720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149840" y="3291840"/>
            <a:ext cx="45720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15200" y="4846320"/>
            <a:ext cx="2834640" cy="1371600"/>
          </a:xfrm>
          <a:prstGeom prst="roundRect">
            <a:avLst>
              <a:gd name="adj" fmla="val 12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1504" y="4992624"/>
            <a:ext cx="254203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Payment not verified</a:t>
            </a:r>
          </a:p>
        </p:txBody>
      </p:sp>
      <p:sp>
        <p:nvSpPr>
          <p:cNvPr id="31" name="TextBox 30"/>
          <p:cNvSpPr txBox="1"/>
          <p:nvPr/>
        </p:nvSpPr>
        <p:spPr>
          <a:xfrm>
            <a:off x="7479792" y="5559552"/>
            <a:ext cx="250545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No paid publishing privileges</a:t>
            </a:r>
          </a:p>
        </p:txBody>
      </p:sp>
      <p:sp>
        <p:nvSpPr>
          <p:cNvPr id="32" name="Rounded Rectangle 31">
            <a:hlinkClick action="ppaction://hlinksldjump" r:id="rId7"/>
          </p:cNvPr>
          <p:cNvSpPr/>
          <p:nvPr/>
        </p:nvSpPr>
        <p:spPr>
          <a:xfrm>
            <a:off x="10607040" y="4846320"/>
            <a:ext cx="3383280" cy="1371600"/>
          </a:xfrm>
          <a:prstGeom prst="roundRect">
            <a:avLst>
              <a:gd name="adj" fmla="val 12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a:hlinkClick action="ppaction://hlinksldjump" r:id="rId7"/>
          </p:cNvPr>
          <p:cNvSpPr txBox="1"/>
          <p:nvPr/>
        </p:nvSpPr>
        <p:spPr>
          <a:xfrm>
            <a:off x="10753344" y="4992624"/>
            <a:ext cx="3090672" cy="420624"/>
          </a:xfrm>
          <a:prstGeom prst="rect">
            <a:avLst/>
          </a:prstGeom>
          <a:noFill/>
        </p:spPr>
        <p:txBody>
          <a:bodyPr wrap="square" lIns="0" rIns="0" tIns="0" bIns="0">
            <a:spAutoFit/>
          </a:bodyPr>
          <a:lstStyle/>
          <a:p>
            <a:pPr algn="ctr">
              <a:spcAft>
                <a:spcPts val="700"/>
              </a:spcAft>
              <a:defRPr sz="1600" b="1">
                <a:solidFill>
                  <a:srgbClr val="F7F9FF"/>
                </a:solidFill>
                <a:latin typeface="DejaVu Sans"/>
              </a:defRPr>
            </a:pPr>
            <a:r>
              <a:t>Submit for moderation</a:t>
            </a:r>
          </a:p>
        </p:txBody>
      </p:sp>
      <p:sp>
        <p:nvSpPr>
          <p:cNvPr id="34" name="TextBox 33"/>
          <p:cNvSpPr txBox="1"/>
          <p:nvPr/>
        </p:nvSpPr>
        <p:spPr>
          <a:xfrm>
            <a:off x="10771632" y="5559552"/>
            <a:ext cx="3054096" cy="594360"/>
          </a:xfrm>
          <a:prstGeom prst="rect">
            <a:avLst/>
          </a:prstGeom>
          <a:noFill/>
        </p:spPr>
        <p:txBody>
          <a:bodyPr wrap="square" lIns="0" rIns="0" tIns="0" bIns="0">
            <a:spAutoFit/>
          </a:bodyPr>
          <a:lstStyle/>
          <a:p>
            <a:pPr algn="ctr">
              <a:spcAft>
                <a:spcPts val="700"/>
              </a:spcAft>
              <a:defRPr sz="1200" b="0">
                <a:solidFill>
                  <a:srgbClr val="BBC8DF"/>
                </a:solidFill>
                <a:latin typeface="DejaVu Sans"/>
              </a:defRPr>
            </a:pPr>
            <a:r>
              <a:t>Allowances checked before publication</a:t>
            </a:r>
          </a:p>
        </p:txBody>
      </p:sp>
      <p:cxnSp>
        <p:nvCxnSpPr>
          <p:cNvPr id="35" name="Connector 34"/>
          <p:cNvCxnSpPr/>
          <p:nvPr/>
        </p:nvCxnSpPr>
        <p:spPr>
          <a:xfrm>
            <a:off x="8732520" y="3977639"/>
            <a:ext cx="0" cy="868681"/>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298680" y="3977639"/>
            <a:ext cx="0" cy="868681"/>
          </a:xfrm>
          <a:prstGeom prst="line">
            <a:avLst/>
          </a:prstGeom>
          <a:ln w="20320">
            <a:solidFill>
              <a:srgbClr val="8DD8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9808" y="5010912"/>
            <a:ext cx="6035040" cy="1170432"/>
          </a:xfrm>
          <a:prstGeom prst="rect">
            <a:avLst/>
          </a:prstGeom>
          <a:noFill/>
        </p:spPr>
        <p:txBody>
          <a:bodyPr wrap="square" lIns="0" rIns="0" tIns="0" bIns="0">
            <a:spAutoFit/>
          </a:bodyPr>
          <a:lstStyle/>
          <a:p>
            <a:pPr>
              <a:spcAft>
                <a:spcPts val="700"/>
              </a:spcAft>
              <a:defRPr sz="1900" b="0">
                <a:solidFill>
                  <a:srgbClr val="BBC8DF"/>
                </a:solidFill>
                <a:latin typeface="DejaVu Sans"/>
              </a:defRPr>
            </a:pPr>
            <a:r>
              <a:t>A no-charge teacher plan can be configured initially. Paid activation depends on MRM policy and store readiness.</a:t>
            </a:r>
          </a:p>
        </p:txBody>
      </p:sp>
      <p:sp>
        <p:nvSpPr>
          <p:cNvPr id="38" name="Rounded Rectangle 3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Teacher approval → plan → verified entitlement → allowance checks → content moderation → publication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Subscription lifecycle: clear states and recovery</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Renewal, cancellation, failed payment and expiry require visible outcomes and verified entitlement.</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SUBSCRIPTION STATE MODEL</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28 / 58</a:t>
            </a:r>
          </a:p>
        </p:txBody>
      </p:sp>
      <p:sp>
        <p:nvSpPr>
          <p:cNvPr id="14" name="Rounded Rectangle 13"/>
          <p:cNvSpPr/>
          <p:nvPr/>
        </p:nvSpPr>
        <p:spPr>
          <a:xfrm>
            <a:off x="640080" y="2560320"/>
            <a:ext cx="3076956"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01</a:t>
            </a:r>
          </a:p>
        </p:txBody>
      </p:sp>
      <p:pic>
        <p:nvPicPr>
          <p:cNvPr id="16" name="Picture 15" descr="icon_card_C2A3FF.png"/>
          <p:cNvPicPr>
            <a:picLocks noChangeAspect="1"/>
          </p:cNvPicPr>
          <p:nvPr/>
        </p:nvPicPr>
        <p:blipFill>
          <a:blip r:embed="rId5"/>
          <a:stretch>
            <a:fillRect/>
          </a:stretch>
        </p:blipFill>
        <p:spPr>
          <a:xfrm>
            <a:off x="2967227" y="2734056"/>
            <a:ext cx="438912" cy="438912"/>
          </a:xfrm>
          <a:prstGeom prst="rect">
            <a:avLst/>
          </a:prstGeom>
        </p:spPr>
      </p:pic>
      <p:sp>
        <p:nvSpPr>
          <p:cNvPr id="17" name="TextBox 16"/>
          <p:cNvSpPr txBox="1"/>
          <p:nvPr/>
        </p:nvSpPr>
        <p:spPr>
          <a:xfrm>
            <a:off x="859536"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Active</a:t>
            </a:r>
          </a:p>
        </p:txBody>
      </p:sp>
      <p:sp>
        <p:nvSpPr>
          <p:cNvPr id="18" name="TextBox 17"/>
          <p:cNvSpPr txBox="1"/>
          <p:nvPr/>
        </p:nvSpPr>
        <p:spPr>
          <a:xfrm>
            <a:off x="859536" y="4069079"/>
            <a:ext cx="2638044" cy="97840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Publishing within plan allowances; show status and renewal.</a:t>
            </a:r>
          </a:p>
        </p:txBody>
      </p:sp>
      <p:cxnSp>
        <p:nvCxnSpPr>
          <p:cNvPr id="19" name="Connector 18"/>
          <p:cNvCxnSpPr/>
          <p:nvPr/>
        </p:nvCxnSpPr>
        <p:spPr>
          <a:xfrm>
            <a:off x="3753611" y="3863339"/>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60320"/>
            <a:ext cx="3076956"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02</a:t>
            </a:r>
          </a:p>
        </p:txBody>
      </p:sp>
      <p:pic>
        <p:nvPicPr>
          <p:cNvPr id="22" name="Picture 21" descr="icon_clock_C2A3FF.png"/>
          <p:cNvPicPr>
            <a:picLocks noChangeAspect="1"/>
          </p:cNvPicPr>
          <p:nvPr/>
        </p:nvPicPr>
        <p:blipFill>
          <a:blip r:embed="rId6"/>
          <a:stretch>
            <a:fillRect/>
          </a:stretch>
        </p:blipFill>
        <p:spPr>
          <a:xfrm>
            <a:off x="6391655" y="2734056"/>
            <a:ext cx="438912" cy="438912"/>
          </a:xfrm>
          <a:prstGeom prst="rect">
            <a:avLst/>
          </a:prstGeom>
        </p:spPr>
      </p:pic>
      <p:sp>
        <p:nvSpPr>
          <p:cNvPr id="23" name="TextBox 22"/>
          <p:cNvSpPr txBox="1"/>
          <p:nvPr/>
        </p:nvSpPr>
        <p:spPr>
          <a:xfrm>
            <a:off x="4283964"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Renew / cancel</a:t>
            </a:r>
          </a:p>
        </p:txBody>
      </p:sp>
      <p:sp>
        <p:nvSpPr>
          <p:cNvPr id="24" name="TextBox 23"/>
          <p:cNvSpPr txBox="1"/>
          <p:nvPr/>
        </p:nvSpPr>
        <p:spPr>
          <a:xfrm>
            <a:off x="4283964" y="4069079"/>
            <a:ext cx="2638044" cy="97840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applicable store management and confirmation.</a:t>
            </a:r>
          </a:p>
        </p:txBody>
      </p:sp>
      <p:cxnSp>
        <p:nvCxnSpPr>
          <p:cNvPr id="25" name="Connector 24"/>
          <p:cNvCxnSpPr/>
          <p:nvPr/>
        </p:nvCxnSpPr>
        <p:spPr>
          <a:xfrm>
            <a:off x="7178039" y="3863339"/>
            <a:ext cx="274321"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60320"/>
            <a:ext cx="3076956"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03</a:t>
            </a:r>
          </a:p>
        </p:txBody>
      </p:sp>
      <p:pic>
        <p:nvPicPr>
          <p:cNvPr id="28" name="Picture 27" descr="icon_shield_C2A3FF.png"/>
          <p:cNvPicPr>
            <a:picLocks noChangeAspect="1"/>
          </p:cNvPicPr>
          <p:nvPr/>
        </p:nvPicPr>
        <p:blipFill>
          <a:blip r:embed="rId7"/>
          <a:stretch>
            <a:fillRect/>
          </a:stretch>
        </p:blipFill>
        <p:spPr>
          <a:xfrm>
            <a:off x="9816084" y="2734056"/>
            <a:ext cx="438912" cy="438912"/>
          </a:xfrm>
          <a:prstGeom prst="rect">
            <a:avLst/>
          </a:prstGeom>
        </p:spPr>
      </p:pic>
      <p:sp>
        <p:nvSpPr>
          <p:cNvPr id="29" name="TextBox 28"/>
          <p:cNvSpPr txBox="1"/>
          <p:nvPr/>
        </p:nvSpPr>
        <p:spPr>
          <a:xfrm>
            <a:off x="7708392"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Verify changes</a:t>
            </a:r>
          </a:p>
        </p:txBody>
      </p:sp>
      <p:sp>
        <p:nvSpPr>
          <p:cNvPr id="30" name="TextBox 29"/>
          <p:cNvSpPr txBox="1"/>
          <p:nvPr/>
        </p:nvSpPr>
        <p:spPr>
          <a:xfrm>
            <a:off x="7708392" y="4069079"/>
            <a:ext cx="2638044" cy="97840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Process payment, cancellation and expiry updates.</a:t>
            </a:r>
          </a:p>
        </p:txBody>
      </p:sp>
      <p:cxnSp>
        <p:nvCxnSpPr>
          <p:cNvPr id="31" name="Connector 30"/>
          <p:cNvCxnSpPr/>
          <p:nvPr/>
        </p:nvCxnSpPr>
        <p:spPr>
          <a:xfrm>
            <a:off x="10602467" y="3863339"/>
            <a:ext cx="274321"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60320"/>
            <a:ext cx="3076956"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04</a:t>
            </a:r>
          </a:p>
        </p:txBody>
      </p:sp>
      <p:pic>
        <p:nvPicPr>
          <p:cNvPr id="34" name="Picture 33" descr="icon_lock_C2A3FF.png"/>
          <p:cNvPicPr>
            <a:picLocks noChangeAspect="1"/>
          </p:cNvPicPr>
          <p:nvPr/>
        </p:nvPicPr>
        <p:blipFill>
          <a:blip r:embed="rId8"/>
          <a:stretch>
            <a:fillRect/>
          </a:stretch>
        </p:blipFill>
        <p:spPr>
          <a:xfrm>
            <a:off x="13240511" y="2734056"/>
            <a:ext cx="438912" cy="438912"/>
          </a:xfrm>
          <a:prstGeom prst="rect">
            <a:avLst/>
          </a:prstGeom>
        </p:spPr>
      </p:pic>
      <p:sp>
        <p:nvSpPr>
          <p:cNvPr id="35" name="TextBox 34"/>
          <p:cNvSpPr txBox="1"/>
          <p:nvPr/>
        </p:nvSpPr>
        <p:spPr>
          <a:xfrm>
            <a:off x="11132819"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Apply entitlement</a:t>
            </a:r>
          </a:p>
        </p:txBody>
      </p:sp>
      <p:sp>
        <p:nvSpPr>
          <p:cNvPr id="36" name="TextBox 35"/>
          <p:cNvSpPr txBox="1"/>
          <p:nvPr/>
        </p:nvSpPr>
        <p:spPr>
          <a:xfrm>
            <a:off x="11132819" y="4069079"/>
            <a:ext cx="2638044" cy="97840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Pause paid privileges when entitlement ends.</a:t>
            </a:r>
          </a:p>
        </p:txBody>
      </p:sp>
      <p:sp>
        <p:nvSpPr>
          <p:cNvPr id="37" name="Rounded Rectangle 36">
            <a:hlinkClick action="ppaction://hlinksldjump" r:id="rId12"/>
          </p:cNvPr>
          <p:cNvSpPr/>
          <p:nvPr/>
        </p:nvSpPr>
        <p:spPr>
          <a:xfrm>
            <a:off x="640080" y="5468112"/>
            <a:ext cx="6583680" cy="130759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route_62DAE8.png"/>
          <p:cNvPicPr>
            <a:picLocks noChangeAspect="1"/>
          </p:cNvPicPr>
          <p:nvPr/>
        </p:nvPicPr>
        <p:blipFill>
          <a:blip r:embed="rId9"/>
          <a:stretch>
            <a:fillRect/>
          </a:stretch>
        </p:blipFill>
        <p:spPr>
          <a:xfrm>
            <a:off x="841247" y="5650992"/>
            <a:ext cx="329184" cy="329184"/>
          </a:xfrm>
          <a:prstGeom prst="rect">
            <a:avLst/>
          </a:prstGeom>
        </p:spPr>
      </p:pic>
      <p:sp>
        <p:nvSpPr>
          <p:cNvPr id="39" name="TextBox 38">
            <a:hlinkClick action="ppaction://hlinksldjump" r:id="rId12"/>
          </p:cNvPr>
          <p:cNvSpPr txBox="1"/>
          <p:nvPr/>
        </p:nvSpPr>
        <p:spPr>
          <a:xfrm>
            <a:off x="1353312"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Restore eligible purchases</a:t>
            </a:r>
          </a:p>
        </p:txBody>
      </p:sp>
      <p:sp>
        <p:nvSpPr>
          <p:cNvPr id="40" name="TextBox 39"/>
          <p:cNvSpPr txBox="1"/>
          <p:nvPr/>
        </p:nvSpPr>
        <p:spPr>
          <a:xfrm>
            <a:off x="859536" y="6108192"/>
            <a:ext cx="6144768" cy="548640"/>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Reconnect a permitted purchase to the approved teacher account.</a:t>
            </a:r>
          </a:p>
        </p:txBody>
      </p:sp>
      <p:sp>
        <p:nvSpPr>
          <p:cNvPr id="41" name="Rounded Rectangle 40">
            <a:hlinkClick action="ppaction://hlinksldjump" r:id="rId13"/>
          </p:cNvPr>
          <p:cNvSpPr/>
          <p:nvPr/>
        </p:nvSpPr>
        <p:spPr>
          <a:xfrm>
            <a:off x="7406640" y="5468112"/>
            <a:ext cx="6583680" cy="130759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book_E8C578.png"/>
          <p:cNvPicPr>
            <a:picLocks noChangeAspect="1"/>
          </p:cNvPicPr>
          <p:nvPr/>
        </p:nvPicPr>
        <p:blipFill>
          <a:blip r:embed="rId10"/>
          <a:stretch>
            <a:fillRect/>
          </a:stretch>
        </p:blipFill>
        <p:spPr>
          <a:xfrm>
            <a:off x="7607808" y="5650992"/>
            <a:ext cx="329184" cy="329184"/>
          </a:xfrm>
          <a:prstGeom prst="rect">
            <a:avLst/>
          </a:prstGeom>
        </p:spPr>
      </p:pic>
      <p:sp>
        <p:nvSpPr>
          <p:cNvPr id="43" name="TextBox 42">
            <a:hlinkClick action="ppaction://hlinksldjump" r:id="rId13"/>
          </p:cNvPr>
          <p:cNvSpPr txBox="1"/>
          <p:nvPr/>
        </p:nvSpPr>
        <p:spPr>
          <a:xfrm>
            <a:off x="8119871"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Preserve history</a:t>
            </a:r>
          </a:p>
        </p:txBody>
      </p:sp>
      <p:sp>
        <p:nvSpPr>
          <p:cNvPr id="44" name="TextBox 43"/>
          <p:cNvSpPr txBox="1"/>
          <p:nvPr/>
        </p:nvSpPr>
        <p:spPr>
          <a:xfrm>
            <a:off x="7626096" y="6108192"/>
            <a:ext cx="6144768" cy="548640"/>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Keep the account and approved historical content; confirm visibility policy before launch.</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Plan prices and allowances are configured by MRM; the deck does not invent subscription tiers or prices.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Classes, events and approved recordings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Live sessions and recorded resources are connected through moderated programme information.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LEARNING SCREEN + PROPOSED JOURNEY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29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5_learning_events.png"/>
          <p:cNvPicPr>
            <a:picLocks noChangeAspect="1"/>
          </p:cNvPicPr>
          <p:nvPr/>
        </p:nvPicPr>
        <p:blipFill>
          <a:blip r:embed="rId5"/>
          <a:srcRect b="71441"/>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Prepare programme</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Subject, teacher, language, schedule, access rules and approved media.</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Review &amp; publish</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MRM approves content and rights before users browse or register.</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Attend &amp; revisit</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Reminders link to sessions; approved recordings support later learning. External meeting links may be used.</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Teacher workspace [25] → MRM moderation [26] → programme → reminders [23] → learner access [24]</a:t>
            </a:r>
          </a:p>
        </p:txBody>
      </p:sp>
      <p:sp>
        <p:nvSpPr>
          <p:cNvPr id="30" name="Rounded Rectangle 29">
            <a:hlinkClick action="ppaction://hlinksldjump" r:id="rId7"/>
          </p:cNvPr>
          <p:cNvSpPr/>
          <p:nvPr/>
        </p:nvSpPr>
        <p:spPr>
          <a:xfrm>
            <a:off x="685800" y="2084831"/>
            <a:ext cx="1829714"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610258"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Learner journey  › 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Sponsors: recognition with clear boundaries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sponsor placements support MRM without influencing care, guidance or zakat decisions.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SPONSOR SCREEN + PROPOSED PLACEMENTS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30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7_sponsors.png"/>
          <p:cNvPicPr>
            <a:picLocks noChangeAspect="1"/>
          </p:cNvPicPr>
          <p:nvPr/>
        </p:nvPicPr>
        <p:blipFill>
          <a:blip r:embed="rId5"/>
          <a:srcRect b="66935"/>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Approve sponsor assets</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MRM confirms sponsor details, logos, creatives and destination links.</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Schedule recognition</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Set placement, start/end dates and publication state; identify sponsor material clearly.</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Report responsibly</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Aggregate views/clicks only. External marketing and launch publication remain MRM responsibilities.</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Sponsor agreement → approved assets → time-limited placement → aggregate reporting [46]</a:t>
            </a:r>
          </a:p>
        </p:txBody>
      </p:sp>
      <p:sp>
        <p:nvSpPr>
          <p:cNvPr id="30" name="Rounded Rectangle 29">
            <a:hlinkClick action="ppaction://hlinksldjump" r:id="rId7"/>
          </p:cNvPr>
          <p:cNvSpPr/>
          <p:nvPr/>
        </p:nvSpPr>
        <p:spPr>
          <a:xfrm>
            <a:off x="685800" y="2084831"/>
            <a:ext cx="1385316"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165860"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Reporting  › 46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&amp; REVENUE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The website opens the door to the platform</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Public discovery supports all Muslims, prospective volunteers, teachers, partners and sponsors.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WEBSITE INFORMATION ARCHITECTURE</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31 / 58</a:t>
            </a:r>
          </a:p>
        </p:txBody>
      </p:sp>
      <p:sp>
        <p:nvSpPr>
          <p:cNvPr id="14" name="Rounded Rectangle 13">
            <a:hlinkClick action="ppaction://hlinksldjump" r:id="rId10"/>
          </p:cNvPr>
          <p:cNvSpPr/>
          <p:nvPr/>
        </p:nvSpPr>
        <p:spPr>
          <a:xfrm>
            <a:off x="640080"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globe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0"/>
          </p:cNvPr>
          <p:cNvSpPr txBox="1"/>
          <p:nvPr/>
        </p:nvSpPr>
        <p:spPr>
          <a:xfrm>
            <a:off x="1353312"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Discover MRM</a:t>
            </a:r>
          </a:p>
        </p:txBody>
      </p:sp>
      <p:sp>
        <p:nvSpPr>
          <p:cNvPr id="17" name="TextBox 16"/>
          <p:cNvSpPr txBox="1"/>
          <p:nvPr/>
        </p:nvSpPr>
        <p:spPr>
          <a:xfrm>
            <a:off x="859536"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Home, mission, programmes, approved resources and public contact information.</a:t>
            </a:r>
          </a:p>
        </p:txBody>
      </p:sp>
      <p:sp>
        <p:nvSpPr>
          <p:cNvPr id="18" name="Rounded Rectangle 17">
            <a:hlinkClick action="ppaction://hlinksldjump" r:id="rId11"/>
          </p:cNvPr>
          <p:cNvSpPr/>
          <p:nvPr/>
        </p:nvSpPr>
        <p:spPr>
          <a:xfrm>
            <a:off x="7415783"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people_8DD8B1.png"/>
          <p:cNvPicPr>
            <a:picLocks noChangeAspect="1"/>
          </p:cNvPicPr>
          <p:nvPr/>
        </p:nvPicPr>
        <p:blipFill>
          <a:blip r:embed="rId6"/>
          <a:stretch>
            <a:fillRect/>
          </a:stretch>
        </p:blipFill>
        <p:spPr>
          <a:xfrm>
            <a:off x="7616952" y="2606040"/>
            <a:ext cx="384048" cy="384048"/>
          </a:xfrm>
          <a:prstGeom prst="rect">
            <a:avLst/>
          </a:prstGeom>
        </p:spPr>
      </p:pic>
      <p:sp>
        <p:nvSpPr>
          <p:cNvPr id="20" name="TextBox 19">
            <a:hlinkClick action="ppaction://hlinksldjump" r:id="rId11"/>
          </p:cNvPr>
          <p:cNvSpPr txBox="1"/>
          <p:nvPr/>
        </p:nvSpPr>
        <p:spPr>
          <a:xfrm>
            <a:off x="8129015"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Participate</a:t>
            </a:r>
          </a:p>
        </p:txBody>
      </p:sp>
      <p:sp>
        <p:nvSpPr>
          <p:cNvPr id="21" name="TextBox 20"/>
          <p:cNvSpPr txBox="1"/>
          <p:nvPr/>
        </p:nvSpPr>
        <p:spPr>
          <a:xfrm>
            <a:off x="7635240"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Support routes, volunteer information, teacher applications and app download links.</a:t>
            </a:r>
          </a:p>
        </p:txBody>
      </p:sp>
      <p:sp>
        <p:nvSpPr>
          <p:cNvPr id="22" name="Rounded Rectangle 21">
            <a:hlinkClick action="ppaction://hlinksldjump" r:id="rId12"/>
          </p:cNvPr>
          <p:cNvSpPr/>
          <p:nvPr/>
        </p:nvSpPr>
        <p:spPr>
          <a:xfrm>
            <a:off x="640080"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book_C2A3FF.png"/>
          <p:cNvPicPr>
            <a:picLocks noChangeAspect="1"/>
          </p:cNvPicPr>
          <p:nvPr/>
        </p:nvPicPr>
        <p:blipFill>
          <a:blip r:embed="rId7"/>
          <a:stretch>
            <a:fillRect/>
          </a:stretch>
        </p:blipFill>
        <p:spPr>
          <a:xfrm>
            <a:off x="841247" y="4832604"/>
            <a:ext cx="384048" cy="384048"/>
          </a:xfrm>
          <a:prstGeom prst="rect">
            <a:avLst/>
          </a:prstGeom>
        </p:spPr>
      </p:pic>
      <p:sp>
        <p:nvSpPr>
          <p:cNvPr id="24" name="TextBox 23">
            <a:hlinkClick action="ppaction://hlinksldjump" r:id="rId12"/>
          </p:cNvPr>
          <p:cNvSpPr txBox="1"/>
          <p:nvPr/>
        </p:nvSpPr>
        <p:spPr>
          <a:xfrm>
            <a:off x="1353312"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Learn &amp; attend</a:t>
            </a:r>
          </a:p>
        </p:txBody>
      </p:sp>
      <p:sp>
        <p:nvSpPr>
          <p:cNvPr id="25" name="TextBox 24"/>
          <p:cNvSpPr txBox="1"/>
          <p:nvPr/>
        </p:nvSpPr>
        <p:spPr>
          <a:xfrm>
            <a:off x="859536"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Public classes, events and approved articles connected to platform content.</a:t>
            </a:r>
          </a:p>
        </p:txBody>
      </p:sp>
      <p:sp>
        <p:nvSpPr>
          <p:cNvPr id="26" name="Rounded Rectangle 25">
            <a:hlinkClick action="ppaction://hlinksldjump" r:id="rId13"/>
          </p:cNvPr>
          <p:cNvSpPr/>
          <p:nvPr/>
        </p:nvSpPr>
        <p:spPr>
          <a:xfrm>
            <a:off x="7415783"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hield_E8C578.png"/>
          <p:cNvPicPr>
            <a:picLocks noChangeAspect="1"/>
          </p:cNvPicPr>
          <p:nvPr/>
        </p:nvPicPr>
        <p:blipFill>
          <a:blip r:embed="rId8"/>
          <a:stretch>
            <a:fillRect/>
          </a:stretch>
        </p:blipFill>
        <p:spPr>
          <a:xfrm>
            <a:off x="7616952" y="4832604"/>
            <a:ext cx="384048" cy="384048"/>
          </a:xfrm>
          <a:prstGeom prst="rect">
            <a:avLst/>
          </a:prstGeom>
        </p:spPr>
      </p:pic>
      <p:sp>
        <p:nvSpPr>
          <p:cNvPr id="28" name="TextBox 27">
            <a:hlinkClick action="ppaction://hlinksldjump" r:id="rId13"/>
          </p:cNvPr>
          <p:cNvSpPr txBox="1"/>
          <p:nvPr/>
        </p:nvSpPr>
        <p:spPr>
          <a:xfrm>
            <a:off x="8129015"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Trust &amp; maintain</a:t>
            </a:r>
          </a:p>
        </p:txBody>
      </p:sp>
      <p:sp>
        <p:nvSpPr>
          <p:cNvPr id="29" name="TextBox 28"/>
          <p:cNvSpPr txBox="1"/>
          <p:nvPr/>
        </p:nvSpPr>
        <p:spPr>
          <a:xfrm>
            <a:off x="7635240"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Policies, partner/sponsor information and staff-managed public content.</a:t>
            </a:r>
          </a:p>
        </p:txBody>
      </p:sp>
      <p:sp>
        <p:nvSpPr>
          <p:cNvPr id="30" name="Rounded Rectangle 29"/>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Public website → relevant service / app  •  Agreed public content migration; private records need assessment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Daily Islamic tools create everyday value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 complete utility set supports Muslims at different stages of knowledge and practice.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9"/>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32 / 58</a:t>
            </a:r>
          </a:p>
        </p:txBody>
      </p:sp>
      <p:sp>
        <p:nvSpPr>
          <p:cNvPr id="14" name="Rounded Rectangle 13">
            <a:hlinkClick action="ppaction://hlinksldjump" r:id="rId10"/>
          </p:cNvPr>
          <p:cNvSpPr/>
          <p:nvPr/>
        </p:nvSpPr>
        <p:spPr>
          <a:xfrm>
            <a:off x="640080"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pin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0"/>
          </p:cNvPr>
          <p:cNvSpPr txBox="1"/>
          <p:nvPr/>
        </p:nvSpPr>
        <p:spPr>
          <a:xfrm>
            <a:off x="1353312"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Prayer &amp; direction</a:t>
            </a:r>
          </a:p>
        </p:txBody>
      </p:sp>
      <p:sp>
        <p:nvSpPr>
          <p:cNvPr id="17" name="TextBox 16"/>
          <p:cNvSpPr txBox="1"/>
          <p:nvPr/>
        </p:nvSpPr>
        <p:spPr>
          <a:xfrm>
            <a:off x="859536"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Prayer times, approved local adjustments, Qibla and nearby mosques.</a:t>
            </a:r>
          </a:p>
        </p:txBody>
      </p:sp>
      <p:sp>
        <p:nvSpPr>
          <p:cNvPr id="18" name="Rounded Rectangle 17">
            <a:hlinkClick action="ppaction://hlinksldjump" r:id="rId11"/>
          </p:cNvPr>
          <p:cNvSpPr/>
          <p:nvPr/>
        </p:nvSpPr>
        <p:spPr>
          <a:xfrm>
            <a:off x="7415783"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book_C2A3FF.png"/>
          <p:cNvPicPr>
            <a:picLocks noChangeAspect="1"/>
          </p:cNvPicPr>
          <p:nvPr/>
        </p:nvPicPr>
        <p:blipFill>
          <a:blip r:embed="rId6"/>
          <a:stretch>
            <a:fillRect/>
          </a:stretch>
        </p:blipFill>
        <p:spPr>
          <a:xfrm>
            <a:off x="7616952" y="2606040"/>
            <a:ext cx="384048" cy="384048"/>
          </a:xfrm>
          <a:prstGeom prst="rect">
            <a:avLst/>
          </a:prstGeom>
        </p:spPr>
      </p:pic>
      <p:sp>
        <p:nvSpPr>
          <p:cNvPr id="20" name="TextBox 19">
            <a:hlinkClick action="ppaction://hlinksldjump" r:id="rId11"/>
          </p:cNvPr>
          <p:cNvSpPr txBox="1"/>
          <p:nvPr/>
        </p:nvSpPr>
        <p:spPr>
          <a:xfrm>
            <a:off x="8129015"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Quran &amp; learning</a:t>
            </a:r>
          </a:p>
        </p:txBody>
      </p:sp>
      <p:sp>
        <p:nvSpPr>
          <p:cNvPr id="21" name="TextBox 20"/>
          <p:cNvSpPr txBox="1"/>
          <p:nvPr/>
        </p:nvSpPr>
        <p:spPr>
          <a:xfrm>
            <a:off x="7635240"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Quran reading, approved translations and recitation sources.</a:t>
            </a:r>
          </a:p>
        </p:txBody>
      </p:sp>
      <p:sp>
        <p:nvSpPr>
          <p:cNvPr id="22" name="Rounded Rectangle 21">
            <a:hlinkClick action="ppaction://hlinksldjump" r:id="rId12"/>
          </p:cNvPr>
          <p:cNvSpPr/>
          <p:nvPr/>
        </p:nvSpPr>
        <p:spPr>
          <a:xfrm>
            <a:off x="640080"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heart_8DD8B1.png"/>
          <p:cNvPicPr>
            <a:picLocks noChangeAspect="1"/>
          </p:cNvPicPr>
          <p:nvPr/>
        </p:nvPicPr>
        <p:blipFill>
          <a:blip r:embed="rId7"/>
          <a:stretch>
            <a:fillRect/>
          </a:stretch>
        </p:blipFill>
        <p:spPr>
          <a:xfrm>
            <a:off x="841247" y="4832604"/>
            <a:ext cx="384048" cy="384048"/>
          </a:xfrm>
          <a:prstGeom prst="rect">
            <a:avLst/>
          </a:prstGeom>
        </p:spPr>
      </p:pic>
      <p:sp>
        <p:nvSpPr>
          <p:cNvPr id="24" name="TextBox 23">
            <a:hlinkClick action="ppaction://hlinksldjump" r:id="rId12"/>
          </p:cNvPr>
          <p:cNvSpPr txBox="1"/>
          <p:nvPr/>
        </p:nvSpPr>
        <p:spPr>
          <a:xfrm>
            <a:off x="1353312"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Remembrance</a:t>
            </a:r>
          </a:p>
        </p:txBody>
      </p:sp>
      <p:sp>
        <p:nvSpPr>
          <p:cNvPr id="25" name="TextBox 24"/>
          <p:cNvSpPr txBox="1"/>
          <p:nvPr/>
        </p:nvSpPr>
        <p:spPr>
          <a:xfrm>
            <a:off x="859536"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Dua, dhikr and hadith with approved religious references.</a:t>
            </a:r>
          </a:p>
        </p:txBody>
      </p:sp>
      <p:sp>
        <p:nvSpPr>
          <p:cNvPr id="26" name="Rounded Rectangle 25">
            <a:hlinkClick action="ppaction://hlinksldjump" r:id="rId13"/>
          </p:cNvPr>
          <p:cNvSpPr/>
          <p:nvPr/>
        </p:nvSpPr>
        <p:spPr>
          <a:xfrm>
            <a:off x="7415783"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moon_E8C578.png"/>
          <p:cNvPicPr>
            <a:picLocks noChangeAspect="1"/>
          </p:cNvPicPr>
          <p:nvPr/>
        </p:nvPicPr>
        <p:blipFill>
          <a:blip r:embed="rId8"/>
          <a:stretch>
            <a:fillRect/>
          </a:stretch>
        </p:blipFill>
        <p:spPr>
          <a:xfrm>
            <a:off x="7616952" y="4832604"/>
            <a:ext cx="384048" cy="384048"/>
          </a:xfrm>
          <a:prstGeom prst="rect">
            <a:avLst/>
          </a:prstGeom>
        </p:spPr>
      </p:pic>
      <p:sp>
        <p:nvSpPr>
          <p:cNvPr id="28" name="TextBox 27">
            <a:hlinkClick action="ppaction://hlinksldjump" r:id="rId13"/>
          </p:cNvPr>
          <p:cNvSpPr txBox="1"/>
          <p:nvPr/>
        </p:nvSpPr>
        <p:spPr>
          <a:xfrm>
            <a:off x="8129015"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Dates &amp; guidance</a:t>
            </a:r>
          </a:p>
        </p:txBody>
      </p:sp>
      <p:sp>
        <p:nvSpPr>
          <p:cNvPr id="29" name="TextBox 28"/>
          <p:cNvSpPr txBox="1"/>
          <p:nvPr/>
        </p:nvSpPr>
        <p:spPr>
          <a:xfrm>
            <a:off x="7635240"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Hijri calendar, Ramadan schedule and informational zakat estimate.</a:t>
            </a:r>
          </a:p>
        </p:txBody>
      </p:sp>
      <p:sp>
        <p:nvSpPr>
          <p:cNvPr id="30" name="Rounded Rectangle 29"/>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MRM approves religious references, translations, calculation methods, rights and local conventions.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Prayer times: local settings and controlled imports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Prayer schedules connect approved calculation conventions with location and user preferences.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UTILITY ADMINISTRATION + PROPOSED MOBILE 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33 / 58</a:t>
            </a:r>
          </a:p>
        </p:txBody>
      </p:sp>
      <p:sp>
        <p:nvSpPr>
          <p:cNvPr id="14" name="Rounded Rectangle 13"/>
          <p:cNvSpPr/>
          <p:nvPr/>
        </p:nvSpPr>
        <p:spPr>
          <a:xfrm>
            <a:off x="640080" y="2450592"/>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50592"/>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51176"/>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51176"/>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51176"/>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519172"/>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10_prayer_times.png"/>
          <p:cNvPicPr>
            <a:picLocks noChangeAspect="1"/>
          </p:cNvPicPr>
          <p:nvPr/>
        </p:nvPicPr>
        <p:blipFill>
          <a:blip r:embed="rId5"/>
          <a:srcRect b="33371"/>
          <a:stretch>
            <a:fillRect/>
          </a:stretch>
        </p:blipFill>
        <p:spPr>
          <a:xfrm>
            <a:off x="640080" y="2734056"/>
            <a:ext cx="6492240" cy="3355848"/>
          </a:xfrm>
          <a:prstGeom prst="rect">
            <a:avLst/>
          </a:prstGeom>
        </p:spPr>
      </p:pic>
      <p:sp>
        <p:nvSpPr>
          <p:cNvPr id="21" name="TextBox 20"/>
          <p:cNvSpPr txBox="1"/>
          <p:nvPr/>
        </p:nvSpPr>
        <p:spPr>
          <a:xfrm>
            <a:off x="640080" y="6163056"/>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50592"/>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50592"/>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51176"/>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51176"/>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51176"/>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519172"/>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11_prayer_time_import.png"/>
          <p:cNvPicPr>
            <a:picLocks noChangeAspect="1"/>
          </p:cNvPicPr>
          <p:nvPr/>
        </p:nvPicPr>
        <p:blipFill>
          <a:blip r:embed="rId6"/>
          <a:srcRect b="33371"/>
          <a:stretch>
            <a:fillRect/>
          </a:stretch>
        </p:blipFill>
        <p:spPr>
          <a:xfrm>
            <a:off x="7498079" y="2734056"/>
            <a:ext cx="6492240" cy="3355848"/>
          </a:xfrm>
          <a:prstGeom prst="rect">
            <a:avLst/>
          </a:prstGeom>
        </p:spPr>
      </p:pic>
      <p:sp>
        <p:nvSpPr>
          <p:cNvPr id="29" name="TextBox 28"/>
          <p:cNvSpPr txBox="1"/>
          <p:nvPr/>
        </p:nvSpPr>
        <p:spPr>
          <a:xfrm>
            <a:off x="7498079" y="6163056"/>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31520" y="6419088"/>
            <a:ext cx="13167360" cy="502920"/>
          </a:xfrm>
          <a:prstGeom prst="rect">
            <a:avLst/>
          </a:prstGeom>
          <a:noFill/>
        </p:spPr>
        <p:txBody>
          <a:bodyPr wrap="square" lIns="0" rIns="0" tIns="0" bIns="0">
            <a:spAutoFit/>
          </a:bodyPr>
          <a:lstStyle/>
          <a:p>
            <a:pPr>
              <a:spcAft>
                <a:spcPts val="700"/>
              </a:spcAft>
              <a:defRPr sz="1700" b="1">
                <a:solidFill>
                  <a:srgbClr val="F7F9FF"/>
                </a:solidFill>
                <a:latin typeface="DejaVu Sans"/>
              </a:defRPr>
            </a:pPr>
            <a:r>
              <a:t>Select area → use approved schedule / method → display prayer times → apply permitted adjustments</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Import and source validation [41] → approved schedule → daily app experience [32]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Qibla and nearby mosques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Permission-aware direction and area discovery support practical daily use.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UTILITY FLOWS  /  MOBILE CAPTURES NOT SUPPLIED</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34 / 58</a:t>
            </a:r>
          </a:p>
        </p:txBody>
      </p:sp>
      <p:sp>
        <p:nvSpPr>
          <p:cNvPr id="14" name="Rounded Rectangle 13"/>
          <p:cNvSpPr/>
          <p:nvPr/>
        </p:nvSpPr>
        <p:spPr>
          <a:xfrm>
            <a:off x="640080" y="256032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01</a:t>
            </a:r>
          </a:p>
        </p:txBody>
      </p:sp>
      <p:pic>
        <p:nvPicPr>
          <p:cNvPr id="16" name="Picture 15" descr="icon_pin_62DAE8.png"/>
          <p:cNvPicPr>
            <a:picLocks noChangeAspect="1"/>
          </p:cNvPicPr>
          <p:nvPr/>
        </p:nvPicPr>
        <p:blipFill>
          <a:blip r:embed="rId5"/>
          <a:stretch>
            <a:fillRect/>
          </a:stretch>
        </p:blipFill>
        <p:spPr>
          <a:xfrm>
            <a:off x="2967227" y="2734056"/>
            <a:ext cx="438912" cy="438912"/>
          </a:xfrm>
          <a:prstGeom prst="rect">
            <a:avLst/>
          </a:prstGeom>
        </p:spPr>
      </p:pic>
      <p:sp>
        <p:nvSpPr>
          <p:cNvPr id="17" name="TextBox 16"/>
          <p:cNvSpPr txBox="1"/>
          <p:nvPr/>
        </p:nvSpPr>
        <p:spPr>
          <a:xfrm>
            <a:off x="859536"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Choose location</a:t>
            </a:r>
          </a:p>
        </p:txBody>
      </p:sp>
      <p:sp>
        <p:nvSpPr>
          <p:cNvPr id="18" name="TextBox 17"/>
          <p:cNvSpPr txBox="1"/>
          <p:nvPr/>
        </p:nvSpPr>
        <p:spPr>
          <a:xfrm>
            <a:off x="859536" y="4069079"/>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Device permission or supported manual area input.</a:t>
            </a:r>
          </a:p>
        </p:txBody>
      </p:sp>
      <p:cxnSp>
        <p:nvCxnSpPr>
          <p:cNvPr id="19" name="Connector 18"/>
          <p:cNvCxnSpPr/>
          <p:nvPr/>
        </p:nvCxnSpPr>
        <p:spPr>
          <a:xfrm>
            <a:off x="3753611" y="3794760"/>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6032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02</a:t>
            </a:r>
          </a:p>
        </p:txBody>
      </p:sp>
      <p:pic>
        <p:nvPicPr>
          <p:cNvPr id="22" name="Picture 21" descr="icon_moon_62DAE8.png"/>
          <p:cNvPicPr>
            <a:picLocks noChangeAspect="1"/>
          </p:cNvPicPr>
          <p:nvPr/>
        </p:nvPicPr>
        <p:blipFill>
          <a:blip r:embed="rId6"/>
          <a:stretch>
            <a:fillRect/>
          </a:stretch>
        </p:blipFill>
        <p:spPr>
          <a:xfrm>
            <a:off x="6391655" y="2734056"/>
            <a:ext cx="438912" cy="438912"/>
          </a:xfrm>
          <a:prstGeom prst="rect">
            <a:avLst/>
          </a:prstGeom>
        </p:spPr>
      </p:pic>
      <p:sp>
        <p:nvSpPr>
          <p:cNvPr id="23" name="TextBox 22"/>
          <p:cNvSpPr txBox="1"/>
          <p:nvPr/>
        </p:nvSpPr>
        <p:spPr>
          <a:xfrm>
            <a:off x="4283964"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Find direction</a:t>
            </a:r>
          </a:p>
        </p:txBody>
      </p:sp>
      <p:sp>
        <p:nvSpPr>
          <p:cNvPr id="24" name="TextBox 23"/>
          <p:cNvSpPr txBox="1"/>
          <p:nvPr/>
        </p:nvSpPr>
        <p:spPr>
          <a:xfrm>
            <a:off x="4283964" y="4069079"/>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Qibla uses device/location capability with calibration guidance.</a:t>
            </a:r>
          </a:p>
        </p:txBody>
      </p:sp>
      <p:cxnSp>
        <p:nvCxnSpPr>
          <p:cNvPr id="25" name="Connector 24"/>
          <p:cNvCxnSpPr/>
          <p:nvPr/>
        </p:nvCxnSpPr>
        <p:spPr>
          <a:xfrm>
            <a:off x="7178039" y="3794760"/>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6032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03</a:t>
            </a:r>
          </a:p>
        </p:txBody>
      </p:sp>
      <p:pic>
        <p:nvPicPr>
          <p:cNvPr id="28" name="Picture 27" descr="icon_globe_62DAE8.png"/>
          <p:cNvPicPr>
            <a:picLocks noChangeAspect="1"/>
          </p:cNvPicPr>
          <p:nvPr/>
        </p:nvPicPr>
        <p:blipFill>
          <a:blip r:embed="rId7"/>
          <a:stretch>
            <a:fillRect/>
          </a:stretch>
        </p:blipFill>
        <p:spPr>
          <a:xfrm>
            <a:off x="9816084" y="2734056"/>
            <a:ext cx="438912" cy="438912"/>
          </a:xfrm>
          <a:prstGeom prst="rect">
            <a:avLst/>
          </a:prstGeom>
        </p:spPr>
      </p:pic>
      <p:sp>
        <p:nvSpPr>
          <p:cNvPr id="29" name="TextBox 28"/>
          <p:cNvSpPr txBox="1"/>
          <p:nvPr/>
        </p:nvSpPr>
        <p:spPr>
          <a:xfrm>
            <a:off x="7708392"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Discover mosques</a:t>
            </a:r>
          </a:p>
        </p:txBody>
      </p:sp>
      <p:sp>
        <p:nvSpPr>
          <p:cNvPr id="30" name="TextBox 29"/>
          <p:cNvSpPr txBox="1"/>
          <p:nvPr/>
        </p:nvSpPr>
        <p:spPr>
          <a:xfrm>
            <a:off x="7708392" y="4069079"/>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Approved places by area; review relevant details.</a:t>
            </a:r>
          </a:p>
        </p:txBody>
      </p:sp>
      <p:cxnSp>
        <p:nvCxnSpPr>
          <p:cNvPr id="31" name="Connector 30"/>
          <p:cNvCxnSpPr/>
          <p:nvPr/>
        </p:nvCxnSpPr>
        <p:spPr>
          <a:xfrm>
            <a:off x="10602467" y="3794760"/>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6032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04</a:t>
            </a:r>
          </a:p>
        </p:txBody>
      </p:sp>
      <p:pic>
        <p:nvPicPr>
          <p:cNvPr id="34" name="Picture 33" descr="icon_book_62DAE8.png"/>
          <p:cNvPicPr>
            <a:picLocks noChangeAspect="1"/>
          </p:cNvPicPr>
          <p:nvPr/>
        </p:nvPicPr>
        <p:blipFill>
          <a:blip r:embed="rId8"/>
          <a:stretch>
            <a:fillRect/>
          </a:stretch>
        </p:blipFill>
        <p:spPr>
          <a:xfrm>
            <a:off x="13240511" y="2734056"/>
            <a:ext cx="438912" cy="438912"/>
          </a:xfrm>
          <a:prstGeom prst="rect">
            <a:avLst/>
          </a:prstGeom>
        </p:spPr>
      </p:pic>
      <p:sp>
        <p:nvSpPr>
          <p:cNvPr id="35" name="TextBox 34"/>
          <p:cNvSpPr txBox="1"/>
          <p:nvPr/>
        </p:nvSpPr>
        <p:spPr>
          <a:xfrm>
            <a:off x="11132819"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Continue learning</a:t>
            </a:r>
          </a:p>
        </p:txBody>
      </p:sp>
      <p:sp>
        <p:nvSpPr>
          <p:cNvPr id="36" name="TextBox 35"/>
          <p:cNvSpPr txBox="1"/>
          <p:nvPr/>
        </p:nvSpPr>
        <p:spPr>
          <a:xfrm>
            <a:off x="11132819" y="4069079"/>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Connect to prayer guidance and approved programmes.</a:t>
            </a:r>
          </a:p>
        </p:txBody>
      </p:sp>
      <p:sp>
        <p:nvSpPr>
          <p:cNvPr id="37" name="Rounded Rectangle 36">
            <a:hlinkClick action="ppaction://hlinksldjump" r:id="rId12"/>
          </p:cNvPr>
          <p:cNvSpPr/>
          <p:nvPr/>
        </p:nvSpPr>
        <p:spPr>
          <a:xfrm>
            <a:off x="640080" y="5440680"/>
            <a:ext cx="6583680" cy="1325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gear_62DAE8.png"/>
          <p:cNvPicPr>
            <a:picLocks noChangeAspect="1"/>
          </p:cNvPicPr>
          <p:nvPr/>
        </p:nvPicPr>
        <p:blipFill>
          <a:blip r:embed="rId9"/>
          <a:stretch>
            <a:fillRect/>
          </a:stretch>
        </p:blipFill>
        <p:spPr>
          <a:xfrm>
            <a:off x="841247" y="5623560"/>
            <a:ext cx="329184" cy="329184"/>
          </a:xfrm>
          <a:prstGeom prst="rect">
            <a:avLst/>
          </a:prstGeom>
        </p:spPr>
      </p:pic>
      <p:sp>
        <p:nvSpPr>
          <p:cNvPr id="39" name="TextBox 38">
            <a:hlinkClick action="ppaction://hlinksldjump" r:id="rId12"/>
          </p:cNvPr>
          <p:cNvSpPr txBox="1"/>
          <p:nvPr/>
        </p:nvSpPr>
        <p:spPr>
          <a:xfrm>
            <a:off x="1353312" y="562356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Clear device guidance</a:t>
            </a:r>
          </a:p>
        </p:txBody>
      </p:sp>
      <p:sp>
        <p:nvSpPr>
          <p:cNvPr id="40" name="TextBox 39"/>
          <p:cNvSpPr txBox="1"/>
          <p:nvPr/>
        </p:nvSpPr>
        <p:spPr>
          <a:xfrm>
            <a:off x="859536" y="6080760"/>
            <a:ext cx="6144768" cy="56692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Handle denied permissions and sensor limitations without a misleading result.</a:t>
            </a:r>
          </a:p>
        </p:txBody>
      </p:sp>
      <p:sp>
        <p:nvSpPr>
          <p:cNvPr id="41" name="Rounded Rectangle 40">
            <a:hlinkClick action="ppaction://hlinksldjump" r:id="rId13"/>
          </p:cNvPr>
          <p:cNvSpPr/>
          <p:nvPr/>
        </p:nvSpPr>
        <p:spPr>
          <a:xfrm>
            <a:off x="7406640" y="5440680"/>
            <a:ext cx="6583680" cy="1325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shield_E8C578.png"/>
          <p:cNvPicPr>
            <a:picLocks noChangeAspect="1"/>
          </p:cNvPicPr>
          <p:nvPr/>
        </p:nvPicPr>
        <p:blipFill>
          <a:blip r:embed="rId10"/>
          <a:stretch>
            <a:fillRect/>
          </a:stretch>
        </p:blipFill>
        <p:spPr>
          <a:xfrm>
            <a:off x="7607808" y="5623560"/>
            <a:ext cx="329184" cy="329184"/>
          </a:xfrm>
          <a:prstGeom prst="rect">
            <a:avLst/>
          </a:prstGeom>
        </p:spPr>
      </p:pic>
      <p:sp>
        <p:nvSpPr>
          <p:cNvPr id="43" name="TextBox 42">
            <a:hlinkClick action="ppaction://hlinksldjump" r:id="rId13"/>
          </p:cNvPr>
          <p:cNvSpPr txBox="1"/>
          <p:nvPr/>
        </p:nvSpPr>
        <p:spPr>
          <a:xfrm>
            <a:off x="8119871" y="5623560"/>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Curated information</a:t>
            </a:r>
          </a:p>
        </p:txBody>
      </p:sp>
      <p:sp>
        <p:nvSpPr>
          <p:cNvPr id="44" name="TextBox 43"/>
          <p:cNvSpPr txBox="1"/>
          <p:nvPr/>
        </p:nvSpPr>
        <p:spPr>
          <a:xfrm>
            <a:off x="7626096" y="6080760"/>
            <a:ext cx="6144768" cy="56692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Confirm map provider, source accuracy and place data before release.</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Location preferences [12] → prayer / Qibla / mosque discovery  •  Volunteer profiles remain separately restricted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Quran reading and recitation</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reading, translation and audio sources connect to daily learning.</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RECITER ADMINISTRATION + PROPOSED QURAN JOURNEY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35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13_audio_reciters.png"/>
          <p:cNvPicPr>
            <a:picLocks noChangeAspect="1"/>
          </p:cNvPicPr>
          <p:nvPr/>
        </p:nvPicPr>
        <p:blipFill>
          <a:blip r:embed="rId5"/>
          <a:srcRect b="34976"/>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Read &amp; understand</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Quran text and approved translations must be checked against selected licensed sources.</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Listen</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Reciter and audio administration support approved recitation delivery.</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Connect to learning</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Relevant lessons and resources deepen understanding. Mobile reader captures were not supplied.</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Approved Quran sources → reading / recitation → learning resources [24]  •  Technical reciter capture indexed [49]</a:t>
            </a:r>
          </a:p>
        </p:txBody>
      </p:sp>
      <p:sp>
        <p:nvSpPr>
          <p:cNvPr id="30" name="Rounded Rectangle 29">
            <a:hlinkClick action="ppaction://hlinksldjump" r:id="rId7"/>
          </p:cNvPr>
          <p:cNvSpPr/>
          <p:nvPr/>
        </p:nvSpPr>
        <p:spPr>
          <a:xfrm>
            <a:off x="685800" y="2084831"/>
            <a:ext cx="1311249"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091793"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Learning  › 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Dua: discover approved supplications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Dua content is managed by category and published from reviewed references.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DUA ADMINISTRATION + PROPOSED CONTENT JOURNEY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36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04_dua.png"/>
          <p:cNvPicPr>
            <a:picLocks noChangeAspect="1"/>
          </p:cNvPicPr>
          <p:nvPr/>
        </p:nvPicPr>
        <p:blipFill>
          <a:blip r:embed="rId5"/>
          <a:srcRect b="34976"/>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Browse by need</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Categories help users find relevant supplications.</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Understand the content</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approved Arabic, translation and reference data where available in the supplied component.</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Maintain accuracy</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MRM reviews religious sources, edits and publication rights before use.</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Content categories [41] → approved dua → daily practice  •  Learning links use approved content [24]</a:t>
            </a:r>
          </a:p>
        </p:txBody>
      </p:sp>
      <p:sp>
        <p:nvSpPr>
          <p:cNvPr id="30" name="Rounded Rectangle 29">
            <a:hlinkClick action="ppaction://hlinksldjump" r:id="rId7"/>
          </p:cNvPr>
          <p:cNvSpPr/>
          <p:nvPr/>
        </p:nvSpPr>
        <p:spPr>
          <a:xfrm>
            <a:off x="685800" y="2084831"/>
            <a:ext cx="1459382"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239926"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Categories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Dhikr: consistent remembrance content</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content library supports clear, approved guidance for daily remembrance.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DHIKR ADMINISTRATION + PROPOSED CONTENT JOURNEY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37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05_dhikr.png"/>
          <p:cNvPicPr>
            <a:picLocks noChangeAspect="1"/>
          </p:cNvPicPr>
          <p:nvPr/>
        </p:nvPicPr>
        <p:blipFill>
          <a:blip r:embed="rId5"/>
          <a:srcRect b="34976"/>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Find relevant dhikr</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Reviewed entries and categories organise remembrance content.</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Use approved wording</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Religious text, translation and repetition guidance require MRM approval.</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Stay consistent</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Template components and content governance maintain a coherent utility experience.</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Approved dhikr library → daily practice → related learning [24]  •  No fabricated religious claims</a:t>
            </a:r>
          </a:p>
        </p:txBody>
      </p:sp>
      <p:sp>
        <p:nvSpPr>
          <p:cNvPr id="30" name="Rounded Rectangle 29">
            <a:hlinkClick action="ppaction://hlinksldjump" r:id="rId7"/>
          </p:cNvPr>
          <p:cNvSpPr/>
          <p:nvPr/>
        </p:nvSpPr>
        <p:spPr>
          <a:xfrm>
            <a:off x="685800" y="2084831"/>
            <a:ext cx="1459382"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239926"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Governance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Hadith and Sifat Names: trusted references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Hadith is in the proposed utility scope; the supplied template also includes Sifat Names administration.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TEMPLATE SCREEN + PROPOSED HADITH CAPABILITY</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38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06_sifat_names.png"/>
          <p:cNvPicPr>
            <a:picLocks noChangeAspect="1"/>
          </p:cNvPicPr>
          <p:nvPr/>
        </p:nvPicPr>
        <p:blipFill>
          <a:blip r:embed="rId5"/>
          <a:srcRect b="34976"/>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Hadith content</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Confirm approved sources, translations, licensing and the supplied component capability.</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Sifat Names library</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The provided administration screen shows a distinct existing template content function.</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Separate evidence</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This screenshot does not demonstrate a mobile hadith reader. Each source requires review before publication.</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Religious source approval → content review [41] → appropriate daily tool [32]</a:t>
            </a:r>
          </a:p>
        </p:txBody>
      </p:sp>
      <p:sp>
        <p:nvSpPr>
          <p:cNvPr id="30" name="Rounded Rectangle 29">
            <a:hlinkClick action="ppaction://hlinksldjump" r:id="rId7"/>
          </p:cNvPr>
          <p:cNvSpPr/>
          <p:nvPr/>
        </p:nvSpPr>
        <p:spPr>
          <a:xfrm>
            <a:off x="685800" y="2084831"/>
            <a:ext cx="1533448"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313992"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Utility set  › 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Hijri dates and Ramadan guidance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Approved calendar conventions and local prayer schedules connect seasonal use to daily practice.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CALENDAR FLOWS  /  MOBILE CAPTURES NOT SUPPLIED</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39 / 58</a:t>
            </a:r>
          </a:p>
        </p:txBody>
      </p:sp>
      <p:sp>
        <p:nvSpPr>
          <p:cNvPr id="14" name="Rounded Rectangle 13"/>
          <p:cNvSpPr/>
          <p:nvPr/>
        </p:nvSpPr>
        <p:spPr>
          <a:xfrm>
            <a:off x="640080" y="260604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01</a:t>
            </a:r>
          </a:p>
        </p:txBody>
      </p:sp>
      <p:pic>
        <p:nvPicPr>
          <p:cNvPr id="16" name="Picture 15" descr="icon_gear_E8C578.png"/>
          <p:cNvPicPr>
            <a:picLocks noChangeAspect="1"/>
          </p:cNvPicPr>
          <p:nvPr/>
        </p:nvPicPr>
        <p:blipFill>
          <a:blip r:embed="rId5"/>
          <a:stretch>
            <a:fillRect/>
          </a:stretch>
        </p:blipFill>
        <p:spPr>
          <a:xfrm>
            <a:off x="2967227" y="2779776"/>
            <a:ext cx="438912" cy="438912"/>
          </a:xfrm>
          <a:prstGeom prst="rect">
            <a:avLst/>
          </a:prstGeom>
        </p:spPr>
      </p:pic>
      <p:sp>
        <p:nvSpPr>
          <p:cNvPr id="17" name="TextBox 16"/>
          <p:cNvSpPr txBox="1"/>
          <p:nvPr/>
        </p:nvSpPr>
        <p:spPr>
          <a:xfrm>
            <a:off x="859536"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Choose convention</a:t>
            </a:r>
          </a:p>
        </p:txBody>
      </p:sp>
      <p:sp>
        <p:nvSpPr>
          <p:cNvPr id="18" name="TextBox 17"/>
          <p:cNvSpPr txBox="1"/>
          <p:nvPr/>
        </p:nvSpPr>
        <p:spPr>
          <a:xfrm>
            <a:off x="859536" y="4114800"/>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MRM-approved Hijri and local calendar settings.</a:t>
            </a:r>
          </a:p>
        </p:txBody>
      </p:sp>
      <p:cxnSp>
        <p:nvCxnSpPr>
          <p:cNvPr id="19" name="Connector 18"/>
          <p:cNvCxnSpPr/>
          <p:nvPr/>
        </p:nvCxnSpPr>
        <p:spPr>
          <a:xfrm>
            <a:off x="3753611" y="3840480"/>
            <a:ext cx="274320"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60604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02</a:t>
            </a:r>
          </a:p>
        </p:txBody>
      </p:sp>
      <p:pic>
        <p:nvPicPr>
          <p:cNvPr id="22" name="Picture 21" descr="icon_moon_E8C578.png"/>
          <p:cNvPicPr>
            <a:picLocks noChangeAspect="1"/>
          </p:cNvPicPr>
          <p:nvPr/>
        </p:nvPicPr>
        <p:blipFill>
          <a:blip r:embed="rId6"/>
          <a:stretch>
            <a:fillRect/>
          </a:stretch>
        </p:blipFill>
        <p:spPr>
          <a:xfrm>
            <a:off x="6391655" y="2779776"/>
            <a:ext cx="438912" cy="438912"/>
          </a:xfrm>
          <a:prstGeom prst="rect">
            <a:avLst/>
          </a:prstGeom>
        </p:spPr>
      </p:pic>
      <p:sp>
        <p:nvSpPr>
          <p:cNvPr id="23" name="TextBox 22"/>
          <p:cNvSpPr txBox="1"/>
          <p:nvPr/>
        </p:nvSpPr>
        <p:spPr>
          <a:xfrm>
            <a:off x="4283964"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View the date</a:t>
            </a:r>
          </a:p>
        </p:txBody>
      </p:sp>
      <p:sp>
        <p:nvSpPr>
          <p:cNvPr id="24" name="TextBox 23"/>
          <p:cNvSpPr txBox="1"/>
          <p:nvPr/>
        </p:nvSpPr>
        <p:spPr>
          <a:xfrm>
            <a:off x="4283964" y="4114800"/>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Clear Hijri display with applicable local adjustment.</a:t>
            </a:r>
          </a:p>
        </p:txBody>
      </p:sp>
      <p:cxnSp>
        <p:nvCxnSpPr>
          <p:cNvPr id="25" name="Connector 24"/>
          <p:cNvCxnSpPr/>
          <p:nvPr/>
        </p:nvCxnSpPr>
        <p:spPr>
          <a:xfrm>
            <a:off x="7178039" y="3840480"/>
            <a:ext cx="274321"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60604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03</a:t>
            </a:r>
          </a:p>
        </p:txBody>
      </p:sp>
      <p:pic>
        <p:nvPicPr>
          <p:cNvPr id="28" name="Picture 27" descr="icon_clock_E8C578.png"/>
          <p:cNvPicPr>
            <a:picLocks noChangeAspect="1"/>
          </p:cNvPicPr>
          <p:nvPr/>
        </p:nvPicPr>
        <p:blipFill>
          <a:blip r:embed="rId7"/>
          <a:stretch>
            <a:fillRect/>
          </a:stretch>
        </p:blipFill>
        <p:spPr>
          <a:xfrm>
            <a:off x="9816084" y="2779776"/>
            <a:ext cx="438912" cy="438912"/>
          </a:xfrm>
          <a:prstGeom prst="rect">
            <a:avLst/>
          </a:prstGeom>
        </p:spPr>
      </p:pic>
      <p:sp>
        <p:nvSpPr>
          <p:cNvPr id="29" name="TextBox 28"/>
          <p:cNvSpPr txBox="1"/>
          <p:nvPr/>
        </p:nvSpPr>
        <p:spPr>
          <a:xfrm>
            <a:off x="7708392"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Plan Ramadan</a:t>
            </a:r>
          </a:p>
        </p:txBody>
      </p:sp>
      <p:sp>
        <p:nvSpPr>
          <p:cNvPr id="30" name="TextBox 29"/>
          <p:cNvSpPr txBox="1"/>
          <p:nvPr/>
        </p:nvSpPr>
        <p:spPr>
          <a:xfrm>
            <a:off x="7708392" y="4114800"/>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Use approved local schedule and relevant learning.</a:t>
            </a:r>
          </a:p>
        </p:txBody>
      </p:sp>
      <p:cxnSp>
        <p:nvCxnSpPr>
          <p:cNvPr id="31" name="Connector 30"/>
          <p:cNvCxnSpPr/>
          <p:nvPr/>
        </p:nvCxnSpPr>
        <p:spPr>
          <a:xfrm>
            <a:off x="10602467" y="3840480"/>
            <a:ext cx="274321" cy="0"/>
          </a:xfrm>
          <a:prstGeom prst="line">
            <a:avLst/>
          </a:prstGeom>
          <a:ln w="20320">
            <a:solidFill>
              <a:srgbClr val="E8C5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606040"/>
            <a:ext cx="3076956" cy="246888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807208"/>
            <a:ext cx="502920" cy="365760"/>
          </a:xfrm>
          <a:prstGeom prst="rect">
            <a:avLst/>
          </a:prstGeom>
          <a:noFill/>
        </p:spPr>
        <p:txBody>
          <a:bodyPr wrap="square" lIns="0" rIns="0" tIns="0" bIns="0">
            <a:spAutoFit/>
          </a:bodyPr>
          <a:lstStyle/>
          <a:p>
            <a:pPr>
              <a:spcAft>
                <a:spcPts val="700"/>
              </a:spcAft>
              <a:defRPr sz="1700" b="1">
                <a:solidFill>
                  <a:srgbClr val="E8C578"/>
                </a:solidFill>
                <a:latin typeface="DejaVu Sans"/>
              </a:defRPr>
            </a:pPr>
            <a:r>
              <a:t>04</a:t>
            </a:r>
          </a:p>
        </p:txBody>
      </p:sp>
      <p:pic>
        <p:nvPicPr>
          <p:cNvPr id="34" name="Picture 33" descr="icon_people_E8C578.png"/>
          <p:cNvPicPr>
            <a:picLocks noChangeAspect="1"/>
          </p:cNvPicPr>
          <p:nvPr/>
        </p:nvPicPr>
        <p:blipFill>
          <a:blip r:embed="rId8"/>
          <a:stretch>
            <a:fillRect/>
          </a:stretch>
        </p:blipFill>
        <p:spPr>
          <a:xfrm>
            <a:off x="13240511" y="2779776"/>
            <a:ext cx="438912" cy="438912"/>
          </a:xfrm>
          <a:prstGeom prst="rect">
            <a:avLst/>
          </a:prstGeom>
        </p:spPr>
      </p:pic>
      <p:sp>
        <p:nvSpPr>
          <p:cNvPr id="35" name="TextBox 34"/>
          <p:cNvSpPr txBox="1"/>
          <p:nvPr/>
        </p:nvSpPr>
        <p:spPr>
          <a:xfrm>
            <a:off x="11132819" y="343814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Participate</a:t>
            </a:r>
          </a:p>
        </p:txBody>
      </p:sp>
      <p:sp>
        <p:nvSpPr>
          <p:cNvPr id="36" name="TextBox 35"/>
          <p:cNvSpPr txBox="1"/>
          <p:nvPr/>
        </p:nvSpPr>
        <p:spPr>
          <a:xfrm>
            <a:off x="11132819" y="4114800"/>
            <a:ext cx="2638044" cy="841248"/>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Discover MRM classes and community events.</a:t>
            </a:r>
          </a:p>
        </p:txBody>
      </p:sp>
      <p:sp>
        <p:nvSpPr>
          <p:cNvPr id="37" name="Rounded Rectangle 36">
            <a:hlinkClick action="ppaction://hlinksldjump" r:id="rId12"/>
          </p:cNvPr>
          <p:cNvSpPr/>
          <p:nvPr/>
        </p:nvSpPr>
        <p:spPr>
          <a:xfrm>
            <a:off x="640080" y="5468112"/>
            <a:ext cx="6583680" cy="130759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shield_62DAE8.png"/>
          <p:cNvPicPr>
            <a:picLocks noChangeAspect="1"/>
          </p:cNvPicPr>
          <p:nvPr/>
        </p:nvPicPr>
        <p:blipFill>
          <a:blip r:embed="rId9"/>
          <a:stretch>
            <a:fillRect/>
          </a:stretch>
        </p:blipFill>
        <p:spPr>
          <a:xfrm>
            <a:off x="841247" y="5650992"/>
            <a:ext cx="329184" cy="329184"/>
          </a:xfrm>
          <a:prstGeom prst="rect">
            <a:avLst/>
          </a:prstGeom>
        </p:spPr>
      </p:pic>
      <p:sp>
        <p:nvSpPr>
          <p:cNvPr id="39" name="TextBox 38">
            <a:hlinkClick action="ppaction://hlinksldjump" r:id="rId12"/>
          </p:cNvPr>
          <p:cNvSpPr txBox="1"/>
          <p:nvPr/>
        </p:nvSpPr>
        <p:spPr>
          <a:xfrm>
            <a:off x="1353312"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Local accuracy</a:t>
            </a:r>
          </a:p>
        </p:txBody>
      </p:sp>
      <p:sp>
        <p:nvSpPr>
          <p:cNvPr id="40" name="TextBox 39"/>
          <p:cNvSpPr txBox="1"/>
          <p:nvPr/>
        </p:nvSpPr>
        <p:spPr>
          <a:xfrm>
            <a:off x="859536" y="6108192"/>
            <a:ext cx="6144768" cy="548640"/>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Calendar and prayer-time conventions must be explicit and reviewed.</a:t>
            </a:r>
          </a:p>
        </p:txBody>
      </p:sp>
      <p:sp>
        <p:nvSpPr>
          <p:cNvPr id="41" name="Rounded Rectangle 40">
            <a:hlinkClick action="ppaction://hlinksldjump" r:id="rId13"/>
          </p:cNvPr>
          <p:cNvSpPr/>
          <p:nvPr/>
        </p:nvSpPr>
        <p:spPr>
          <a:xfrm>
            <a:off x="7406640" y="5468112"/>
            <a:ext cx="6583680" cy="1307592"/>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book_C2A3FF.png"/>
          <p:cNvPicPr>
            <a:picLocks noChangeAspect="1"/>
          </p:cNvPicPr>
          <p:nvPr/>
        </p:nvPicPr>
        <p:blipFill>
          <a:blip r:embed="rId10"/>
          <a:stretch>
            <a:fillRect/>
          </a:stretch>
        </p:blipFill>
        <p:spPr>
          <a:xfrm>
            <a:off x="7607808" y="5650992"/>
            <a:ext cx="329184" cy="329184"/>
          </a:xfrm>
          <a:prstGeom prst="rect">
            <a:avLst/>
          </a:prstGeom>
        </p:spPr>
      </p:pic>
      <p:sp>
        <p:nvSpPr>
          <p:cNvPr id="43" name="TextBox 42">
            <a:hlinkClick action="ppaction://hlinksldjump" r:id="rId13"/>
          </p:cNvPr>
          <p:cNvSpPr txBox="1"/>
          <p:nvPr/>
        </p:nvSpPr>
        <p:spPr>
          <a:xfrm>
            <a:off x="8119871"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Relevant content</a:t>
            </a:r>
          </a:p>
        </p:txBody>
      </p:sp>
      <p:sp>
        <p:nvSpPr>
          <p:cNvPr id="44" name="TextBox 43"/>
          <p:cNvSpPr txBox="1"/>
          <p:nvPr/>
        </p:nvSpPr>
        <p:spPr>
          <a:xfrm>
            <a:off x="7626096" y="6108192"/>
            <a:ext cx="6144768" cy="548640"/>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Connect seasonal guidance to approved programmes and resources.</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Approved calendar → Ramadan schedule → prayer settings [33] → learning/events [29]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Zakat estimate and payment boundaries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utility estimate, assistance referral and existing template payment screens serve different purposes.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TEMPLATE SCREENS  /  PAYMENT CAPABILITY NOT VERIFIED</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40 / 58</a:t>
            </a:r>
          </a:p>
        </p:txBody>
      </p:sp>
      <p:sp>
        <p:nvSpPr>
          <p:cNvPr id="14" name="Rounded Rectangle 13"/>
          <p:cNvSpPr/>
          <p:nvPr/>
        </p:nvSpPr>
        <p:spPr>
          <a:xfrm>
            <a:off x="640080"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08_donations.png"/>
          <p:cNvPicPr>
            <a:picLocks noChangeAspect="1"/>
          </p:cNvPicPr>
          <p:nvPr/>
        </p:nvPicPr>
        <p:blipFill>
          <a:blip r:embed="rId5"/>
          <a:srcRect b="33371"/>
          <a:stretch>
            <a:fillRect/>
          </a:stretch>
        </p:blipFill>
        <p:spPr>
          <a:xfrm>
            <a:off x="640080" y="2706624"/>
            <a:ext cx="6492240" cy="3355848"/>
          </a:xfrm>
          <a:prstGeom prst="rect">
            <a:avLst/>
          </a:prstGeom>
        </p:spPr>
      </p:pic>
      <p:sp>
        <p:nvSpPr>
          <p:cNvPr id="21" name="TextBox 20"/>
          <p:cNvSpPr txBox="1"/>
          <p:nvPr/>
        </p:nvSpPr>
        <p:spPr>
          <a:xfrm>
            <a:off x="640080"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09_payment_methods.png"/>
          <p:cNvPicPr>
            <a:picLocks noChangeAspect="1"/>
          </p:cNvPicPr>
          <p:nvPr/>
        </p:nvPicPr>
        <p:blipFill>
          <a:blip r:embed="rId6"/>
          <a:srcRect b="33371"/>
          <a:stretch>
            <a:fillRect/>
          </a:stretch>
        </p:blipFill>
        <p:spPr>
          <a:xfrm>
            <a:off x="7498079" y="2706624"/>
            <a:ext cx="6492240" cy="3355848"/>
          </a:xfrm>
          <a:prstGeom prst="rect">
            <a:avLst/>
          </a:prstGeom>
        </p:spPr>
      </p:pic>
      <p:sp>
        <p:nvSpPr>
          <p:cNvPr id="29" name="TextBox 28"/>
          <p:cNvSpPr txBox="1"/>
          <p:nvPr/>
        </p:nvSpPr>
        <p:spPr>
          <a:xfrm>
            <a:off x="7498079"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77240" y="6400800"/>
            <a:ext cx="12984480" cy="512064"/>
          </a:xfrm>
          <a:prstGeom prst="rect">
            <a:avLst/>
          </a:prstGeom>
          <a:noFill/>
        </p:spPr>
        <p:txBody>
          <a:bodyPr wrap="square" lIns="0" rIns="0" tIns="0" bIns="0">
            <a:spAutoFit/>
          </a:bodyPr>
          <a:lstStyle/>
          <a:p>
            <a:pPr>
              <a:spcAft>
                <a:spcPts val="700"/>
              </a:spcAft>
              <a:defRPr sz="1700" b="1">
                <a:solidFill>
                  <a:srgbClr val="F7F9FF"/>
                </a:solidFill>
                <a:latin typeface="DejaVu Sans"/>
              </a:defRPr>
            </a:pPr>
            <a:r>
              <a:t>Zakat estimate = informational guidance. Zakat referral = staff coordination. Neither proves payment collection.</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Donation/payment configuration is present in the template; it is not evidence of an approved live payment flow.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ISLAMIC UTILITIES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Content governance and template library</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Categories and reviewed references connect administration to reliable published utilities.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TEMPLATE SCREENS + PROPOSED MODERATION</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41 / 58</a:t>
            </a:r>
          </a:p>
        </p:txBody>
      </p:sp>
      <p:sp>
        <p:nvSpPr>
          <p:cNvPr id="14" name="Rounded Rectangle 13"/>
          <p:cNvSpPr/>
          <p:nvPr/>
        </p:nvSpPr>
        <p:spPr>
          <a:xfrm>
            <a:off x="640080"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03_categories.png"/>
          <p:cNvPicPr>
            <a:picLocks noChangeAspect="1"/>
          </p:cNvPicPr>
          <p:nvPr/>
        </p:nvPicPr>
        <p:blipFill>
          <a:blip r:embed="rId5"/>
          <a:srcRect b="33371"/>
          <a:stretch>
            <a:fillRect/>
          </a:stretch>
        </p:blipFill>
        <p:spPr>
          <a:xfrm>
            <a:off x="640080" y="2706624"/>
            <a:ext cx="6492240" cy="3355848"/>
          </a:xfrm>
          <a:prstGeom prst="rect">
            <a:avLst/>
          </a:prstGeom>
        </p:spPr>
      </p:pic>
      <p:sp>
        <p:nvSpPr>
          <p:cNvPr id="21" name="TextBox 20"/>
          <p:cNvSpPr txBox="1"/>
          <p:nvPr/>
        </p:nvSpPr>
        <p:spPr>
          <a:xfrm>
            <a:off x="640080"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07_haram_codes.png"/>
          <p:cNvPicPr>
            <a:picLocks noChangeAspect="1"/>
          </p:cNvPicPr>
          <p:nvPr/>
        </p:nvPicPr>
        <p:blipFill>
          <a:blip r:embed="rId6"/>
          <a:srcRect b="33371"/>
          <a:stretch>
            <a:fillRect/>
          </a:stretch>
        </p:blipFill>
        <p:spPr>
          <a:xfrm>
            <a:off x="7498079" y="2706624"/>
            <a:ext cx="6492240" cy="3355848"/>
          </a:xfrm>
          <a:prstGeom prst="rect">
            <a:avLst/>
          </a:prstGeom>
        </p:spPr>
      </p:pic>
      <p:sp>
        <p:nvSpPr>
          <p:cNvPr id="29" name="TextBox 28"/>
          <p:cNvSpPr txBox="1"/>
          <p:nvPr/>
        </p:nvSpPr>
        <p:spPr>
          <a:xfrm>
            <a:off x="7498079"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77240" y="6400800"/>
            <a:ext cx="12984480" cy="512064"/>
          </a:xfrm>
          <a:prstGeom prst="rect">
            <a:avLst/>
          </a:prstGeom>
          <a:noFill/>
        </p:spPr>
        <p:txBody>
          <a:bodyPr wrap="square" lIns="0" rIns="0" tIns="0" bIns="0">
            <a:spAutoFit/>
          </a:bodyPr>
          <a:lstStyle/>
          <a:p>
            <a:pPr>
              <a:spcAft>
                <a:spcPts val="700"/>
              </a:spcAft>
              <a:defRPr sz="1700" b="1">
                <a:solidFill>
                  <a:srgbClr val="F7F9FF"/>
                </a:solidFill>
                <a:latin typeface="DejaVu Sans"/>
              </a:defRPr>
            </a:pPr>
            <a:r>
              <a:t>Source → rights and religious review → category → approved publication → correction / withdrawal</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Haram Codes is a supplied template function; its public use and claims need explicit MRM review.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MRM dashboard: a coordinated operating centre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Operational queues connect care, verification, learning and sponsorship.</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DASHBOARDS  /  COUNTS ARE NOT PRODUCTION RESULTS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42 / 58</a:t>
            </a:r>
          </a:p>
        </p:txBody>
      </p:sp>
      <p:sp>
        <p:nvSpPr>
          <p:cNvPr id="14" name="Rounded Rectangle 13"/>
          <p:cNvSpPr/>
          <p:nvPr/>
        </p:nvSpPr>
        <p:spPr>
          <a:xfrm>
            <a:off x="640080"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1_mrm_dashboard.png"/>
          <p:cNvPicPr>
            <a:picLocks noChangeAspect="1"/>
          </p:cNvPicPr>
          <p:nvPr/>
        </p:nvPicPr>
        <p:blipFill>
          <a:blip r:embed="rId5"/>
          <a:srcRect b="73215"/>
          <a:stretch>
            <a:fillRect/>
          </a:stretch>
        </p:blipFill>
        <p:spPr>
          <a:xfrm>
            <a:off x="640080" y="2706624"/>
            <a:ext cx="6492240" cy="3355848"/>
          </a:xfrm>
          <a:prstGeom prst="rect">
            <a:avLst/>
          </a:prstGeom>
        </p:spPr>
      </p:pic>
      <p:sp>
        <p:nvSpPr>
          <p:cNvPr id="21" name="TextBox 20"/>
          <p:cNvSpPr txBox="1"/>
          <p:nvPr/>
        </p:nvSpPr>
        <p:spPr>
          <a:xfrm>
            <a:off x="640080"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02_dashboard.png"/>
          <p:cNvPicPr>
            <a:picLocks noChangeAspect="1"/>
          </p:cNvPicPr>
          <p:nvPr/>
        </p:nvPicPr>
        <p:blipFill>
          <a:blip r:embed="rId6"/>
          <a:srcRect b="33371"/>
          <a:stretch>
            <a:fillRect/>
          </a:stretch>
        </p:blipFill>
        <p:spPr>
          <a:xfrm>
            <a:off x="7498079" y="2706624"/>
            <a:ext cx="6492240" cy="3355848"/>
          </a:xfrm>
          <a:prstGeom prst="rect">
            <a:avLst/>
          </a:prstGeom>
        </p:spPr>
      </p:pic>
      <p:sp>
        <p:nvSpPr>
          <p:cNvPr id="29" name="TextBox 28"/>
          <p:cNvSpPr txBox="1"/>
          <p:nvPr/>
        </p:nvSpPr>
        <p:spPr>
          <a:xfrm>
            <a:off x="7498079"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77240" y="6400800"/>
            <a:ext cx="12984480" cy="512064"/>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Review queues → authorised action → recorded outcome → operational reporting</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Supplied dashboard figures are demo evidence. Existing setup banners must be resolved before release.</a:t>
            </a:r>
          </a:p>
        </p:txBody>
      </p:sp>
      <p:sp>
        <p:nvSpPr>
          <p:cNvPr id="33" name="Rounded Rectangle 32">
            <a:hlinkClick action="ppaction://hlinksldjump" r:id="rId8"/>
          </p:cNvPr>
          <p:cNvSpPr/>
          <p:nvPr/>
        </p:nvSpPr>
        <p:spPr>
          <a:xfrm>
            <a:off x="685800" y="2084831"/>
            <a:ext cx="1237183"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action="ppaction://hlinksldjump" r:id="rId8"/>
          </p:cNvPr>
          <p:cNvSpPr txBox="1"/>
          <p:nvPr/>
        </p:nvSpPr>
        <p:spPr>
          <a:xfrm>
            <a:off x="795528" y="2130551"/>
            <a:ext cx="1017727"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Reports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Accounts, roles and restricted access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Role and record-level permissions control who can act and which information they receive.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ACCOUNT ADMINISTRATION + PROPOSED ACCESS CONTROLS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43 / 58</a:t>
            </a:r>
          </a:p>
        </p:txBody>
      </p:sp>
      <p:sp>
        <p:nvSpPr>
          <p:cNvPr id="14" name="Rounded Rectangle 13"/>
          <p:cNvSpPr/>
          <p:nvPr/>
        </p:nvSpPr>
        <p:spPr>
          <a:xfrm>
            <a:off x="640080"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14_roles.png"/>
          <p:cNvPicPr>
            <a:picLocks noChangeAspect="1"/>
          </p:cNvPicPr>
          <p:nvPr/>
        </p:nvPicPr>
        <p:blipFill>
          <a:blip r:embed="rId5"/>
          <a:srcRect b="33371"/>
          <a:stretch>
            <a:fillRect/>
          </a:stretch>
        </p:blipFill>
        <p:spPr>
          <a:xfrm>
            <a:off x="640080" y="2706624"/>
            <a:ext cx="6492240" cy="3355848"/>
          </a:xfrm>
          <a:prstGeom prst="rect">
            <a:avLst/>
          </a:prstGeom>
        </p:spPr>
      </p:pic>
      <p:sp>
        <p:nvSpPr>
          <p:cNvPr id="21" name="TextBox 20"/>
          <p:cNvSpPr txBox="1"/>
          <p:nvPr/>
        </p:nvSpPr>
        <p:spPr>
          <a:xfrm>
            <a:off x="640080"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15_users.png"/>
          <p:cNvPicPr>
            <a:picLocks noChangeAspect="1"/>
          </p:cNvPicPr>
          <p:nvPr/>
        </p:nvPicPr>
        <p:blipFill>
          <a:blip r:embed="rId6"/>
          <a:srcRect b="33371"/>
          <a:stretch>
            <a:fillRect/>
          </a:stretch>
        </p:blipFill>
        <p:spPr>
          <a:xfrm>
            <a:off x="7498079" y="2706624"/>
            <a:ext cx="6492240" cy="3355848"/>
          </a:xfrm>
          <a:prstGeom prst="rect">
            <a:avLst/>
          </a:prstGeom>
        </p:spPr>
      </p:pic>
      <p:sp>
        <p:nvSpPr>
          <p:cNvPr id="29" name="TextBox 28"/>
          <p:cNvSpPr txBox="1"/>
          <p:nvPr/>
        </p:nvSpPr>
        <p:spPr>
          <a:xfrm>
            <a:off x="7498079"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77240" y="6400800"/>
            <a:ext cx="12984480" cy="512064"/>
          </a:xfrm>
          <a:prstGeom prst="rect">
            <a:avLst/>
          </a:prstGeom>
          <a:noFill/>
        </p:spPr>
        <p:txBody>
          <a:bodyPr wrap="square" lIns="0" rIns="0" tIns="0" bIns="0">
            <a:spAutoFit/>
          </a:bodyPr>
          <a:lstStyle/>
          <a:p>
            <a:pPr>
              <a:spcAft>
                <a:spcPts val="700"/>
              </a:spcAft>
              <a:defRPr sz="1500" b="1">
                <a:solidFill>
                  <a:srgbClr val="F7F9FF"/>
                </a:solidFill>
                <a:latin typeface="DejaVu Sans"/>
              </a:defRPr>
            </a:pPr>
            <a:r>
              <a:t>Member → own records  |  Volunteer → eligible/assigned work  |  Teacher → content  |  Staff → duty-based access</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Gender boundaries [16] + confidential-case rules [18] + approved role + individual record permission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Configuration and administrator profiles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Settings and staff identity support consistent operation across the platform.</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7"/>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CONFIGURATION SCREENS + PROPOSED OPERATING RULES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44 / 58</a:t>
            </a:r>
          </a:p>
        </p:txBody>
      </p:sp>
      <p:sp>
        <p:nvSpPr>
          <p:cNvPr id="14" name="Rounded Rectangle 13"/>
          <p:cNvSpPr/>
          <p:nvPr/>
        </p:nvSpPr>
        <p:spPr>
          <a:xfrm>
            <a:off x="640080"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16_settings.png"/>
          <p:cNvPicPr>
            <a:picLocks noChangeAspect="1"/>
          </p:cNvPicPr>
          <p:nvPr/>
        </p:nvPicPr>
        <p:blipFill>
          <a:blip r:embed="rId5"/>
          <a:srcRect b="33371"/>
          <a:stretch>
            <a:fillRect/>
          </a:stretch>
        </p:blipFill>
        <p:spPr>
          <a:xfrm>
            <a:off x="640080" y="2706624"/>
            <a:ext cx="6492240" cy="3355848"/>
          </a:xfrm>
          <a:prstGeom prst="rect">
            <a:avLst/>
          </a:prstGeom>
        </p:spPr>
      </p:pic>
      <p:sp>
        <p:nvSpPr>
          <p:cNvPr id="21" name="TextBox 20"/>
          <p:cNvSpPr txBox="1"/>
          <p:nvPr/>
        </p:nvSpPr>
        <p:spPr>
          <a:xfrm>
            <a:off x="640080"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7498079" y="2423160"/>
            <a:ext cx="6492240" cy="3639312"/>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423160"/>
            <a:ext cx="649224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7807" y="252374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79" y="252374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45551" y="252374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2491740"/>
            <a:ext cx="534924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17_profile.png"/>
          <p:cNvPicPr>
            <a:picLocks noChangeAspect="1"/>
          </p:cNvPicPr>
          <p:nvPr/>
        </p:nvPicPr>
        <p:blipFill>
          <a:blip r:embed="rId6"/>
          <a:srcRect b="33371"/>
          <a:stretch>
            <a:fillRect/>
          </a:stretch>
        </p:blipFill>
        <p:spPr>
          <a:xfrm>
            <a:off x="7498079" y="2706624"/>
            <a:ext cx="6492240" cy="3355848"/>
          </a:xfrm>
          <a:prstGeom prst="rect">
            <a:avLst/>
          </a:prstGeom>
        </p:spPr>
      </p:pic>
      <p:sp>
        <p:nvSpPr>
          <p:cNvPr id="29" name="TextBox 28"/>
          <p:cNvSpPr txBox="1"/>
          <p:nvPr/>
        </p:nvSpPr>
        <p:spPr>
          <a:xfrm>
            <a:off x="7498079" y="6135624"/>
            <a:ext cx="649224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TextBox 29"/>
          <p:cNvSpPr txBox="1"/>
          <p:nvPr/>
        </p:nvSpPr>
        <p:spPr>
          <a:xfrm>
            <a:off x="777240" y="6400800"/>
            <a:ext cx="12984480" cy="512064"/>
          </a:xfrm>
          <a:prstGeom prst="rect">
            <a:avLst/>
          </a:prstGeom>
          <a:noFill/>
        </p:spPr>
        <p:txBody>
          <a:bodyPr wrap="square" lIns="0" rIns="0" tIns="0" bIns="0">
            <a:spAutoFit/>
          </a:bodyPr>
          <a:lstStyle/>
          <a:p>
            <a:pPr>
              <a:spcAft>
                <a:spcPts val="700"/>
              </a:spcAft>
              <a:defRPr sz="1700" b="1">
                <a:solidFill>
                  <a:srgbClr val="F7F9FF"/>
                </a:solidFill>
                <a:latin typeface="DejaVu Sans"/>
              </a:defRPr>
            </a:pPr>
            <a:r>
              <a:t>Approve configuration → restrict staff access → record sensitive changes → validate affected journeys</a:t>
            </a:r>
          </a:p>
        </p:txBody>
      </p:sp>
      <p:sp>
        <p:nvSpPr>
          <p:cNvPr id="31" name="Rounded Rectangle 3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Brand assets, operational settings and staff responsibilities are configured without changing account permissions.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Support, privacy and terms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Public policy pages must reflect real service boundaries and approved handling of personal information.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8"/>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POLICY PLACEHOLDERS + REQUIRED CONTENT INPUTS</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45 / 58</a:t>
            </a:r>
          </a:p>
        </p:txBody>
      </p:sp>
      <p:sp>
        <p:nvSpPr>
          <p:cNvPr id="14" name="Rounded Rectangle 13"/>
          <p:cNvSpPr/>
          <p:nvPr/>
        </p:nvSpPr>
        <p:spPr>
          <a:xfrm>
            <a:off x="640080" y="2468880"/>
            <a:ext cx="4297680" cy="338328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68880"/>
            <a:ext cx="429768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56946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56946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56946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537460"/>
            <a:ext cx="315468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0" name="Picture 19" descr="18_support.png"/>
          <p:cNvPicPr>
            <a:picLocks noChangeAspect="1"/>
          </p:cNvPicPr>
          <p:nvPr/>
        </p:nvPicPr>
        <p:blipFill>
          <a:blip r:embed="rId5"/>
          <a:srcRect b="7026"/>
          <a:stretch>
            <a:fillRect/>
          </a:stretch>
        </p:blipFill>
        <p:spPr>
          <a:xfrm>
            <a:off x="640080" y="2752344"/>
            <a:ext cx="4297680" cy="3099816"/>
          </a:xfrm>
          <a:prstGeom prst="rect">
            <a:avLst/>
          </a:prstGeom>
        </p:spPr>
      </p:pic>
      <p:sp>
        <p:nvSpPr>
          <p:cNvPr id="21" name="TextBox 20"/>
          <p:cNvSpPr txBox="1"/>
          <p:nvPr/>
        </p:nvSpPr>
        <p:spPr>
          <a:xfrm>
            <a:off x="640080" y="5925312"/>
            <a:ext cx="429768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Rounded Rectangle 21"/>
          <p:cNvSpPr/>
          <p:nvPr/>
        </p:nvSpPr>
        <p:spPr>
          <a:xfrm>
            <a:off x="5166360" y="2468880"/>
            <a:ext cx="4297680" cy="338328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66360" y="2468880"/>
            <a:ext cx="429768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76088" y="256946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94960" y="256946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513832" y="256946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0" y="2537460"/>
            <a:ext cx="315468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28" name="Picture 27" descr="19_privacy_policy.png"/>
          <p:cNvPicPr>
            <a:picLocks noChangeAspect="1"/>
          </p:cNvPicPr>
          <p:nvPr/>
        </p:nvPicPr>
        <p:blipFill>
          <a:blip r:embed="rId6"/>
          <a:srcRect b="7026"/>
          <a:stretch>
            <a:fillRect/>
          </a:stretch>
        </p:blipFill>
        <p:spPr>
          <a:xfrm>
            <a:off x="5166360" y="2752344"/>
            <a:ext cx="4297680" cy="3099816"/>
          </a:xfrm>
          <a:prstGeom prst="rect">
            <a:avLst/>
          </a:prstGeom>
        </p:spPr>
      </p:pic>
      <p:sp>
        <p:nvSpPr>
          <p:cNvPr id="29" name="TextBox 28"/>
          <p:cNvSpPr txBox="1"/>
          <p:nvPr/>
        </p:nvSpPr>
        <p:spPr>
          <a:xfrm>
            <a:off x="5166360" y="5925312"/>
            <a:ext cx="429768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0" name="Rounded Rectangle 29"/>
          <p:cNvSpPr/>
          <p:nvPr/>
        </p:nvSpPr>
        <p:spPr>
          <a:xfrm>
            <a:off x="9692640" y="2468880"/>
            <a:ext cx="4297680" cy="338328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92640" y="2468880"/>
            <a:ext cx="429768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02367" y="2569464"/>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21240" y="2569464"/>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40111" y="2569464"/>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87000" y="2537460"/>
            <a:ext cx="315468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BACKEND</a:t>
            </a:r>
          </a:p>
        </p:txBody>
      </p:sp>
      <p:pic>
        <p:nvPicPr>
          <p:cNvPr id="36" name="Picture 35" descr="20_terms.png"/>
          <p:cNvPicPr>
            <a:picLocks noChangeAspect="1"/>
          </p:cNvPicPr>
          <p:nvPr/>
        </p:nvPicPr>
        <p:blipFill>
          <a:blip r:embed="rId7"/>
          <a:srcRect b="7026"/>
          <a:stretch>
            <a:fillRect/>
          </a:stretch>
        </p:blipFill>
        <p:spPr>
          <a:xfrm>
            <a:off x="9692640" y="2752344"/>
            <a:ext cx="4297680" cy="3099816"/>
          </a:xfrm>
          <a:prstGeom prst="rect">
            <a:avLst/>
          </a:prstGeom>
        </p:spPr>
      </p:pic>
      <p:sp>
        <p:nvSpPr>
          <p:cNvPr id="37" name="TextBox 36"/>
          <p:cNvSpPr txBox="1"/>
          <p:nvPr/>
        </p:nvSpPr>
        <p:spPr>
          <a:xfrm>
            <a:off x="9692640" y="5925312"/>
            <a:ext cx="429768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38" name="TextBox 37"/>
          <p:cNvSpPr txBox="1"/>
          <p:nvPr/>
        </p:nvSpPr>
        <p:spPr>
          <a:xfrm>
            <a:off x="777240" y="6400800"/>
            <a:ext cx="12984480" cy="512064"/>
          </a:xfrm>
          <a:prstGeom prst="rect">
            <a:avLst/>
          </a:prstGeom>
          <a:noFill/>
        </p:spPr>
        <p:txBody>
          <a:bodyPr wrap="square" lIns="0" rIns="0" tIns="0" bIns="0">
            <a:spAutoFit/>
          </a:bodyPr>
          <a:lstStyle/>
          <a:p>
            <a:pPr>
              <a:spcAft>
                <a:spcPts val="700"/>
              </a:spcAft>
              <a:defRPr sz="1700" b="1">
                <a:solidFill>
                  <a:srgbClr val="F7F9FF"/>
                </a:solidFill>
                <a:latin typeface="DejaVu Sans"/>
              </a:defRPr>
            </a:pPr>
            <a:r>
              <a:t>MRM supplies notices, retention decisions and support contacts; final pages replace template placeholder copy.</a:t>
            </a:r>
          </a:p>
        </p:txBody>
      </p:sp>
      <p:sp>
        <p:nvSpPr>
          <p:cNvPr id="39" name="Rounded Rectangle 38"/>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Privacy / consent [12] → restricted data [47]  •  Support and conduct reporting → designated MRM staff [19]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Reports: understand service without exposing people</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Operational reporting connects case outcomes, volunteer capacity, referrals and programme activity.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PROVIDED DEMO REPORT SCREEN + PROPOSED REPORTING</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46 / 58</a:t>
            </a:r>
          </a:p>
        </p:txBody>
      </p:sp>
      <p:sp>
        <p:nvSpPr>
          <p:cNvPr id="14" name="Rounded Rectangle 13"/>
          <p:cNvSpPr/>
          <p:nvPr/>
        </p:nvSpPr>
        <p:spPr>
          <a:xfrm>
            <a:off x="640080" y="2395728"/>
            <a:ext cx="8229600" cy="4434840"/>
          </a:xfrm>
          <a:prstGeom prst="roundRect">
            <a:avLst>
              <a:gd name="adj" fmla="val 12000"/>
            </a:avLst>
          </a:prstGeom>
          <a:solidFill>
            <a:srgbClr val="F3F6FB"/>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395728"/>
            <a:ext cx="8229600" cy="27432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2496312"/>
            <a:ext cx="64008" cy="64008"/>
          </a:xfrm>
          <a:prstGeom prst="ellipse">
            <a:avLst/>
          </a:prstGeom>
          <a:solidFill>
            <a:srgbClr val="F3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2496312"/>
            <a:ext cx="64008" cy="64008"/>
          </a:xfrm>
          <a:prstGeom prst="ellipse">
            <a:avLst/>
          </a:prstGeom>
          <a:solidFill>
            <a:srgbClr val="E6C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 y="2496312"/>
            <a:ext cx="64008" cy="64008"/>
          </a:xfrm>
          <a:prstGeom prst="ellipse">
            <a:avLst/>
          </a:prstGeom>
          <a:solidFill>
            <a:srgbClr val="85C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464308"/>
            <a:ext cx="7086600" cy="182880"/>
          </a:xfrm>
          <a:prstGeom prst="rect">
            <a:avLst/>
          </a:prstGeom>
          <a:noFill/>
        </p:spPr>
        <p:txBody>
          <a:bodyPr wrap="square" lIns="0" rIns="0" tIns="0" bIns="0">
            <a:spAutoFit/>
          </a:bodyPr>
          <a:lstStyle/>
          <a:p>
            <a:pPr algn="ctr">
              <a:spcAft>
                <a:spcPts val="700"/>
              </a:spcAft>
              <a:defRPr sz="800" b="0">
                <a:solidFill>
                  <a:srgbClr val="53617A"/>
                </a:solidFill>
                <a:latin typeface="DejaVu Sans"/>
              </a:defRPr>
            </a:pPr>
            <a:r>
              <a:t>MRM  /  MRM ADMIN FINAL</a:t>
            </a:r>
          </a:p>
        </p:txBody>
      </p:sp>
      <p:pic>
        <p:nvPicPr>
          <p:cNvPr id="20" name="Picture 19" descr="09_reports.png"/>
          <p:cNvPicPr>
            <a:picLocks noChangeAspect="1"/>
          </p:cNvPicPr>
          <p:nvPr/>
        </p:nvPicPr>
        <p:blipFill>
          <a:blip r:embed="rId5"/>
          <a:srcRect b="40097"/>
          <a:stretch>
            <a:fillRect/>
          </a:stretch>
        </p:blipFill>
        <p:spPr>
          <a:xfrm>
            <a:off x="640080" y="2679192"/>
            <a:ext cx="8229600" cy="4151376"/>
          </a:xfrm>
          <a:prstGeom prst="rect">
            <a:avLst/>
          </a:prstGeom>
        </p:spPr>
      </p:pic>
      <p:sp>
        <p:nvSpPr>
          <p:cNvPr id="21" name="TextBox 20"/>
          <p:cNvSpPr txBox="1"/>
          <p:nvPr/>
        </p:nvSpPr>
        <p:spPr>
          <a:xfrm>
            <a:off x="640080" y="6903720"/>
            <a:ext cx="8229600" cy="274320"/>
          </a:xfrm>
          <a:prstGeom prst="rect">
            <a:avLst/>
          </a:prstGeom>
          <a:noFill/>
        </p:spPr>
        <p:txBody>
          <a:bodyPr wrap="square" lIns="0" rIns="0" tIns="0" bIns="0">
            <a:spAutoFit/>
          </a:bodyPr>
          <a:lstStyle/>
          <a:p>
            <a:pPr>
              <a:spcAft>
                <a:spcPts val="700"/>
              </a:spcAft>
              <a:defRPr sz="1000" b="0">
                <a:solidFill>
                  <a:srgbClr val="BBC8DF"/>
                </a:solidFill>
                <a:latin typeface="DejaVu Sans"/>
              </a:defRPr>
            </a:pPr>
            <a:r>
              <a:t>Provided demo capture · top viewport; full capture in screenbook</a:t>
            </a:r>
          </a:p>
        </p:txBody>
      </p:sp>
      <p:sp>
        <p:nvSpPr>
          <p:cNvPr id="22" name="TextBox 21"/>
          <p:cNvSpPr txBox="1"/>
          <p:nvPr/>
        </p:nvSpPr>
        <p:spPr>
          <a:xfrm>
            <a:off x="9189720" y="2450592"/>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Service oversight</a:t>
            </a:r>
          </a:p>
        </p:txBody>
      </p:sp>
      <p:sp>
        <p:nvSpPr>
          <p:cNvPr id="23" name="TextBox 22"/>
          <p:cNvSpPr txBox="1"/>
          <p:nvPr/>
        </p:nvSpPr>
        <p:spPr>
          <a:xfrm>
            <a:off x="9189720" y="2926080"/>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Review request and referral status, open work and volunteer capacity.</a:t>
            </a:r>
          </a:p>
        </p:txBody>
      </p:sp>
      <p:sp>
        <p:nvSpPr>
          <p:cNvPr id="24" name="TextBox 23"/>
          <p:cNvSpPr txBox="1"/>
          <p:nvPr/>
        </p:nvSpPr>
        <p:spPr>
          <a:xfrm>
            <a:off x="9189720" y="3858768"/>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Programme insights</a:t>
            </a:r>
          </a:p>
        </p:txBody>
      </p:sp>
      <p:sp>
        <p:nvSpPr>
          <p:cNvPr id="25" name="TextBox 24"/>
          <p:cNvSpPr txBox="1"/>
          <p:nvPr/>
        </p:nvSpPr>
        <p:spPr>
          <a:xfrm>
            <a:off x="9189720" y="4334256"/>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Agreed learning participation, teacher activity and sponsor performance summaries.</a:t>
            </a:r>
          </a:p>
        </p:txBody>
      </p:sp>
      <p:sp>
        <p:nvSpPr>
          <p:cNvPr id="26" name="TextBox 25"/>
          <p:cNvSpPr txBox="1"/>
          <p:nvPr/>
        </p:nvSpPr>
        <p:spPr>
          <a:xfrm>
            <a:off x="9189720" y="5266944"/>
            <a:ext cx="4663440" cy="365760"/>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Controlled export</a:t>
            </a:r>
          </a:p>
        </p:txBody>
      </p:sp>
      <p:sp>
        <p:nvSpPr>
          <p:cNvPr id="27" name="TextBox 26"/>
          <p:cNvSpPr txBox="1"/>
          <p:nvPr/>
        </p:nvSpPr>
        <p:spPr>
          <a:xfrm>
            <a:off x="9189720" y="5742432"/>
            <a:ext cx="4617720" cy="78638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Aggregate by default; identifiable exports require authorised duties and approved sharing.</a:t>
            </a:r>
          </a:p>
        </p:txBody>
      </p:sp>
      <p:sp>
        <p:nvSpPr>
          <p:cNvPr id="28" name="Rounded Rectangle 27"/>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Recorded service events → aggregated summaries → MRM action  •  Demo counts are not operational performance</a:t>
            </a:r>
          </a:p>
        </p:txBody>
      </p:sp>
      <p:sp>
        <p:nvSpPr>
          <p:cNvPr id="30" name="Rounded Rectangle 29">
            <a:hlinkClick action="ppaction://hlinksldjump" r:id="rId7"/>
          </p:cNvPr>
          <p:cNvSpPr/>
          <p:nvPr/>
        </p:nvSpPr>
        <p:spPr>
          <a:xfrm>
            <a:off x="685800" y="2084831"/>
            <a:ext cx="1311249" cy="3108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795528" y="2130551"/>
            <a:ext cx="1091793" cy="246888"/>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Security  › 47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MRM OPERATIONS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Security is part of every connected flow</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Permissions and data handling apply across the app, public website, administration and backend.</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0"/>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SECURITY ARCHITECTURE</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47 / 58</a:t>
            </a:r>
          </a:p>
        </p:txBody>
      </p:sp>
      <p:sp>
        <p:nvSpPr>
          <p:cNvPr id="14" name="Rounded Rectangle 13"/>
          <p:cNvSpPr/>
          <p:nvPr/>
        </p:nvSpPr>
        <p:spPr>
          <a:xfrm>
            <a:off x="640080"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01</a:t>
            </a:r>
          </a:p>
        </p:txBody>
      </p:sp>
      <p:pic>
        <p:nvPicPr>
          <p:cNvPr id="16" name="Picture 15" descr="icon_lock_62DAE8.png"/>
          <p:cNvPicPr>
            <a:picLocks noChangeAspect="1"/>
          </p:cNvPicPr>
          <p:nvPr/>
        </p:nvPicPr>
        <p:blipFill>
          <a:blip r:embed="rId5"/>
          <a:stretch>
            <a:fillRect/>
          </a:stretch>
        </p:blipFill>
        <p:spPr>
          <a:xfrm>
            <a:off x="2967227" y="2734056"/>
            <a:ext cx="438912" cy="438912"/>
          </a:xfrm>
          <a:prstGeom prst="rect">
            <a:avLst/>
          </a:prstGeom>
        </p:spPr>
      </p:pic>
      <p:sp>
        <p:nvSpPr>
          <p:cNvPr id="17" name="TextBox 16"/>
          <p:cNvSpPr txBox="1"/>
          <p:nvPr/>
        </p:nvSpPr>
        <p:spPr>
          <a:xfrm>
            <a:off x="859536"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Authenticate</a:t>
            </a:r>
          </a:p>
        </p:txBody>
      </p:sp>
      <p:sp>
        <p:nvSpPr>
          <p:cNvPr id="18" name="TextBox 17"/>
          <p:cNvSpPr txBox="1"/>
          <p:nvPr/>
        </p:nvSpPr>
        <p:spPr>
          <a:xfrm>
            <a:off x="859536"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Verify identity and current authorised roles.</a:t>
            </a:r>
          </a:p>
        </p:txBody>
      </p:sp>
      <p:cxnSp>
        <p:nvCxnSpPr>
          <p:cNvPr id="19" name="Connector 18"/>
          <p:cNvCxnSpPr/>
          <p:nvPr/>
        </p:nvCxnSpPr>
        <p:spPr>
          <a:xfrm>
            <a:off x="3753611" y="3840479"/>
            <a:ext cx="274320"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4507"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3964"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02</a:t>
            </a:r>
          </a:p>
        </p:txBody>
      </p:sp>
      <p:pic>
        <p:nvPicPr>
          <p:cNvPr id="22" name="Picture 21" descr="icon_shield_62DAE8.png"/>
          <p:cNvPicPr>
            <a:picLocks noChangeAspect="1"/>
          </p:cNvPicPr>
          <p:nvPr/>
        </p:nvPicPr>
        <p:blipFill>
          <a:blip r:embed="rId6"/>
          <a:stretch>
            <a:fillRect/>
          </a:stretch>
        </p:blipFill>
        <p:spPr>
          <a:xfrm>
            <a:off x="6391655" y="2734056"/>
            <a:ext cx="438912" cy="438912"/>
          </a:xfrm>
          <a:prstGeom prst="rect">
            <a:avLst/>
          </a:prstGeom>
        </p:spPr>
      </p:pic>
      <p:sp>
        <p:nvSpPr>
          <p:cNvPr id="23" name="TextBox 22"/>
          <p:cNvSpPr txBox="1"/>
          <p:nvPr/>
        </p:nvSpPr>
        <p:spPr>
          <a:xfrm>
            <a:off x="4283964"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Authorise</a:t>
            </a:r>
          </a:p>
        </p:txBody>
      </p:sp>
      <p:sp>
        <p:nvSpPr>
          <p:cNvPr id="24" name="TextBox 23"/>
          <p:cNvSpPr txBox="1"/>
          <p:nvPr/>
        </p:nvSpPr>
        <p:spPr>
          <a:xfrm>
            <a:off x="4283964"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Check role, record, gender and case sensitivity.</a:t>
            </a:r>
          </a:p>
        </p:txBody>
      </p:sp>
      <p:cxnSp>
        <p:nvCxnSpPr>
          <p:cNvPr id="25" name="Connector 24"/>
          <p:cNvCxnSpPr/>
          <p:nvPr/>
        </p:nvCxnSpPr>
        <p:spPr>
          <a:xfrm>
            <a:off x="7178039" y="3840479"/>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88936"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08392"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03</a:t>
            </a:r>
          </a:p>
        </p:txBody>
      </p:sp>
      <p:pic>
        <p:nvPicPr>
          <p:cNvPr id="28" name="Picture 27" descr="icon_heart_62DAE8.png"/>
          <p:cNvPicPr>
            <a:picLocks noChangeAspect="1"/>
          </p:cNvPicPr>
          <p:nvPr/>
        </p:nvPicPr>
        <p:blipFill>
          <a:blip r:embed="rId7"/>
          <a:stretch>
            <a:fillRect/>
          </a:stretch>
        </p:blipFill>
        <p:spPr>
          <a:xfrm>
            <a:off x="9816084" y="2734056"/>
            <a:ext cx="438912" cy="438912"/>
          </a:xfrm>
          <a:prstGeom prst="rect">
            <a:avLst/>
          </a:prstGeom>
        </p:spPr>
      </p:pic>
      <p:sp>
        <p:nvSpPr>
          <p:cNvPr id="29" name="TextBox 28"/>
          <p:cNvSpPr txBox="1"/>
          <p:nvPr/>
        </p:nvSpPr>
        <p:spPr>
          <a:xfrm>
            <a:off x="7708392"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Protect</a:t>
            </a:r>
          </a:p>
        </p:txBody>
      </p:sp>
      <p:sp>
        <p:nvSpPr>
          <p:cNvPr id="30" name="TextBox 29"/>
          <p:cNvSpPr txBox="1"/>
          <p:nvPr/>
        </p:nvSpPr>
        <p:spPr>
          <a:xfrm>
            <a:off x="7708392"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Encrypted transport and restricted verification files.</a:t>
            </a:r>
          </a:p>
        </p:txBody>
      </p:sp>
      <p:cxnSp>
        <p:nvCxnSpPr>
          <p:cNvPr id="31" name="Connector 30"/>
          <p:cNvCxnSpPr/>
          <p:nvPr/>
        </p:nvCxnSpPr>
        <p:spPr>
          <a:xfrm>
            <a:off x="10602467" y="3840479"/>
            <a:ext cx="274321" cy="0"/>
          </a:xfrm>
          <a:prstGeom prst="line">
            <a:avLst/>
          </a:prstGeom>
          <a:ln w="20320">
            <a:solidFill>
              <a:srgbClr val="62DA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913363" y="2560320"/>
            <a:ext cx="3076956" cy="256032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32819" y="2761488"/>
            <a:ext cx="502920" cy="365760"/>
          </a:xfrm>
          <a:prstGeom prst="rect">
            <a:avLst/>
          </a:prstGeom>
          <a:noFill/>
        </p:spPr>
        <p:txBody>
          <a:bodyPr wrap="square" lIns="0" rIns="0" tIns="0" bIns="0">
            <a:spAutoFit/>
          </a:bodyPr>
          <a:lstStyle/>
          <a:p>
            <a:pPr>
              <a:spcAft>
                <a:spcPts val="700"/>
              </a:spcAft>
              <a:defRPr sz="1700" b="1">
                <a:solidFill>
                  <a:srgbClr val="62DAE8"/>
                </a:solidFill>
                <a:latin typeface="DejaVu Sans"/>
              </a:defRPr>
            </a:pPr>
            <a:r>
              <a:t>04</a:t>
            </a:r>
          </a:p>
        </p:txBody>
      </p:sp>
      <p:pic>
        <p:nvPicPr>
          <p:cNvPr id="34" name="Picture 33" descr="icon_chart_62DAE8.png"/>
          <p:cNvPicPr>
            <a:picLocks noChangeAspect="1"/>
          </p:cNvPicPr>
          <p:nvPr/>
        </p:nvPicPr>
        <p:blipFill>
          <a:blip r:embed="rId8"/>
          <a:stretch>
            <a:fillRect/>
          </a:stretch>
        </p:blipFill>
        <p:spPr>
          <a:xfrm>
            <a:off x="13240511" y="2734056"/>
            <a:ext cx="438912" cy="438912"/>
          </a:xfrm>
          <a:prstGeom prst="rect">
            <a:avLst/>
          </a:prstGeom>
        </p:spPr>
      </p:pic>
      <p:sp>
        <p:nvSpPr>
          <p:cNvPr id="35" name="TextBox 34"/>
          <p:cNvSpPr txBox="1"/>
          <p:nvPr/>
        </p:nvSpPr>
        <p:spPr>
          <a:xfrm>
            <a:off x="11132819" y="3392424"/>
            <a:ext cx="2638044" cy="576072"/>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Record &amp; recover</a:t>
            </a:r>
          </a:p>
        </p:txBody>
      </p:sp>
      <p:sp>
        <p:nvSpPr>
          <p:cNvPr id="36" name="TextBox 35"/>
          <p:cNvSpPr txBox="1"/>
          <p:nvPr/>
        </p:nvSpPr>
        <p:spPr>
          <a:xfrm>
            <a:off x="11132819" y="4069079"/>
            <a:ext cx="2638044" cy="932687"/>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Audit sensitive actions; backup and retention controls.</a:t>
            </a:r>
          </a:p>
        </p:txBody>
      </p:sp>
      <p:sp>
        <p:nvSpPr>
          <p:cNvPr id="37" name="Rounded Rectangle 36">
            <a:hlinkClick action="ppaction://hlinksldjump" r:id="rId11"/>
          </p:cNvPr>
          <p:cNvSpPr/>
          <p:nvPr/>
        </p:nvSpPr>
        <p:spPr>
          <a:xfrm>
            <a:off x="640080" y="5468112"/>
            <a:ext cx="658368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n_lock_62DAE8.png"/>
          <p:cNvPicPr>
            <a:picLocks noChangeAspect="1"/>
          </p:cNvPicPr>
          <p:nvPr/>
        </p:nvPicPr>
        <p:blipFill>
          <a:blip r:embed="rId5"/>
          <a:stretch>
            <a:fillRect/>
          </a:stretch>
        </p:blipFill>
        <p:spPr>
          <a:xfrm>
            <a:off x="841247" y="5650992"/>
            <a:ext cx="329184" cy="329184"/>
          </a:xfrm>
          <a:prstGeom prst="rect">
            <a:avLst/>
          </a:prstGeom>
        </p:spPr>
      </p:pic>
      <p:sp>
        <p:nvSpPr>
          <p:cNvPr id="39" name="TextBox 38">
            <a:hlinkClick action="ppaction://hlinksldjump" r:id="rId11"/>
          </p:cNvPr>
          <p:cNvSpPr txBox="1"/>
          <p:nvPr/>
        </p:nvSpPr>
        <p:spPr>
          <a:xfrm>
            <a:off x="1353312"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Private data paths</a:t>
            </a:r>
          </a:p>
        </p:txBody>
      </p:sp>
      <p:sp>
        <p:nvSpPr>
          <p:cNvPr id="40" name="TextBox 39"/>
          <p:cNvSpPr txBox="1"/>
          <p:nvPr/>
        </p:nvSpPr>
        <p:spPr>
          <a:xfrm>
            <a:off x="859536" y="6108192"/>
            <a:ext cx="614476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Identity evidence, case details and location require separate access policies.</a:t>
            </a:r>
          </a:p>
        </p:txBody>
      </p:sp>
      <p:sp>
        <p:nvSpPr>
          <p:cNvPr id="41" name="Rounded Rectangle 40">
            <a:hlinkClick action="ppaction://hlinksldjump" r:id="rId12"/>
          </p:cNvPr>
          <p:cNvSpPr/>
          <p:nvPr/>
        </p:nvSpPr>
        <p:spPr>
          <a:xfrm>
            <a:off x="7406640" y="5468112"/>
            <a:ext cx="658368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con_check_8DD8B1.png"/>
          <p:cNvPicPr>
            <a:picLocks noChangeAspect="1"/>
          </p:cNvPicPr>
          <p:nvPr/>
        </p:nvPicPr>
        <p:blipFill>
          <a:blip r:embed="rId9"/>
          <a:stretch>
            <a:fillRect/>
          </a:stretch>
        </p:blipFill>
        <p:spPr>
          <a:xfrm>
            <a:off x="7607808" y="5650992"/>
            <a:ext cx="329184" cy="329184"/>
          </a:xfrm>
          <a:prstGeom prst="rect">
            <a:avLst/>
          </a:prstGeom>
        </p:spPr>
      </p:pic>
      <p:sp>
        <p:nvSpPr>
          <p:cNvPr id="43" name="TextBox 42">
            <a:hlinkClick action="ppaction://hlinksldjump" r:id="rId12"/>
          </p:cNvPr>
          <p:cNvSpPr txBox="1"/>
          <p:nvPr/>
        </p:nvSpPr>
        <p:spPr>
          <a:xfrm>
            <a:off x="8119871"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Real validation</a:t>
            </a:r>
          </a:p>
        </p:txBody>
      </p:sp>
      <p:sp>
        <p:nvSpPr>
          <p:cNvPr id="44" name="TextBox 43"/>
          <p:cNvSpPr txBox="1"/>
          <p:nvPr/>
        </p:nvSpPr>
        <p:spPr>
          <a:xfrm>
            <a:off x="7626096" y="6108192"/>
            <a:ext cx="614476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Test direct API access, role changes, denied permissions and billing states.</a:t>
            </a:r>
          </a:p>
        </p:txBody>
      </p:sp>
      <p:sp>
        <p:nvSpPr>
          <p:cNvPr id="45" name="Rounded Rectangle 44"/>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Safe notifications [23]  •  Limited exports [46]  •  MRM policy + server controls + meaningful tests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DELIVERY &amp; EVIDENCE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Delivery: staged evidence over 3–4 months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The proposed schedule depends on required inputs, timely decisions and external service readiness.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2"/>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INDICATIVE DELIVERY PLAN</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48 / 58</a:t>
            </a:r>
          </a:p>
        </p:txBody>
      </p:sp>
      <p:sp>
        <p:nvSpPr>
          <p:cNvPr id="14" name="Rounded Rectangle 13"/>
          <p:cNvSpPr/>
          <p:nvPr/>
        </p:nvSpPr>
        <p:spPr>
          <a:xfrm>
            <a:off x="640080" y="256032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01</a:t>
            </a:r>
          </a:p>
        </p:txBody>
      </p:sp>
      <p:pic>
        <p:nvPicPr>
          <p:cNvPr id="16" name="Picture 15" descr="icon_book_C2A3FF.png"/>
          <p:cNvPicPr>
            <a:picLocks noChangeAspect="1"/>
          </p:cNvPicPr>
          <p:nvPr/>
        </p:nvPicPr>
        <p:blipFill>
          <a:blip r:embed="rId5"/>
          <a:stretch>
            <a:fillRect/>
          </a:stretch>
        </p:blipFill>
        <p:spPr>
          <a:xfrm>
            <a:off x="2282342" y="2734056"/>
            <a:ext cx="438912" cy="438912"/>
          </a:xfrm>
          <a:prstGeom prst="rect">
            <a:avLst/>
          </a:prstGeom>
        </p:spPr>
      </p:pic>
      <p:sp>
        <p:nvSpPr>
          <p:cNvPr id="17" name="TextBox 16"/>
          <p:cNvSpPr txBox="1"/>
          <p:nvPr/>
        </p:nvSpPr>
        <p:spPr>
          <a:xfrm>
            <a:off x="859536" y="339242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Weeks 1–2</a:t>
            </a:r>
          </a:p>
        </p:txBody>
      </p:sp>
      <p:sp>
        <p:nvSpPr>
          <p:cNvPr id="18" name="TextBox 17"/>
          <p:cNvSpPr txBox="1"/>
          <p:nvPr/>
        </p:nvSpPr>
        <p:spPr>
          <a:xfrm>
            <a:off x="859536" y="4069079"/>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Source audit, journeys, policy matrix and acceptance checklist.</a:t>
            </a:r>
          </a:p>
        </p:txBody>
      </p:sp>
      <p:cxnSp>
        <p:nvCxnSpPr>
          <p:cNvPr id="19" name="Connector 18"/>
          <p:cNvCxnSpPr/>
          <p:nvPr/>
        </p:nvCxnSpPr>
        <p:spPr>
          <a:xfrm>
            <a:off x="3068726" y="3863339"/>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79622" y="256032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9078"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02</a:t>
            </a:r>
          </a:p>
        </p:txBody>
      </p:sp>
      <p:pic>
        <p:nvPicPr>
          <p:cNvPr id="22" name="Picture 21" descr="icon_gear_C2A3FF.png"/>
          <p:cNvPicPr>
            <a:picLocks noChangeAspect="1"/>
          </p:cNvPicPr>
          <p:nvPr/>
        </p:nvPicPr>
        <p:blipFill>
          <a:blip r:embed="rId6"/>
          <a:stretch>
            <a:fillRect/>
          </a:stretch>
        </p:blipFill>
        <p:spPr>
          <a:xfrm>
            <a:off x="5021884" y="2734056"/>
            <a:ext cx="438912" cy="438912"/>
          </a:xfrm>
          <a:prstGeom prst="rect">
            <a:avLst/>
          </a:prstGeom>
        </p:spPr>
      </p:pic>
      <p:sp>
        <p:nvSpPr>
          <p:cNvPr id="23" name="TextBox 22"/>
          <p:cNvSpPr txBox="1"/>
          <p:nvPr/>
        </p:nvSpPr>
        <p:spPr>
          <a:xfrm>
            <a:off x="3599078" y="339242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Weeks 3–5</a:t>
            </a:r>
          </a:p>
        </p:txBody>
      </p:sp>
      <p:sp>
        <p:nvSpPr>
          <p:cNvPr id="24" name="TextBox 23"/>
          <p:cNvSpPr txBox="1"/>
          <p:nvPr/>
        </p:nvSpPr>
        <p:spPr>
          <a:xfrm>
            <a:off x="3599078" y="4069079"/>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Template-consistent design, foundation and roles.</a:t>
            </a:r>
          </a:p>
        </p:txBody>
      </p:sp>
      <p:cxnSp>
        <p:nvCxnSpPr>
          <p:cNvPr id="25" name="Connector 24"/>
          <p:cNvCxnSpPr/>
          <p:nvPr/>
        </p:nvCxnSpPr>
        <p:spPr>
          <a:xfrm>
            <a:off x="5808268" y="3863339"/>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119164" y="256032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8620"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03</a:t>
            </a:r>
          </a:p>
        </p:txBody>
      </p:sp>
      <p:pic>
        <p:nvPicPr>
          <p:cNvPr id="28" name="Picture 27" descr="icon_route_C2A3FF.png"/>
          <p:cNvPicPr>
            <a:picLocks noChangeAspect="1"/>
          </p:cNvPicPr>
          <p:nvPr/>
        </p:nvPicPr>
        <p:blipFill>
          <a:blip r:embed="rId7"/>
          <a:stretch>
            <a:fillRect/>
          </a:stretch>
        </p:blipFill>
        <p:spPr>
          <a:xfrm>
            <a:off x="7761427" y="2734056"/>
            <a:ext cx="438912" cy="438912"/>
          </a:xfrm>
          <a:prstGeom prst="rect">
            <a:avLst/>
          </a:prstGeom>
        </p:spPr>
      </p:pic>
      <p:sp>
        <p:nvSpPr>
          <p:cNvPr id="29" name="TextBox 28"/>
          <p:cNvSpPr txBox="1"/>
          <p:nvPr/>
        </p:nvSpPr>
        <p:spPr>
          <a:xfrm>
            <a:off x="6338620" y="339242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Weeks 6–10</a:t>
            </a:r>
          </a:p>
        </p:txBody>
      </p:sp>
      <p:sp>
        <p:nvSpPr>
          <p:cNvPr id="30" name="TextBox 29"/>
          <p:cNvSpPr txBox="1"/>
          <p:nvPr/>
        </p:nvSpPr>
        <p:spPr>
          <a:xfrm>
            <a:off x="6338620" y="4069079"/>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Care, volunteers, teachers, learning and subscriptions.</a:t>
            </a:r>
          </a:p>
        </p:txBody>
      </p:sp>
      <p:cxnSp>
        <p:nvCxnSpPr>
          <p:cNvPr id="31" name="Connector 30"/>
          <p:cNvCxnSpPr/>
          <p:nvPr/>
        </p:nvCxnSpPr>
        <p:spPr>
          <a:xfrm>
            <a:off x="8547811" y="3863339"/>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858707" y="256032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8163"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04</a:t>
            </a:r>
          </a:p>
        </p:txBody>
      </p:sp>
      <p:pic>
        <p:nvPicPr>
          <p:cNvPr id="34" name="Picture 33" descr="icon_globe_C2A3FF.png"/>
          <p:cNvPicPr>
            <a:picLocks noChangeAspect="1"/>
          </p:cNvPicPr>
          <p:nvPr/>
        </p:nvPicPr>
        <p:blipFill>
          <a:blip r:embed="rId8"/>
          <a:stretch>
            <a:fillRect/>
          </a:stretch>
        </p:blipFill>
        <p:spPr>
          <a:xfrm>
            <a:off x="10500969" y="2734056"/>
            <a:ext cx="438912" cy="438912"/>
          </a:xfrm>
          <a:prstGeom prst="rect">
            <a:avLst/>
          </a:prstGeom>
        </p:spPr>
      </p:pic>
      <p:sp>
        <p:nvSpPr>
          <p:cNvPr id="35" name="TextBox 34"/>
          <p:cNvSpPr txBox="1"/>
          <p:nvPr/>
        </p:nvSpPr>
        <p:spPr>
          <a:xfrm>
            <a:off x="9078163" y="339242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Weeks 11–13</a:t>
            </a:r>
          </a:p>
        </p:txBody>
      </p:sp>
      <p:sp>
        <p:nvSpPr>
          <p:cNvPr id="36" name="TextBox 35"/>
          <p:cNvSpPr txBox="1"/>
          <p:nvPr/>
        </p:nvSpPr>
        <p:spPr>
          <a:xfrm>
            <a:off x="9078163" y="4069079"/>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Utilities, website, sponsors, notifications and reports.</a:t>
            </a:r>
          </a:p>
        </p:txBody>
      </p:sp>
      <p:cxnSp>
        <p:nvCxnSpPr>
          <p:cNvPr id="37" name="Connector 36"/>
          <p:cNvCxnSpPr/>
          <p:nvPr/>
        </p:nvCxnSpPr>
        <p:spPr>
          <a:xfrm>
            <a:off x="11287353" y="3863339"/>
            <a:ext cx="274320" cy="0"/>
          </a:xfrm>
          <a:prstGeom prst="line">
            <a:avLst/>
          </a:prstGeom>
          <a:ln w="20320">
            <a:solidFill>
              <a:srgbClr val="C2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1598249" y="2560320"/>
            <a:ext cx="2392070" cy="26060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17705" y="2761488"/>
            <a:ext cx="502920" cy="365760"/>
          </a:xfrm>
          <a:prstGeom prst="rect">
            <a:avLst/>
          </a:prstGeom>
          <a:noFill/>
        </p:spPr>
        <p:txBody>
          <a:bodyPr wrap="square" lIns="0" rIns="0" tIns="0" bIns="0">
            <a:spAutoFit/>
          </a:bodyPr>
          <a:lstStyle/>
          <a:p>
            <a:pPr>
              <a:spcAft>
                <a:spcPts val="700"/>
              </a:spcAft>
              <a:defRPr sz="1700" b="1">
                <a:solidFill>
                  <a:srgbClr val="C2A3FF"/>
                </a:solidFill>
                <a:latin typeface="DejaVu Sans"/>
              </a:defRPr>
            </a:pPr>
            <a:r>
              <a:t>05</a:t>
            </a:r>
          </a:p>
        </p:txBody>
      </p:sp>
      <p:pic>
        <p:nvPicPr>
          <p:cNvPr id="40" name="Picture 39" descr="icon_check_C2A3FF.png"/>
          <p:cNvPicPr>
            <a:picLocks noChangeAspect="1"/>
          </p:cNvPicPr>
          <p:nvPr/>
        </p:nvPicPr>
        <p:blipFill>
          <a:blip r:embed="rId9"/>
          <a:stretch>
            <a:fillRect/>
          </a:stretch>
        </p:blipFill>
        <p:spPr>
          <a:xfrm>
            <a:off x="13240511" y="2734056"/>
            <a:ext cx="438912" cy="438912"/>
          </a:xfrm>
          <a:prstGeom prst="rect">
            <a:avLst/>
          </a:prstGeom>
        </p:spPr>
      </p:pic>
      <p:sp>
        <p:nvSpPr>
          <p:cNvPr id="41" name="TextBox 40"/>
          <p:cNvSpPr txBox="1"/>
          <p:nvPr/>
        </p:nvSpPr>
        <p:spPr>
          <a:xfrm>
            <a:off x="11817705" y="3392424"/>
            <a:ext cx="1953158" cy="576072"/>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Weeks 14–16</a:t>
            </a:r>
          </a:p>
        </p:txBody>
      </p:sp>
      <p:sp>
        <p:nvSpPr>
          <p:cNvPr id="42" name="TextBox 41"/>
          <p:cNvSpPr txBox="1"/>
          <p:nvPr/>
        </p:nvSpPr>
        <p:spPr>
          <a:xfrm>
            <a:off x="11817705" y="4069079"/>
            <a:ext cx="1953158" cy="978408"/>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Security/device tests, UAT, training and submissions.</a:t>
            </a:r>
          </a:p>
        </p:txBody>
      </p:sp>
      <p:sp>
        <p:nvSpPr>
          <p:cNvPr id="43" name="Rounded Rectangle 42">
            <a:hlinkClick action="ppaction://hlinksldjump" r:id="rId13"/>
          </p:cNvPr>
          <p:cNvSpPr/>
          <p:nvPr/>
        </p:nvSpPr>
        <p:spPr>
          <a:xfrm>
            <a:off x="640080" y="5468112"/>
            <a:ext cx="658368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on_people_62DAE8.png"/>
          <p:cNvPicPr>
            <a:picLocks noChangeAspect="1"/>
          </p:cNvPicPr>
          <p:nvPr/>
        </p:nvPicPr>
        <p:blipFill>
          <a:blip r:embed="rId10"/>
          <a:stretch>
            <a:fillRect/>
          </a:stretch>
        </p:blipFill>
        <p:spPr>
          <a:xfrm>
            <a:off x="841247" y="5650992"/>
            <a:ext cx="329184" cy="329184"/>
          </a:xfrm>
          <a:prstGeom prst="rect">
            <a:avLst/>
          </a:prstGeom>
        </p:spPr>
      </p:pic>
      <p:sp>
        <p:nvSpPr>
          <p:cNvPr id="45" name="TextBox 44">
            <a:hlinkClick action="ppaction://hlinksldjump" r:id="rId13"/>
          </p:cNvPr>
          <p:cNvSpPr txBox="1"/>
          <p:nvPr/>
        </p:nvSpPr>
        <p:spPr>
          <a:xfrm>
            <a:off x="1353312"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MRM dependencies</a:t>
            </a:r>
          </a:p>
        </p:txBody>
      </p:sp>
      <p:sp>
        <p:nvSpPr>
          <p:cNvPr id="46" name="TextBox 45"/>
          <p:cNvSpPr txBox="1"/>
          <p:nvPr/>
        </p:nvSpPr>
        <p:spPr>
          <a:xfrm>
            <a:off x="859536" y="6108192"/>
            <a:ext cx="614476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Policies, content rights, partner contacts and client-owned accounts.</a:t>
            </a:r>
          </a:p>
        </p:txBody>
      </p:sp>
      <p:sp>
        <p:nvSpPr>
          <p:cNvPr id="47" name="Rounded Rectangle 46">
            <a:hlinkClick action="ppaction://hlinksldjump" r:id="rId13"/>
          </p:cNvPr>
          <p:cNvSpPr/>
          <p:nvPr/>
        </p:nvSpPr>
        <p:spPr>
          <a:xfrm>
            <a:off x="7406640" y="5468112"/>
            <a:ext cx="6583680" cy="1298448"/>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on_shield_E8C578.png"/>
          <p:cNvPicPr>
            <a:picLocks noChangeAspect="1"/>
          </p:cNvPicPr>
          <p:nvPr/>
        </p:nvPicPr>
        <p:blipFill>
          <a:blip r:embed="rId11"/>
          <a:stretch>
            <a:fillRect/>
          </a:stretch>
        </p:blipFill>
        <p:spPr>
          <a:xfrm>
            <a:off x="7607808" y="5650992"/>
            <a:ext cx="329184" cy="329184"/>
          </a:xfrm>
          <a:prstGeom prst="rect">
            <a:avLst/>
          </a:prstGeom>
        </p:spPr>
      </p:pic>
      <p:sp>
        <p:nvSpPr>
          <p:cNvPr id="49" name="TextBox 48">
            <a:hlinkClick action="ppaction://hlinksldjump" r:id="rId13"/>
          </p:cNvPr>
          <p:cNvSpPr txBox="1"/>
          <p:nvPr/>
        </p:nvSpPr>
        <p:spPr>
          <a:xfrm>
            <a:off x="8119871" y="5650992"/>
            <a:ext cx="5696712"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Release qualification</a:t>
            </a:r>
          </a:p>
        </p:txBody>
      </p:sp>
      <p:sp>
        <p:nvSpPr>
          <p:cNvPr id="50" name="TextBox 49"/>
          <p:cNvSpPr txBox="1"/>
          <p:nvPr/>
        </p:nvSpPr>
        <p:spPr>
          <a:xfrm>
            <a:off x="7626096" y="6108192"/>
            <a:ext cx="6144768" cy="539496"/>
          </a:xfrm>
          <a:prstGeom prst="rect">
            <a:avLst/>
          </a:prstGeom>
          <a:noFill/>
        </p:spPr>
        <p:txBody>
          <a:bodyPr wrap="square" lIns="0" rIns="0" tIns="0" bIns="0">
            <a:spAutoFit/>
          </a:bodyPr>
          <a:lstStyle/>
          <a:p>
            <a:pPr>
              <a:spcAft>
                <a:spcPts val="700"/>
              </a:spcAft>
              <a:defRPr sz="1300" b="0">
                <a:solidFill>
                  <a:srgbClr val="BBC8DF"/>
                </a:solidFill>
                <a:latin typeface="DejaVu Sans"/>
              </a:defRPr>
            </a:pPr>
            <a:r>
              <a:t>Store submission is a milestone; approval dates remain store-controlled.</a:t>
            </a:r>
          </a:p>
        </p:txBody>
      </p:sp>
      <p:sp>
        <p:nvSpPr>
          <p:cNvPr id="51" name="Rounded Rectangle 50"/>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Review at each stage  •  Scope changes recorded  •  No silent removal of agreed modules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DELIVERY &amp; EVIDENCE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Screen coverage and evidence boundaries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All 38 primary captures are indexed; duplicate export variants are retained in the companion screenbook.</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1"/>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SCREENSHOT AUDIT  /  NOT AN IMPLEMENTATION CERTIFICATION</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49 / 58</a:t>
            </a:r>
          </a:p>
        </p:txBody>
      </p:sp>
      <p:sp>
        <p:nvSpPr>
          <p:cNvPr id="14" name="Rounded Rectangle 13">
            <a:hlinkClick action="ppaction://hlinksldjump" r:id="rId12"/>
          </p:cNvPr>
          <p:cNvSpPr/>
          <p:nvPr/>
        </p:nvSpPr>
        <p:spPr>
          <a:xfrm>
            <a:off x="640080" y="2423160"/>
            <a:ext cx="4251960" cy="19202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people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2"/>
          </p:cNvPr>
          <p:cNvSpPr txBox="1"/>
          <p:nvPr/>
        </p:nvSpPr>
        <p:spPr>
          <a:xfrm>
            <a:off x="1353312" y="2606040"/>
            <a:ext cx="336499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9 mobile captures</a:t>
            </a:r>
          </a:p>
        </p:txBody>
      </p:sp>
      <p:sp>
        <p:nvSpPr>
          <p:cNvPr id="17" name="TextBox 16"/>
          <p:cNvSpPr txBox="1"/>
          <p:nvPr/>
        </p:nvSpPr>
        <p:spPr>
          <a:xfrm>
            <a:off x="859536" y="3255264"/>
            <a:ext cx="3813048" cy="96926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Home, services, activity, account and entry states. Some filenames do not match the captured screen.</a:t>
            </a:r>
          </a:p>
        </p:txBody>
      </p:sp>
      <p:sp>
        <p:nvSpPr>
          <p:cNvPr id="18" name="Rounded Rectangle 17">
            <a:hlinkClick action="ppaction://hlinksldjump" r:id="rId13"/>
          </p:cNvPr>
          <p:cNvSpPr/>
          <p:nvPr/>
        </p:nvSpPr>
        <p:spPr>
          <a:xfrm>
            <a:off x="5184648" y="2423160"/>
            <a:ext cx="4251960" cy="19202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gear_C2A3FF.png"/>
          <p:cNvPicPr>
            <a:picLocks noChangeAspect="1"/>
          </p:cNvPicPr>
          <p:nvPr/>
        </p:nvPicPr>
        <p:blipFill>
          <a:blip r:embed="rId6"/>
          <a:stretch>
            <a:fillRect/>
          </a:stretch>
        </p:blipFill>
        <p:spPr>
          <a:xfrm>
            <a:off x="5385816" y="2606040"/>
            <a:ext cx="384048" cy="384048"/>
          </a:xfrm>
          <a:prstGeom prst="rect">
            <a:avLst/>
          </a:prstGeom>
        </p:spPr>
      </p:pic>
      <p:sp>
        <p:nvSpPr>
          <p:cNvPr id="20" name="TextBox 19">
            <a:hlinkClick action="ppaction://hlinksldjump" r:id="rId13"/>
          </p:cNvPr>
          <p:cNvSpPr txBox="1"/>
          <p:nvPr/>
        </p:nvSpPr>
        <p:spPr>
          <a:xfrm>
            <a:off x="5897880" y="2606040"/>
            <a:ext cx="336499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20 backend captures</a:t>
            </a:r>
          </a:p>
        </p:txBody>
      </p:sp>
      <p:sp>
        <p:nvSpPr>
          <p:cNvPr id="21" name="TextBox 20"/>
          <p:cNvSpPr txBox="1"/>
          <p:nvPr/>
        </p:nvSpPr>
        <p:spPr>
          <a:xfrm>
            <a:off x="5404104" y="3255264"/>
            <a:ext cx="3813048" cy="96926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Content, prayer, accounts, settings, policies and template payment configuration.</a:t>
            </a:r>
          </a:p>
        </p:txBody>
      </p:sp>
      <p:sp>
        <p:nvSpPr>
          <p:cNvPr id="22" name="Rounded Rectangle 21">
            <a:hlinkClick action="ppaction://hlinksldjump" r:id="rId14"/>
          </p:cNvPr>
          <p:cNvSpPr/>
          <p:nvPr/>
        </p:nvSpPr>
        <p:spPr>
          <a:xfrm>
            <a:off x="9738360" y="2423160"/>
            <a:ext cx="4251960" cy="1920240"/>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shield_8DD8B1.png"/>
          <p:cNvPicPr>
            <a:picLocks noChangeAspect="1"/>
          </p:cNvPicPr>
          <p:nvPr/>
        </p:nvPicPr>
        <p:blipFill>
          <a:blip r:embed="rId7"/>
          <a:stretch>
            <a:fillRect/>
          </a:stretch>
        </p:blipFill>
        <p:spPr>
          <a:xfrm>
            <a:off x="9939528" y="2606040"/>
            <a:ext cx="384048" cy="384048"/>
          </a:xfrm>
          <a:prstGeom prst="rect">
            <a:avLst/>
          </a:prstGeom>
        </p:spPr>
      </p:pic>
      <p:sp>
        <p:nvSpPr>
          <p:cNvPr id="24" name="TextBox 23">
            <a:hlinkClick action="ppaction://hlinksldjump" r:id="rId14"/>
          </p:cNvPr>
          <p:cNvSpPr txBox="1"/>
          <p:nvPr/>
        </p:nvSpPr>
        <p:spPr>
          <a:xfrm>
            <a:off x="10451592" y="2606040"/>
            <a:ext cx="3364992" cy="475488"/>
          </a:xfrm>
          <a:prstGeom prst="rect">
            <a:avLst/>
          </a:prstGeom>
          <a:noFill/>
        </p:spPr>
        <p:txBody>
          <a:bodyPr wrap="square" lIns="0" rIns="0" tIns="0" bIns="0">
            <a:spAutoFit/>
          </a:bodyPr>
          <a:lstStyle/>
          <a:p>
            <a:pPr>
              <a:spcAft>
                <a:spcPts val="700"/>
              </a:spcAft>
              <a:defRPr sz="1600" b="1">
                <a:solidFill>
                  <a:srgbClr val="F7F9FF"/>
                </a:solidFill>
                <a:latin typeface="DejaVu Sans"/>
              </a:defRPr>
            </a:pPr>
            <a:r>
              <a:t>9 MRM final captures</a:t>
            </a:r>
          </a:p>
        </p:txBody>
      </p:sp>
      <p:sp>
        <p:nvSpPr>
          <p:cNvPr id="25" name="TextBox 24"/>
          <p:cNvSpPr txBox="1"/>
          <p:nvPr/>
        </p:nvSpPr>
        <p:spPr>
          <a:xfrm>
            <a:off x="9957816" y="3255264"/>
            <a:ext cx="3813048" cy="969264"/>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Cases, verification, assignments, learning, referrals, sponsors, alerts and reports. Demo records.</a:t>
            </a:r>
          </a:p>
        </p:txBody>
      </p:sp>
      <p:sp>
        <p:nvSpPr>
          <p:cNvPr id="26" name="TextBox 25"/>
          <p:cNvSpPr txBox="1"/>
          <p:nvPr/>
        </p:nvSpPr>
        <p:spPr>
          <a:xfrm>
            <a:off x="777240" y="4700016"/>
            <a:ext cx="12893040" cy="438912"/>
          </a:xfrm>
          <a:prstGeom prst="rect">
            <a:avLst/>
          </a:prstGeom>
          <a:noFill/>
        </p:spPr>
        <p:txBody>
          <a:bodyPr wrap="square" lIns="0" rIns="0" tIns="0" bIns="0">
            <a:spAutoFit/>
          </a:bodyPr>
          <a:lstStyle/>
          <a:p>
            <a:pPr>
              <a:spcAft>
                <a:spcPts val="700"/>
              </a:spcAft>
              <a:defRPr sz="1900" b="1">
                <a:solidFill>
                  <a:srgbClr val="F7F9FF"/>
                </a:solidFill>
                <a:latin typeface="DejaVu Sans"/>
              </a:defRPr>
            </a:pPr>
            <a:r>
              <a:t>Captures requiring replacement or a fresh functional demonstration</a:t>
            </a:r>
          </a:p>
        </p:txBody>
      </p:sp>
      <p:pic>
        <p:nvPicPr>
          <p:cNvPr id="27" name="Picture 26" descr="07_volunteer.png"/>
          <p:cNvPicPr>
            <a:picLocks noChangeAspect="1"/>
          </p:cNvPicPr>
          <p:nvPr/>
        </p:nvPicPr>
        <p:blipFill>
          <a:blip r:embed="rId8"/>
          <a:stretch>
            <a:fillRect/>
          </a:stretch>
        </p:blipFill>
        <p:spPr>
          <a:xfrm>
            <a:off x="777240" y="5321808"/>
            <a:ext cx="514350" cy="1143000"/>
          </a:xfrm>
          <a:prstGeom prst="rect">
            <a:avLst/>
          </a:prstGeom>
        </p:spPr>
      </p:pic>
      <p:sp>
        <p:nvSpPr>
          <p:cNvPr id="28" name="TextBox 27"/>
          <p:cNvSpPr txBox="1"/>
          <p:nvPr/>
        </p:nvSpPr>
        <p:spPr>
          <a:xfrm>
            <a:off x="1437894" y="5358384"/>
            <a:ext cx="3454146" cy="1143000"/>
          </a:xfrm>
          <a:prstGeom prst="rect">
            <a:avLst/>
          </a:prstGeom>
          <a:noFill/>
        </p:spPr>
        <p:txBody>
          <a:bodyPr wrap="square" lIns="0" rIns="0" tIns="0" bIns="0">
            <a:spAutoFit/>
          </a:bodyPr>
          <a:lstStyle/>
          <a:p>
            <a:pPr>
              <a:spcAft>
                <a:spcPts val="700"/>
              </a:spcAft>
              <a:defRPr sz="1300" b="0">
                <a:solidFill>
                  <a:srgbClr val="E8C578"/>
                </a:solidFill>
                <a:latin typeface="DejaVu Sans"/>
              </a:defRPr>
            </a:pPr>
            <a:r>
              <a:t>Volunteer filename → Gmail</a:t>
            </a:r>
          </a:p>
        </p:txBody>
      </p:sp>
      <p:pic>
        <p:nvPicPr>
          <p:cNvPr id="29" name="Picture 28" descr="08_assignments_or_learning.png"/>
          <p:cNvPicPr>
            <a:picLocks noChangeAspect="1"/>
          </p:cNvPicPr>
          <p:nvPr/>
        </p:nvPicPr>
        <p:blipFill>
          <a:blip r:embed="rId9"/>
          <a:stretch>
            <a:fillRect/>
          </a:stretch>
        </p:blipFill>
        <p:spPr>
          <a:xfrm>
            <a:off x="5303520" y="5321808"/>
            <a:ext cx="514350" cy="1143000"/>
          </a:xfrm>
          <a:prstGeom prst="rect">
            <a:avLst/>
          </a:prstGeom>
        </p:spPr>
      </p:pic>
      <p:sp>
        <p:nvSpPr>
          <p:cNvPr id="30" name="TextBox 29"/>
          <p:cNvSpPr txBox="1"/>
          <p:nvPr/>
        </p:nvSpPr>
        <p:spPr>
          <a:xfrm>
            <a:off x="5964174" y="5358384"/>
            <a:ext cx="3454146" cy="1143000"/>
          </a:xfrm>
          <a:prstGeom prst="rect">
            <a:avLst/>
          </a:prstGeom>
          <a:noFill/>
        </p:spPr>
        <p:txBody>
          <a:bodyPr wrap="square" lIns="0" rIns="0" tIns="0" bIns="0">
            <a:spAutoFit/>
          </a:bodyPr>
          <a:lstStyle/>
          <a:p>
            <a:pPr>
              <a:spcAft>
                <a:spcPts val="700"/>
              </a:spcAft>
              <a:defRPr sz="1300" b="0">
                <a:solidFill>
                  <a:srgbClr val="E8C578"/>
                </a:solidFill>
                <a:latin typeface="DejaVu Sans"/>
              </a:defRPr>
            </a:pPr>
            <a:r>
              <a:t>Assignment/learning → blank state</a:t>
            </a:r>
          </a:p>
        </p:txBody>
      </p:sp>
      <p:pic>
        <p:nvPicPr>
          <p:cNvPr id="31" name="Picture 30" descr="12_reciters.png"/>
          <p:cNvPicPr>
            <a:picLocks noChangeAspect="1"/>
          </p:cNvPicPr>
          <p:nvPr/>
        </p:nvPicPr>
        <p:blipFill>
          <a:blip r:embed="rId10"/>
          <a:stretch>
            <a:fillRect/>
          </a:stretch>
        </p:blipFill>
        <p:spPr>
          <a:xfrm>
            <a:off x="9829800" y="5321808"/>
            <a:ext cx="1473346" cy="1143000"/>
          </a:xfrm>
          <a:prstGeom prst="rect">
            <a:avLst/>
          </a:prstGeom>
        </p:spPr>
      </p:pic>
      <p:sp>
        <p:nvSpPr>
          <p:cNvPr id="32" name="TextBox 31"/>
          <p:cNvSpPr txBox="1"/>
          <p:nvPr/>
        </p:nvSpPr>
        <p:spPr>
          <a:xfrm>
            <a:off x="11449450" y="5358384"/>
            <a:ext cx="2495149" cy="1143000"/>
          </a:xfrm>
          <a:prstGeom prst="rect">
            <a:avLst/>
          </a:prstGeom>
          <a:noFill/>
        </p:spPr>
        <p:txBody>
          <a:bodyPr wrap="square" lIns="0" rIns="0" tIns="0" bIns="0">
            <a:spAutoFit/>
          </a:bodyPr>
          <a:lstStyle/>
          <a:p>
            <a:pPr>
              <a:spcAft>
                <a:spcPts val="700"/>
              </a:spcAft>
              <a:defRPr sz="1300" b="0">
                <a:solidFill>
                  <a:srgbClr val="E8C578"/>
                </a:solidFill>
                <a:latin typeface="DejaVu Sans"/>
              </a:defRPr>
            </a:pPr>
            <a:r>
              <a:t>Reciters → raw API response</a:t>
            </a:r>
          </a:p>
        </p:txBody>
      </p:sp>
      <p:sp>
        <p:nvSpPr>
          <p:cNvPr id="33" name="Rounded Rectangle 32"/>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Missing mobile detail views are described as proposed flows; the deck does not fabricate completed screens.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9144000" cy="274320"/>
          </a:xfrm>
          <a:prstGeom prst="rect">
            <a:avLst/>
          </a:prstGeom>
          <a:noFill/>
        </p:spPr>
        <p:txBody>
          <a:bodyPr wrap="square" lIns="0" rIns="0" tIns="0" bIns="0">
            <a:spAutoFit/>
          </a:bodyPr>
          <a:lstStyle/>
          <a:p>
            <a:pPr>
              <a:spcAft>
                <a:spcPts val="700"/>
              </a:spcAft>
              <a:defRPr sz="1000" b="1">
                <a:solidFill>
                  <a:srgbClr val="62DAE8"/>
                </a:solidFill>
                <a:latin typeface="DejaVu Sans"/>
              </a:defRPr>
            </a:pPr>
            <a:r>
              <a:t>DELIVERY &amp; EVIDENCE  /  MRM DIGITAL COMMUNITY PLATFORM</a:t>
            </a:r>
          </a:p>
        </p:txBody>
      </p:sp>
      <p:pic>
        <p:nvPicPr>
          <p:cNvPr id="6" name="Picture 5" descr="image4.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7.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50976"/>
            <a:ext cx="13350240" cy="594360"/>
          </a:xfrm>
          <a:prstGeom prst="rect">
            <a:avLst/>
          </a:prstGeom>
          <a:noFill/>
        </p:spPr>
        <p:txBody>
          <a:bodyPr wrap="square" lIns="0" rIns="0" tIns="0" bIns="0">
            <a:spAutoFit/>
          </a:bodyPr>
          <a:lstStyle/>
          <a:p>
            <a:pPr>
              <a:spcAft>
                <a:spcPts val="700"/>
              </a:spcAft>
              <a:defRPr sz="3200" b="1">
                <a:solidFill>
                  <a:srgbClr val="F7F9FF"/>
                </a:solidFill>
                <a:latin typeface="DejaVu Sans"/>
              </a:defRPr>
            </a:pPr>
            <a:r>
              <a:t>Acceptance, handover and next steps</a:t>
            </a:r>
          </a:p>
        </p:txBody>
      </p:sp>
      <p:sp>
        <p:nvSpPr>
          <p:cNvPr id="9" name="TextBox 8"/>
          <p:cNvSpPr txBox="1"/>
          <p:nvPr/>
        </p:nvSpPr>
        <p:spPr>
          <a:xfrm>
            <a:off x="658368" y="1645920"/>
            <a:ext cx="13258800" cy="548640"/>
          </a:xfrm>
          <a:prstGeom prst="rect">
            <a:avLst/>
          </a:prstGeom>
          <a:noFill/>
        </p:spPr>
        <p:txBody>
          <a:bodyPr wrap="square" lIns="0" rIns="0" tIns="0" bIns="0">
            <a:spAutoFit/>
          </a:bodyPr>
          <a:lstStyle/>
          <a:p>
            <a:pPr>
              <a:spcAft>
                <a:spcPts val="700"/>
              </a:spcAft>
              <a:defRPr sz="1500" b="0">
                <a:solidFill>
                  <a:srgbClr val="BBC8DF"/>
                </a:solidFill>
                <a:latin typeface="DejaVu Sans"/>
              </a:defRPr>
            </a:pPr>
            <a:r>
              <a:t>Confirm the detailed specification, validate the real journeys and release through MRM-owned accounts.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10"/>
          </p:cNvPr>
          <p:cNvSpPr txBox="1"/>
          <p:nvPr/>
        </p:nvSpPr>
        <p:spPr>
          <a:xfrm>
            <a:off x="640080" y="7754112"/>
            <a:ext cx="2743200" cy="228600"/>
          </a:xfrm>
          <a:prstGeom prst="rect">
            <a:avLst/>
          </a:prstGeom>
          <a:noFill/>
        </p:spPr>
        <p:txBody>
          <a:bodyPr wrap="square" lIns="0" rIns="0" tIns="0" bIns="0">
            <a:spAutoFit/>
          </a:bodyPr>
          <a:lstStyle/>
          <a:p>
            <a:pPr>
              <a:spcAft>
                <a:spcPts val="700"/>
              </a:spcAft>
              <a:defRPr sz="900" b="0">
                <a:solidFill>
                  <a:srgbClr val="BBC8DF"/>
                </a:solidFill>
                <a:latin typeface="DejaVu Sans"/>
              </a:defRPr>
            </a:pPr>
            <a:r>
              <a:t>MRM  /  ZYLAX TECHNOLOGIES</a:t>
            </a:r>
          </a:p>
        </p:txBody>
      </p:sp>
      <p:sp>
        <p:nvSpPr>
          <p:cNvPr id="12" name="TextBox 11"/>
          <p:cNvSpPr txBox="1"/>
          <p:nvPr/>
        </p:nvSpPr>
        <p:spPr>
          <a:xfrm>
            <a:off x="3657600" y="7754112"/>
            <a:ext cx="8229600" cy="246888"/>
          </a:xfrm>
          <a:prstGeom prst="rect">
            <a:avLst/>
          </a:prstGeom>
          <a:noFill/>
        </p:spPr>
        <p:txBody>
          <a:bodyPr wrap="square" lIns="0" rIns="0" tIns="0" bIns="0">
            <a:spAutoFit/>
          </a:bodyPr>
          <a:lstStyle/>
          <a:p>
            <a:pPr algn="ctr">
              <a:spcAft>
                <a:spcPts val="700"/>
              </a:spcAft>
              <a:defRPr sz="900" b="0">
                <a:solidFill>
                  <a:srgbClr val="BBC8DF"/>
                </a:solidFill>
                <a:latin typeface="DejaVu Sans"/>
              </a:defRPr>
            </a:pPr>
            <a:r>
              <a:t>PROPOSED WORKFLOW</a:t>
            </a:r>
          </a:p>
        </p:txBody>
      </p:sp>
      <p:sp>
        <p:nvSpPr>
          <p:cNvPr id="13" name="TextBox 12"/>
          <p:cNvSpPr txBox="1"/>
          <p:nvPr/>
        </p:nvSpPr>
        <p:spPr>
          <a:xfrm>
            <a:off x="12984480" y="7708392"/>
            <a:ext cx="1005840" cy="320040"/>
          </a:xfrm>
          <a:prstGeom prst="rect">
            <a:avLst/>
          </a:prstGeom>
          <a:noFill/>
        </p:spPr>
        <p:txBody>
          <a:bodyPr wrap="square" lIns="0" rIns="0" tIns="0" bIns="0">
            <a:spAutoFit/>
          </a:bodyPr>
          <a:lstStyle/>
          <a:p>
            <a:pPr algn="r">
              <a:spcAft>
                <a:spcPts val="700"/>
              </a:spcAft>
              <a:defRPr sz="1200" b="1">
                <a:solidFill>
                  <a:srgbClr val="62DAE8"/>
                </a:solidFill>
                <a:latin typeface="DejaVu Sans"/>
              </a:defRPr>
            </a:pPr>
            <a:r>
              <a:t>50 / 58</a:t>
            </a:r>
          </a:p>
        </p:txBody>
      </p:sp>
      <p:sp>
        <p:nvSpPr>
          <p:cNvPr id="14" name="Rounded Rectangle 13">
            <a:hlinkClick action="ppaction://hlinksldjump" r:id="rId11"/>
          </p:cNvPr>
          <p:cNvSpPr/>
          <p:nvPr/>
        </p:nvSpPr>
        <p:spPr>
          <a:xfrm>
            <a:off x="640080"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_book_62DAE8.png"/>
          <p:cNvPicPr>
            <a:picLocks noChangeAspect="1"/>
          </p:cNvPicPr>
          <p:nvPr/>
        </p:nvPicPr>
        <p:blipFill>
          <a:blip r:embed="rId5"/>
          <a:stretch>
            <a:fillRect/>
          </a:stretch>
        </p:blipFill>
        <p:spPr>
          <a:xfrm>
            <a:off x="841247" y="2606040"/>
            <a:ext cx="384048" cy="384048"/>
          </a:xfrm>
          <a:prstGeom prst="rect">
            <a:avLst/>
          </a:prstGeom>
        </p:spPr>
      </p:pic>
      <p:sp>
        <p:nvSpPr>
          <p:cNvPr id="16" name="TextBox 15">
            <a:hlinkClick action="ppaction://hlinksldjump" r:id="rId11"/>
          </p:cNvPr>
          <p:cNvSpPr txBox="1"/>
          <p:nvPr/>
        </p:nvSpPr>
        <p:spPr>
          <a:xfrm>
            <a:off x="1353312"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Confirm the specification</a:t>
            </a:r>
          </a:p>
        </p:txBody>
      </p:sp>
      <p:sp>
        <p:nvSpPr>
          <p:cNvPr id="17" name="TextBox 16"/>
          <p:cNvSpPr txBox="1"/>
          <p:nvPr/>
        </p:nvSpPr>
        <p:spPr>
          <a:xfrm>
            <a:off x="859536"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Final naming, permissions, plans, content sources, capacity and partner handoff. Preserve Zabi’s visual patterns.</a:t>
            </a:r>
          </a:p>
        </p:txBody>
      </p:sp>
      <p:sp>
        <p:nvSpPr>
          <p:cNvPr id="18" name="Rounded Rectangle 17">
            <a:hlinkClick action="ppaction://hlinksldjump" r:id="rId12"/>
          </p:cNvPr>
          <p:cNvSpPr/>
          <p:nvPr/>
        </p:nvSpPr>
        <p:spPr>
          <a:xfrm>
            <a:off x="7415783" y="2423160"/>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_check_8DD8B1.png"/>
          <p:cNvPicPr>
            <a:picLocks noChangeAspect="1"/>
          </p:cNvPicPr>
          <p:nvPr/>
        </p:nvPicPr>
        <p:blipFill>
          <a:blip r:embed="rId6"/>
          <a:stretch>
            <a:fillRect/>
          </a:stretch>
        </p:blipFill>
        <p:spPr>
          <a:xfrm>
            <a:off x="7616952" y="2606040"/>
            <a:ext cx="384048" cy="384048"/>
          </a:xfrm>
          <a:prstGeom prst="rect">
            <a:avLst/>
          </a:prstGeom>
        </p:spPr>
      </p:pic>
      <p:sp>
        <p:nvSpPr>
          <p:cNvPr id="20" name="TextBox 19">
            <a:hlinkClick action="ppaction://hlinksldjump" r:id="rId12"/>
          </p:cNvPr>
          <p:cNvSpPr txBox="1"/>
          <p:nvPr/>
        </p:nvSpPr>
        <p:spPr>
          <a:xfrm>
            <a:off x="8129015" y="2606040"/>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Verify complete journeys</a:t>
            </a:r>
          </a:p>
        </p:txBody>
      </p:sp>
      <p:sp>
        <p:nvSpPr>
          <p:cNvPr id="21" name="TextBox 20"/>
          <p:cNvSpPr txBox="1"/>
          <p:nvPr/>
        </p:nvSpPr>
        <p:spPr>
          <a:xfrm>
            <a:off x="7635240" y="3255264"/>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Requests, verification, restricted cases, referrals, learning, subscriptions and sponsor expiry.</a:t>
            </a:r>
          </a:p>
        </p:txBody>
      </p:sp>
      <p:sp>
        <p:nvSpPr>
          <p:cNvPr id="22" name="Rounded Rectangle 21">
            <a:hlinkClick action="ppaction://hlinksldjump" r:id="rId13"/>
          </p:cNvPr>
          <p:cNvSpPr/>
          <p:nvPr/>
        </p:nvSpPr>
        <p:spPr>
          <a:xfrm>
            <a:off x="640080"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_people_C2A3FF.png"/>
          <p:cNvPicPr>
            <a:picLocks noChangeAspect="1"/>
          </p:cNvPicPr>
          <p:nvPr/>
        </p:nvPicPr>
        <p:blipFill>
          <a:blip r:embed="rId7"/>
          <a:stretch>
            <a:fillRect/>
          </a:stretch>
        </p:blipFill>
        <p:spPr>
          <a:xfrm>
            <a:off x="841247" y="4832604"/>
            <a:ext cx="384048" cy="384048"/>
          </a:xfrm>
          <a:prstGeom prst="rect">
            <a:avLst/>
          </a:prstGeom>
        </p:spPr>
      </p:pic>
      <p:sp>
        <p:nvSpPr>
          <p:cNvPr id="24" name="TextBox 23">
            <a:hlinkClick action="ppaction://hlinksldjump" r:id="rId13"/>
          </p:cNvPr>
          <p:cNvSpPr txBox="1"/>
          <p:nvPr/>
        </p:nvSpPr>
        <p:spPr>
          <a:xfrm>
            <a:off x="1353312"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Handover to MRM</a:t>
            </a:r>
          </a:p>
        </p:txBody>
      </p:sp>
      <p:sp>
        <p:nvSpPr>
          <p:cNvPr id="25" name="TextBox 24"/>
          <p:cNvSpPr txBox="1"/>
          <p:nvPr/>
        </p:nvSpPr>
        <p:spPr>
          <a:xfrm>
            <a:off x="859536"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Operating guide, staff training, deployment notes and acceptance checklist. Critical defects resolved before release.</a:t>
            </a:r>
          </a:p>
        </p:txBody>
      </p:sp>
      <p:sp>
        <p:nvSpPr>
          <p:cNvPr id="26" name="Rounded Rectangle 25">
            <a:hlinkClick action="ppaction://hlinksldjump" r:id="rId13"/>
          </p:cNvPr>
          <p:cNvSpPr/>
          <p:nvPr/>
        </p:nvSpPr>
        <p:spPr>
          <a:xfrm>
            <a:off x="7415783" y="4649724"/>
            <a:ext cx="6574536" cy="2025396"/>
          </a:xfrm>
          <a:prstGeom prst="roundRect">
            <a:avLst>
              <a:gd name="adj" fmla="val 12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on_shield_E8C578.png"/>
          <p:cNvPicPr>
            <a:picLocks noChangeAspect="1"/>
          </p:cNvPicPr>
          <p:nvPr/>
        </p:nvPicPr>
        <p:blipFill>
          <a:blip r:embed="rId8"/>
          <a:stretch>
            <a:fillRect/>
          </a:stretch>
        </p:blipFill>
        <p:spPr>
          <a:xfrm>
            <a:off x="7616952" y="4832604"/>
            <a:ext cx="384048" cy="384048"/>
          </a:xfrm>
          <a:prstGeom prst="rect">
            <a:avLst/>
          </a:prstGeom>
        </p:spPr>
      </p:pic>
      <p:sp>
        <p:nvSpPr>
          <p:cNvPr id="28" name="TextBox 27">
            <a:hlinkClick action="ppaction://hlinksldjump" r:id="rId13"/>
          </p:cNvPr>
          <p:cNvSpPr txBox="1"/>
          <p:nvPr/>
        </p:nvSpPr>
        <p:spPr>
          <a:xfrm>
            <a:off x="8129015" y="4832604"/>
            <a:ext cx="5687568" cy="475488"/>
          </a:xfrm>
          <a:prstGeom prst="rect">
            <a:avLst/>
          </a:prstGeom>
          <a:noFill/>
        </p:spPr>
        <p:txBody>
          <a:bodyPr wrap="square" lIns="0" rIns="0" tIns="0" bIns="0">
            <a:spAutoFit/>
          </a:bodyPr>
          <a:lstStyle/>
          <a:p>
            <a:pPr>
              <a:spcAft>
                <a:spcPts val="700"/>
              </a:spcAft>
              <a:defRPr sz="1800" b="1">
                <a:solidFill>
                  <a:srgbClr val="F7F9FF"/>
                </a:solidFill>
                <a:latin typeface="DejaVu Sans"/>
              </a:defRPr>
            </a:pPr>
            <a:r>
              <a:t>Prepare client-owned releases</a:t>
            </a:r>
          </a:p>
        </p:txBody>
      </p:sp>
      <p:sp>
        <p:nvSpPr>
          <p:cNvPr id="29" name="TextBox 28"/>
          <p:cNvSpPr txBox="1"/>
          <p:nvPr/>
        </p:nvSpPr>
        <p:spPr>
          <a:xfrm>
            <a:off x="7635240" y="5481828"/>
            <a:ext cx="6135623" cy="1074420"/>
          </a:xfrm>
          <a:prstGeom prst="rect">
            <a:avLst/>
          </a:prstGeom>
          <a:noFill/>
        </p:spPr>
        <p:txBody>
          <a:bodyPr wrap="square" lIns="0" rIns="0" tIns="0" bIns="0">
            <a:spAutoFit/>
          </a:bodyPr>
          <a:lstStyle/>
          <a:p>
            <a:pPr>
              <a:spcAft>
                <a:spcPts val="700"/>
              </a:spcAft>
              <a:defRPr sz="1400" b="0">
                <a:solidFill>
                  <a:srgbClr val="BBC8DF"/>
                </a:solidFill>
                <a:latin typeface="DejaVu Sans"/>
              </a:defRPr>
            </a:pPr>
            <a:r>
              <a:t>Android/iOS submissions, applicable store billing and account readiness. Proposal includes 30-day stabilisation.</a:t>
            </a:r>
          </a:p>
        </p:txBody>
      </p:sp>
      <p:sp>
        <p:nvSpPr>
          <p:cNvPr id="30" name="Rounded Rectangle 29"/>
          <p:cNvSpPr/>
          <p:nvPr/>
        </p:nvSpPr>
        <p:spPr>
          <a:xfrm>
            <a:off x="640080" y="7104888"/>
            <a:ext cx="13350240" cy="356616"/>
          </a:xfrm>
          <a:prstGeom prst="roundRect">
            <a:avLst>
              <a:gd name="adj" fmla="val 12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7178040"/>
            <a:ext cx="12893040" cy="228600"/>
          </a:xfrm>
          <a:prstGeom prst="rect">
            <a:avLst/>
          </a:prstGeom>
          <a:noFill/>
        </p:spPr>
        <p:txBody>
          <a:bodyPr wrap="square" lIns="0" rIns="0" tIns="0" bIns="0">
            <a:spAutoFit/>
          </a:bodyPr>
          <a:lstStyle/>
          <a:p>
            <a:pPr>
              <a:spcAft>
                <a:spcPts val="700"/>
              </a:spcAft>
              <a:defRPr sz="1100" b="0">
                <a:solidFill>
                  <a:srgbClr val="62DAE8"/>
                </a:solidFill>
                <a:latin typeface="DejaVu Sans"/>
              </a:defRPr>
            </a:pPr>
            <a:r>
              <a:t>Next step: detailed requirements and source audit → staged implementation → evidence-based acceptance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928116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28116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942832"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36592"/>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54296"/>
            <a:ext cx="0" cy="8229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42832" y="4654296"/>
            <a:ext cx="338328"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35808"/>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35808"/>
            <a:ext cx="0" cy="1618488"/>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42832"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36592"/>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54296"/>
            <a:ext cx="0" cy="8229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54296"/>
            <a:ext cx="338328"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35808"/>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35808"/>
            <a:ext cx="0" cy="1618488"/>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54296"/>
            <a:ext cx="338328"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The complete platform, connected</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A mind map of daily practice, learning, community care and the services that make them work together.</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51 / 58</a:t>
            </a:r>
          </a:p>
        </p:txBody>
      </p:sp>
      <p:sp>
        <p:nvSpPr>
          <p:cNvPr id="14" name="Rounded Rectangle 13"/>
          <p:cNvSpPr/>
          <p:nvPr/>
        </p:nvSpPr>
        <p:spPr>
          <a:xfrm>
            <a:off x="5687568" y="3977639"/>
            <a:ext cx="3255264" cy="1353312"/>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5855" y="4133087"/>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88736" y="4133087"/>
            <a:ext cx="2852928" cy="438912"/>
          </a:xfrm>
          <a:prstGeom prst="rect">
            <a:avLst/>
          </a:prstGeom>
          <a:noFill/>
        </p:spPr>
        <p:txBody>
          <a:bodyPr wrap="square" lIns="0" tIns="0" rIns="0" bIns="0">
            <a:spAutoFit/>
          </a:bodyPr>
          <a:lstStyle/>
          <a:p>
            <a:pPr algn="l">
              <a:spcAft>
                <a:spcPts val="200"/>
              </a:spcAft>
              <a:defRPr sz="2000" b="1">
                <a:solidFill>
                  <a:srgbClr val="F7F9FF"/>
                </a:solidFill>
                <a:latin typeface="DejaVu Sans"/>
              </a:defRPr>
            </a:pPr>
            <a:r>
              <a:t>MRM PLATFORM</a:t>
            </a:r>
          </a:p>
        </p:txBody>
      </p:sp>
      <p:sp>
        <p:nvSpPr>
          <p:cNvPr id="17" name="TextBox 16"/>
          <p:cNvSpPr txBox="1"/>
          <p:nvPr/>
        </p:nvSpPr>
        <p:spPr>
          <a:xfrm>
            <a:off x="5897880" y="4581144"/>
            <a:ext cx="2834640" cy="685800"/>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For all Muslims</a:t>
            </a:r>
          </a:p>
          <a:p>
            <a:pPr algn="l">
              <a:spcAft>
                <a:spcPts val="200"/>
              </a:spcAft>
              <a:defRPr sz="1300" b="0">
                <a:solidFill>
                  <a:srgbClr val="BBC8DF"/>
                </a:solidFill>
                <a:latin typeface="DejaVu Sans"/>
              </a:defRPr>
            </a:pPr>
            <a:r>
              <a:t>Shared identity • safe access</a:t>
            </a:r>
          </a:p>
        </p:txBody>
      </p:sp>
      <p:sp>
        <p:nvSpPr>
          <p:cNvPr id="18" name="Rounded Rectangle 17">
            <a:hlinkClick action="ppaction://hlinksldjump" r:id="rId7"/>
          </p:cNvPr>
          <p:cNvSpPr/>
          <p:nvPr/>
        </p:nvSpPr>
        <p:spPr>
          <a:xfrm>
            <a:off x="640080" y="2359152"/>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14600"/>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496312"/>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46604"/>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01</a:t>
            </a:r>
          </a:p>
        </p:txBody>
      </p:sp>
      <p:sp>
        <p:nvSpPr>
          <p:cNvPr id="22" name="TextBox 21">
            <a:hlinkClick action="ppaction://hlinksldjump" r:id="rId7"/>
          </p:cNvPr>
          <p:cNvSpPr txBox="1"/>
          <p:nvPr/>
        </p:nvSpPr>
        <p:spPr>
          <a:xfrm>
            <a:off x="123444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Daily Islamic practice</a:t>
            </a:r>
          </a:p>
        </p:txBody>
      </p:sp>
      <p:sp>
        <p:nvSpPr>
          <p:cNvPr id="23" name="TextBox 22"/>
          <p:cNvSpPr txBox="1"/>
          <p:nvPr/>
        </p:nvSpPr>
        <p:spPr>
          <a:xfrm>
            <a:off x="85039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Prayer • Qibla • mosques • Quran</a:t>
            </a:r>
          </a:p>
          <a:p>
            <a:pPr algn="l">
              <a:spcAft>
                <a:spcPts val="200"/>
              </a:spcAft>
              <a:defRPr sz="1200" b="0">
                <a:solidFill>
                  <a:srgbClr val="BBC8DF"/>
                </a:solidFill>
                <a:latin typeface="DejaVu Sans"/>
              </a:defRPr>
            </a:pPr>
            <a:r>
              <a:t>Dua • dhikr • hadith • Hijri / Ramadan</a:t>
            </a:r>
          </a:p>
          <a:p>
            <a:pPr algn="l">
              <a:spcAft>
                <a:spcPts val="200"/>
              </a:spcAft>
              <a:defRPr sz="1200" b="0">
                <a:solidFill>
                  <a:srgbClr val="BBC8DF"/>
                </a:solidFill>
                <a:latin typeface="DejaVu Sans"/>
              </a:defRPr>
            </a:pPr>
            <a:r>
              <a:t>Informational zakat estimate</a:t>
            </a:r>
          </a:p>
        </p:txBody>
      </p:sp>
      <p:sp>
        <p:nvSpPr>
          <p:cNvPr id="24" name="Rounded Rectangle 23">
            <a:hlinkClick action="ppaction://hlinksldjump" r:id="rId8"/>
          </p:cNvPr>
          <p:cNvSpPr/>
          <p:nvPr/>
        </p:nvSpPr>
        <p:spPr>
          <a:xfrm>
            <a:off x="9601200" y="2359152"/>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14600"/>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496312"/>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46604"/>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02</a:t>
            </a:r>
          </a:p>
        </p:txBody>
      </p:sp>
      <p:sp>
        <p:nvSpPr>
          <p:cNvPr id="28" name="TextBox 27">
            <a:hlinkClick action="ppaction://hlinksldjump" r:id="rId8"/>
          </p:cNvPr>
          <p:cNvSpPr txBox="1"/>
          <p:nvPr/>
        </p:nvSpPr>
        <p:spPr>
          <a:xfrm>
            <a:off x="1019556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Learning &amp; teachers</a:t>
            </a:r>
          </a:p>
        </p:txBody>
      </p:sp>
      <p:sp>
        <p:nvSpPr>
          <p:cNvPr id="29" name="TextBox 28"/>
          <p:cNvSpPr txBox="1"/>
          <p:nvPr/>
        </p:nvSpPr>
        <p:spPr>
          <a:xfrm>
            <a:off x="981151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approval • posts • teaching ads</a:t>
            </a:r>
          </a:p>
          <a:p>
            <a:pPr algn="l">
              <a:spcAft>
                <a:spcPts val="200"/>
              </a:spcAft>
              <a:defRPr sz="1200" b="0">
                <a:solidFill>
                  <a:srgbClr val="BBC8DF"/>
                </a:solidFill>
                <a:latin typeface="DejaVu Sans"/>
              </a:defRPr>
            </a:pPr>
            <a:r>
              <a:t>Classes • recordings • events</a:t>
            </a:r>
          </a:p>
          <a:p>
            <a:pPr algn="l">
              <a:spcAft>
                <a:spcPts val="200"/>
              </a:spcAft>
              <a:defRPr sz="1200" b="0">
                <a:solidFill>
                  <a:srgbClr val="BBC8DF"/>
                </a:solidFill>
                <a:latin typeface="DejaVu Sans"/>
              </a:defRPr>
            </a:pPr>
            <a:r>
              <a:t>Teacher-only publishing subscriptions</a:t>
            </a:r>
          </a:p>
        </p:txBody>
      </p:sp>
      <p:sp>
        <p:nvSpPr>
          <p:cNvPr id="30" name="Rounded Rectangle 29">
            <a:hlinkClick action="ppaction://hlinksldjump" r:id="rId9"/>
          </p:cNvPr>
          <p:cNvSpPr/>
          <p:nvPr/>
        </p:nvSpPr>
        <p:spPr>
          <a:xfrm>
            <a:off x="640080" y="4059936"/>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15384"/>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197096"/>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47388"/>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03</a:t>
            </a:r>
          </a:p>
        </p:txBody>
      </p:sp>
      <p:sp>
        <p:nvSpPr>
          <p:cNvPr id="34" name="TextBox 33">
            <a:hlinkClick action="ppaction://hlinksldjump" r:id="rId9"/>
          </p:cNvPr>
          <p:cNvSpPr txBox="1"/>
          <p:nvPr/>
        </p:nvSpPr>
        <p:spPr>
          <a:xfrm>
            <a:off x="123444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Care &amp; volunteering</a:t>
            </a:r>
          </a:p>
        </p:txBody>
      </p:sp>
      <p:sp>
        <p:nvSpPr>
          <p:cNvPr id="35" name="TextBox 34"/>
          <p:cNvSpPr txBox="1"/>
          <p:nvPr/>
        </p:nvSpPr>
        <p:spPr>
          <a:xfrm>
            <a:off x="85039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Help requests • matching • assignments</a:t>
            </a:r>
          </a:p>
          <a:p>
            <a:pPr algn="l">
              <a:spcAft>
                <a:spcPts val="200"/>
              </a:spcAft>
              <a:defRPr sz="1200" b="0">
                <a:solidFill>
                  <a:srgbClr val="BBC8DF"/>
                </a:solidFill>
                <a:latin typeface="DejaVu Sans"/>
              </a:defRPr>
            </a:pPr>
            <a:r>
              <a:t>Verification • interview • gender rules</a:t>
            </a:r>
          </a:p>
          <a:p>
            <a:pPr algn="l">
              <a:spcAft>
                <a:spcPts val="200"/>
              </a:spcAft>
              <a:defRPr sz="1200" b="0">
                <a:solidFill>
                  <a:srgbClr val="BBC8DF"/>
                </a:solidFill>
                <a:latin typeface="DejaVu Sans"/>
              </a:defRPr>
            </a:pPr>
            <a:r>
              <a:t>Nearby discovery • badges / ranks</a:t>
            </a:r>
          </a:p>
        </p:txBody>
      </p:sp>
      <p:sp>
        <p:nvSpPr>
          <p:cNvPr id="36" name="Rounded Rectangle 35">
            <a:hlinkClick action="ppaction://hlinksldjump" r:id="rId10"/>
          </p:cNvPr>
          <p:cNvSpPr/>
          <p:nvPr/>
        </p:nvSpPr>
        <p:spPr>
          <a:xfrm>
            <a:off x="9601200" y="4059936"/>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15384"/>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197096"/>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47388"/>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04</a:t>
            </a:r>
          </a:p>
        </p:txBody>
      </p:sp>
      <p:sp>
        <p:nvSpPr>
          <p:cNvPr id="40" name="TextBox 39">
            <a:hlinkClick action="ppaction://hlinksldjump" r:id="rId10"/>
          </p:cNvPr>
          <p:cNvSpPr txBox="1"/>
          <p:nvPr/>
        </p:nvSpPr>
        <p:spPr>
          <a:xfrm>
            <a:off x="1019556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Confidential support &amp; zakat</a:t>
            </a:r>
          </a:p>
        </p:txBody>
      </p:sp>
      <p:sp>
        <p:nvSpPr>
          <p:cNvPr id="41" name="TextBox 40"/>
          <p:cNvSpPr txBox="1"/>
          <p:nvPr/>
        </p:nvSpPr>
        <p:spPr>
          <a:xfrm>
            <a:off x="981151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Restricted faith / family cases</a:t>
            </a:r>
          </a:p>
          <a:p>
            <a:pPr algn="l">
              <a:spcAft>
                <a:spcPts val="200"/>
              </a:spcAft>
              <a:defRPr sz="1200" b="0">
                <a:solidFill>
                  <a:srgbClr val="BBC8DF"/>
                </a:solidFill>
                <a:latin typeface="DejaVu Sans"/>
              </a:defRPr>
            </a:pPr>
            <a:r>
              <a:t>Consent • referral • partner follow-up</a:t>
            </a:r>
          </a:p>
          <a:p>
            <a:pPr algn="l">
              <a:spcAft>
                <a:spcPts val="200"/>
              </a:spcAft>
              <a:defRPr sz="1200" b="0">
                <a:solidFill>
                  <a:srgbClr val="BBC8DF"/>
                </a:solidFill>
                <a:latin typeface="DejaVu Sans"/>
              </a:defRPr>
            </a:pPr>
            <a:r>
              <a:t>Authority decides zakat outcomes</a:t>
            </a:r>
          </a:p>
        </p:txBody>
      </p:sp>
      <p:sp>
        <p:nvSpPr>
          <p:cNvPr id="42" name="Rounded Rectangle 41">
            <a:hlinkClick action="ppaction://hlinksldjump" r:id="rId11"/>
          </p:cNvPr>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a:hlinkClick action="ppaction://hlinksldjump" r:id="rId11"/>
          </p:cNvPr>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Website &amp; sponsors</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Public information • participation routes</a:t>
            </a:r>
          </a:p>
          <a:p>
            <a:pPr algn="l">
              <a:spcAft>
                <a:spcPts val="200"/>
              </a:spcAft>
              <a:defRPr sz="1200" b="0">
                <a:solidFill>
                  <a:srgbClr val="BBC8DF"/>
                </a:solidFill>
                <a:latin typeface="DejaVu Sans"/>
              </a:defRPr>
            </a:pPr>
            <a:r>
              <a:t>Approved resources • sponsor recognition</a:t>
            </a:r>
          </a:p>
          <a:p>
            <a:pPr algn="l">
              <a:spcAft>
                <a:spcPts val="200"/>
              </a:spcAft>
              <a:defRPr sz="1200" b="0">
                <a:solidFill>
                  <a:srgbClr val="BBC8DF"/>
                </a:solidFill>
                <a:latin typeface="DejaVu Sans"/>
              </a:defRPr>
            </a:pPr>
            <a:r>
              <a:t>Scheduled app / website placements</a:t>
            </a:r>
          </a:p>
        </p:txBody>
      </p:sp>
      <p:sp>
        <p:nvSpPr>
          <p:cNvPr id="48" name="Rounded Rectangle 47">
            <a:hlinkClick action="ppaction://hlinksldjump" r:id="rId12"/>
          </p:cNvPr>
          <p:cNvSpPr/>
          <p:nvPr/>
        </p:nvSpPr>
        <p:spPr>
          <a:xfrm>
            <a:off x="960120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06</a:t>
            </a:r>
          </a:p>
        </p:txBody>
      </p:sp>
      <p:sp>
        <p:nvSpPr>
          <p:cNvPr id="52" name="TextBox 51">
            <a:hlinkClick action="ppaction://hlinksldjump" r:id="rId12"/>
          </p:cNvPr>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operations</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Accounts • moderation • configurations</a:t>
            </a:r>
          </a:p>
          <a:p>
            <a:pPr algn="l">
              <a:spcAft>
                <a:spcPts val="200"/>
              </a:spcAft>
              <a:defRPr sz="1200" b="0">
                <a:solidFill>
                  <a:srgbClr val="BBC8DF"/>
                </a:solidFill>
                <a:latin typeface="DejaVu Sans"/>
              </a:defRPr>
            </a:pPr>
            <a:r>
              <a:t>Alerts • activity • audit • reports</a:t>
            </a:r>
          </a:p>
          <a:p>
            <a:pPr algn="l">
              <a:spcAft>
                <a:spcPts val="200"/>
              </a:spcAft>
              <a:defRPr sz="1200" b="0">
                <a:solidFill>
                  <a:srgbClr val="BBC8DF"/>
                </a:solidFill>
                <a:latin typeface="DejaVu Sans"/>
              </a:defRPr>
            </a:pPr>
            <a:r>
              <a:t>Privacy • backups • restricted exports</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Select a branch to visit its feature pages. Detailed maps label approvals, handoffs, access and feedback.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9281160" y="6345936"/>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281160" y="4640580"/>
            <a:ext cx="0" cy="170535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961120" y="4640580"/>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457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40580"/>
            <a:ext cx="0" cy="10515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61120" y="4640580"/>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54096"/>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54096"/>
            <a:ext cx="0" cy="1586484"/>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61120" y="4640580"/>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40580"/>
            <a:ext cx="0" cy="1705356"/>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40580"/>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457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40580"/>
            <a:ext cx="0" cy="10515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40580"/>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54096"/>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54096"/>
            <a:ext cx="0" cy="1586484"/>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40580"/>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One Muslim user, many ways to participate</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Daily tools welcome the wider community; personal services and privileged roles use the appropriate access checks.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52 / 58</a:t>
            </a:r>
          </a:p>
        </p:txBody>
      </p:sp>
      <p:sp>
        <p:nvSpPr>
          <p:cNvPr id="14" name="Rounded Rectangle 13"/>
          <p:cNvSpPr/>
          <p:nvPr/>
        </p:nvSpPr>
        <p:spPr>
          <a:xfrm>
            <a:off x="5669280" y="3886200"/>
            <a:ext cx="3291840" cy="1508760"/>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87568" y="4041648"/>
            <a:ext cx="32004" cy="119786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0448" y="4041648"/>
            <a:ext cx="2889504" cy="438912"/>
          </a:xfrm>
          <a:prstGeom prst="rect">
            <a:avLst/>
          </a:prstGeom>
          <a:noFill/>
        </p:spPr>
        <p:txBody>
          <a:bodyPr wrap="square" lIns="0" tIns="0" rIns="0" bIns="0">
            <a:spAutoFit/>
          </a:bodyPr>
          <a:lstStyle/>
          <a:p>
            <a:pPr algn="l">
              <a:spcAft>
                <a:spcPts val="200"/>
              </a:spcAft>
              <a:defRPr sz="1947" b="1">
                <a:solidFill>
                  <a:srgbClr val="F7F9FF"/>
                </a:solidFill>
                <a:latin typeface="DejaVu Sans"/>
              </a:defRPr>
            </a:pPr>
            <a:r>
              <a:t>ALL MUSLIM USERS</a:t>
            </a:r>
          </a:p>
        </p:txBody>
      </p:sp>
      <p:sp>
        <p:nvSpPr>
          <p:cNvPr id="17" name="TextBox 16"/>
          <p:cNvSpPr txBox="1"/>
          <p:nvPr/>
        </p:nvSpPr>
        <p:spPr>
          <a:xfrm>
            <a:off x="5879592" y="4489704"/>
            <a:ext cx="2871216" cy="841247"/>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Daily value • community care</a:t>
            </a:r>
          </a:p>
          <a:p>
            <a:pPr algn="l">
              <a:spcAft>
                <a:spcPts val="200"/>
              </a:spcAft>
              <a:defRPr sz="1300" b="0">
                <a:solidFill>
                  <a:srgbClr val="BBC8DF"/>
                </a:solidFill>
                <a:latin typeface="DejaVu Sans"/>
              </a:defRPr>
            </a:pPr>
            <a:r>
              <a:t>Account for personal services</a:t>
            </a:r>
          </a:p>
        </p:txBody>
      </p:sp>
      <p:sp>
        <p:nvSpPr>
          <p:cNvPr id="18" name="Rounded Rectangle 17">
            <a:hlinkClick action="ppaction://hlinksldjump" r:id="rId7"/>
          </p:cNvPr>
          <p:cNvSpPr/>
          <p:nvPr/>
        </p:nvSpPr>
        <p:spPr>
          <a:xfrm>
            <a:off x="640080" y="2377440"/>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32888"/>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514600"/>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64892"/>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01</a:t>
            </a:r>
          </a:p>
        </p:txBody>
      </p:sp>
      <p:sp>
        <p:nvSpPr>
          <p:cNvPr id="22" name="TextBox 21">
            <a:hlinkClick action="ppaction://hlinksldjump" r:id="rId7"/>
          </p:cNvPr>
          <p:cNvSpPr txBox="1"/>
          <p:nvPr/>
        </p:nvSpPr>
        <p:spPr>
          <a:xfrm>
            <a:off x="1234440" y="252374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Practise daily</a:t>
            </a:r>
          </a:p>
        </p:txBody>
      </p:sp>
      <p:sp>
        <p:nvSpPr>
          <p:cNvPr id="23" name="TextBox 22"/>
          <p:cNvSpPr txBox="1"/>
          <p:nvPr/>
        </p:nvSpPr>
        <p:spPr>
          <a:xfrm>
            <a:off x="850392" y="298094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Prayer, Quran and remembrance</a:t>
            </a:r>
          </a:p>
          <a:p>
            <a:pPr algn="l">
              <a:spcAft>
                <a:spcPts val="200"/>
              </a:spcAft>
              <a:defRPr sz="1200" b="0">
                <a:solidFill>
                  <a:srgbClr val="BBC8DF"/>
                </a:solidFill>
                <a:latin typeface="DejaVu Sans"/>
              </a:defRPr>
            </a:pPr>
            <a:r>
              <a:t>Location choices for relevant tools</a:t>
            </a:r>
          </a:p>
        </p:txBody>
      </p:sp>
      <p:sp>
        <p:nvSpPr>
          <p:cNvPr id="24" name="Rounded Rectangle 23">
            <a:hlinkClick action="ppaction://hlinksldjump" r:id="rId8"/>
          </p:cNvPr>
          <p:cNvSpPr/>
          <p:nvPr/>
        </p:nvSpPr>
        <p:spPr>
          <a:xfrm>
            <a:off x="9601200" y="2377440"/>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32888"/>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514600"/>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64892"/>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02</a:t>
            </a:r>
          </a:p>
        </p:txBody>
      </p:sp>
      <p:sp>
        <p:nvSpPr>
          <p:cNvPr id="28" name="TextBox 27">
            <a:hlinkClick action="ppaction://hlinksldjump" r:id="rId8"/>
          </p:cNvPr>
          <p:cNvSpPr txBox="1"/>
          <p:nvPr/>
        </p:nvSpPr>
        <p:spPr>
          <a:xfrm>
            <a:off x="10195560" y="252374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Discover &amp; learn</a:t>
            </a:r>
          </a:p>
        </p:txBody>
      </p:sp>
      <p:sp>
        <p:nvSpPr>
          <p:cNvPr id="29" name="TextBox 28"/>
          <p:cNvSpPr txBox="1"/>
          <p:nvPr/>
        </p:nvSpPr>
        <p:spPr>
          <a:xfrm>
            <a:off x="9811512" y="298094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programmes and teachers</a:t>
            </a:r>
          </a:p>
          <a:p>
            <a:pPr algn="l">
              <a:spcAft>
                <a:spcPts val="200"/>
              </a:spcAft>
              <a:defRPr sz="1200" b="0">
                <a:solidFill>
                  <a:srgbClr val="BBC8DF"/>
                </a:solidFill>
                <a:latin typeface="DejaVu Sans"/>
              </a:defRPr>
            </a:pPr>
            <a:r>
              <a:t>Register where required; revisit recordings</a:t>
            </a:r>
          </a:p>
        </p:txBody>
      </p:sp>
      <p:sp>
        <p:nvSpPr>
          <p:cNvPr id="30" name="Rounded Rectangle 29">
            <a:hlinkClick action="ppaction://hlinksldjump" r:id="rId9"/>
          </p:cNvPr>
          <p:cNvSpPr/>
          <p:nvPr/>
        </p:nvSpPr>
        <p:spPr>
          <a:xfrm>
            <a:off x="640080" y="40690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245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2062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565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03</a:t>
            </a:r>
          </a:p>
        </p:txBody>
      </p:sp>
      <p:sp>
        <p:nvSpPr>
          <p:cNvPr id="34" name="TextBox 33">
            <a:hlinkClick action="ppaction://hlinksldjump" r:id="rId9"/>
          </p:cNvPr>
          <p:cNvSpPr txBox="1"/>
          <p:nvPr/>
        </p:nvSpPr>
        <p:spPr>
          <a:xfrm>
            <a:off x="1234440" y="42153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Seek support</a:t>
            </a:r>
          </a:p>
        </p:txBody>
      </p:sp>
      <p:sp>
        <p:nvSpPr>
          <p:cNvPr id="35" name="TextBox 34"/>
          <p:cNvSpPr txBox="1"/>
          <p:nvPr/>
        </p:nvSpPr>
        <p:spPr>
          <a:xfrm>
            <a:off x="850392" y="46725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request, safe contact preference</a:t>
            </a:r>
          </a:p>
          <a:p>
            <a:pPr algn="l">
              <a:spcAft>
                <a:spcPts val="200"/>
              </a:spcAft>
              <a:defRPr sz="1200" b="0">
                <a:solidFill>
                  <a:srgbClr val="BBC8DF"/>
                </a:solidFill>
                <a:latin typeface="DejaVu Sans"/>
              </a:defRPr>
            </a:pPr>
            <a:r>
              <a:t>Track only your authorised case details</a:t>
            </a:r>
          </a:p>
        </p:txBody>
      </p:sp>
      <p:sp>
        <p:nvSpPr>
          <p:cNvPr id="36" name="Rounded Rectangle 35">
            <a:hlinkClick action="ppaction://hlinksldjump" r:id="rId10"/>
          </p:cNvPr>
          <p:cNvSpPr/>
          <p:nvPr/>
        </p:nvSpPr>
        <p:spPr>
          <a:xfrm>
            <a:off x="9601200" y="40690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245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2062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565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04</a:t>
            </a:r>
          </a:p>
        </p:txBody>
      </p:sp>
      <p:sp>
        <p:nvSpPr>
          <p:cNvPr id="40" name="TextBox 39">
            <a:hlinkClick action="ppaction://hlinksldjump" r:id="rId10"/>
          </p:cNvPr>
          <p:cNvSpPr txBox="1"/>
          <p:nvPr/>
        </p:nvSpPr>
        <p:spPr>
          <a:xfrm>
            <a:off x="10195560" y="42153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Contribute as a volunteer</a:t>
            </a:r>
          </a:p>
        </p:txBody>
      </p:sp>
      <p:sp>
        <p:nvSpPr>
          <p:cNvPr id="41" name="TextBox 40"/>
          <p:cNvSpPr txBox="1"/>
          <p:nvPr/>
        </p:nvSpPr>
        <p:spPr>
          <a:xfrm>
            <a:off x="9811512" y="46725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Evidence + interview + MRM approval</a:t>
            </a:r>
          </a:p>
          <a:p>
            <a:pPr algn="l">
              <a:spcAft>
                <a:spcPts val="200"/>
              </a:spcAft>
              <a:defRPr sz="1200" b="0">
                <a:solidFill>
                  <a:srgbClr val="BBC8DF"/>
                </a:solidFill>
                <a:latin typeface="DejaVu Sans"/>
              </a:defRPr>
            </a:pPr>
            <a:r>
              <a:t>Eligible offers and assigned service</a:t>
            </a:r>
          </a:p>
        </p:txBody>
      </p:sp>
      <p:sp>
        <p:nvSpPr>
          <p:cNvPr id="42" name="Rounded Rectangle 41">
            <a:hlinkClick action="ppaction://hlinksldjump" r:id="rId11"/>
          </p:cNvPr>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a:hlinkClick action="ppaction://hlinksldjump" r:id="rId11"/>
          </p:cNvPr>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Follow personal updates</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Application / request status and reminders</a:t>
            </a:r>
          </a:p>
          <a:p>
            <a:pPr algn="l">
              <a:spcAft>
                <a:spcPts val="200"/>
              </a:spcAft>
              <a:defRPr sz="1200" b="0">
                <a:solidFill>
                  <a:srgbClr val="BBC8DF"/>
                </a:solidFill>
                <a:latin typeface="DejaVu Sans"/>
              </a:defRPr>
            </a:pPr>
            <a:r>
              <a:t>Safe alerts open the authorised detail</a:t>
            </a:r>
          </a:p>
        </p:txBody>
      </p:sp>
      <p:sp>
        <p:nvSpPr>
          <p:cNvPr id="48" name="Rounded Rectangle 47">
            <a:hlinkClick action="ppaction://hlinksldjump" r:id="rId12"/>
          </p:cNvPr>
          <p:cNvSpPr/>
          <p:nvPr/>
        </p:nvSpPr>
        <p:spPr>
          <a:xfrm>
            <a:off x="9601200" y="5669280"/>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06</a:t>
            </a:r>
          </a:p>
        </p:txBody>
      </p:sp>
      <p:sp>
        <p:nvSpPr>
          <p:cNvPr id="52" name="TextBox 51">
            <a:hlinkClick action="ppaction://hlinksldjump" r:id="rId12"/>
          </p:cNvPr>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 through the platform</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approval + valid plan entitlement</a:t>
            </a:r>
          </a:p>
          <a:p>
            <a:pPr algn="l">
              <a:spcAft>
                <a:spcPts val="200"/>
              </a:spcAft>
              <a:defRPr sz="1200" b="0">
                <a:solidFill>
                  <a:srgbClr val="BBC8DF"/>
                </a:solidFill>
                <a:latin typeface="DejaVu Sans"/>
              </a:defRPr>
            </a:pPr>
            <a:r>
              <a:t>Submit educational content for review</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Core member assistance and volunteer participation remain free. Teacher subscription privileges stay separate.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12595860" y="5212079"/>
            <a:ext cx="0" cy="530353"/>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075420" y="5212079"/>
            <a:ext cx="0" cy="530353"/>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554979" y="5212079"/>
            <a:ext cx="0" cy="530353"/>
          </a:xfrm>
          <a:prstGeom prst="line">
            <a:avLst/>
          </a:prstGeom>
          <a:ln w="20320">
            <a:solidFill>
              <a:srgbClr val="62DAE8"/>
            </a:solidFill>
            <a:tailEnd type="triangle" w="sm" len="sm"/>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469880" y="4649724"/>
            <a:ext cx="73152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949440" y="4649724"/>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429000" y="4649724"/>
            <a:ext cx="73152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034539" y="5212079"/>
            <a:ext cx="0" cy="530353"/>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54979" y="3557016"/>
            <a:ext cx="0" cy="530352"/>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69880" y="2994660"/>
            <a:ext cx="73152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949440" y="2994660"/>
            <a:ext cx="73152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29000" y="2994660"/>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How care, volunteering and recognition connect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Routine assignments and restricted concerns follow distinct access paths, with MRM coordinating the outcome.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53 / 58</a:t>
            </a:r>
          </a:p>
        </p:txBody>
      </p:sp>
      <p:sp>
        <p:nvSpPr>
          <p:cNvPr id="14" name="Rounded Rectangle 13">
            <a:hlinkClick action="ppaction://hlinksldjump" r:id="rId7"/>
          </p:cNvPr>
          <p:cNvSpPr/>
          <p:nvPr/>
        </p:nvSpPr>
        <p:spPr>
          <a:xfrm>
            <a:off x="640080" y="2432304"/>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87752"/>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7"/>
          </p:cNvPr>
          <p:cNvSpPr txBox="1"/>
          <p:nvPr/>
        </p:nvSpPr>
        <p:spPr>
          <a:xfrm>
            <a:off x="841247"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Member request</a:t>
            </a:r>
          </a:p>
        </p:txBody>
      </p:sp>
      <p:sp>
        <p:nvSpPr>
          <p:cNvPr id="17" name="TextBox 16"/>
          <p:cNvSpPr txBox="1"/>
          <p:nvPr/>
        </p:nvSpPr>
        <p:spPr>
          <a:xfrm>
            <a:off x="85039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Need, urgency and safe contact</a:t>
            </a:r>
          </a:p>
        </p:txBody>
      </p:sp>
      <p:sp>
        <p:nvSpPr>
          <p:cNvPr id="18" name="Rounded Rectangle 17">
            <a:hlinkClick action="ppaction://hlinksldjump" r:id="rId8"/>
          </p:cNvPr>
          <p:cNvSpPr/>
          <p:nvPr/>
        </p:nvSpPr>
        <p:spPr>
          <a:xfrm>
            <a:off x="4160520" y="2432304"/>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78807" y="2587752"/>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8"/>
          </p:cNvPr>
          <p:cNvSpPr txBox="1"/>
          <p:nvPr/>
        </p:nvSpPr>
        <p:spPr>
          <a:xfrm>
            <a:off x="436168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triage</a:t>
            </a:r>
          </a:p>
        </p:txBody>
      </p:sp>
      <p:sp>
        <p:nvSpPr>
          <p:cNvPr id="21" name="TextBox 20"/>
          <p:cNvSpPr txBox="1"/>
          <p:nvPr/>
        </p:nvSpPr>
        <p:spPr>
          <a:xfrm>
            <a:off x="437083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Review sensitivity and suitability</a:t>
            </a:r>
          </a:p>
        </p:txBody>
      </p:sp>
      <p:sp>
        <p:nvSpPr>
          <p:cNvPr id="22" name="Rounded Rectangle 21">
            <a:hlinkClick action="ppaction://hlinksldjump" r:id="rId9"/>
          </p:cNvPr>
          <p:cNvSpPr/>
          <p:nvPr/>
        </p:nvSpPr>
        <p:spPr>
          <a:xfrm>
            <a:off x="7680960" y="2432304"/>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9248" y="2587752"/>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9"/>
          </p:cNvPr>
          <p:cNvSpPr txBox="1"/>
          <p:nvPr/>
        </p:nvSpPr>
        <p:spPr>
          <a:xfrm>
            <a:off x="788212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Restricted concern</a:t>
            </a:r>
          </a:p>
        </p:txBody>
      </p:sp>
      <p:sp>
        <p:nvSpPr>
          <p:cNvPr id="25" name="TextBox 24"/>
          <p:cNvSpPr txBox="1"/>
          <p:nvPr/>
        </p:nvSpPr>
        <p:spPr>
          <a:xfrm>
            <a:off x="789127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faith / family intake</a:t>
            </a:r>
          </a:p>
        </p:txBody>
      </p:sp>
      <p:sp>
        <p:nvSpPr>
          <p:cNvPr id="26" name="Rounded Rectangle 25">
            <a:hlinkClick action="ppaction://hlinksldjump" r:id="rId10"/>
          </p:cNvPr>
          <p:cNvSpPr/>
          <p:nvPr/>
        </p:nvSpPr>
        <p:spPr>
          <a:xfrm>
            <a:off x="11201400" y="2432304"/>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219688" y="2587752"/>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a:hlinkClick action="ppaction://hlinksldjump" r:id="rId10"/>
          </p:cNvPr>
          <p:cNvSpPr txBox="1"/>
          <p:nvPr/>
        </p:nvSpPr>
        <p:spPr>
          <a:xfrm>
            <a:off x="11402568" y="2587752"/>
            <a:ext cx="2386584" cy="438912"/>
          </a:xfrm>
          <a:prstGeom prst="rect">
            <a:avLst/>
          </a:prstGeom>
          <a:noFill/>
        </p:spPr>
        <p:txBody>
          <a:bodyPr wrap="square" lIns="0" tIns="0" rIns="0" bIns="0">
            <a:spAutoFit/>
          </a:bodyPr>
          <a:lstStyle/>
          <a:p>
            <a:pPr algn="l">
              <a:spcAft>
                <a:spcPts val="200"/>
              </a:spcAft>
              <a:defRPr sz="1426" b="1">
                <a:solidFill>
                  <a:srgbClr val="F7F9FF"/>
                </a:solidFill>
                <a:latin typeface="DejaVu Sans"/>
              </a:defRPr>
            </a:pPr>
            <a:r>
              <a:t>Designated personnel</a:t>
            </a:r>
          </a:p>
        </p:txBody>
      </p:sp>
      <p:sp>
        <p:nvSpPr>
          <p:cNvPr id="29" name="TextBox 28"/>
          <p:cNvSpPr txBox="1"/>
          <p:nvPr/>
        </p:nvSpPr>
        <p:spPr>
          <a:xfrm>
            <a:off x="1141171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Controlled advice and follow-up</a:t>
            </a:r>
          </a:p>
        </p:txBody>
      </p:sp>
      <p:sp>
        <p:nvSpPr>
          <p:cNvPr id="30" name="Rounded Rectangle 29">
            <a:hlinkClick action="ppaction://hlinksldjump" r:id="rId11"/>
          </p:cNvPr>
          <p:cNvSpPr/>
          <p:nvPr/>
        </p:nvSpPr>
        <p:spPr>
          <a:xfrm>
            <a:off x="64008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11"/>
          </p:cNvPr>
          <p:cNvSpPr txBox="1"/>
          <p:nvPr/>
        </p:nvSpPr>
        <p:spPr>
          <a:xfrm>
            <a:off x="841247" y="4242816"/>
            <a:ext cx="2386584" cy="438912"/>
          </a:xfrm>
          <a:prstGeom prst="rect">
            <a:avLst/>
          </a:prstGeom>
          <a:noFill/>
        </p:spPr>
        <p:txBody>
          <a:bodyPr wrap="square" lIns="0" tIns="0" rIns="0" bIns="0">
            <a:spAutoFit/>
          </a:bodyPr>
          <a:lstStyle/>
          <a:p>
            <a:pPr algn="l">
              <a:spcAft>
                <a:spcPts val="200"/>
              </a:spcAft>
              <a:defRPr sz="1575" b="1">
                <a:solidFill>
                  <a:srgbClr val="F7F9FF"/>
                </a:solidFill>
                <a:latin typeface="DejaVu Sans"/>
              </a:defRPr>
            </a:pPr>
            <a:r>
              <a:t>Approved volunteer</a:t>
            </a:r>
          </a:p>
        </p:txBody>
      </p:sp>
      <p:sp>
        <p:nvSpPr>
          <p:cNvPr id="33" name="TextBox 32"/>
          <p:cNvSpPr txBox="1"/>
          <p:nvPr/>
        </p:nvSpPr>
        <p:spPr>
          <a:xfrm>
            <a:off x="85039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Active status and permitted service</a:t>
            </a:r>
          </a:p>
        </p:txBody>
      </p:sp>
      <p:sp>
        <p:nvSpPr>
          <p:cNvPr id="34" name="Rounded Rectangle 33">
            <a:hlinkClick action="ppaction://hlinksldjump" r:id="rId8"/>
          </p:cNvPr>
          <p:cNvSpPr/>
          <p:nvPr/>
        </p:nvSpPr>
        <p:spPr>
          <a:xfrm>
            <a:off x="4160520" y="4087368"/>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78807" y="4242816"/>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8"/>
          </p:cNvPr>
          <p:cNvSpPr txBox="1"/>
          <p:nvPr/>
        </p:nvSpPr>
        <p:spPr>
          <a:xfrm>
            <a:off x="436168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Eligible matching</a:t>
            </a:r>
          </a:p>
        </p:txBody>
      </p:sp>
      <p:sp>
        <p:nvSpPr>
          <p:cNvPr id="37" name="TextBox 36"/>
          <p:cNvSpPr txBox="1"/>
          <p:nvPr/>
        </p:nvSpPr>
        <p:spPr>
          <a:xfrm>
            <a:off x="437083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Area, category, language, gender</a:t>
            </a:r>
          </a:p>
        </p:txBody>
      </p:sp>
      <p:sp>
        <p:nvSpPr>
          <p:cNvPr id="38" name="Rounded Rectangle 37">
            <a:hlinkClick action="ppaction://hlinksldjump" r:id="rId12"/>
          </p:cNvPr>
          <p:cNvSpPr/>
          <p:nvPr/>
        </p:nvSpPr>
        <p:spPr>
          <a:xfrm>
            <a:off x="7680960" y="4087368"/>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99248" y="4242816"/>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a:hlinkClick action="ppaction://hlinksldjump" r:id="rId12"/>
          </p:cNvPr>
          <p:cNvSpPr txBox="1"/>
          <p:nvPr/>
        </p:nvSpPr>
        <p:spPr>
          <a:xfrm>
            <a:off x="7882128" y="4242816"/>
            <a:ext cx="2386584" cy="438912"/>
          </a:xfrm>
          <a:prstGeom prst="rect">
            <a:avLst/>
          </a:prstGeom>
          <a:noFill/>
        </p:spPr>
        <p:txBody>
          <a:bodyPr wrap="square" lIns="0" tIns="0" rIns="0" bIns="0">
            <a:spAutoFit/>
          </a:bodyPr>
          <a:lstStyle/>
          <a:p>
            <a:pPr algn="l">
              <a:spcAft>
                <a:spcPts val="200"/>
              </a:spcAft>
              <a:defRPr sz="1391" b="1">
                <a:solidFill>
                  <a:srgbClr val="F7F9FF"/>
                </a:solidFill>
                <a:latin typeface="DejaVu Sans"/>
              </a:defRPr>
            </a:pPr>
            <a:r>
              <a:t>Confirmed assignment</a:t>
            </a:r>
          </a:p>
        </p:txBody>
      </p:sp>
      <p:sp>
        <p:nvSpPr>
          <p:cNvPr id="41" name="TextBox 40"/>
          <p:cNvSpPr txBox="1"/>
          <p:nvPr/>
        </p:nvSpPr>
        <p:spPr>
          <a:xfrm>
            <a:off x="789127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Seeker / coordinator confirmation</a:t>
            </a:r>
          </a:p>
        </p:txBody>
      </p:sp>
      <p:sp>
        <p:nvSpPr>
          <p:cNvPr id="42" name="Rounded Rectangle 41">
            <a:hlinkClick action="ppaction://hlinksldjump" r:id="rId12"/>
          </p:cNvPr>
          <p:cNvSpPr/>
          <p:nvPr/>
        </p:nvSpPr>
        <p:spPr>
          <a:xfrm>
            <a:off x="1120140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21968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a:hlinkClick action="ppaction://hlinksldjump" r:id="rId12"/>
          </p:cNvPr>
          <p:cNvSpPr txBox="1"/>
          <p:nvPr/>
        </p:nvSpPr>
        <p:spPr>
          <a:xfrm>
            <a:off x="1140256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Progress &amp; closure</a:t>
            </a:r>
          </a:p>
        </p:txBody>
      </p:sp>
      <p:sp>
        <p:nvSpPr>
          <p:cNvPr id="45" name="TextBox 44"/>
          <p:cNvSpPr txBox="1"/>
          <p:nvPr/>
        </p:nvSpPr>
        <p:spPr>
          <a:xfrm>
            <a:off x="1141171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Verified outcome; escalation if needed</a:t>
            </a:r>
          </a:p>
        </p:txBody>
      </p:sp>
      <p:sp>
        <p:nvSpPr>
          <p:cNvPr id="46" name="Rounded Rectangle 45">
            <a:hlinkClick action="ppaction://hlinksldjump" r:id="rId11"/>
          </p:cNvPr>
          <p:cNvSpPr/>
          <p:nvPr/>
        </p:nvSpPr>
        <p:spPr>
          <a:xfrm>
            <a:off x="640080" y="5742432"/>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5897880"/>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a:hlinkClick action="ppaction://hlinksldjump" r:id="rId11"/>
          </p:cNvPr>
          <p:cNvSpPr txBox="1"/>
          <p:nvPr/>
        </p:nvSpPr>
        <p:spPr>
          <a:xfrm>
            <a:off x="841247" y="5897880"/>
            <a:ext cx="2386584" cy="438912"/>
          </a:xfrm>
          <a:prstGeom prst="rect">
            <a:avLst/>
          </a:prstGeom>
          <a:noFill/>
        </p:spPr>
        <p:txBody>
          <a:bodyPr wrap="square" lIns="0" tIns="0" rIns="0" bIns="0">
            <a:spAutoFit/>
          </a:bodyPr>
          <a:lstStyle/>
          <a:p>
            <a:pPr algn="l">
              <a:spcAft>
                <a:spcPts val="200"/>
              </a:spcAft>
              <a:defRPr sz="1481" b="1">
                <a:solidFill>
                  <a:srgbClr val="F7F9FF"/>
                </a:solidFill>
                <a:latin typeface="DejaVu Sans"/>
              </a:defRPr>
            </a:pPr>
            <a:r>
              <a:t>Evidence &amp; interview</a:t>
            </a:r>
          </a:p>
        </p:txBody>
      </p:sp>
      <p:sp>
        <p:nvSpPr>
          <p:cNvPr id="49" name="TextBox 48"/>
          <p:cNvSpPr txBox="1"/>
          <p:nvPr/>
        </p:nvSpPr>
        <p:spPr>
          <a:xfrm>
            <a:off x="85039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Evidence and MRM decision</a:t>
            </a:r>
          </a:p>
        </p:txBody>
      </p:sp>
      <p:sp>
        <p:nvSpPr>
          <p:cNvPr id="50" name="Rounded Rectangle 49">
            <a:hlinkClick action="ppaction://hlinksldjump" r:id="rId9"/>
          </p:cNvPr>
          <p:cNvSpPr/>
          <p:nvPr/>
        </p:nvSpPr>
        <p:spPr>
          <a:xfrm>
            <a:off x="416052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78807"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a:hlinkClick action="ppaction://hlinksldjump" r:id="rId9"/>
          </p:cNvPr>
          <p:cNvSpPr txBox="1"/>
          <p:nvPr/>
        </p:nvSpPr>
        <p:spPr>
          <a:xfrm>
            <a:off x="4361688" y="5897880"/>
            <a:ext cx="2386584" cy="438912"/>
          </a:xfrm>
          <a:prstGeom prst="rect">
            <a:avLst/>
          </a:prstGeom>
          <a:noFill/>
        </p:spPr>
        <p:txBody>
          <a:bodyPr wrap="square" lIns="0" tIns="0" rIns="0" bIns="0">
            <a:spAutoFit/>
          </a:bodyPr>
          <a:lstStyle/>
          <a:p>
            <a:pPr algn="l">
              <a:spcAft>
                <a:spcPts val="200"/>
              </a:spcAft>
              <a:defRPr sz="1423" b="1">
                <a:solidFill>
                  <a:srgbClr val="F7F9FF"/>
                </a:solidFill>
                <a:latin typeface="DejaVu Sans"/>
              </a:defRPr>
            </a:pPr>
            <a:r>
              <a:t>Coordinator oversight</a:t>
            </a:r>
          </a:p>
        </p:txBody>
      </p:sp>
      <p:sp>
        <p:nvSpPr>
          <p:cNvPr id="53" name="TextBox 52"/>
          <p:cNvSpPr txBox="1"/>
          <p:nvPr/>
        </p:nvSpPr>
        <p:spPr>
          <a:xfrm>
            <a:off x="437083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Reassign or follow up unanswered work</a:t>
            </a:r>
          </a:p>
        </p:txBody>
      </p:sp>
      <p:sp>
        <p:nvSpPr>
          <p:cNvPr id="54" name="Rounded Rectangle 53">
            <a:hlinkClick action="ppaction://hlinksldjump" r:id="rId13"/>
          </p:cNvPr>
          <p:cNvSpPr/>
          <p:nvPr/>
        </p:nvSpPr>
        <p:spPr>
          <a:xfrm>
            <a:off x="768096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69924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13"/>
          </p:cNvPr>
          <p:cNvSpPr txBox="1"/>
          <p:nvPr/>
        </p:nvSpPr>
        <p:spPr>
          <a:xfrm>
            <a:off x="788212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Alerts &amp; activity</a:t>
            </a:r>
          </a:p>
        </p:txBody>
      </p:sp>
      <p:sp>
        <p:nvSpPr>
          <p:cNvPr id="57" name="TextBox 56"/>
          <p:cNvSpPr txBox="1"/>
          <p:nvPr/>
        </p:nvSpPr>
        <p:spPr>
          <a:xfrm>
            <a:off x="789127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Only authorised status / action</a:t>
            </a:r>
          </a:p>
        </p:txBody>
      </p:sp>
      <p:sp>
        <p:nvSpPr>
          <p:cNvPr id="58" name="Rounded Rectangle 57">
            <a:hlinkClick action="ppaction://hlinksldjump" r:id="rId14"/>
          </p:cNvPr>
          <p:cNvSpPr/>
          <p:nvPr/>
        </p:nvSpPr>
        <p:spPr>
          <a:xfrm>
            <a:off x="11201400" y="5742432"/>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19688" y="5897880"/>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14"/>
          </p:cNvPr>
          <p:cNvSpPr txBox="1"/>
          <p:nvPr/>
        </p:nvSpPr>
        <p:spPr>
          <a:xfrm>
            <a:off x="1140256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Service recognition</a:t>
            </a:r>
          </a:p>
        </p:txBody>
      </p:sp>
      <p:sp>
        <p:nvSpPr>
          <p:cNvPr id="61" name="TextBox 60"/>
          <p:cNvSpPr txBox="1"/>
          <p:nvPr/>
        </p:nvSpPr>
        <p:spPr>
          <a:xfrm>
            <a:off x="1141171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 criteria; correction / appeal</a:t>
            </a:r>
          </a:p>
        </p:txBody>
      </p:sp>
      <p:sp>
        <p:nvSpPr>
          <p:cNvPr id="63" name="Rectangle 62"/>
          <p:cNvSpPr/>
          <p:nvPr/>
        </p:nvSpPr>
        <p:spPr>
          <a:xfrm>
            <a:off x="3547872"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566160" y="2770632"/>
            <a:ext cx="621792"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submit</a:t>
            </a:r>
          </a:p>
        </p:txBody>
      </p:sp>
      <p:sp>
        <p:nvSpPr>
          <p:cNvPr id="66" name="Rectangle 65"/>
          <p:cNvSpPr/>
          <p:nvPr/>
        </p:nvSpPr>
        <p:spPr>
          <a:xfrm>
            <a:off x="6986016"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04303" y="2770632"/>
            <a:ext cx="621792"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private</a:t>
            </a:r>
          </a:p>
        </p:txBody>
      </p:sp>
      <p:sp>
        <p:nvSpPr>
          <p:cNvPr id="69" name="Rectangle 68"/>
          <p:cNvSpPr/>
          <p:nvPr/>
        </p:nvSpPr>
        <p:spPr>
          <a:xfrm>
            <a:off x="10415016"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433304" y="2770632"/>
            <a:ext cx="621792"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assign</a:t>
            </a:r>
          </a:p>
        </p:txBody>
      </p:sp>
      <p:sp>
        <p:nvSpPr>
          <p:cNvPr id="72" name="Rectangle 71"/>
          <p:cNvSpPr/>
          <p:nvPr/>
        </p:nvSpPr>
        <p:spPr>
          <a:xfrm>
            <a:off x="4965192" y="3675887"/>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983479" y="3703320"/>
            <a:ext cx="87782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routine</a:t>
            </a:r>
          </a:p>
        </p:txBody>
      </p:sp>
      <p:sp>
        <p:nvSpPr>
          <p:cNvPr id="75" name="Rectangle 74"/>
          <p:cNvSpPr/>
          <p:nvPr/>
        </p:nvSpPr>
        <p:spPr>
          <a:xfrm>
            <a:off x="1700784" y="5431536"/>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19072" y="5458968"/>
            <a:ext cx="877824"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verify</a:t>
            </a:r>
          </a:p>
        </p:txBody>
      </p:sp>
      <p:sp>
        <p:nvSpPr>
          <p:cNvPr id="78" name="Rectangle 77"/>
          <p:cNvSpPr/>
          <p:nvPr/>
        </p:nvSpPr>
        <p:spPr>
          <a:xfrm>
            <a:off x="3547872"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66160" y="4434840"/>
            <a:ext cx="621792"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eligible</a:t>
            </a:r>
          </a:p>
        </p:txBody>
      </p:sp>
      <p:sp>
        <p:nvSpPr>
          <p:cNvPr id="81" name="Rectangle 80"/>
          <p:cNvSpPr/>
          <p:nvPr/>
        </p:nvSpPr>
        <p:spPr>
          <a:xfrm>
            <a:off x="6986016"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04303" y="4434840"/>
            <a:ext cx="621792"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offer</a:t>
            </a:r>
          </a:p>
        </p:txBody>
      </p:sp>
      <p:sp>
        <p:nvSpPr>
          <p:cNvPr id="84" name="Rectangle 83"/>
          <p:cNvSpPr/>
          <p:nvPr/>
        </p:nvSpPr>
        <p:spPr>
          <a:xfrm>
            <a:off x="10415016"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433304" y="4434840"/>
            <a:ext cx="621792"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serve</a:t>
            </a:r>
          </a:p>
        </p:txBody>
      </p:sp>
      <p:sp>
        <p:nvSpPr>
          <p:cNvPr id="87" name="Rectangle 86"/>
          <p:cNvSpPr/>
          <p:nvPr/>
        </p:nvSpPr>
        <p:spPr>
          <a:xfrm>
            <a:off x="4754880" y="5449824"/>
            <a:ext cx="128016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773168" y="5477256"/>
            <a:ext cx="124358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no response</a:t>
            </a:r>
          </a:p>
        </p:txBody>
      </p:sp>
      <p:sp>
        <p:nvSpPr>
          <p:cNvPr id="90" name="Rectangle 89"/>
          <p:cNvSpPr/>
          <p:nvPr/>
        </p:nvSpPr>
        <p:spPr>
          <a:xfrm>
            <a:off x="8558784" y="5449824"/>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77072" y="5477256"/>
            <a:ext cx="87782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updates</a:t>
            </a:r>
          </a:p>
        </p:txBody>
      </p:sp>
      <p:sp>
        <p:nvSpPr>
          <p:cNvPr id="93" name="Rectangle 92"/>
          <p:cNvSpPr/>
          <p:nvPr/>
        </p:nvSpPr>
        <p:spPr>
          <a:xfrm>
            <a:off x="11713464" y="5449824"/>
            <a:ext cx="150876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731752" y="5477256"/>
            <a:ext cx="1472184"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verify credit</a:t>
            </a:r>
          </a:p>
        </p:txBody>
      </p:sp>
      <p:sp>
        <p:nvSpPr>
          <p:cNvPr id="95" name="Rounded Rectangle 94"/>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Approval gates access; assignment gates case detail. Rank never grants sensitive-case or administrator access.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flipV="1">
            <a:off x="9075420" y="5212079"/>
            <a:ext cx="0" cy="301753"/>
          </a:xfrm>
          <a:prstGeom prst="line">
            <a:avLst/>
          </a:prstGeom>
          <a:ln w="20320">
            <a:solidFill>
              <a:srgbClr val="E8C578"/>
            </a:solidFill>
            <a:tailEnd type="triangle" w="sm" len="sm"/>
            <a:prstDash val="dash"/>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554980" y="5513832"/>
            <a:ext cx="3520440" cy="0"/>
          </a:xfrm>
          <a:prstGeom prst="line">
            <a:avLst/>
          </a:prstGeom>
          <a:ln w="20320">
            <a:solidFill>
              <a:srgbClr val="E8C578"/>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554979" y="5212079"/>
            <a:ext cx="1" cy="301753"/>
          </a:xfrm>
          <a:prstGeom prst="line">
            <a:avLst/>
          </a:prstGeom>
          <a:ln w="20320">
            <a:solidFill>
              <a:srgbClr val="E8C578"/>
            </a:solidFill>
            <a:prstDash val="dash"/>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46988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94944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42900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034539" y="5212079"/>
            <a:ext cx="0" cy="530353"/>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342900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694944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46988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2595860" y="3557016"/>
            <a:ext cx="0" cy="530352"/>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46988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4944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2900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From approved teacher to trusted learning</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Teacher plans enable publishing allowances; MRM moderation controls what learners can actually see.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54 / 58</a:t>
            </a:r>
          </a:p>
        </p:txBody>
      </p:sp>
      <p:sp>
        <p:nvSpPr>
          <p:cNvPr id="14" name="Rounded Rectangle 13">
            <a:hlinkClick action="ppaction://hlinksldjump" r:id="rId7"/>
          </p:cNvPr>
          <p:cNvSpPr/>
          <p:nvPr/>
        </p:nvSpPr>
        <p:spPr>
          <a:xfrm>
            <a:off x="64008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7"/>
          </p:cNvPr>
          <p:cNvSpPr txBox="1"/>
          <p:nvPr/>
        </p:nvSpPr>
        <p:spPr>
          <a:xfrm>
            <a:off x="841247"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Teacher application</a:t>
            </a:r>
          </a:p>
        </p:txBody>
      </p:sp>
      <p:sp>
        <p:nvSpPr>
          <p:cNvPr id="17" name="TextBox 16"/>
          <p:cNvSpPr txBox="1"/>
          <p:nvPr/>
        </p:nvSpPr>
        <p:spPr>
          <a:xfrm>
            <a:off x="85039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Credentials, subjects and evidence</a:t>
            </a:r>
          </a:p>
        </p:txBody>
      </p:sp>
      <p:sp>
        <p:nvSpPr>
          <p:cNvPr id="18" name="Rounded Rectangle 17">
            <a:hlinkClick action="ppaction://hlinksldjump" r:id="rId7"/>
          </p:cNvPr>
          <p:cNvSpPr/>
          <p:nvPr/>
        </p:nvSpPr>
        <p:spPr>
          <a:xfrm>
            <a:off x="416052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78807"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7"/>
          </p:cNvPr>
          <p:cNvSpPr txBox="1"/>
          <p:nvPr/>
        </p:nvSpPr>
        <p:spPr>
          <a:xfrm>
            <a:off x="4361688" y="2587752"/>
            <a:ext cx="2386584" cy="438912"/>
          </a:xfrm>
          <a:prstGeom prst="rect">
            <a:avLst/>
          </a:prstGeom>
          <a:noFill/>
        </p:spPr>
        <p:txBody>
          <a:bodyPr wrap="square" lIns="0" tIns="0" rIns="0" bIns="0">
            <a:spAutoFit/>
          </a:bodyPr>
          <a:lstStyle/>
          <a:p>
            <a:pPr algn="l">
              <a:spcAft>
                <a:spcPts val="200"/>
              </a:spcAft>
              <a:defRPr sz="1388" b="1">
                <a:solidFill>
                  <a:srgbClr val="F7F9FF"/>
                </a:solidFill>
                <a:latin typeface="DejaVu Sans"/>
              </a:defRPr>
            </a:pPr>
            <a:r>
              <a:t>MRM teacher approval</a:t>
            </a:r>
          </a:p>
        </p:txBody>
      </p:sp>
      <p:sp>
        <p:nvSpPr>
          <p:cNvPr id="21" name="TextBox 20"/>
          <p:cNvSpPr txBox="1"/>
          <p:nvPr/>
        </p:nvSpPr>
        <p:spPr>
          <a:xfrm>
            <a:off x="437083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Authorised professional role</a:t>
            </a:r>
          </a:p>
        </p:txBody>
      </p:sp>
      <p:sp>
        <p:nvSpPr>
          <p:cNvPr id="22" name="Rounded Rectangle 21">
            <a:hlinkClick action="ppaction://hlinksldjump" r:id="rId8"/>
          </p:cNvPr>
          <p:cNvSpPr/>
          <p:nvPr/>
        </p:nvSpPr>
        <p:spPr>
          <a:xfrm>
            <a:off x="768096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9248"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8"/>
          </p:cNvPr>
          <p:cNvSpPr txBox="1"/>
          <p:nvPr/>
        </p:nvSpPr>
        <p:spPr>
          <a:xfrm>
            <a:off x="788212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Select teacher plan</a:t>
            </a:r>
          </a:p>
        </p:txBody>
      </p:sp>
      <p:sp>
        <p:nvSpPr>
          <p:cNvPr id="25" name="TextBox 24"/>
          <p:cNvSpPr txBox="1"/>
          <p:nvPr/>
        </p:nvSpPr>
        <p:spPr>
          <a:xfrm>
            <a:off x="789127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 terms; applicable store billing</a:t>
            </a:r>
          </a:p>
        </p:txBody>
      </p:sp>
      <p:sp>
        <p:nvSpPr>
          <p:cNvPr id="26" name="Rounded Rectangle 25">
            <a:hlinkClick action="ppaction://hlinksldjump" r:id="rId9"/>
          </p:cNvPr>
          <p:cNvSpPr/>
          <p:nvPr/>
        </p:nvSpPr>
        <p:spPr>
          <a:xfrm>
            <a:off x="11201400" y="2432304"/>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219688" y="2587752"/>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a:hlinkClick action="ppaction://hlinksldjump" r:id="rId9"/>
          </p:cNvPr>
          <p:cNvSpPr txBox="1"/>
          <p:nvPr/>
        </p:nvSpPr>
        <p:spPr>
          <a:xfrm>
            <a:off x="11402568" y="2587752"/>
            <a:ext cx="2386584" cy="438912"/>
          </a:xfrm>
          <a:prstGeom prst="rect">
            <a:avLst/>
          </a:prstGeom>
          <a:noFill/>
        </p:spPr>
        <p:txBody>
          <a:bodyPr wrap="square" lIns="0" tIns="0" rIns="0" bIns="0">
            <a:spAutoFit/>
          </a:bodyPr>
          <a:lstStyle/>
          <a:p>
            <a:pPr algn="l">
              <a:spcAft>
                <a:spcPts val="200"/>
              </a:spcAft>
              <a:defRPr sz="1558" b="1">
                <a:solidFill>
                  <a:srgbClr val="F7F9FF"/>
                </a:solidFill>
                <a:latin typeface="DejaVu Sans"/>
              </a:defRPr>
            </a:pPr>
            <a:r>
              <a:t>Verified entitlement</a:t>
            </a:r>
          </a:p>
        </p:txBody>
      </p:sp>
      <p:sp>
        <p:nvSpPr>
          <p:cNvPr id="29" name="TextBox 28"/>
          <p:cNvSpPr txBox="1"/>
          <p:nvPr/>
        </p:nvSpPr>
        <p:spPr>
          <a:xfrm>
            <a:off x="1141171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Active paid / configured free plan</a:t>
            </a:r>
          </a:p>
        </p:txBody>
      </p:sp>
      <p:sp>
        <p:nvSpPr>
          <p:cNvPr id="30" name="Rounded Rectangle 29">
            <a:hlinkClick action="ppaction://hlinksldjump" r:id="rId10"/>
          </p:cNvPr>
          <p:cNvSpPr/>
          <p:nvPr/>
        </p:nvSpPr>
        <p:spPr>
          <a:xfrm>
            <a:off x="64008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10"/>
          </p:cNvPr>
          <p:cNvSpPr txBox="1"/>
          <p:nvPr/>
        </p:nvSpPr>
        <p:spPr>
          <a:xfrm>
            <a:off x="841247" y="4242816"/>
            <a:ext cx="2386584" cy="438912"/>
          </a:xfrm>
          <a:prstGeom prst="rect">
            <a:avLst/>
          </a:prstGeom>
          <a:noFill/>
        </p:spPr>
        <p:txBody>
          <a:bodyPr wrap="square" lIns="0" tIns="0" rIns="0" bIns="0">
            <a:spAutoFit/>
          </a:bodyPr>
          <a:lstStyle/>
          <a:p>
            <a:pPr algn="l">
              <a:spcAft>
                <a:spcPts val="200"/>
              </a:spcAft>
              <a:defRPr sz="1460" b="1">
                <a:solidFill>
                  <a:srgbClr val="F7F9FF"/>
                </a:solidFill>
                <a:latin typeface="DejaVu Sans"/>
              </a:defRPr>
            </a:pPr>
            <a:r>
              <a:t>Approved publication</a:t>
            </a:r>
          </a:p>
        </p:txBody>
      </p:sp>
      <p:sp>
        <p:nvSpPr>
          <p:cNvPr id="33" name="TextBox 32"/>
          <p:cNvSpPr txBox="1"/>
          <p:nvPr/>
        </p:nvSpPr>
        <p:spPr>
          <a:xfrm>
            <a:off x="85039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Posts, teaching ads and programmes</a:t>
            </a:r>
          </a:p>
        </p:txBody>
      </p:sp>
      <p:sp>
        <p:nvSpPr>
          <p:cNvPr id="34" name="Rounded Rectangle 33">
            <a:hlinkClick action="ppaction://hlinksldjump" r:id="rId10"/>
          </p:cNvPr>
          <p:cNvSpPr/>
          <p:nvPr/>
        </p:nvSpPr>
        <p:spPr>
          <a:xfrm>
            <a:off x="416052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78807"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10"/>
          </p:cNvPr>
          <p:cNvSpPr txBox="1"/>
          <p:nvPr/>
        </p:nvSpPr>
        <p:spPr>
          <a:xfrm>
            <a:off x="436168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moderation</a:t>
            </a:r>
          </a:p>
        </p:txBody>
      </p:sp>
      <p:sp>
        <p:nvSpPr>
          <p:cNvPr id="37" name="TextBox 36"/>
          <p:cNvSpPr txBox="1"/>
          <p:nvPr/>
        </p:nvSpPr>
        <p:spPr>
          <a:xfrm>
            <a:off x="437083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 return, schedule or withdraw</a:t>
            </a:r>
          </a:p>
        </p:txBody>
      </p:sp>
      <p:sp>
        <p:nvSpPr>
          <p:cNvPr id="38" name="Rounded Rectangle 37">
            <a:hlinkClick action="ppaction://hlinksldjump" r:id="rId10"/>
          </p:cNvPr>
          <p:cNvSpPr/>
          <p:nvPr/>
        </p:nvSpPr>
        <p:spPr>
          <a:xfrm>
            <a:off x="7680960" y="4087368"/>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99248" y="4242816"/>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a:hlinkClick action="ppaction://hlinksldjump" r:id="rId10"/>
          </p:cNvPr>
          <p:cNvSpPr txBox="1"/>
          <p:nvPr/>
        </p:nvSpPr>
        <p:spPr>
          <a:xfrm>
            <a:off x="7882128" y="4242816"/>
            <a:ext cx="2386584" cy="438912"/>
          </a:xfrm>
          <a:prstGeom prst="rect">
            <a:avLst/>
          </a:prstGeom>
          <a:noFill/>
        </p:spPr>
        <p:txBody>
          <a:bodyPr wrap="square" lIns="0" tIns="0" rIns="0" bIns="0">
            <a:spAutoFit/>
          </a:bodyPr>
          <a:lstStyle/>
          <a:p>
            <a:pPr algn="l">
              <a:spcAft>
                <a:spcPts val="200"/>
              </a:spcAft>
              <a:defRPr sz="1596" b="1">
                <a:solidFill>
                  <a:srgbClr val="F7F9FF"/>
                </a:solidFill>
                <a:latin typeface="DejaVu Sans"/>
              </a:defRPr>
            </a:pPr>
            <a:r>
              <a:t>Teacher submission</a:t>
            </a:r>
          </a:p>
        </p:txBody>
      </p:sp>
      <p:sp>
        <p:nvSpPr>
          <p:cNvPr id="41" name="TextBox 40"/>
          <p:cNvSpPr txBox="1"/>
          <p:nvPr/>
        </p:nvSpPr>
        <p:spPr>
          <a:xfrm>
            <a:off x="789127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Content, class proposal or recording</a:t>
            </a:r>
          </a:p>
        </p:txBody>
      </p:sp>
      <p:sp>
        <p:nvSpPr>
          <p:cNvPr id="42" name="Rounded Rectangle 41">
            <a:hlinkClick action="ppaction://hlinksldjump" r:id="rId8"/>
          </p:cNvPr>
          <p:cNvSpPr/>
          <p:nvPr/>
        </p:nvSpPr>
        <p:spPr>
          <a:xfrm>
            <a:off x="11201400" y="4087368"/>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219688" y="4242816"/>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a:hlinkClick action="ppaction://hlinksldjump" r:id="rId8"/>
          </p:cNvPr>
          <p:cNvSpPr txBox="1"/>
          <p:nvPr/>
        </p:nvSpPr>
        <p:spPr>
          <a:xfrm>
            <a:off x="11402568" y="4242816"/>
            <a:ext cx="2386584" cy="438912"/>
          </a:xfrm>
          <a:prstGeom prst="rect">
            <a:avLst/>
          </a:prstGeom>
          <a:noFill/>
        </p:spPr>
        <p:txBody>
          <a:bodyPr wrap="square" lIns="0" tIns="0" rIns="0" bIns="0">
            <a:spAutoFit/>
          </a:bodyPr>
          <a:lstStyle/>
          <a:p>
            <a:pPr algn="l">
              <a:spcAft>
                <a:spcPts val="200"/>
              </a:spcAft>
              <a:defRPr sz="1484" b="1">
                <a:solidFill>
                  <a:srgbClr val="F7F9FF"/>
                </a:solidFill>
                <a:latin typeface="DejaVu Sans"/>
              </a:defRPr>
            </a:pPr>
            <a:r>
              <a:t>Publishing allowance</a:t>
            </a:r>
          </a:p>
        </p:txBody>
      </p:sp>
      <p:sp>
        <p:nvSpPr>
          <p:cNvPr id="45" name="TextBox 44"/>
          <p:cNvSpPr txBox="1"/>
          <p:nvPr/>
        </p:nvSpPr>
        <p:spPr>
          <a:xfrm>
            <a:off x="1141171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Apply active plan limits</a:t>
            </a:r>
          </a:p>
        </p:txBody>
      </p:sp>
      <p:sp>
        <p:nvSpPr>
          <p:cNvPr id="46" name="Rounded Rectangle 45">
            <a:hlinkClick action="ppaction://hlinksldjump" r:id="rId11"/>
          </p:cNvPr>
          <p:cNvSpPr/>
          <p:nvPr/>
        </p:nvSpPr>
        <p:spPr>
          <a:xfrm>
            <a:off x="64008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a:hlinkClick action="ppaction://hlinksldjump" r:id="rId11"/>
          </p:cNvPr>
          <p:cNvSpPr txBox="1"/>
          <p:nvPr/>
        </p:nvSpPr>
        <p:spPr>
          <a:xfrm>
            <a:off x="841247"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Learner discovery</a:t>
            </a:r>
          </a:p>
        </p:txBody>
      </p:sp>
      <p:sp>
        <p:nvSpPr>
          <p:cNvPr id="49" name="TextBox 48"/>
          <p:cNvSpPr txBox="1"/>
          <p:nvPr/>
        </p:nvSpPr>
        <p:spPr>
          <a:xfrm>
            <a:off x="85039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Topic, language and teacher</a:t>
            </a:r>
          </a:p>
        </p:txBody>
      </p:sp>
      <p:sp>
        <p:nvSpPr>
          <p:cNvPr id="50" name="Rounded Rectangle 49">
            <a:hlinkClick action="ppaction://hlinksldjump" r:id="rId12"/>
          </p:cNvPr>
          <p:cNvSpPr/>
          <p:nvPr/>
        </p:nvSpPr>
        <p:spPr>
          <a:xfrm>
            <a:off x="416052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78807"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a:hlinkClick action="ppaction://hlinksldjump" r:id="rId12"/>
          </p:cNvPr>
          <p:cNvSpPr txBox="1"/>
          <p:nvPr/>
        </p:nvSpPr>
        <p:spPr>
          <a:xfrm>
            <a:off x="4361688" y="5897880"/>
            <a:ext cx="2386584" cy="438912"/>
          </a:xfrm>
          <a:prstGeom prst="rect">
            <a:avLst/>
          </a:prstGeom>
          <a:noFill/>
        </p:spPr>
        <p:txBody>
          <a:bodyPr wrap="square" lIns="0" tIns="0" rIns="0" bIns="0">
            <a:spAutoFit/>
          </a:bodyPr>
          <a:lstStyle/>
          <a:p>
            <a:pPr algn="l">
              <a:spcAft>
                <a:spcPts val="200"/>
              </a:spcAft>
              <a:defRPr sz="1489" b="1">
                <a:solidFill>
                  <a:srgbClr val="F7F9FF"/>
                </a:solidFill>
                <a:latin typeface="DejaVu Sans"/>
              </a:defRPr>
            </a:pPr>
            <a:r>
              <a:t>Programme &amp; access</a:t>
            </a:r>
          </a:p>
        </p:txBody>
      </p:sp>
      <p:sp>
        <p:nvSpPr>
          <p:cNvPr id="53" name="TextBox 52"/>
          <p:cNvSpPr txBox="1"/>
          <p:nvPr/>
        </p:nvSpPr>
        <p:spPr>
          <a:xfrm>
            <a:off x="437083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Details and registration rules</a:t>
            </a:r>
          </a:p>
        </p:txBody>
      </p:sp>
      <p:sp>
        <p:nvSpPr>
          <p:cNvPr id="54" name="Rounded Rectangle 53">
            <a:hlinkClick action="ppaction://hlinksldjump" r:id="rId12"/>
          </p:cNvPr>
          <p:cNvSpPr/>
          <p:nvPr/>
        </p:nvSpPr>
        <p:spPr>
          <a:xfrm>
            <a:off x="768096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69924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12"/>
          </p:cNvPr>
          <p:cNvSpPr txBox="1"/>
          <p:nvPr/>
        </p:nvSpPr>
        <p:spPr>
          <a:xfrm>
            <a:off x="788212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Live class / event</a:t>
            </a:r>
          </a:p>
        </p:txBody>
      </p:sp>
      <p:sp>
        <p:nvSpPr>
          <p:cNvPr id="57" name="TextBox 56"/>
          <p:cNvSpPr txBox="1"/>
          <p:nvPr/>
        </p:nvSpPr>
        <p:spPr>
          <a:xfrm>
            <a:off x="789127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Reminder and permitted session access</a:t>
            </a:r>
          </a:p>
        </p:txBody>
      </p:sp>
      <p:sp>
        <p:nvSpPr>
          <p:cNvPr id="58" name="Rounded Rectangle 57">
            <a:hlinkClick action="ppaction://hlinksldjump" r:id="rId11"/>
          </p:cNvPr>
          <p:cNvSpPr/>
          <p:nvPr/>
        </p:nvSpPr>
        <p:spPr>
          <a:xfrm>
            <a:off x="1120140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1968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11"/>
          </p:cNvPr>
          <p:cNvSpPr txBox="1"/>
          <p:nvPr/>
        </p:nvSpPr>
        <p:spPr>
          <a:xfrm>
            <a:off x="11402568" y="5897880"/>
            <a:ext cx="2386584" cy="438912"/>
          </a:xfrm>
          <a:prstGeom prst="rect">
            <a:avLst/>
          </a:prstGeom>
          <a:noFill/>
        </p:spPr>
        <p:txBody>
          <a:bodyPr wrap="square" lIns="0" tIns="0" rIns="0" bIns="0">
            <a:spAutoFit/>
          </a:bodyPr>
          <a:lstStyle/>
          <a:p>
            <a:pPr algn="l">
              <a:spcAft>
                <a:spcPts val="200"/>
              </a:spcAft>
              <a:defRPr sz="1496" b="1">
                <a:solidFill>
                  <a:srgbClr val="F7F9FF"/>
                </a:solidFill>
                <a:latin typeface="DejaVu Sans"/>
              </a:defRPr>
            </a:pPr>
            <a:r>
              <a:t>Approved recordings</a:t>
            </a:r>
          </a:p>
        </p:txBody>
      </p:sp>
      <p:sp>
        <p:nvSpPr>
          <p:cNvPr id="61" name="TextBox 60"/>
          <p:cNvSpPr txBox="1"/>
          <p:nvPr/>
        </p:nvSpPr>
        <p:spPr>
          <a:xfrm>
            <a:off x="1141171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Continue learning after the session</a:t>
            </a:r>
          </a:p>
        </p:txBody>
      </p:sp>
      <p:sp>
        <p:nvSpPr>
          <p:cNvPr id="66" name="Rectangle 65"/>
          <p:cNvSpPr/>
          <p:nvPr/>
        </p:nvSpPr>
        <p:spPr>
          <a:xfrm>
            <a:off x="11923776" y="3675887"/>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42063" y="3703320"/>
            <a:ext cx="877824" cy="210312"/>
          </a:xfrm>
          <a:prstGeom prst="rect">
            <a:avLst/>
          </a:prstGeom>
          <a:noFill/>
        </p:spPr>
        <p:txBody>
          <a:bodyPr wrap="square" lIns="0" tIns="0" rIns="0" bIns="0">
            <a:spAutoFit/>
          </a:bodyPr>
          <a:lstStyle/>
          <a:p>
            <a:pPr algn="ctr">
              <a:spcAft>
                <a:spcPts val="200"/>
              </a:spcAft>
              <a:defRPr sz="900" b="1">
                <a:solidFill>
                  <a:srgbClr val="C2A3FF"/>
                </a:solidFill>
                <a:latin typeface="DejaVu Sans"/>
              </a:defRPr>
            </a:pPr>
            <a:r>
              <a:t>enables</a:t>
            </a:r>
          </a:p>
        </p:txBody>
      </p:sp>
      <p:sp>
        <p:nvSpPr>
          <p:cNvPr id="72" name="Rectangle 71"/>
          <p:cNvSpPr/>
          <p:nvPr/>
        </p:nvSpPr>
        <p:spPr>
          <a:xfrm>
            <a:off x="1700784" y="5449824"/>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719072" y="5477256"/>
            <a:ext cx="877824"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publish</a:t>
            </a:r>
          </a:p>
        </p:txBody>
      </p:sp>
      <p:sp>
        <p:nvSpPr>
          <p:cNvPr id="80" name="Rectangle 79"/>
          <p:cNvSpPr/>
          <p:nvPr/>
        </p:nvSpPr>
        <p:spPr>
          <a:xfrm>
            <a:off x="6309360" y="5385816"/>
            <a:ext cx="192024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7648" y="5413248"/>
            <a:ext cx="1883664"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return for revision</a:t>
            </a:r>
          </a:p>
        </p:txBody>
      </p:sp>
      <p:sp>
        <p:nvSpPr>
          <p:cNvPr id="82" name="Rounded Rectangle 8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Payment does not approve content or grant staff access. Learners and volunteers do not need teacher subscriptions.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8595359" y="6318503"/>
            <a:ext cx="731521"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023360" y="6318503"/>
            <a:ext cx="64008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595359" y="4745736"/>
            <a:ext cx="731521"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023360" y="4745736"/>
            <a:ext cx="64008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595359" y="3172968"/>
            <a:ext cx="731521"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023360" y="3172968"/>
            <a:ext cx="64008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Daily utilities connect through approved inputs</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Location, religious content and local conventions feed the right tools without mixing unrelated permissions.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55 / 58</a:t>
            </a:r>
          </a:p>
        </p:txBody>
      </p:sp>
      <p:sp>
        <p:nvSpPr>
          <p:cNvPr id="14" name="TextBox 13"/>
          <p:cNvSpPr txBox="1"/>
          <p:nvPr/>
        </p:nvSpPr>
        <p:spPr>
          <a:xfrm>
            <a:off x="64008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INPUT / USER CHOICE</a:t>
            </a:r>
          </a:p>
        </p:txBody>
      </p:sp>
      <p:sp>
        <p:nvSpPr>
          <p:cNvPr id="15" name="TextBox 14"/>
          <p:cNvSpPr txBox="1"/>
          <p:nvPr/>
        </p:nvSpPr>
        <p:spPr>
          <a:xfrm>
            <a:off x="466344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VALIDATION / CONFIGURATION</a:t>
            </a:r>
          </a:p>
        </p:txBody>
      </p:sp>
      <p:sp>
        <p:nvSpPr>
          <p:cNvPr id="16" name="TextBox 15"/>
          <p:cNvSpPr txBox="1"/>
          <p:nvPr/>
        </p:nvSpPr>
        <p:spPr>
          <a:xfrm>
            <a:off x="932688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CONNECTED EXPERIENCE</a:t>
            </a:r>
          </a:p>
        </p:txBody>
      </p:sp>
      <p:sp>
        <p:nvSpPr>
          <p:cNvPr id="17" name="Rounded Rectangle 16">
            <a:hlinkClick action="ppaction://hlinksldjump" r:id="rId7"/>
          </p:cNvPr>
          <p:cNvSpPr/>
          <p:nvPr/>
        </p:nvSpPr>
        <p:spPr>
          <a:xfrm>
            <a:off x="640080" y="2624328"/>
            <a:ext cx="3383280" cy="1097280"/>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779776"/>
            <a:ext cx="32004" cy="78638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7"/>
          </p:cNvPr>
          <p:cNvSpPr txBox="1"/>
          <p:nvPr/>
        </p:nvSpPr>
        <p:spPr>
          <a:xfrm>
            <a:off x="841247" y="2779776"/>
            <a:ext cx="298094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Location or manual area</a:t>
            </a:r>
          </a:p>
        </p:txBody>
      </p:sp>
      <p:sp>
        <p:nvSpPr>
          <p:cNvPr id="20" name="TextBox 19"/>
          <p:cNvSpPr txBox="1"/>
          <p:nvPr/>
        </p:nvSpPr>
        <p:spPr>
          <a:xfrm>
            <a:off x="850392" y="3227832"/>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Consent and device capability</a:t>
            </a:r>
          </a:p>
        </p:txBody>
      </p:sp>
      <p:sp>
        <p:nvSpPr>
          <p:cNvPr id="21" name="Rounded Rectangle 20">
            <a:hlinkClick action="ppaction://hlinksldjump" r:id="rId8"/>
          </p:cNvPr>
          <p:cNvSpPr/>
          <p:nvPr/>
        </p:nvSpPr>
        <p:spPr>
          <a:xfrm>
            <a:off x="4663440" y="2624328"/>
            <a:ext cx="3931920" cy="1097280"/>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81727" y="2779776"/>
            <a:ext cx="32004" cy="78638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8"/>
          </p:cNvPr>
          <p:cNvSpPr txBox="1"/>
          <p:nvPr/>
        </p:nvSpPr>
        <p:spPr>
          <a:xfrm>
            <a:off x="4864607" y="2779776"/>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Local prayer &amp; map settings</a:t>
            </a:r>
          </a:p>
        </p:txBody>
      </p:sp>
      <p:sp>
        <p:nvSpPr>
          <p:cNvPr id="24" name="TextBox 23"/>
          <p:cNvSpPr txBox="1"/>
          <p:nvPr/>
        </p:nvSpPr>
        <p:spPr>
          <a:xfrm>
            <a:off x="4873752" y="3227832"/>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Local times, direction and place sources</a:t>
            </a:r>
          </a:p>
        </p:txBody>
      </p:sp>
      <p:sp>
        <p:nvSpPr>
          <p:cNvPr id="25" name="Rounded Rectangle 24">
            <a:hlinkClick action="ppaction://hlinksldjump" r:id="rId9"/>
          </p:cNvPr>
          <p:cNvSpPr/>
          <p:nvPr/>
        </p:nvSpPr>
        <p:spPr>
          <a:xfrm>
            <a:off x="9326880" y="2624328"/>
            <a:ext cx="4663440" cy="109728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45167" y="2779776"/>
            <a:ext cx="32004" cy="786383"/>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a:hlinkClick action="ppaction://hlinksldjump" r:id="rId9"/>
          </p:cNvPr>
          <p:cNvSpPr txBox="1"/>
          <p:nvPr/>
        </p:nvSpPr>
        <p:spPr>
          <a:xfrm>
            <a:off x="9528048" y="2779776"/>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Prayer • Qibla • nearby mosques</a:t>
            </a:r>
          </a:p>
        </p:txBody>
      </p:sp>
      <p:sp>
        <p:nvSpPr>
          <p:cNvPr id="28" name="TextBox 27"/>
          <p:cNvSpPr txBox="1"/>
          <p:nvPr/>
        </p:nvSpPr>
        <p:spPr>
          <a:xfrm>
            <a:off x="9537192" y="3227832"/>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Useful daily guidance; permission handling</a:t>
            </a:r>
          </a:p>
        </p:txBody>
      </p:sp>
      <p:sp>
        <p:nvSpPr>
          <p:cNvPr id="29" name="Rounded Rectangle 28">
            <a:hlinkClick action="ppaction://hlinksldjump" r:id="rId10"/>
          </p:cNvPr>
          <p:cNvSpPr/>
          <p:nvPr/>
        </p:nvSpPr>
        <p:spPr>
          <a:xfrm>
            <a:off x="640080" y="4197096"/>
            <a:ext cx="338328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10"/>
          </p:cNvPr>
          <p:cNvSpPr txBox="1"/>
          <p:nvPr/>
        </p:nvSpPr>
        <p:spPr>
          <a:xfrm>
            <a:off x="841247" y="4352544"/>
            <a:ext cx="2980944" cy="438912"/>
          </a:xfrm>
          <a:prstGeom prst="rect">
            <a:avLst/>
          </a:prstGeom>
          <a:noFill/>
        </p:spPr>
        <p:txBody>
          <a:bodyPr wrap="square" lIns="0" tIns="0" rIns="0" bIns="0">
            <a:spAutoFit/>
          </a:bodyPr>
          <a:lstStyle/>
          <a:p>
            <a:pPr algn="l">
              <a:spcAft>
                <a:spcPts val="200"/>
              </a:spcAft>
              <a:defRPr sz="1491" b="1">
                <a:solidFill>
                  <a:srgbClr val="F7F9FF"/>
                </a:solidFill>
                <a:latin typeface="DejaVu Sans"/>
              </a:defRPr>
            </a:pPr>
            <a:r>
              <a:t>Religious sources &amp; rights</a:t>
            </a:r>
          </a:p>
        </p:txBody>
      </p:sp>
      <p:sp>
        <p:nvSpPr>
          <p:cNvPr id="32" name="TextBox 31"/>
          <p:cNvSpPr txBox="1"/>
          <p:nvPr/>
        </p:nvSpPr>
        <p:spPr>
          <a:xfrm>
            <a:off x="850392" y="4800600"/>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references and translations</a:t>
            </a:r>
          </a:p>
        </p:txBody>
      </p:sp>
      <p:sp>
        <p:nvSpPr>
          <p:cNvPr id="33" name="Rounded Rectangle 32">
            <a:hlinkClick action="ppaction://hlinksldjump" r:id="rId11"/>
          </p:cNvPr>
          <p:cNvSpPr/>
          <p:nvPr/>
        </p:nvSpPr>
        <p:spPr>
          <a:xfrm>
            <a:off x="4663440" y="4197096"/>
            <a:ext cx="393192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81727"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action="ppaction://hlinksldjump" r:id="rId11"/>
          </p:cNvPr>
          <p:cNvSpPr txBox="1"/>
          <p:nvPr/>
        </p:nvSpPr>
        <p:spPr>
          <a:xfrm>
            <a:off x="4864607" y="4352544"/>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Reviewed content library</a:t>
            </a:r>
          </a:p>
        </p:txBody>
      </p:sp>
      <p:sp>
        <p:nvSpPr>
          <p:cNvPr id="36" name="TextBox 35"/>
          <p:cNvSpPr txBox="1"/>
          <p:nvPr/>
        </p:nvSpPr>
        <p:spPr>
          <a:xfrm>
            <a:off x="4873752" y="4800600"/>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Quran text / recitation and utility content</a:t>
            </a:r>
          </a:p>
        </p:txBody>
      </p:sp>
      <p:sp>
        <p:nvSpPr>
          <p:cNvPr id="37" name="Rounded Rectangle 36">
            <a:hlinkClick action="ppaction://hlinksldjump" r:id="rId12"/>
          </p:cNvPr>
          <p:cNvSpPr/>
          <p:nvPr/>
        </p:nvSpPr>
        <p:spPr>
          <a:xfrm>
            <a:off x="9326880" y="4197096"/>
            <a:ext cx="466344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345167"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a:hlinkClick action="ppaction://hlinksldjump" r:id="rId12"/>
          </p:cNvPr>
          <p:cNvSpPr txBox="1"/>
          <p:nvPr/>
        </p:nvSpPr>
        <p:spPr>
          <a:xfrm>
            <a:off x="9528048" y="4352544"/>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Quran • dua • dhikr • hadith</a:t>
            </a:r>
          </a:p>
        </p:txBody>
      </p:sp>
      <p:sp>
        <p:nvSpPr>
          <p:cNvPr id="40" name="TextBox 39"/>
          <p:cNvSpPr txBox="1"/>
          <p:nvPr/>
        </p:nvSpPr>
        <p:spPr>
          <a:xfrm>
            <a:off x="9537192" y="4800600"/>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Connect practice to approved learning</a:t>
            </a:r>
          </a:p>
        </p:txBody>
      </p:sp>
      <p:sp>
        <p:nvSpPr>
          <p:cNvPr id="41" name="Rounded Rectangle 40">
            <a:hlinkClick action="ppaction://hlinksldjump" r:id="rId13"/>
          </p:cNvPr>
          <p:cNvSpPr/>
          <p:nvPr/>
        </p:nvSpPr>
        <p:spPr>
          <a:xfrm>
            <a:off x="640080" y="5769864"/>
            <a:ext cx="338328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a:hlinkClick action="ppaction://hlinksldjump" r:id="rId13"/>
          </p:cNvPr>
          <p:cNvSpPr txBox="1"/>
          <p:nvPr/>
        </p:nvSpPr>
        <p:spPr>
          <a:xfrm>
            <a:off x="841247" y="5925312"/>
            <a:ext cx="2980944" cy="438912"/>
          </a:xfrm>
          <a:prstGeom prst="rect">
            <a:avLst/>
          </a:prstGeom>
          <a:noFill/>
        </p:spPr>
        <p:txBody>
          <a:bodyPr wrap="square" lIns="0" tIns="0" rIns="0" bIns="0">
            <a:spAutoFit/>
          </a:bodyPr>
          <a:lstStyle/>
          <a:p>
            <a:pPr algn="l">
              <a:spcAft>
                <a:spcPts val="200"/>
              </a:spcAft>
              <a:defRPr sz="1591" b="1">
                <a:solidFill>
                  <a:srgbClr val="F7F9FF"/>
                </a:solidFill>
                <a:latin typeface="DejaVu Sans"/>
              </a:defRPr>
            </a:pPr>
            <a:r>
              <a:t>Calendar / zakat sources</a:t>
            </a:r>
          </a:p>
        </p:txBody>
      </p:sp>
      <p:sp>
        <p:nvSpPr>
          <p:cNvPr id="44" name="TextBox 43"/>
          <p:cNvSpPr txBox="1"/>
          <p:nvPr/>
        </p:nvSpPr>
        <p:spPr>
          <a:xfrm>
            <a:off x="850392" y="6373368"/>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MRM-approved local conventions</a:t>
            </a:r>
          </a:p>
        </p:txBody>
      </p:sp>
      <p:sp>
        <p:nvSpPr>
          <p:cNvPr id="45" name="Rounded Rectangle 44">
            <a:hlinkClick action="ppaction://hlinksldjump" r:id="rId14"/>
          </p:cNvPr>
          <p:cNvSpPr/>
          <p:nvPr/>
        </p:nvSpPr>
        <p:spPr>
          <a:xfrm>
            <a:off x="4663440" y="5769864"/>
            <a:ext cx="393192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681727"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a:hlinkClick action="ppaction://hlinksldjump" r:id="rId14"/>
          </p:cNvPr>
          <p:cNvSpPr txBox="1"/>
          <p:nvPr/>
        </p:nvSpPr>
        <p:spPr>
          <a:xfrm>
            <a:off x="4864607" y="5925312"/>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Display &amp; calculation rules</a:t>
            </a:r>
          </a:p>
        </p:txBody>
      </p:sp>
      <p:sp>
        <p:nvSpPr>
          <p:cNvPr id="48" name="TextBox 47"/>
          <p:cNvSpPr txBox="1"/>
          <p:nvPr/>
        </p:nvSpPr>
        <p:spPr>
          <a:xfrm>
            <a:off x="4873752" y="6373368"/>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Source review; local adjustment policy</a:t>
            </a:r>
          </a:p>
        </p:txBody>
      </p:sp>
      <p:sp>
        <p:nvSpPr>
          <p:cNvPr id="49" name="Rounded Rectangle 48">
            <a:hlinkClick action="ppaction://hlinksldjump" r:id="rId13"/>
          </p:cNvPr>
          <p:cNvSpPr/>
          <p:nvPr/>
        </p:nvSpPr>
        <p:spPr>
          <a:xfrm>
            <a:off x="9326880" y="5769864"/>
            <a:ext cx="466344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45167"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13"/>
          </p:cNvPr>
          <p:cNvSpPr txBox="1"/>
          <p:nvPr/>
        </p:nvSpPr>
        <p:spPr>
          <a:xfrm>
            <a:off x="9528048" y="5925312"/>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Hijri • Ramadan • zakat estimate</a:t>
            </a:r>
          </a:p>
        </p:txBody>
      </p:sp>
      <p:sp>
        <p:nvSpPr>
          <p:cNvPr id="52" name="TextBox 51"/>
          <p:cNvSpPr txBox="1"/>
          <p:nvPr/>
        </p:nvSpPr>
        <p:spPr>
          <a:xfrm>
            <a:off x="9537192" y="6373368"/>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Guidance only; referral is a separate service</a:t>
            </a:r>
          </a:p>
        </p:txBody>
      </p:sp>
      <p:sp>
        <p:nvSpPr>
          <p:cNvPr id="59" name="Rounded Rectangle 58"/>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Daily content ↔ approved learning. Zakat estimate ↔ referral information; eligibility stays with the authority.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8595359" y="5696712"/>
            <a:ext cx="731521"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23360" y="5696712"/>
            <a:ext cx="64008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95359" y="3721608"/>
            <a:ext cx="731521"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23360" y="3721608"/>
            <a:ext cx="64008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Confidential support and zakat: controlled handoffs</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These journeys share access controls and case accountability, not unrestricted volunteer or teacher visibility.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56 / 58</a:t>
            </a:r>
          </a:p>
        </p:txBody>
      </p:sp>
      <p:sp>
        <p:nvSpPr>
          <p:cNvPr id="14" name="Rounded Rectangle 13"/>
          <p:cNvSpPr/>
          <p:nvPr/>
        </p:nvSpPr>
        <p:spPr>
          <a:xfrm>
            <a:off x="640080" y="2148840"/>
            <a:ext cx="338328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194560"/>
            <a:ext cx="3200400" cy="237744"/>
          </a:xfrm>
          <a:prstGeom prst="rect">
            <a:avLst/>
          </a:prstGeom>
          <a:noFill/>
        </p:spPr>
        <p:txBody>
          <a:bodyPr wrap="square" lIns="0" tIns="0" rIns="0" bIns="0">
            <a:spAutoFit/>
          </a:bodyPr>
          <a:lstStyle/>
          <a:p>
            <a:pPr algn="l">
              <a:spcAft>
                <a:spcPts val="200"/>
              </a:spcAft>
              <a:defRPr sz="1000" b="1">
                <a:solidFill>
                  <a:srgbClr val="E8C578"/>
                </a:solidFill>
                <a:latin typeface="DejaVu Sans"/>
              </a:defRPr>
            </a:pPr>
            <a:r>
              <a:t>CONSENT + MINIMUM NECESSARY DATA</a:t>
            </a:r>
          </a:p>
        </p:txBody>
      </p:sp>
      <p:sp>
        <p:nvSpPr>
          <p:cNvPr id="16" name="Rounded Rectangle 15"/>
          <p:cNvSpPr/>
          <p:nvPr/>
        </p:nvSpPr>
        <p:spPr>
          <a:xfrm>
            <a:off x="4224528" y="2148840"/>
            <a:ext cx="388620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2194560"/>
            <a:ext cx="3703320" cy="237744"/>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ROLE + RECORD-LEVEL AUTHORISATION</a:t>
            </a:r>
          </a:p>
        </p:txBody>
      </p:sp>
      <p:sp>
        <p:nvSpPr>
          <p:cNvPr id="18" name="Rounded Rectangle 17"/>
          <p:cNvSpPr/>
          <p:nvPr/>
        </p:nvSpPr>
        <p:spPr>
          <a:xfrm>
            <a:off x="8321040" y="2148840"/>
            <a:ext cx="566928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194560"/>
            <a:ext cx="5486400" cy="237744"/>
          </a:xfrm>
          <a:prstGeom prst="rect">
            <a:avLst/>
          </a:prstGeom>
          <a:noFill/>
        </p:spPr>
        <p:txBody>
          <a:bodyPr wrap="square" lIns="0" tIns="0" rIns="0" bIns="0">
            <a:spAutoFit/>
          </a:bodyPr>
          <a:lstStyle/>
          <a:p>
            <a:pPr algn="l">
              <a:spcAft>
                <a:spcPts val="200"/>
              </a:spcAft>
              <a:defRPr sz="1000" b="1">
                <a:solidFill>
                  <a:srgbClr val="8DD8B1"/>
                </a:solidFill>
                <a:latin typeface="DejaVu Sans"/>
              </a:defRPr>
            </a:pPr>
            <a:r>
              <a:t>SAFE ALERTS + RESTRICTED EVIDENCE + AUDIT</a:t>
            </a:r>
          </a:p>
        </p:txBody>
      </p:sp>
      <p:sp>
        <p:nvSpPr>
          <p:cNvPr id="20" name="TextBox 19"/>
          <p:cNvSpPr txBox="1"/>
          <p:nvPr/>
        </p:nvSpPr>
        <p:spPr>
          <a:xfrm>
            <a:off x="667512" y="2688336"/>
            <a:ext cx="12801600" cy="274320"/>
          </a:xfrm>
          <a:prstGeom prst="rect">
            <a:avLst/>
          </a:prstGeom>
          <a:noFill/>
        </p:spPr>
        <p:txBody>
          <a:bodyPr wrap="square" lIns="0" tIns="0" rIns="0" bIns="0">
            <a:spAutoFit/>
          </a:bodyPr>
          <a:lstStyle/>
          <a:p>
            <a:pPr algn="l">
              <a:spcAft>
                <a:spcPts val="200"/>
              </a:spcAft>
              <a:defRPr sz="1100" b="1">
                <a:solidFill>
                  <a:srgbClr val="E8C578"/>
                </a:solidFill>
                <a:latin typeface="DejaVu Sans"/>
              </a:defRPr>
            </a:pPr>
            <a:r>
              <a:t>CONFIDENTIAL FAITH / FAMILY SUPPORT</a:t>
            </a:r>
          </a:p>
        </p:txBody>
      </p:sp>
      <p:sp>
        <p:nvSpPr>
          <p:cNvPr id="21" name="TextBox 20"/>
          <p:cNvSpPr txBox="1"/>
          <p:nvPr/>
        </p:nvSpPr>
        <p:spPr>
          <a:xfrm>
            <a:off x="667512" y="4663440"/>
            <a:ext cx="12801600" cy="274320"/>
          </a:xfrm>
          <a:prstGeom prst="rect">
            <a:avLst/>
          </a:prstGeom>
          <a:noFill/>
        </p:spPr>
        <p:txBody>
          <a:bodyPr wrap="square" lIns="0" tIns="0" rIns="0" bIns="0">
            <a:spAutoFit/>
          </a:bodyPr>
          <a:lstStyle/>
          <a:p>
            <a:pPr algn="l">
              <a:spcAft>
                <a:spcPts val="200"/>
              </a:spcAft>
              <a:defRPr sz="1100" b="1">
                <a:solidFill>
                  <a:srgbClr val="8DD8B1"/>
                </a:solidFill>
                <a:latin typeface="DejaVu Sans"/>
              </a:defRPr>
            </a:pPr>
            <a:r>
              <a:t>ZAKAT ENQUIRY / REFERRAL</a:t>
            </a:r>
          </a:p>
        </p:txBody>
      </p:sp>
      <p:sp>
        <p:nvSpPr>
          <p:cNvPr id="22" name="Rounded Rectangle 21">
            <a:hlinkClick action="ppaction://hlinksldjump" r:id="rId7"/>
          </p:cNvPr>
          <p:cNvSpPr/>
          <p:nvPr/>
        </p:nvSpPr>
        <p:spPr>
          <a:xfrm>
            <a:off x="640080" y="3127248"/>
            <a:ext cx="338328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7"/>
          </p:cNvPr>
          <p:cNvSpPr txBox="1"/>
          <p:nvPr/>
        </p:nvSpPr>
        <p:spPr>
          <a:xfrm>
            <a:off x="841247" y="3282696"/>
            <a:ext cx="298094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Private concern</a:t>
            </a:r>
          </a:p>
        </p:txBody>
      </p:sp>
      <p:sp>
        <p:nvSpPr>
          <p:cNvPr id="25" name="TextBox 24"/>
          <p:cNvSpPr txBox="1"/>
          <p:nvPr/>
        </p:nvSpPr>
        <p:spPr>
          <a:xfrm>
            <a:off x="850392" y="3730752"/>
            <a:ext cx="296265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Safe contact and permitted information</a:t>
            </a:r>
          </a:p>
        </p:txBody>
      </p:sp>
      <p:sp>
        <p:nvSpPr>
          <p:cNvPr id="26" name="Rounded Rectangle 25">
            <a:hlinkClick action="ppaction://hlinksldjump" r:id="rId7"/>
          </p:cNvPr>
          <p:cNvSpPr/>
          <p:nvPr/>
        </p:nvSpPr>
        <p:spPr>
          <a:xfrm>
            <a:off x="4663440" y="3127248"/>
            <a:ext cx="393192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81727"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a:hlinkClick action="ppaction://hlinksldjump" r:id="rId7"/>
          </p:cNvPr>
          <p:cNvSpPr txBox="1"/>
          <p:nvPr/>
        </p:nvSpPr>
        <p:spPr>
          <a:xfrm>
            <a:off x="4864607" y="3282696"/>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Designated MRM review</a:t>
            </a:r>
          </a:p>
        </p:txBody>
      </p:sp>
      <p:sp>
        <p:nvSpPr>
          <p:cNvPr id="29" name="TextBox 28"/>
          <p:cNvSpPr txBox="1"/>
          <p:nvPr/>
        </p:nvSpPr>
        <p:spPr>
          <a:xfrm>
            <a:off x="4873752" y="3730752"/>
            <a:ext cx="351129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queue and appropriate assignment</a:t>
            </a:r>
          </a:p>
        </p:txBody>
      </p:sp>
      <p:sp>
        <p:nvSpPr>
          <p:cNvPr id="30" name="Rounded Rectangle 29">
            <a:hlinkClick action="ppaction://hlinksldjump" r:id="rId8"/>
          </p:cNvPr>
          <p:cNvSpPr/>
          <p:nvPr/>
        </p:nvSpPr>
        <p:spPr>
          <a:xfrm>
            <a:off x="9326880" y="3127248"/>
            <a:ext cx="466344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45167"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8"/>
          </p:cNvPr>
          <p:cNvSpPr txBox="1"/>
          <p:nvPr/>
        </p:nvSpPr>
        <p:spPr>
          <a:xfrm>
            <a:off x="9528048" y="3282696"/>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Authorised guidance &amp; follow-up</a:t>
            </a:r>
          </a:p>
        </p:txBody>
      </p:sp>
      <p:sp>
        <p:nvSpPr>
          <p:cNvPr id="33" name="TextBox 32"/>
          <p:cNvSpPr txBox="1"/>
          <p:nvPr/>
        </p:nvSpPr>
        <p:spPr>
          <a:xfrm>
            <a:off x="9537192" y="3730752"/>
            <a:ext cx="424281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Controlled closure or permitted referral</a:t>
            </a:r>
          </a:p>
        </p:txBody>
      </p:sp>
      <p:sp>
        <p:nvSpPr>
          <p:cNvPr id="34" name="Rounded Rectangle 33">
            <a:hlinkClick action="ppaction://hlinksldjump" r:id="rId9"/>
          </p:cNvPr>
          <p:cNvSpPr/>
          <p:nvPr/>
        </p:nvSpPr>
        <p:spPr>
          <a:xfrm>
            <a:off x="640080" y="5102352"/>
            <a:ext cx="338328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9"/>
          </p:cNvPr>
          <p:cNvSpPr txBox="1"/>
          <p:nvPr/>
        </p:nvSpPr>
        <p:spPr>
          <a:xfrm>
            <a:off x="841247" y="5257800"/>
            <a:ext cx="2980944" cy="438912"/>
          </a:xfrm>
          <a:prstGeom prst="rect">
            <a:avLst/>
          </a:prstGeom>
          <a:noFill/>
        </p:spPr>
        <p:txBody>
          <a:bodyPr wrap="square" lIns="0" tIns="0" rIns="0" bIns="0">
            <a:spAutoFit/>
          </a:bodyPr>
          <a:lstStyle/>
          <a:p>
            <a:pPr algn="l">
              <a:spcAft>
                <a:spcPts val="200"/>
              </a:spcAft>
              <a:defRPr sz="1477" b="1">
                <a:solidFill>
                  <a:srgbClr val="F7F9FF"/>
                </a:solidFill>
                <a:latin typeface="DejaVu Sans"/>
              </a:defRPr>
            </a:pPr>
            <a:r>
              <a:t>Enquiry + referral consent</a:t>
            </a:r>
          </a:p>
        </p:txBody>
      </p:sp>
      <p:sp>
        <p:nvSpPr>
          <p:cNvPr id="37" name="TextBox 36"/>
          <p:cNvSpPr txBox="1"/>
          <p:nvPr/>
        </p:nvSpPr>
        <p:spPr>
          <a:xfrm>
            <a:off x="850392" y="5705856"/>
            <a:ext cx="296265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Need, region and safe contact preference</a:t>
            </a:r>
          </a:p>
        </p:txBody>
      </p:sp>
      <p:sp>
        <p:nvSpPr>
          <p:cNvPr id="38" name="Rounded Rectangle 37">
            <a:hlinkClick action="ppaction://hlinksldjump" r:id="rId9"/>
          </p:cNvPr>
          <p:cNvSpPr/>
          <p:nvPr/>
        </p:nvSpPr>
        <p:spPr>
          <a:xfrm>
            <a:off x="4663440" y="5102352"/>
            <a:ext cx="393192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81727"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a:hlinkClick action="ppaction://hlinksldjump" r:id="rId9"/>
          </p:cNvPr>
          <p:cNvSpPr txBox="1"/>
          <p:nvPr/>
        </p:nvSpPr>
        <p:spPr>
          <a:xfrm>
            <a:off x="4864607" y="5257800"/>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completeness review</a:t>
            </a:r>
          </a:p>
        </p:txBody>
      </p:sp>
      <p:sp>
        <p:nvSpPr>
          <p:cNvPr id="41" name="TextBox 40"/>
          <p:cNvSpPr txBox="1"/>
          <p:nvPr/>
        </p:nvSpPr>
        <p:spPr>
          <a:xfrm>
            <a:off x="4873752" y="5705856"/>
            <a:ext cx="351129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forms, sharing method and contact</a:t>
            </a:r>
          </a:p>
        </p:txBody>
      </p:sp>
      <p:sp>
        <p:nvSpPr>
          <p:cNvPr id="42" name="Rounded Rectangle 41">
            <a:hlinkClick action="ppaction://hlinksldjump" r:id="rId9"/>
          </p:cNvPr>
          <p:cNvSpPr/>
          <p:nvPr/>
        </p:nvSpPr>
        <p:spPr>
          <a:xfrm>
            <a:off x="9326880" y="5102352"/>
            <a:ext cx="466344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345167"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a:hlinkClick action="ppaction://hlinksldjump" r:id="rId9"/>
          </p:cNvPr>
          <p:cNvSpPr txBox="1"/>
          <p:nvPr/>
        </p:nvSpPr>
        <p:spPr>
          <a:xfrm>
            <a:off x="9528048" y="5257800"/>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Zakat authority handoff</a:t>
            </a:r>
          </a:p>
        </p:txBody>
      </p:sp>
      <p:sp>
        <p:nvSpPr>
          <p:cNvPr id="45" name="TextBox 44"/>
          <p:cNvSpPr txBox="1"/>
          <p:nvPr/>
        </p:nvSpPr>
        <p:spPr>
          <a:xfrm>
            <a:off x="9537192" y="5705856"/>
            <a:ext cx="424281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Authority decides eligibility and disbursement</a:t>
            </a:r>
          </a:p>
        </p:txBody>
      </p:sp>
      <p:sp>
        <p:nvSpPr>
          <p:cNvPr id="50" name="TextBox 49"/>
          <p:cNvSpPr txBox="1"/>
          <p:nvPr/>
        </p:nvSpPr>
        <p:spPr>
          <a:xfrm>
            <a:off x="685800" y="6547104"/>
            <a:ext cx="13258800" cy="384048"/>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Authorised status → case history → permitted user update → aggregate reporting. Partner API access is conditional.</a:t>
            </a:r>
          </a:p>
        </p:txBody>
      </p:sp>
      <p:sp>
        <p:nvSpPr>
          <p:cNvPr id="51" name="Rounded Rectangle 50"/>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No automated religious judgement. No guaranteed partner API. No zakat collection or disbursement in the proposal.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flipH="1">
            <a:off x="8942832" y="4654296"/>
            <a:ext cx="338328"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281160" y="4654296"/>
            <a:ext cx="0" cy="169164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281160" y="63459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36592"/>
            <a:ext cx="32004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54296"/>
            <a:ext cx="0" cy="8229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42832"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35808"/>
            <a:ext cx="32004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35808"/>
            <a:ext cx="0" cy="1618488"/>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42832" y="4654296"/>
            <a:ext cx="338328"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36592"/>
            <a:ext cx="32004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54296"/>
            <a:ext cx="0" cy="8229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35808"/>
            <a:ext cx="32004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35808"/>
            <a:ext cx="0" cy="1618488"/>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MRM operations connect content, revenue and oversight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Staff actions create controlled outputs across the app and website; service records feed aggregate reporting.</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57 / 58</a:t>
            </a:r>
          </a:p>
        </p:txBody>
      </p:sp>
      <p:sp>
        <p:nvSpPr>
          <p:cNvPr id="14" name="Rounded Rectangle 13">
            <a:hlinkClick action="ppaction://hlinksldjump" r:id="rId7"/>
          </p:cNvPr>
          <p:cNvSpPr/>
          <p:nvPr/>
        </p:nvSpPr>
        <p:spPr>
          <a:xfrm>
            <a:off x="5687568" y="3977639"/>
            <a:ext cx="3255264" cy="1353312"/>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5855" y="4133087"/>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7"/>
          </p:cNvPr>
          <p:cNvSpPr txBox="1"/>
          <p:nvPr/>
        </p:nvSpPr>
        <p:spPr>
          <a:xfrm>
            <a:off x="5888736" y="4133087"/>
            <a:ext cx="2852928" cy="438912"/>
          </a:xfrm>
          <a:prstGeom prst="rect">
            <a:avLst/>
          </a:prstGeom>
          <a:noFill/>
        </p:spPr>
        <p:txBody>
          <a:bodyPr wrap="square" lIns="0" tIns="0" rIns="0" bIns="0">
            <a:spAutoFit/>
          </a:bodyPr>
          <a:lstStyle/>
          <a:p>
            <a:pPr algn="l">
              <a:spcAft>
                <a:spcPts val="200"/>
              </a:spcAft>
              <a:defRPr sz="2000" b="1">
                <a:solidFill>
                  <a:srgbClr val="F7F9FF"/>
                </a:solidFill>
                <a:latin typeface="DejaVu Sans"/>
              </a:defRPr>
            </a:pPr>
            <a:r>
              <a:t>MRM OPERATIONS</a:t>
            </a:r>
          </a:p>
        </p:txBody>
      </p:sp>
      <p:sp>
        <p:nvSpPr>
          <p:cNvPr id="17" name="TextBox 16"/>
          <p:cNvSpPr txBox="1"/>
          <p:nvPr/>
        </p:nvSpPr>
        <p:spPr>
          <a:xfrm>
            <a:off x="5897880" y="4581144"/>
            <a:ext cx="2834640" cy="685800"/>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Duty-based staff access</a:t>
            </a:r>
          </a:p>
          <a:p>
            <a:pPr algn="l">
              <a:spcAft>
                <a:spcPts val="200"/>
              </a:spcAft>
              <a:defRPr sz="1300" b="0">
                <a:solidFill>
                  <a:srgbClr val="BBC8DF"/>
                </a:solidFill>
                <a:latin typeface="DejaVu Sans"/>
              </a:defRPr>
            </a:pPr>
            <a:r>
              <a:t>Configure • review • record</a:t>
            </a:r>
          </a:p>
        </p:txBody>
      </p:sp>
      <p:sp>
        <p:nvSpPr>
          <p:cNvPr id="18" name="Rounded Rectangle 17">
            <a:hlinkClick action="ppaction://hlinksldjump" r:id="rId8"/>
          </p:cNvPr>
          <p:cNvSpPr/>
          <p:nvPr/>
        </p:nvSpPr>
        <p:spPr>
          <a:xfrm>
            <a:off x="640080" y="2359152"/>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14600"/>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496312"/>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46604"/>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01</a:t>
            </a:r>
          </a:p>
        </p:txBody>
      </p:sp>
      <p:sp>
        <p:nvSpPr>
          <p:cNvPr id="22" name="TextBox 21">
            <a:hlinkClick action="ppaction://hlinksldjump" r:id="rId8"/>
          </p:cNvPr>
          <p:cNvSpPr txBox="1"/>
          <p:nvPr/>
        </p:nvSpPr>
        <p:spPr>
          <a:xfrm>
            <a:off x="123444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Public website &amp; discovery</a:t>
            </a:r>
          </a:p>
        </p:txBody>
      </p:sp>
      <p:sp>
        <p:nvSpPr>
          <p:cNvPr id="23" name="TextBox 22"/>
          <p:cNvSpPr txBox="1"/>
          <p:nvPr/>
        </p:nvSpPr>
        <p:spPr>
          <a:xfrm>
            <a:off x="85039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pages, resources and events</a:t>
            </a:r>
          </a:p>
          <a:p>
            <a:pPr algn="l">
              <a:spcAft>
                <a:spcPts val="200"/>
              </a:spcAft>
              <a:defRPr sz="1200" b="0">
                <a:solidFill>
                  <a:srgbClr val="BBC8DF"/>
                </a:solidFill>
                <a:latin typeface="DejaVu Sans"/>
              </a:defRPr>
            </a:pPr>
            <a:r>
              <a:t>Volunteer / teacher / support entry routes</a:t>
            </a:r>
          </a:p>
        </p:txBody>
      </p:sp>
      <p:sp>
        <p:nvSpPr>
          <p:cNvPr id="24" name="Rounded Rectangle 23">
            <a:hlinkClick action="ppaction://hlinksldjump" r:id="rId9"/>
          </p:cNvPr>
          <p:cNvSpPr/>
          <p:nvPr/>
        </p:nvSpPr>
        <p:spPr>
          <a:xfrm>
            <a:off x="9601200" y="2359152"/>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14600"/>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496312"/>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46604"/>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02</a:t>
            </a:r>
          </a:p>
        </p:txBody>
      </p:sp>
      <p:sp>
        <p:nvSpPr>
          <p:cNvPr id="28" name="TextBox 27">
            <a:hlinkClick action="ppaction://hlinksldjump" r:id="rId9"/>
          </p:cNvPr>
          <p:cNvSpPr txBox="1"/>
          <p:nvPr/>
        </p:nvSpPr>
        <p:spPr>
          <a:xfrm>
            <a:off x="1019556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Sponsors &amp; placements</a:t>
            </a:r>
          </a:p>
        </p:txBody>
      </p:sp>
      <p:sp>
        <p:nvSpPr>
          <p:cNvPr id="29" name="TextBox 28"/>
          <p:cNvSpPr txBox="1"/>
          <p:nvPr/>
        </p:nvSpPr>
        <p:spPr>
          <a:xfrm>
            <a:off x="981151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assets + start / end dates</a:t>
            </a:r>
          </a:p>
          <a:p>
            <a:pPr algn="l">
              <a:spcAft>
                <a:spcPts val="200"/>
              </a:spcAft>
              <a:defRPr sz="1200" b="0">
                <a:solidFill>
                  <a:srgbClr val="BBC8DF"/>
                </a:solidFill>
                <a:latin typeface="DejaVu Sans"/>
              </a:defRPr>
            </a:pPr>
            <a:r>
              <a:t>App / website recognition; aggregate metrics</a:t>
            </a:r>
          </a:p>
        </p:txBody>
      </p:sp>
      <p:sp>
        <p:nvSpPr>
          <p:cNvPr id="30" name="Rounded Rectangle 29">
            <a:hlinkClick action="ppaction://hlinksldjump" r:id="rId10"/>
          </p:cNvPr>
          <p:cNvSpPr/>
          <p:nvPr/>
        </p:nvSpPr>
        <p:spPr>
          <a:xfrm>
            <a:off x="640080" y="4059936"/>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15384"/>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197096"/>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47388"/>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03</a:t>
            </a:r>
          </a:p>
        </p:txBody>
      </p:sp>
      <p:sp>
        <p:nvSpPr>
          <p:cNvPr id="34" name="TextBox 33">
            <a:hlinkClick action="ppaction://hlinksldjump" r:id="rId10"/>
          </p:cNvPr>
          <p:cNvSpPr txBox="1"/>
          <p:nvPr/>
        </p:nvSpPr>
        <p:spPr>
          <a:xfrm>
            <a:off x="1234440" y="4206240"/>
            <a:ext cx="3611879" cy="393192"/>
          </a:xfrm>
          <a:prstGeom prst="rect">
            <a:avLst/>
          </a:prstGeom>
          <a:noFill/>
        </p:spPr>
        <p:txBody>
          <a:bodyPr wrap="square" lIns="0" tIns="0" rIns="0" bIns="0">
            <a:spAutoFit/>
          </a:bodyPr>
          <a:lstStyle/>
          <a:p>
            <a:pPr algn="l">
              <a:spcAft>
                <a:spcPts val="200"/>
              </a:spcAft>
              <a:defRPr sz="1537" b="1">
                <a:solidFill>
                  <a:srgbClr val="F7F9FF"/>
                </a:solidFill>
                <a:latin typeface="DejaVu Sans"/>
              </a:defRPr>
            </a:pPr>
            <a:r>
              <a:t>Content &amp; learning publication</a:t>
            </a:r>
          </a:p>
        </p:txBody>
      </p:sp>
      <p:sp>
        <p:nvSpPr>
          <p:cNvPr id="35" name="TextBox 34"/>
          <p:cNvSpPr txBox="1"/>
          <p:nvPr/>
        </p:nvSpPr>
        <p:spPr>
          <a:xfrm>
            <a:off x="85039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proposals and utility references</a:t>
            </a:r>
          </a:p>
          <a:p>
            <a:pPr algn="l">
              <a:spcAft>
                <a:spcPts val="200"/>
              </a:spcAft>
              <a:defRPr sz="1200" b="0">
                <a:solidFill>
                  <a:srgbClr val="BBC8DF"/>
                </a:solidFill>
                <a:latin typeface="DejaVu Sans"/>
              </a:defRPr>
            </a:pPr>
            <a:r>
              <a:t>Moderation controls visible material</a:t>
            </a:r>
          </a:p>
        </p:txBody>
      </p:sp>
      <p:sp>
        <p:nvSpPr>
          <p:cNvPr id="36" name="Rounded Rectangle 35">
            <a:hlinkClick action="ppaction://hlinksldjump" r:id="rId11"/>
          </p:cNvPr>
          <p:cNvSpPr/>
          <p:nvPr/>
        </p:nvSpPr>
        <p:spPr>
          <a:xfrm>
            <a:off x="9601200" y="4059936"/>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15384"/>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197096"/>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47388"/>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04</a:t>
            </a:r>
          </a:p>
        </p:txBody>
      </p:sp>
      <p:sp>
        <p:nvSpPr>
          <p:cNvPr id="40" name="TextBox 39">
            <a:hlinkClick action="ppaction://hlinksldjump" r:id="rId11"/>
          </p:cNvPr>
          <p:cNvSpPr txBox="1"/>
          <p:nvPr/>
        </p:nvSpPr>
        <p:spPr>
          <a:xfrm>
            <a:off x="1019556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Teacher plans &amp; entitlements</a:t>
            </a:r>
          </a:p>
        </p:txBody>
      </p:sp>
      <p:sp>
        <p:nvSpPr>
          <p:cNvPr id="41" name="TextBox 40"/>
          <p:cNvSpPr txBox="1"/>
          <p:nvPr/>
        </p:nvSpPr>
        <p:spPr>
          <a:xfrm>
            <a:off x="981151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Client-owned store billing configuration</a:t>
            </a:r>
          </a:p>
          <a:p>
            <a:pPr algn="l">
              <a:spcAft>
                <a:spcPts val="200"/>
              </a:spcAft>
              <a:defRPr sz="1200" b="0">
                <a:solidFill>
                  <a:srgbClr val="BBC8DF"/>
                </a:solidFill>
                <a:latin typeface="DejaVu Sans"/>
              </a:defRPr>
            </a:pPr>
            <a:r>
              <a:t>Verified plan state → publishing allowances</a:t>
            </a:r>
          </a:p>
        </p:txBody>
      </p:sp>
      <p:sp>
        <p:nvSpPr>
          <p:cNvPr id="42" name="Rounded Rectangle 41">
            <a:hlinkClick action="ppaction://hlinksldjump" r:id="rId12"/>
          </p:cNvPr>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a:hlinkClick action="ppaction://hlinksldjump" r:id="rId12"/>
          </p:cNvPr>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Alerts • activity • audit</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Service event → permitted recipient</a:t>
            </a:r>
          </a:p>
          <a:p>
            <a:pPr algn="l">
              <a:spcAft>
                <a:spcPts val="200"/>
              </a:spcAft>
              <a:defRPr sz="1200" b="0">
                <a:solidFill>
                  <a:srgbClr val="BBC8DF"/>
                </a:solidFill>
                <a:latin typeface="DejaVu Sans"/>
              </a:defRPr>
            </a:pPr>
            <a:r>
              <a:t>Safe alert → authorised detail / next action</a:t>
            </a:r>
          </a:p>
        </p:txBody>
      </p:sp>
      <p:sp>
        <p:nvSpPr>
          <p:cNvPr id="48" name="Rounded Rectangle 47">
            <a:hlinkClick action="ppaction://hlinksldjump" r:id="rId13"/>
          </p:cNvPr>
          <p:cNvSpPr/>
          <p:nvPr/>
        </p:nvSpPr>
        <p:spPr>
          <a:xfrm>
            <a:off x="9601200" y="56692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06</a:t>
            </a:r>
          </a:p>
        </p:txBody>
      </p:sp>
      <p:sp>
        <p:nvSpPr>
          <p:cNvPr id="52" name="TextBox 51">
            <a:hlinkClick action="ppaction://hlinksldjump" r:id="rId13"/>
          </p:cNvPr>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Reports &amp; service oversight</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Case / volunteer / referral status</a:t>
            </a:r>
          </a:p>
          <a:p>
            <a:pPr algn="l">
              <a:spcAft>
                <a:spcPts val="200"/>
              </a:spcAft>
              <a:defRPr sz="1200" b="0">
                <a:solidFill>
                  <a:srgbClr val="BBC8DF"/>
                </a:solidFill>
                <a:latin typeface="DejaVu Sans"/>
              </a:defRPr>
            </a:pPr>
            <a:r>
              <a:t>Agreed programme and sponsor summaries</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Sponsors cannot access private cases. Sponsorship never changes assignment, confidential guidance or zakat decisions.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Connection index: what links to what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Use this index to trace a feature dependency back to the detailed scope pages in the full presentation.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58 / 58</a:t>
            </a:r>
          </a:p>
        </p:txBody>
      </p:sp>
      <p:sp>
        <p:nvSpPr>
          <p:cNvPr id="14" name="Rounded Rectangle 13"/>
          <p:cNvSpPr/>
          <p:nvPr/>
        </p:nvSpPr>
        <p:spPr>
          <a:xfrm>
            <a:off x="640080" y="2359152"/>
            <a:ext cx="13350240" cy="457200"/>
          </a:xfrm>
          <a:prstGeom prst="roundRect">
            <a:avLst>
              <a:gd name="adj" fmla="val 10000"/>
            </a:avLst>
          </a:prstGeom>
          <a:solidFill>
            <a:srgbClr val="263B58"/>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487168"/>
            <a:ext cx="2240279"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FEATURE</a:t>
            </a:r>
          </a:p>
        </p:txBody>
      </p:sp>
      <p:sp>
        <p:nvSpPr>
          <p:cNvPr id="16" name="TextBox 15"/>
          <p:cNvSpPr txBox="1"/>
          <p:nvPr/>
        </p:nvSpPr>
        <p:spPr>
          <a:xfrm>
            <a:off x="3154680" y="2487168"/>
            <a:ext cx="274320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CONNECTS TO</a:t>
            </a:r>
          </a:p>
        </p:txBody>
      </p:sp>
      <p:sp>
        <p:nvSpPr>
          <p:cNvPr id="17" name="TextBox 16"/>
          <p:cNvSpPr txBox="1"/>
          <p:nvPr/>
        </p:nvSpPr>
        <p:spPr>
          <a:xfrm>
            <a:off x="6080759" y="2487168"/>
            <a:ext cx="30175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CONNECTION PURPOSE</a:t>
            </a:r>
          </a:p>
        </p:txBody>
      </p:sp>
      <p:sp>
        <p:nvSpPr>
          <p:cNvPr id="18" name="TextBox 17"/>
          <p:cNvSpPr txBox="1"/>
          <p:nvPr/>
        </p:nvSpPr>
        <p:spPr>
          <a:xfrm>
            <a:off x="9281160" y="2487168"/>
            <a:ext cx="39319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ACCESS / POLICY CHECK</a:t>
            </a:r>
          </a:p>
        </p:txBody>
      </p:sp>
      <p:sp>
        <p:nvSpPr>
          <p:cNvPr id="19" name="TextBox 18"/>
          <p:cNvSpPr txBox="1"/>
          <p:nvPr/>
        </p:nvSpPr>
        <p:spPr>
          <a:xfrm>
            <a:off x="13395960" y="2487168"/>
            <a:ext cx="5029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PAGE</a:t>
            </a:r>
          </a:p>
        </p:txBody>
      </p:sp>
      <p:sp>
        <p:nvSpPr>
          <p:cNvPr id="20" name="Rectangle 19"/>
          <p:cNvSpPr/>
          <p:nvPr/>
        </p:nvSpPr>
        <p:spPr>
          <a:xfrm>
            <a:off x="640080" y="281635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281635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a:hlinkClick action="ppaction://hlinksldjump" r:id="rId7"/>
          </p:cNvPr>
          <p:cNvSpPr txBox="1"/>
          <p:nvPr/>
        </p:nvSpPr>
        <p:spPr>
          <a:xfrm>
            <a:off x="731519" y="292608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Accounts &amp; roles</a:t>
            </a:r>
          </a:p>
        </p:txBody>
      </p:sp>
      <p:sp>
        <p:nvSpPr>
          <p:cNvPr id="23" name="TextBox 22">
            <a:hlinkClick action="ppaction://hlinksldjump" r:id="rId7"/>
          </p:cNvPr>
          <p:cNvSpPr txBox="1"/>
          <p:nvPr/>
        </p:nvSpPr>
        <p:spPr>
          <a:xfrm>
            <a:off x="3154680" y="292608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Personal records / staff tools</a:t>
            </a:r>
          </a:p>
        </p:txBody>
      </p:sp>
      <p:sp>
        <p:nvSpPr>
          <p:cNvPr id="24" name="TextBox 23">
            <a:hlinkClick action="ppaction://hlinksldjump" r:id="rId7"/>
          </p:cNvPr>
          <p:cNvSpPr txBox="1"/>
          <p:nvPr/>
        </p:nvSpPr>
        <p:spPr>
          <a:xfrm>
            <a:off x="6080759" y="292608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Authorises appropriate access</a:t>
            </a:r>
          </a:p>
        </p:txBody>
      </p:sp>
      <p:sp>
        <p:nvSpPr>
          <p:cNvPr id="25" name="TextBox 24">
            <a:hlinkClick action="ppaction://hlinksldjump" r:id="rId7"/>
          </p:cNvPr>
          <p:cNvSpPr txBox="1"/>
          <p:nvPr/>
        </p:nvSpPr>
        <p:spPr>
          <a:xfrm>
            <a:off x="9281160" y="292608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Role + record + gender / sensitivity</a:t>
            </a:r>
          </a:p>
        </p:txBody>
      </p:sp>
      <p:sp>
        <p:nvSpPr>
          <p:cNvPr id="26" name="TextBox 25">
            <a:hlinkClick action="ppaction://hlinksldjump" r:id="rId7"/>
          </p:cNvPr>
          <p:cNvSpPr txBox="1"/>
          <p:nvPr/>
        </p:nvSpPr>
        <p:spPr>
          <a:xfrm>
            <a:off x="13395960" y="292608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43</a:t>
            </a:r>
          </a:p>
        </p:txBody>
      </p:sp>
      <p:sp>
        <p:nvSpPr>
          <p:cNvPr id="27" name="Rectangle 26"/>
          <p:cNvSpPr/>
          <p:nvPr/>
        </p:nvSpPr>
        <p:spPr>
          <a:xfrm>
            <a:off x="640080" y="322783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22783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a:hlinkClick action="ppaction://hlinksldjump" r:id="rId8"/>
          </p:cNvPr>
          <p:cNvSpPr txBox="1"/>
          <p:nvPr/>
        </p:nvSpPr>
        <p:spPr>
          <a:xfrm>
            <a:off x="731519" y="333756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Volunteer verification</a:t>
            </a:r>
          </a:p>
        </p:txBody>
      </p:sp>
      <p:sp>
        <p:nvSpPr>
          <p:cNvPr id="30" name="TextBox 29">
            <a:hlinkClick action="ppaction://hlinksldjump" r:id="rId8"/>
          </p:cNvPr>
          <p:cNvSpPr txBox="1"/>
          <p:nvPr/>
        </p:nvSpPr>
        <p:spPr>
          <a:xfrm>
            <a:off x="3154680" y="333756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Discovery / request matching</a:t>
            </a:r>
          </a:p>
        </p:txBody>
      </p:sp>
      <p:sp>
        <p:nvSpPr>
          <p:cNvPr id="31" name="TextBox 30">
            <a:hlinkClick action="ppaction://hlinksldjump" r:id="rId8"/>
          </p:cNvPr>
          <p:cNvSpPr txBox="1"/>
          <p:nvPr/>
        </p:nvSpPr>
        <p:spPr>
          <a:xfrm>
            <a:off x="6080759" y="333756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Enables eligible service</a:t>
            </a:r>
          </a:p>
        </p:txBody>
      </p:sp>
      <p:sp>
        <p:nvSpPr>
          <p:cNvPr id="32" name="TextBox 31">
            <a:hlinkClick action="ppaction://hlinksldjump" r:id="rId8"/>
          </p:cNvPr>
          <p:cNvSpPr txBox="1"/>
          <p:nvPr/>
        </p:nvSpPr>
        <p:spPr>
          <a:xfrm>
            <a:off x="9281160" y="333756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Approved and active only</a:t>
            </a:r>
          </a:p>
        </p:txBody>
      </p:sp>
      <p:sp>
        <p:nvSpPr>
          <p:cNvPr id="33" name="TextBox 32">
            <a:hlinkClick action="ppaction://hlinksldjump" r:id="rId8"/>
          </p:cNvPr>
          <p:cNvSpPr txBox="1"/>
          <p:nvPr/>
        </p:nvSpPr>
        <p:spPr>
          <a:xfrm>
            <a:off x="13395960" y="3337560"/>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15</a:t>
            </a:r>
          </a:p>
        </p:txBody>
      </p:sp>
      <p:sp>
        <p:nvSpPr>
          <p:cNvPr id="34" name="Rectangle 33"/>
          <p:cNvSpPr/>
          <p:nvPr/>
        </p:nvSpPr>
        <p:spPr>
          <a:xfrm>
            <a:off x="640080" y="363931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363931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9"/>
          </p:cNvPr>
          <p:cNvSpPr txBox="1"/>
          <p:nvPr/>
        </p:nvSpPr>
        <p:spPr>
          <a:xfrm>
            <a:off x="731519" y="3749039"/>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Triage &amp; matching</a:t>
            </a:r>
          </a:p>
        </p:txBody>
      </p:sp>
      <p:sp>
        <p:nvSpPr>
          <p:cNvPr id="37" name="TextBox 36">
            <a:hlinkClick action="ppaction://hlinksldjump" r:id="rId9"/>
          </p:cNvPr>
          <p:cNvSpPr txBox="1"/>
          <p:nvPr/>
        </p:nvSpPr>
        <p:spPr>
          <a:xfrm>
            <a:off x="3154680" y="3749039"/>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Assignment / case progress</a:t>
            </a:r>
          </a:p>
        </p:txBody>
      </p:sp>
      <p:sp>
        <p:nvSpPr>
          <p:cNvPr id="38" name="TextBox 37">
            <a:hlinkClick action="ppaction://hlinksldjump" r:id="rId9"/>
          </p:cNvPr>
          <p:cNvSpPr txBox="1"/>
          <p:nvPr/>
        </p:nvSpPr>
        <p:spPr>
          <a:xfrm>
            <a:off x="6080759" y="3749039"/>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Offers, confirms and follows up</a:t>
            </a:r>
          </a:p>
        </p:txBody>
      </p:sp>
      <p:sp>
        <p:nvSpPr>
          <p:cNvPr id="39" name="TextBox 38">
            <a:hlinkClick action="ppaction://hlinksldjump" r:id="rId9"/>
          </p:cNvPr>
          <p:cNvSpPr txBox="1"/>
          <p:nvPr/>
        </p:nvSpPr>
        <p:spPr>
          <a:xfrm>
            <a:off x="9281160" y="3749039"/>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Sensitive route stays restricted</a:t>
            </a:r>
          </a:p>
        </p:txBody>
      </p:sp>
      <p:sp>
        <p:nvSpPr>
          <p:cNvPr id="40" name="TextBox 39">
            <a:hlinkClick action="ppaction://hlinksldjump" r:id="rId9"/>
          </p:cNvPr>
          <p:cNvSpPr txBox="1"/>
          <p:nvPr/>
        </p:nvSpPr>
        <p:spPr>
          <a:xfrm>
            <a:off x="13395960" y="3749039"/>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13</a:t>
            </a:r>
          </a:p>
        </p:txBody>
      </p:sp>
      <p:sp>
        <p:nvSpPr>
          <p:cNvPr id="41" name="Rectangle 40"/>
          <p:cNvSpPr/>
          <p:nvPr/>
        </p:nvSpPr>
        <p:spPr>
          <a:xfrm>
            <a:off x="640080" y="4050791"/>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4050791"/>
            <a:ext cx="32004" cy="411480"/>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a:hlinkClick action="ppaction://hlinksldjump" r:id="rId10"/>
          </p:cNvPr>
          <p:cNvSpPr txBox="1"/>
          <p:nvPr/>
        </p:nvSpPr>
        <p:spPr>
          <a:xfrm>
            <a:off x="731519" y="416052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Teacher approval + plan</a:t>
            </a:r>
          </a:p>
        </p:txBody>
      </p:sp>
      <p:sp>
        <p:nvSpPr>
          <p:cNvPr id="44" name="TextBox 43">
            <a:hlinkClick action="ppaction://hlinksldjump" r:id="rId10"/>
          </p:cNvPr>
          <p:cNvSpPr txBox="1"/>
          <p:nvPr/>
        </p:nvSpPr>
        <p:spPr>
          <a:xfrm>
            <a:off x="3154680" y="416052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Posts / ads / programme proposals</a:t>
            </a:r>
          </a:p>
        </p:txBody>
      </p:sp>
      <p:sp>
        <p:nvSpPr>
          <p:cNvPr id="45" name="TextBox 44">
            <a:hlinkClick action="ppaction://hlinksldjump" r:id="rId10"/>
          </p:cNvPr>
          <p:cNvSpPr txBox="1"/>
          <p:nvPr/>
        </p:nvSpPr>
        <p:spPr>
          <a:xfrm>
            <a:off x="6080759" y="416052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Enables publishing allowances</a:t>
            </a:r>
          </a:p>
        </p:txBody>
      </p:sp>
      <p:sp>
        <p:nvSpPr>
          <p:cNvPr id="46" name="TextBox 45">
            <a:hlinkClick action="ppaction://hlinksldjump" r:id="rId10"/>
          </p:cNvPr>
          <p:cNvSpPr txBox="1"/>
          <p:nvPr/>
        </p:nvSpPr>
        <p:spPr>
          <a:xfrm>
            <a:off x="9281160" y="416052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Valid entitlement; no staff access</a:t>
            </a:r>
          </a:p>
        </p:txBody>
      </p:sp>
      <p:sp>
        <p:nvSpPr>
          <p:cNvPr id="47" name="TextBox 46">
            <a:hlinkClick action="ppaction://hlinksldjump" r:id="rId10"/>
          </p:cNvPr>
          <p:cNvSpPr txBox="1"/>
          <p:nvPr/>
        </p:nvSpPr>
        <p:spPr>
          <a:xfrm>
            <a:off x="13395960" y="4160520"/>
            <a:ext cx="502920" cy="301752"/>
          </a:xfrm>
          <a:prstGeom prst="rect">
            <a:avLst/>
          </a:prstGeom>
          <a:noFill/>
        </p:spPr>
        <p:txBody>
          <a:bodyPr wrap="square" lIns="0" tIns="0" rIns="0" bIns="0">
            <a:spAutoFit/>
          </a:bodyPr>
          <a:lstStyle/>
          <a:p>
            <a:pPr algn="l">
              <a:spcAft>
                <a:spcPts val="200"/>
              </a:spcAft>
              <a:defRPr sz="1050" b="1">
                <a:solidFill>
                  <a:srgbClr val="C2A3FF"/>
                </a:solidFill>
                <a:latin typeface="DejaVu Sans"/>
              </a:defRPr>
            </a:pPr>
            <a:r>
              <a:t>27</a:t>
            </a:r>
          </a:p>
        </p:txBody>
      </p:sp>
      <p:sp>
        <p:nvSpPr>
          <p:cNvPr id="48" name="Rectangle 47"/>
          <p:cNvSpPr/>
          <p:nvPr/>
        </p:nvSpPr>
        <p:spPr>
          <a:xfrm>
            <a:off x="640080" y="446227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4462272"/>
            <a:ext cx="32004" cy="411480"/>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a:hlinkClick action="ppaction://hlinksldjump" r:id="rId11"/>
          </p:cNvPr>
          <p:cNvSpPr txBox="1"/>
          <p:nvPr/>
        </p:nvSpPr>
        <p:spPr>
          <a:xfrm>
            <a:off x="731519" y="457200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MRM moderation</a:t>
            </a:r>
          </a:p>
        </p:txBody>
      </p:sp>
      <p:sp>
        <p:nvSpPr>
          <p:cNvPr id="51" name="TextBox 50">
            <a:hlinkClick action="ppaction://hlinksldjump" r:id="rId11"/>
          </p:cNvPr>
          <p:cNvSpPr txBox="1"/>
          <p:nvPr/>
        </p:nvSpPr>
        <p:spPr>
          <a:xfrm>
            <a:off x="3154680" y="457200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Learning / website / utility content</a:t>
            </a:r>
          </a:p>
        </p:txBody>
      </p:sp>
      <p:sp>
        <p:nvSpPr>
          <p:cNvPr id="52" name="TextBox 51">
            <a:hlinkClick action="ppaction://hlinksldjump" r:id="rId11"/>
          </p:cNvPr>
          <p:cNvSpPr txBox="1"/>
          <p:nvPr/>
        </p:nvSpPr>
        <p:spPr>
          <a:xfrm>
            <a:off x="6080759" y="457200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Approves visible material</a:t>
            </a:r>
          </a:p>
        </p:txBody>
      </p:sp>
      <p:sp>
        <p:nvSpPr>
          <p:cNvPr id="53" name="TextBox 52">
            <a:hlinkClick action="ppaction://hlinksldjump" r:id="rId11"/>
          </p:cNvPr>
          <p:cNvSpPr txBox="1"/>
          <p:nvPr/>
        </p:nvSpPr>
        <p:spPr>
          <a:xfrm>
            <a:off x="9281160" y="457200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Religious review and content rights</a:t>
            </a:r>
          </a:p>
        </p:txBody>
      </p:sp>
      <p:sp>
        <p:nvSpPr>
          <p:cNvPr id="54" name="TextBox 53">
            <a:hlinkClick action="ppaction://hlinksldjump" r:id="rId11"/>
          </p:cNvPr>
          <p:cNvSpPr txBox="1"/>
          <p:nvPr/>
        </p:nvSpPr>
        <p:spPr>
          <a:xfrm>
            <a:off x="13395960" y="4572000"/>
            <a:ext cx="502920" cy="301752"/>
          </a:xfrm>
          <a:prstGeom prst="rect">
            <a:avLst/>
          </a:prstGeom>
          <a:noFill/>
        </p:spPr>
        <p:txBody>
          <a:bodyPr wrap="square" lIns="0" tIns="0" rIns="0" bIns="0">
            <a:spAutoFit/>
          </a:bodyPr>
          <a:lstStyle/>
          <a:p>
            <a:pPr algn="l">
              <a:spcAft>
                <a:spcPts val="200"/>
              </a:spcAft>
              <a:defRPr sz="1050" b="1">
                <a:solidFill>
                  <a:srgbClr val="C2A3FF"/>
                </a:solidFill>
                <a:latin typeface="DejaVu Sans"/>
              </a:defRPr>
            </a:pPr>
            <a:r>
              <a:t>26</a:t>
            </a:r>
          </a:p>
        </p:txBody>
      </p:sp>
      <p:sp>
        <p:nvSpPr>
          <p:cNvPr id="55" name="Rectangle 54"/>
          <p:cNvSpPr/>
          <p:nvPr/>
        </p:nvSpPr>
        <p:spPr>
          <a:xfrm>
            <a:off x="640080" y="487375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0080" y="487375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12"/>
          </p:cNvPr>
          <p:cNvSpPr txBox="1"/>
          <p:nvPr/>
        </p:nvSpPr>
        <p:spPr>
          <a:xfrm>
            <a:off x="731519" y="498348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Service events</a:t>
            </a:r>
          </a:p>
        </p:txBody>
      </p:sp>
      <p:sp>
        <p:nvSpPr>
          <p:cNvPr id="58" name="TextBox 57">
            <a:hlinkClick action="ppaction://hlinksldjump" r:id="rId12"/>
          </p:cNvPr>
          <p:cNvSpPr txBox="1"/>
          <p:nvPr/>
        </p:nvSpPr>
        <p:spPr>
          <a:xfrm>
            <a:off x="3154680" y="498348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Alerts / activity / case detail</a:t>
            </a:r>
          </a:p>
        </p:txBody>
      </p:sp>
      <p:sp>
        <p:nvSpPr>
          <p:cNvPr id="59" name="TextBox 58">
            <a:hlinkClick action="ppaction://hlinksldjump" r:id="rId12"/>
          </p:cNvPr>
          <p:cNvSpPr txBox="1"/>
          <p:nvPr/>
        </p:nvSpPr>
        <p:spPr>
          <a:xfrm>
            <a:off x="6080759" y="498348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Prompts the permitted next action</a:t>
            </a:r>
          </a:p>
        </p:txBody>
      </p:sp>
      <p:sp>
        <p:nvSpPr>
          <p:cNvPr id="60" name="TextBox 59">
            <a:hlinkClick action="ppaction://hlinksldjump" r:id="rId12"/>
          </p:cNvPr>
          <p:cNvSpPr txBox="1"/>
          <p:nvPr/>
        </p:nvSpPr>
        <p:spPr>
          <a:xfrm>
            <a:off x="9281160" y="498348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Privacy-safe alert; authorise detail</a:t>
            </a:r>
          </a:p>
        </p:txBody>
      </p:sp>
      <p:sp>
        <p:nvSpPr>
          <p:cNvPr id="61" name="TextBox 60">
            <a:hlinkClick action="ppaction://hlinksldjump" r:id="rId12"/>
          </p:cNvPr>
          <p:cNvSpPr txBox="1"/>
          <p:nvPr/>
        </p:nvSpPr>
        <p:spPr>
          <a:xfrm>
            <a:off x="13395960" y="498348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23</a:t>
            </a:r>
          </a:p>
        </p:txBody>
      </p:sp>
      <p:sp>
        <p:nvSpPr>
          <p:cNvPr id="62" name="Rectangle 61"/>
          <p:cNvSpPr/>
          <p:nvPr/>
        </p:nvSpPr>
        <p:spPr>
          <a:xfrm>
            <a:off x="640080" y="528523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528523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a:hlinkClick action="ppaction://hlinksldjump" r:id="rId13"/>
          </p:cNvPr>
          <p:cNvSpPr txBox="1"/>
          <p:nvPr/>
        </p:nvSpPr>
        <p:spPr>
          <a:xfrm>
            <a:off x="731519" y="539496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Zakat enquiry</a:t>
            </a:r>
          </a:p>
        </p:txBody>
      </p:sp>
      <p:sp>
        <p:nvSpPr>
          <p:cNvPr id="65" name="TextBox 64">
            <a:hlinkClick action="ppaction://hlinksldjump" r:id="rId13"/>
          </p:cNvPr>
          <p:cNvSpPr txBox="1"/>
          <p:nvPr/>
        </p:nvSpPr>
        <p:spPr>
          <a:xfrm>
            <a:off x="3154680" y="539496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Authority referral / follow-up</a:t>
            </a:r>
          </a:p>
        </p:txBody>
      </p:sp>
      <p:sp>
        <p:nvSpPr>
          <p:cNvPr id="66" name="TextBox 65">
            <a:hlinkClick action="ppaction://hlinksldjump" r:id="rId13"/>
          </p:cNvPr>
          <p:cNvSpPr txBox="1"/>
          <p:nvPr/>
        </p:nvSpPr>
        <p:spPr>
          <a:xfrm>
            <a:off x="6080759" y="539496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Coordinates approved handoff</a:t>
            </a:r>
          </a:p>
        </p:txBody>
      </p:sp>
      <p:sp>
        <p:nvSpPr>
          <p:cNvPr id="67" name="TextBox 66">
            <a:hlinkClick action="ppaction://hlinksldjump" r:id="rId13"/>
          </p:cNvPr>
          <p:cNvSpPr txBox="1"/>
          <p:nvPr/>
        </p:nvSpPr>
        <p:spPr>
          <a:xfrm>
            <a:off x="9281160" y="539496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Consent; authority decides outcome</a:t>
            </a:r>
          </a:p>
        </p:txBody>
      </p:sp>
      <p:sp>
        <p:nvSpPr>
          <p:cNvPr id="68" name="TextBox 67">
            <a:hlinkClick action="ppaction://hlinksldjump" r:id="rId13"/>
          </p:cNvPr>
          <p:cNvSpPr txBox="1"/>
          <p:nvPr/>
        </p:nvSpPr>
        <p:spPr>
          <a:xfrm>
            <a:off x="13395960" y="5394960"/>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20</a:t>
            </a:r>
          </a:p>
        </p:txBody>
      </p:sp>
      <p:sp>
        <p:nvSpPr>
          <p:cNvPr id="69" name="Rectangle 68"/>
          <p:cNvSpPr/>
          <p:nvPr/>
        </p:nvSpPr>
        <p:spPr>
          <a:xfrm>
            <a:off x="640080" y="569671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40080" y="5696712"/>
            <a:ext cx="32004" cy="411480"/>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a:hlinkClick action="ppaction://hlinksldjump" r:id="rId14"/>
          </p:cNvPr>
          <p:cNvSpPr txBox="1"/>
          <p:nvPr/>
        </p:nvSpPr>
        <p:spPr>
          <a:xfrm>
            <a:off x="731519" y="580644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Verified service outcome</a:t>
            </a:r>
          </a:p>
        </p:txBody>
      </p:sp>
      <p:sp>
        <p:nvSpPr>
          <p:cNvPr id="72" name="TextBox 71">
            <a:hlinkClick action="ppaction://hlinksldjump" r:id="rId14"/>
          </p:cNvPr>
          <p:cNvSpPr txBox="1"/>
          <p:nvPr/>
        </p:nvSpPr>
        <p:spPr>
          <a:xfrm>
            <a:off x="3154680" y="580644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Badges / ranks / service history</a:t>
            </a:r>
          </a:p>
        </p:txBody>
      </p:sp>
      <p:sp>
        <p:nvSpPr>
          <p:cNvPr id="73" name="TextBox 72">
            <a:hlinkClick action="ppaction://hlinksldjump" r:id="rId14"/>
          </p:cNvPr>
          <p:cNvSpPr txBox="1"/>
          <p:nvPr/>
        </p:nvSpPr>
        <p:spPr>
          <a:xfrm>
            <a:off x="6080759" y="580644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Awards evidence-based credit</a:t>
            </a:r>
          </a:p>
        </p:txBody>
      </p:sp>
      <p:sp>
        <p:nvSpPr>
          <p:cNvPr id="74" name="TextBox 73">
            <a:hlinkClick action="ppaction://hlinksldjump" r:id="rId14"/>
          </p:cNvPr>
          <p:cNvSpPr txBox="1"/>
          <p:nvPr/>
        </p:nvSpPr>
        <p:spPr>
          <a:xfrm>
            <a:off x="9281160" y="580644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MRM criteria; access unchanged</a:t>
            </a:r>
          </a:p>
        </p:txBody>
      </p:sp>
      <p:sp>
        <p:nvSpPr>
          <p:cNvPr id="75" name="TextBox 74">
            <a:hlinkClick action="ppaction://hlinksldjump" r:id="rId14"/>
          </p:cNvPr>
          <p:cNvSpPr txBox="1"/>
          <p:nvPr/>
        </p:nvSpPr>
        <p:spPr>
          <a:xfrm>
            <a:off x="13395960" y="5806440"/>
            <a:ext cx="502920" cy="301752"/>
          </a:xfrm>
          <a:prstGeom prst="rect">
            <a:avLst/>
          </a:prstGeom>
          <a:noFill/>
        </p:spPr>
        <p:txBody>
          <a:bodyPr wrap="square" lIns="0" tIns="0" rIns="0" bIns="0">
            <a:spAutoFit/>
          </a:bodyPr>
          <a:lstStyle/>
          <a:p>
            <a:pPr algn="l">
              <a:spcAft>
                <a:spcPts val="200"/>
              </a:spcAft>
              <a:defRPr sz="1050" b="1">
                <a:solidFill>
                  <a:srgbClr val="E8C578"/>
                </a:solidFill>
                <a:latin typeface="DejaVu Sans"/>
              </a:defRPr>
            </a:pPr>
            <a:r>
              <a:t>21</a:t>
            </a:r>
          </a:p>
        </p:txBody>
      </p:sp>
      <p:sp>
        <p:nvSpPr>
          <p:cNvPr id="76" name="Rectangle 75"/>
          <p:cNvSpPr/>
          <p:nvPr/>
        </p:nvSpPr>
        <p:spPr>
          <a:xfrm>
            <a:off x="640080" y="610819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40080" y="6108192"/>
            <a:ext cx="32004" cy="411480"/>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a:hlinkClick action="ppaction://hlinksldjump" r:id="rId15"/>
          </p:cNvPr>
          <p:cNvSpPr txBox="1"/>
          <p:nvPr/>
        </p:nvSpPr>
        <p:spPr>
          <a:xfrm>
            <a:off x="731519" y="621792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Sponsor configuration</a:t>
            </a:r>
          </a:p>
        </p:txBody>
      </p:sp>
      <p:sp>
        <p:nvSpPr>
          <p:cNvPr id="79" name="TextBox 78">
            <a:hlinkClick action="ppaction://hlinksldjump" r:id="rId15"/>
          </p:cNvPr>
          <p:cNvSpPr txBox="1"/>
          <p:nvPr/>
        </p:nvSpPr>
        <p:spPr>
          <a:xfrm>
            <a:off x="3154680" y="621792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 / website placements</a:t>
            </a:r>
          </a:p>
        </p:txBody>
      </p:sp>
      <p:sp>
        <p:nvSpPr>
          <p:cNvPr id="80" name="TextBox 79">
            <a:hlinkClick action="ppaction://hlinksldjump" r:id="rId15"/>
          </p:cNvPr>
          <p:cNvSpPr txBox="1"/>
          <p:nvPr/>
        </p:nvSpPr>
        <p:spPr>
          <a:xfrm>
            <a:off x="6080759" y="621792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Schedules recognition / expiry</a:t>
            </a:r>
          </a:p>
        </p:txBody>
      </p:sp>
      <p:sp>
        <p:nvSpPr>
          <p:cNvPr id="81" name="TextBox 80">
            <a:hlinkClick action="ppaction://hlinksldjump" r:id="rId15"/>
          </p:cNvPr>
          <p:cNvSpPr txBox="1"/>
          <p:nvPr/>
        </p:nvSpPr>
        <p:spPr>
          <a:xfrm>
            <a:off x="9281160" y="621792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Approved assets; aggregate metrics</a:t>
            </a:r>
          </a:p>
        </p:txBody>
      </p:sp>
      <p:sp>
        <p:nvSpPr>
          <p:cNvPr id="82" name="TextBox 81">
            <a:hlinkClick action="ppaction://hlinksldjump" r:id="rId15"/>
          </p:cNvPr>
          <p:cNvSpPr txBox="1"/>
          <p:nvPr/>
        </p:nvSpPr>
        <p:spPr>
          <a:xfrm>
            <a:off x="13395960" y="6217920"/>
            <a:ext cx="502920" cy="301752"/>
          </a:xfrm>
          <a:prstGeom prst="rect">
            <a:avLst/>
          </a:prstGeom>
          <a:noFill/>
        </p:spPr>
        <p:txBody>
          <a:bodyPr wrap="square" lIns="0" tIns="0" rIns="0" bIns="0">
            <a:spAutoFit/>
          </a:bodyPr>
          <a:lstStyle/>
          <a:p>
            <a:pPr algn="l">
              <a:spcAft>
                <a:spcPts val="200"/>
              </a:spcAft>
              <a:defRPr sz="1050" b="1">
                <a:solidFill>
                  <a:srgbClr val="E8C578"/>
                </a:solidFill>
                <a:latin typeface="DejaVu Sans"/>
              </a:defRPr>
            </a:pPr>
            <a:r>
              <a:t>30</a:t>
            </a:r>
          </a:p>
        </p:txBody>
      </p:sp>
      <p:sp>
        <p:nvSpPr>
          <p:cNvPr id="83" name="Rectangle 82"/>
          <p:cNvSpPr/>
          <p:nvPr/>
        </p:nvSpPr>
        <p:spPr>
          <a:xfrm>
            <a:off x="640080" y="651967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40080" y="651967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a:hlinkClick action="ppaction://hlinksldjump" r:id="rId16"/>
          </p:cNvPr>
          <p:cNvSpPr txBox="1"/>
          <p:nvPr/>
        </p:nvSpPr>
        <p:spPr>
          <a:xfrm>
            <a:off x="731519" y="662940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Recorded outcomes</a:t>
            </a:r>
          </a:p>
        </p:txBody>
      </p:sp>
      <p:sp>
        <p:nvSpPr>
          <p:cNvPr id="86" name="TextBox 85">
            <a:hlinkClick action="ppaction://hlinksldjump" r:id="rId16"/>
          </p:cNvPr>
          <p:cNvSpPr txBox="1"/>
          <p:nvPr/>
        </p:nvSpPr>
        <p:spPr>
          <a:xfrm>
            <a:off x="3154680" y="662940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Operational reports / staff review</a:t>
            </a:r>
          </a:p>
        </p:txBody>
      </p:sp>
      <p:sp>
        <p:nvSpPr>
          <p:cNvPr id="87" name="TextBox 86">
            <a:hlinkClick action="ppaction://hlinksldjump" r:id="rId16"/>
          </p:cNvPr>
          <p:cNvSpPr txBox="1"/>
          <p:nvPr/>
        </p:nvSpPr>
        <p:spPr>
          <a:xfrm>
            <a:off x="6080759" y="662940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Aggregates service information</a:t>
            </a:r>
          </a:p>
        </p:txBody>
      </p:sp>
      <p:sp>
        <p:nvSpPr>
          <p:cNvPr id="88" name="TextBox 87">
            <a:hlinkClick action="ppaction://hlinksldjump" r:id="rId16"/>
          </p:cNvPr>
          <p:cNvSpPr txBox="1"/>
          <p:nvPr/>
        </p:nvSpPr>
        <p:spPr>
          <a:xfrm>
            <a:off x="9281160" y="662940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Restricted identifiable exports</a:t>
            </a:r>
          </a:p>
        </p:txBody>
      </p:sp>
      <p:sp>
        <p:nvSpPr>
          <p:cNvPr id="89" name="TextBox 88">
            <a:hlinkClick action="ppaction://hlinksldjump" r:id="rId16"/>
          </p:cNvPr>
          <p:cNvSpPr txBox="1"/>
          <p:nvPr/>
        </p:nvSpPr>
        <p:spPr>
          <a:xfrm>
            <a:off x="13395960" y="662940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46</a:t>
            </a:r>
          </a:p>
        </p:txBody>
      </p:sp>
      <p:sp>
        <p:nvSpPr>
          <p:cNvPr id="90" name="Rounded Rectangle 89"/>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Solid arrows = directed relationship / handoff. Dashed arrows = conditional path or revision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