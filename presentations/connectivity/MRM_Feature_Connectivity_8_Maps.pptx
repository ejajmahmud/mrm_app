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Master mind map. Each branch is a capability family rather than an unrestricted data path. Sifat Names, Haram Codes and donation/payment administration remain supplied template functions with the scope qualifications recorded on pages 38–41.</a:t>
            </a:r>
          </a:p>
          <a:p/>
          <a:p>
            <a:r>
              <a:t>This is a proposed feature-connectivity specification based on supplied scope documents and the current audience correction: all Muslims may use the platform. It is not proof of implemented behaviour. Marketplace excluded. Teacher subscriptions do not gate member assistance or volunteering. Religious sources, MRM policies, billing configuration and partner access require the agreed approvals. Solid directed arrows indicate a service relationship or handoff; dashed arrows indicate an explicit conditional/feedback path. These diagrams do not imply unrestricted data sharing.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and role participation map. Account identity, volunteer approval, teacher approval and subscription entitlement are separate controls. Public website discovery connects users to app entry and relevant participation routes.</a:t>
            </a:r>
          </a:p>
          <a:p/>
          <a:p>
            <a:r>
              <a:t>This is a proposed feature-connectivity specification based on supplied scope documents and the current audience correction: all Muslims may use the platform. It is not proof of implemented behaviour. Marketplace excluded. Teacher subscriptions do not gate member assistance or volunteering. Religious sources, MRM policies, billing configuration and partner access require the agreed approvals. Solid directed arrows indicate a service relationship or handoff; dashed arrows indicate an explicit conditional/feedback path. These diagrams do not imply unrestricted data sharing.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Care network. MRM triage routes routine requests to eligible matching, while restricted faith/family matters go to designated personnel. Volunteer evidence review and online interview precede approval. Confirmation precedes assigned details. Unanswered work returns to coordinator oversight. Service credit requires verified outcomes.</a:t>
            </a:r>
          </a:p>
          <a:p/>
          <a:p>
            <a:r>
              <a:t>This is a proposed feature-connectivity specification based on supplied scope documents and the current audience correction: all Muslims may use the platform. It is not proof of implemented behaviour. Marketplace excluded. Teacher subscriptions do not gate member assistance or volunteering. Religious sources, MRM policies, billing configuration and partner access require the agreed approvals. Solid directed arrows indicate a service relationship or handoff; dashed arrows indicate an explicit conditional/feedback path. These diagrams do not imply unrestricted data sharing.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Teacher-to-learner connectivity. Teacher approval precedes plan selection. Verified entitlements gate publishing allowances, while moderation independently gates publication. Revision is a feedback path. Expiry pauses paid privileges and preserves history; confirm historical-content visibility. Live sessions may use approved external meeting links; no custom conferencing infrastructure is implied.</a:t>
            </a:r>
          </a:p>
          <a:p/>
          <a:p>
            <a:r>
              <a:t>This is a proposed feature-connectivity specification based on supplied scope documents and the current audience correction: all Muslims may use the platform. It is not proof of implemented behaviour. Marketplace excluded. Teacher subscriptions do not gate member assistance or volunteering. Religious sources, MRM policies, billing configuration and partner access require the agreed approvals. Solid directed arrows indicate a service relationship or handoff; dashed arrows indicate an explicit conditional/feedback path. These diagrams do not imply unrestricted data sharing.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Utility dependencies. Location choices affect location-related tools, not blanket access to personal information. Religious references, translations and recitation rights are reviewed separately. Calendar conventions and calculator sources require approval. Utility-to-learning links reference approved content. A zakat estimate does not automate assistance eligibility or disbursement.</a:t>
            </a:r>
          </a:p>
          <a:p/>
          <a:p>
            <a:r>
              <a:t>This is a proposed feature-connectivity specification based on supplied scope documents and the current audience correction: all Muslims may use the platform. It is not proof of implemented behaviour. Marketplace excluded. Teacher subscriptions do not gate member assistance or volunteering. Religious sources, MRM policies, billing configuration and partner access require the agreed approvals. Solid directed arrows indicate a service relationship or handoff; dashed arrows indicate an explicit conditional/feedback path. These diagrams do not imply unrestricted data sharing.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restricted service lanes. General volunteers and teacher subscriptions do not grant access to confidential cases. Zakat referrals use consent and approved data sharing. Status feedback is recorded only where permitted. Relevant authority decisions are external; direct integration depends on authorisation, supported API, documentation and test access.</a:t>
            </a:r>
          </a:p>
          <a:p/>
          <a:p>
            <a:r>
              <a:t>This is a proposed feature-connectivity specification based on supplied scope documents and the current audience correction: all Muslims may use the platform. It is not proof of implemented behaviour. Marketplace excluded. Teacher subscriptions do not gate member assistance or volunteering. Religious sources, MRM policies, billing configuration and partner access require the agreed approvals. Solid directed arrows indicate a service relationship or handoff; dashed arrows indicate an explicit conditional/feedback path. These diagrams do not imply unrestricted data sharing.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Operations map. MRM supplies governance, content approval, teacher plan rules and sponsor campaign inputs. Staff publishing feeds app/website experiences; billing state enables teacher entitlements, not content approval or staff privileges. Safe event delivery and audit support accountability. Aggregate reports inform staff oversight; identifiable exports remain restricted.</a:t>
            </a:r>
          </a:p>
          <a:p/>
          <a:p>
            <a:r>
              <a:t>This is a proposed feature-connectivity specification based on supplied scope documents and the current audience correction: all Muslims may use the platform. It is not proof of implemented behaviour. Marketplace excluded. Teacher subscriptions do not gate member assistance or volunteering. Religious sources, MRM policies, billing configuration and partner access require the agreed approvals. Solid directed arrows indicate a service relationship or handoff; dashed arrows indicate an explicit conditional/feedback path. These diagrams do not imply unrestricted data sharing.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Dependency index with ten key cross-feature relationships. Each row links to the corresponding detailed original deck page. The chapter maps the proposed product specification and does not certify deployment or complete implementation.</a:t>
            </a:r>
          </a:p>
          <a:p/>
          <a:p>
            <a:r>
              <a:t>This is a proposed feature-connectivity specification based on supplied scope documents and the current audience correction: all Muslims may use the platform. It is not proof of implemented behaviour. Marketplace excluded. Teacher subscriptions do not gate member assistance or volunteering. Religious sources, MRM policies, billing configuration and partner access require the agreed approvals. Solid directed arrows indicate a service relationship or handoff; dashed arrows indicate an explicit conditional/feedback path. These diagrams do not imply unrestricted data sharing.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 Id="rId6" Type="http://schemas.openxmlformats.org/officeDocument/2006/relationships/slide" Target="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 Id="rId6" Type="http://schemas.openxmlformats.org/officeDocument/2006/relationships/slide" Target="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xml"/><Relationship Id="rId6" Type="http://schemas.openxmlformats.org/officeDocument/2006/relationships/slide" Target="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xml"/><Relationship Id="rId6" Type="http://schemas.openxmlformats.org/officeDocument/2006/relationships/slide" Target="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xml"/><Relationship Id="rId6" Type="http://schemas.openxmlformats.org/officeDocument/2006/relationships/slide" Target="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xml"/><Relationship Id="rId6" Type="http://schemas.openxmlformats.org/officeDocument/2006/relationships/slide" Target="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xml"/><Relationship Id="rId6" Type="http://schemas.openxmlformats.org/officeDocument/2006/relationships/slide" Target="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xml"/><Relationship Id="rId6" Type="http://schemas.openxmlformats.org/officeDocument/2006/relationships/slide" Target="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Connector 70"/>
          <p:cNvCxnSpPr/>
          <p:nvPr/>
        </p:nvCxnSpPr>
        <p:spPr>
          <a:xfrm>
            <a:off x="9281160" y="6345936"/>
            <a:ext cx="320040" cy="0"/>
          </a:xfrm>
          <a:prstGeom prst="line">
            <a:avLst/>
          </a:prstGeom>
          <a:ln w="20320">
            <a:solidFill>
              <a:srgbClr val="62DA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281160" y="4654296"/>
            <a:ext cx="0" cy="1691640"/>
          </a:xfrm>
          <a:prstGeom prst="line">
            <a:avLst/>
          </a:prstGeom>
          <a:ln w="20320">
            <a:solidFill>
              <a:srgbClr val="62DA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8942832" y="4654296"/>
            <a:ext cx="338328" cy="0"/>
          </a:xfrm>
          <a:prstGeom prst="line">
            <a:avLst/>
          </a:prstGeom>
          <a:ln w="20320">
            <a:solidFill>
              <a:srgbClr val="62DA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281160" y="4736592"/>
            <a:ext cx="320040" cy="0"/>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281160" y="4654296"/>
            <a:ext cx="0" cy="82296"/>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8942832" y="4654296"/>
            <a:ext cx="338328" cy="0"/>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281160" y="3035808"/>
            <a:ext cx="320040" cy="0"/>
          </a:xfrm>
          <a:prstGeom prst="line">
            <a:avLst/>
          </a:prstGeom>
          <a:ln w="20320">
            <a:solidFill>
              <a:srgbClr val="C2A3FF"/>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9281160" y="3035808"/>
            <a:ext cx="0" cy="1618488"/>
          </a:xfrm>
          <a:prstGeom prst="line">
            <a:avLst/>
          </a:prstGeom>
          <a:ln w="20320">
            <a:solidFill>
              <a:srgbClr val="C2A3FF"/>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8942832" y="4654296"/>
            <a:ext cx="338328" cy="0"/>
          </a:xfrm>
          <a:prstGeom prst="line">
            <a:avLst/>
          </a:prstGeom>
          <a:ln w="20320">
            <a:solidFill>
              <a:srgbClr val="C2A3FF"/>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5029200" y="6345936"/>
            <a:ext cx="320040" cy="0"/>
          </a:xfrm>
          <a:prstGeom prst="line">
            <a:avLst/>
          </a:prstGeom>
          <a:ln w="20320">
            <a:solidFill>
              <a:srgbClr val="62DA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349240" y="4654296"/>
            <a:ext cx="0" cy="1691640"/>
          </a:xfrm>
          <a:prstGeom prst="line">
            <a:avLst/>
          </a:prstGeom>
          <a:ln w="20320">
            <a:solidFill>
              <a:srgbClr val="62DA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5349240" y="4654296"/>
            <a:ext cx="338328" cy="0"/>
          </a:xfrm>
          <a:prstGeom prst="line">
            <a:avLst/>
          </a:prstGeom>
          <a:ln w="20320">
            <a:solidFill>
              <a:srgbClr val="62DA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5029200" y="4736592"/>
            <a:ext cx="320040" cy="0"/>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349240" y="4654296"/>
            <a:ext cx="0" cy="82296"/>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5349240" y="4654296"/>
            <a:ext cx="338328" cy="0"/>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5029200" y="3035808"/>
            <a:ext cx="320040" cy="0"/>
          </a:xfrm>
          <a:prstGeom prst="line">
            <a:avLst/>
          </a:prstGeom>
          <a:ln w="20320">
            <a:solidFill>
              <a:srgbClr val="E8C5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349240" y="3035808"/>
            <a:ext cx="0" cy="1618488"/>
          </a:xfrm>
          <a:prstGeom prst="line">
            <a:avLst/>
          </a:prstGeom>
          <a:ln w="20320">
            <a:solidFill>
              <a:srgbClr val="E8C5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5349240" y="4654296"/>
            <a:ext cx="338328" cy="0"/>
          </a:xfrm>
          <a:prstGeom prst="line">
            <a:avLst/>
          </a:prstGeom>
          <a:ln w="20320">
            <a:solidFill>
              <a:srgbClr val="E8C578"/>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10058400" cy="274320"/>
          </a:xfrm>
          <a:prstGeom prst="rect">
            <a:avLst/>
          </a:prstGeom>
          <a:noFill/>
        </p:spPr>
        <p:txBody>
          <a:bodyPr wrap="square" lIns="0" tIns="0" rIns="0" bIns="0">
            <a:spAutoFit/>
          </a:bodyPr>
          <a:lstStyle/>
          <a:p>
            <a:pPr algn="l">
              <a:spcAft>
                <a:spcPts val="200"/>
              </a:spcAft>
              <a:defRPr sz="1000" b="1">
                <a:solidFill>
                  <a:srgbClr val="62DAE8"/>
                </a:solidFill>
                <a:latin typeface="DejaVu Sans"/>
              </a:defRPr>
            </a:pPr>
            <a:r>
              <a:t>FEATURE CONNECTIVITY  /  MRM DIGITAL COMMUNITY PLATFORM</a:t>
            </a:r>
          </a:p>
        </p:txBody>
      </p:sp>
      <p:pic>
        <p:nvPicPr>
          <p:cNvPr id="6" name="Picture 5" descr="image.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41832"/>
            <a:ext cx="13350240" cy="603504"/>
          </a:xfrm>
          <a:prstGeom prst="rect">
            <a:avLst/>
          </a:prstGeom>
          <a:noFill/>
        </p:spPr>
        <p:txBody>
          <a:bodyPr wrap="square" lIns="0" tIns="0" rIns="0" bIns="0">
            <a:spAutoFit/>
          </a:bodyPr>
          <a:lstStyle/>
          <a:p>
            <a:pPr algn="l">
              <a:spcAft>
                <a:spcPts val="200"/>
              </a:spcAft>
              <a:defRPr sz="3100" b="1">
                <a:solidFill>
                  <a:srgbClr val="F7F9FF"/>
                </a:solidFill>
                <a:latin typeface="DejaVu Sans"/>
              </a:defRPr>
            </a:pPr>
            <a:r>
              <a:t>The complete platform, connected</a:t>
            </a:r>
          </a:p>
        </p:txBody>
      </p:sp>
      <p:sp>
        <p:nvSpPr>
          <p:cNvPr id="9" name="TextBox 8"/>
          <p:cNvSpPr txBox="1"/>
          <p:nvPr/>
        </p:nvSpPr>
        <p:spPr>
          <a:xfrm>
            <a:off x="658368" y="1645920"/>
            <a:ext cx="13258800" cy="502920"/>
          </a:xfrm>
          <a:prstGeom prst="rect">
            <a:avLst/>
          </a:prstGeom>
          <a:noFill/>
        </p:spPr>
        <p:txBody>
          <a:bodyPr wrap="square" lIns="0" tIns="0" rIns="0" bIns="0">
            <a:spAutoFit/>
          </a:bodyPr>
          <a:lstStyle/>
          <a:p>
            <a:pPr algn="l">
              <a:spcAft>
                <a:spcPts val="200"/>
              </a:spcAft>
              <a:defRPr sz="1400" b="0">
                <a:solidFill>
                  <a:srgbClr val="BBC8DF"/>
                </a:solidFill>
                <a:latin typeface="DejaVu Sans"/>
              </a:defRPr>
            </a:pPr>
            <a:r>
              <a:t>A mind map of daily practice, learning, community care and the services that make them work together.</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3291840" cy="228600"/>
          </a:xfrm>
          <a:prstGeom prst="rect">
            <a:avLst/>
          </a:prstGeom>
          <a:noFill/>
        </p:spPr>
        <p:txBody>
          <a:bodyPr wrap="square" lIns="0" tIns="0" rIns="0" bIns="0">
            <a:spAutoFit/>
          </a:bodyPr>
          <a:lstStyle/>
          <a:p>
            <a:pPr algn="l">
              <a:spcAft>
                <a:spcPts val="200"/>
              </a:spcAft>
              <a:defRPr sz="900" b="0">
                <a:solidFill>
                  <a:srgbClr val="BBC8DF"/>
                </a:solidFill>
                <a:latin typeface="DejaVu Sans"/>
              </a:defRPr>
            </a:pPr>
            <a:r>
              <a:t>MRM  /  ZYLAX TECHNOLOGIES</a:t>
            </a:r>
          </a:p>
        </p:txBody>
      </p:sp>
      <p:sp>
        <p:nvSpPr>
          <p:cNvPr id="12" name="TextBox 11"/>
          <p:cNvSpPr txBox="1"/>
          <p:nvPr/>
        </p:nvSpPr>
        <p:spPr>
          <a:xfrm>
            <a:off x="3794760" y="7754112"/>
            <a:ext cx="7315200" cy="237744"/>
          </a:xfrm>
          <a:prstGeom prst="rect">
            <a:avLst/>
          </a:prstGeom>
          <a:noFill/>
        </p:spPr>
        <p:txBody>
          <a:bodyPr wrap="square" lIns="0" tIns="0" rIns="0" bIns="0">
            <a:spAutoFit/>
          </a:bodyPr>
          <a:lstStyle/>
          <a:p>
            <a:pPr algn="ctr">
              <a:spcAft>
                <a:spcPts val="200"/>
              </a:spcAft>
              <a:defRPr sz="900" b="0">
                <a:solidFill>
                  <a:srgbClr val="BBC8DF"/>
                </a:solidFill>
                <a:latin typeface="DejaVu Sans"/>
              </a:defRPr>
            </a:pPr>
            <a:r>
              <a:t>PROPOSED CONNECTIONS  /  EDITABLE NATIVE DIAGRAM</a:t>
            </a:r>
          </a:p>
        </p:txBody>
      </p:sp>
      <p:sp>
        <p:nvSpPr>
          <p:cNvPr id="13" name="TextBox 12"/>
          <p:cNvSpPr txBox="1"/>
          <p:nvPr/>
        </p:nvSpPr>
        <p:spPr>
          <a:xfrm>
            <a:off x="12801600" y="7708392"/>
            <a:ext cx="1188720" cy="320040"/>
          </a:xfrm>
          <a:prstGeom prst="rect">
            <a:avLst/>
          </a:prstGeom>
          <a:noFill/>
        </p:spPr>
        <p:txBody>
          <a:bodyPr wrap="square" lIns="0" tIns="0" rIns="0" bIns="0">
            <a:spAutoFit/>
          </a:bodyPr>
          <a:lstStyle/>
          <a:p>
            <a:pPr algn="r">
              <a:spcAft>
                <a:spcPts val="200"/>
              </a:spcAft>
              <a:defRPr sz="1200" b="1">
                <a:solidFill>
                  <a:srgbClr val="62DAE8"/>
                </a:solidFill>
                <a:latin typeface="DejaVu Sans"/>
              </a:defRPr>
            </a:pPr>
            <a:r>
              <a:t>01 / 8</a:t>
            </a:r>
          </a:p>
        </p:txBody>
      </p:sp>
      <p:sp>
        <p:nvSpPr>
          <p:cNvPr id="14" name="Rounded Rectangle 13"/>
          <p:cNvSpPr/>
          <p:nvPr/>
        </p:nvSpPr>
        <p:spPr>
          <a:xfrm>
            <a:off x="5687568" y="3977639"/>
            <a:ext cx="3255264" cy="1353312"/>
          </a:xfrm>
          <a:prstGeom prst="roundRect">
            <a:avLst>
              <a:gd name="adj" fmla="val 10000"/>
            </a:avLst>
          </a:prstGeom>
          <a:solidFill>
            <a:srgbClr val="223653"/>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05855" y="4133087"/>
            <a:ext cx="32004" cy="10424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88736" y="4133087"/>
            <a:ext cx="2852928" cy="438912"/>
          </a:xfrm>
          <a:prstGeom prst="rect">
            <a:avLst/>
          </a:prstGeom>
          <a:noFill/>
        </p:spPr>
        <p:txBody>
          <a:bodyPr wrap="square" lIns="0" tIns="0" rIns="0" bIns="0">
            <a:spAutoFit/>
          </a:bodyPr>
          <a:lstStyle/>
          <a:p>
            <a:pPr algn="l">
              <a:spcAft>
                <a:spcPts val="200"/>
              </a:spcAft>
              <a:defRPr sz="2000" b="1">
                <a:solidFill>
                  <a:srgbClr val="F7F9FF"/>
                </a:solidFill>
                <a:latin typeface="DejaVu Sans"/>
              </a:defRPr>
            </a:pPr>
            <a:r>
              <a:t>MRM PLATFORM</a:t>
            </a:r>
          </a:p>
        </p:txBody>
      </p:sp>
      <p:sp>
        <p:nvSpPr>
          <p:cNvPr id="17" name="TextBox 16"/>
          <p:cNvSpPr txBox="1"/>
          <p:nvPr/>
        </p:nvSpPr>
        <p:spPr>
          <a:xfrm>
            <a:off x="5897880" y="4581144"/>
            <a:ext cx="2834640" cy="685800"/>
          </a:xfrm>
          <a:prstGeom prst="rect">
            <a:avLst/>
          </a:prstGeom>
          <a:noFill/>
        </p:spPr>
        <p:txBody>
          <a:bodyPr wrap="square" lIns="0" tIns="0" rIns="0" bIns="0">
            <a:spAutoFit/>
          </a:bodyPr>
          <a:lstStyle/>
          <a:p>
            <a:pPr algn="l">
              <a:spcAft>
                <a:spcPts val="200"/>
              </a:spcAft>
              <a:defRPr sz="1300" b="0">
                <a:solidFill>
                  <a:srgbClr val="BBC8DF"/>
                </a:solidFill>
                <a:latin typeface="DejaVu Sans"/>
              </a:defRPr>
            </a:pPr>
            <a:r>
              <a:t>For all Muslims</a:t>
            </a:r>
          </a:p>
          <a:p>
            <a:pPr algn="l">
              <a:spcAft>
                <a:spcPts val="200"/>
              </a:spcAft>
              <a:defRPr sz="1300" b="0">
                <a:solidFill>
                  <a:srgbClr val="BBC8DF"/>
                </a:solidFill>
                <a:latin typeface="DejaVu Sans"/>
              </a:defRPr>
            </a:pPr>
            <a:r>
              <a:t>Shared identity • safe access</a:t>
            </a:r>
          </a:p>
        </p:txBody>
      </p:sp>
      <p:sp>
        <p:nvSpPr>
          <p:cNvPr id="18" name="Rounded Rectangle 17"/>
          <p:cNvSpPr/>
          <p:nvPr/>
        </p:nvSpPr>
        <p:spPr>
          <a:xfrm>
            <a:off x="640080" y="2359152"/>
            <a:ext cx="4389120" cy="1353312"/>
          </a:xfrm>
          <a:prstGeom prst="roundRect">
            <a:avLst>
              <a:gd name="adj" fmla="val 10000"/>
            </a:avLst>
          </a:prstGeom>
          <a:solidFill>
            <a:srgbClr val="1B2846"/>
          </a:solidFill>
          <a:ln w="12700">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2514600"/>
            <a:ext cx="32004" cy="1042415"/>
          </a:xfrm>
          <a:prstGeom prst="rect">
            <a:avLst/>
          </a:prstGeom>
          <a:solidFill>
            <a:srgbClr val="E8C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4671" y="2496312"/>
            <a:ext cx="301752" cy="301752"/>
          </a:xfrm>
          <a:prstGeom prst="ellipse">
            <a:avLst/>
          </a:prstGeom>
          <a:solidFill>
            <a:srgbClr val="111B35"/>
          </a:solidFill>
          <a:ln>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1" y="2546604"/>
            <a:ext cx="301752" cy="173736"/>
          </a:xfrm>
          <a:prstGeom prst="rect">
            <a:avLst/>
          </a:prstGeom>
          <a:noFill/>
        </p:spPr>
        <p:txBody>
          <a:bodyPr wrap="square" lIns="0" tIns="0" rIns="0" bIns="0">
            <a:spAutoFit/>
          </a:bodyPr>
          <a:lstStyle/>
          <a:p>
            <a:pPr algn="ctr">
              <a:spcAft>
                <a:spcPts val="200"/>
              </a:spcAft>
              <a:defRPr sz="800" b="1">
                <a:solidFill>
                  <a:srgbClr val="E8C578"/>
                </a:solidFill>
                <a:latin typeface="DejaVu Sans"/>
              </a:defRPr>
            </a:pPr>
            <a:r>
              <a:t>01</a:t>
            </a:r>
          </a:p>
        </p:txBody>
      </p:sp>
      <p:sp>
        <p:nvSpPr>
          <p:cNvPr id="22" name="TextBox 21"/>
          <p:cNvSpPr txBox="1"/>
          <p:nvPr/>
        </p:nvSpPr>
        <p:spPr>
          <a:xfrm>
            <a:off x="1234440" y="2505456"/>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Daily Islamic practice</a:t>
            </a:r>
          </a:p>
        </p:txBody>
      </p:sp>
      <p:sp>
        <p:nvSpPr>
          <p:cNvPr id="23" name="TextBox 22"/>
          <p:cNvSpPr txBox="1"/>
          <p:nvPr/>
        </p:nvSpPr>
        <p:spPr>
          <a:xfrm>
            <a:off x="850392" y="2962656"/>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Prayer • Qibla • mosques • Quran</a:t>
            </a:r>
          </a:p>
          <a:p>
            <a:pPr algn="l">
              <a:spcAft>
                <a:spcPts val="200"/>
              </a:spcAft>
              <a:defRPr sz="1200" b="0">
                <a:solidFill>
                  <a:srgbClr val="BBC8DF"/>
                </a:solidFill>
                <a:latin typeface="DejaVu Sans"/>
              </a:defRPr>
            </a:pPr>
            <a:r>
              <a:t>Dua • dhikr • hadith • Hijri / Ramadan</a:t>
            </a:r>
          </a:p>
          <a:p>
            <a:pPr algn="l">
              <a:spcAft>
                <a:spcPts val="200"/>
              </a:spcAft>
              <a:defRPr sz="1200" b="0">
                <a:solidFill>
                  <a:srgbClr val="BBC8DF"/>
                </a:solidFill>
                <a:latin typeface="DejaVu Sans"/>
              </a:defRPr>
            </a:pPr>
            <a:r>
              <a:t>Informational zakat estimate</a:t>
            </a:r>
          </a:p>
        </p:txBody>
      </p:sp>
      <p:sp>
        <p:nvSpPr>
          <p:cNvPr id="24" name="Rounded Rectangle 23"/>
          <p:cNvSpPr/>
          <p:nvPr/>
        </p:nvSpPr>
        <p:spPr>
          <a:xfrm>
            <a:off x="9601200" y="2359152"/>
            <a:ext cx="4389120" cy="1353312"/>
          </a:xfrm>
          <a:prstGeom prst="roundRect">
            <a:avLst>
              <a:gd name="adj" fmla="val 10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19488" y="2514600"/>
            <a:ext cx="32004" cy="1042415"/>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65792" y="2496312"/>
            <a:ext cx="301752" cy="301752"/>
          </a:xfrm>
          <a:prstGeom prst="ellipse">
            <a:avLst/>
          </a:prstGeom>
          <a:solidFill>
            <a:srgbClr val="111B35"/>
          </a:solidFill>
          <a:ln>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65792" y="2546604"/>
            <a:ext cx="301752" cy="173736"/>
          </a:xfrm>
          <a:prstGeom prst="rect">
            <a:avLst/>
          </a:prstGeom>
          <a:noFill/>
        </p:spPr>
        <p:txBody>
          <a:bodyPr wrap="square" lIns="0" tIns="0" rIns="0" bIns="0">
            <a:spAutoFit/>
          </a:bodyPr>
          <a:lstStyle/>
          <a:p>
            <a:pPr algn="ctr">
              <a:spcAft>
                <a:spcPts val="200"/>
              </a:spcAft>
              <a:defRPr sz="800" b="1">
                <a:solidFill>
                  <a:srgbClr val="C2A3FF"/>
                </a:solidFill>
                <a:latin typeface="DejaVu Sans"/>
              </a:defRPr>
            </a:pPr>
            <a:r>
              <a:t>02</a:t>
            </a:r>
          </a:p>
        </p:txBody>
      </p:sp>
      <p:sp>
        <p:nvSpPr>
          <p:cNvPr id="28" name="TextBox 27"/>
          <p:cNvSpPr txBox="1"/>
          <p:nvPr/>
        </p:nvSpPr>
        <p:spPr>
          <a:xfrm>
            <a:off x="10195560" y="2505456"/>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Learning &amp; teachers</a:t>
            </a:r>
          </a:p>
        </p:txBody>
      </p:sp>
      <p:sp>
        <p:nvSpPr>
          <p:cNvPr id="29" name="TextBox 28"/>
          <p:cNvSpPr txBox="1"/>
          <p:nvPr/>
        </p:nvSpPr>
        <p:spPr>
          <a:xfrm>
            <a:off x="9811512" y="2962656"/>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Teacher approval • posts • teaching ads</a:t>
            </a:r>
          </a:p>
          <a:p>
            <a:pPr algn="l">
              <a:spcAft>
                <a:spcPts val="200"/>
              </a:spcAft>
              <a:defRPr sz="1200" b="0">
                <a:solidFill>
                  <a:srgbClr val="BBC8DF"/>
                </a:solidFill>
                <a:latin typeface="DejaVu Sans"/>
              </a:defRPr>
            </a:pPr>
            <a:r>
              <a:t>Classes • recordings • events</a:t>
            </a:r>
          </a:p>
          <a:p>
            <a:pPr algn="l">
              <a:spcAft>
                <a:spcPts val="200"/>
              </a:spcAft>
              <a:defRPr sz="1200" b="0">
                <a:solidFill>
                  <a:srgbClr val="BBC8DF"/>
                </a:solidFill>
                <a:latin typeface="DejaVu Sans"/>
              </a:defRPr>
            </a:pPr>
            <a:r>
              <a:t>Teacher-only publishing subscriptions</a:t>
            </a:r>
          </a:p>
        </p:txBody>
      </p:sp>
      <p:sp>
        <p:nvSpPr>
          <p:cNvPr id="30" name="Rounded Rectangle 29"/>
          <p:cNvSpPr/>
          <p:nvPr/>
        </p:nvSpPr>
        <p:spPr>
          <a:xfrm>
            <a:off x="640080" y="4059936"/>
            <a:ext cx="4389120" cy="1353312"/>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8368" y="4215384"/>
            <a:ext cx="32004" cy="1042415"/>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4671" y="4197096"/>
            <a:ext cx="301752" cy="301752"/>
          </a:xfrm>
          <a:prstGeom prst="ellipse">
            <a:avLst/>
          </a:prstGeom>
          <a:solidFill>
            <a:srgbClr val="111B35"/>
          </a:solidFill>
          <a:ln>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1" y="4247388"/>
            <a:ext cx="301752" cy="173736"/>
          </a:xfrm>
          <a:prstGeom prst="rect">
            <a:avLst/>
          </a:prstGeom>
          <a:noFill/>
        </p:spPr>
        <p:txBody>
          <a:bodyPr wrap="square" lIns="0" tIns="0" rIns="0" bIns="0">
            <a:spAutoFit/>
          </a:bodyPr>
          <a:lstStyle/>
          <a:p>
            <a:pPr algn="ctr">
              <a:spcAft>
                <a:spcPts val="200"/>
              </a:spcAft>
              <a:defRPr sz="800" b="1">
                <a:solidFill>
                  <a:srgbClr val="8DD8B1"/>
                </a:solidFill>
                <a:latin typeface="DejaVu Sans"/>
              </a:defRPr>
            </a:pPr>
            <a:r>
              <a:t>03</a:t>
            </a:r>
          </a:p>
        </p:txBody>
      </p:sp>
      <p:sp>
        <p:nvSpPr>
          <p:cNvPr id="34" name="TextBox 33"/>
          <p:cNvSpPr txBox="1"/>
          <p:nvPr/>
        </p:nvSpPr>
        <p:spPr>
          <a:xfrm>
            <a:off x="1234440" y="4206240"/>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Care &amp; volunteering</a:t>
            </a:r>
          </a:p>
        </p:txBody>
      </p:sp>
      <p:sp>
        <p:nvSpPr>
          <p:cNvPr id="35" name="TextBox 34"/>
          <p:cNvSpPr txBox="1"/>
          <p:nvPr/>
        </p:nvSpPr>
        <p:spPr>
          <a:xfrm>
            <a:off x="850392" y="4663440"/>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Help requests • matching • assignments</a:t>
            </a:r>
          </a:p>
          <a:p>
            <a:pPr algn="l">
              <a:spcAft>
                <a:spcPts val="200"/>
              </a:spcAft>
              <a:defRPr sz="1200" b="0">
                <a:solidFill>
                  <a:srgbClr val="BBC8DF"/>
                </a:solidFill>
                <a:latin typeface="DejaVu Sans"/>
              </a:defRPr>
            </a:pPr>
            <a:r>
              <a:t>Verification • interview • gender rules</a:t>
            </a:r>
          </a:p>
          <a:p>
            <a:pPr algn="l">
              <a:spcAft>
                <a:spcPts val="200"/>
              </a:spcAft>
              <a:defRPr sz="1200" b="0">
                <a:solidFill>
                  <a:srgbClr val="BBC8DF"/>
                </a:solidFill>
                <a:latin typeface="DejaVu Sans"/>
              </a:defRPr>
            </a:pPr>
            <a:r>
              <a:t>Nearby discovery • badges / ranks</a:t>
            </a:r>
          </a:p>
        </p:txBody>
      </p:sp>
      <p:sp>
        <p:nvSpPr>
          <p:cNvPr id="36" name="Rounded Rectangle 35"/>
          <p:cNvSpPr/>
          <p:nvPr/>
        </p:nvSpPr>
        <p:spPr>
          <a:xfrm>
            <a:off x="9601200" y="4059936"/>
            <a:ext cx="4389120" cy="1353312"/>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19488" y="4215384"/>
            <a:ext cx="32004" cy="1042415"/>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765792" y="4197096"/>
            <a:ext cx="301752" cy="301752"/>
          </a:xfrm>
          <a:prstGeom prst="ellipse">
            <a:avLst/>
          </a:prstGeom>
          <a:solidFill>
            <a:srgbClr val="111B35"/>
          </a:solidFill>
          <a:ln>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65792" y="4247388"/>
            <a:ext cx="301752" cy="173736"/>
          </a:xfrm>
          <a:prstGeom prst="rect">
            <a:avLst/>
          </a:prstGeom>
          <a:noFill/>
        </p:spPr>
        <p:txBody>
          <a:bodyPr wrap="square" lIns="0" tIns="0" rIns="0" bIns="0">
            <a:spAutoFit/>
          </a:bodyPr>
          <a:lstStyle/>
          <a:p>
            <a:pPr algn="ctr">
              <a:spcAft>
                <a:spcPts val="200"/>
              </a:spcAft>
              <a:defRPr sz="800" b="1">
                <a:solidFill>
                  <a:srgbClr val="8DD8B1"/>
                </a:solidFill>
                <a:latin typeface="DejaVu Sans"/>
              </a:defRPr>
            </a:pPr>
            <a:r>
              <a:t>04</a:t>
            </a:r>
          </a:p>
        </p:txBody>
      </p:sp>
      <p:sp>
        <p:nvSpPr>
          <p:cNvPr id="40" name="TextBox 39"/>
          <p:cNvSpPr txBox="1"/>
          <p:nvPr/>
        </p:nvSpPr>
        <p:spPr>
          <a:xfrm>
            <a:off x="10195560" y="4206240"/>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Confidential support &amp; zakat</a:t>
            </a:r>
          </a:p>
        </p:txBody>
      </p:sp>
      <p:sp>
        <p:nvSpPr>
          <p:cNvPr id="41" name="TextBox 40"/>
          <p:cNvSpPr txBox="1"/>
          <p:nvPr/>
        </p:nvSpPr>
        <p:spPr>
          <a:xfrm>
            <a:off x="9811512" y="4663440"/>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Restricted faith / family cases</a:t>
            </a:r>
          </a:p>
          <a:p>
            <a:pPr algn="l">
              <a:spcAft>
                <a:spcPts val="200"/>
              </a:spcAft>
              <a:defRPr sz="1200" b="0">
                <a:solidFill>
                  <a:srgbClr val="BBC8DF"/>
                </a:solidFill>
                <a:latin typeface="DejaVu Sans"/>
              </a:defRPr>
            </a:pPr>
            <a:r>
              <a:t>Consent • referral • partner follow-up</a:t>
            </a:r>
          </a:p>
          <a:p>
            <a:pPr algn="l">
              <a:spcAft>
                <a:spcPts val="200"/>
              </a:spcAft>
              <a:defRPr sz="1200" b="0">
                <a:solidFill>
                  <a:srgbClr val="BBC8DF"/>
                </a:solidFill>
                <a:latin typeface="DejaVu Sans"/>
              </a:defRPr>
            </a:pPr>
            <a:r>
              <a:t>Authority decides zakat outcomes</a:t>
            </a:r>
          </a:p>
        </p:txBody>
      </p:sp>
      <p:sp>
        <p:nvSpPr>
          <p:cNvPr id="42" name="Rounded Rectangle 41"/>
          <p:cNvSpPr/>
          <p:nvPr/>
        </p:nvSpPr>
        <p:spPr>
          <a:xfrm>
            <a:off x="640080" y="5669280"/>
            <a:ext cx="4389120" cy="13533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58368" y="5824728"/>
            <a:ext cx="32004" cy="10424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4671" y="5806440"/>
            <a:ext cx="301752" cy="301752"/>
          </a:xfrm>
          <a:prstGeom prst="ellipse">
            <a:avLst/>
          </a:prstGeom>
          <a:solidFill>
            <a:srgbClr val="111B35"/>
          </a:solidFill>
          <a:ln>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4671" y="5856732"/>
            <a:ext cx="301752" cy="173736"/>
          </a:xfrm>
          <a:prstGeom prst="rect">
            <a:avLst/>
          </a:prstGeom>
          <a:noFill/>
        </p:spPr>
        <p:txBody>
          <a:bodyPr wrap="square" lIns="0" tIns="0" rIns="0" bIns="0">
            <a:spAutoFit/>
          </a:bodyPr>
          <a:lstStyle/>
          <a:p>
            <a:pPr algn="ctr">
              <a:spcAft>
                <a:spcPts val="200"/>
              </a:spcAft>
              <a:defRPr sz="800" b="1">
                <a:solidFill>
                  <a:srgbClr val="62DAE8"/>
                </a:solidFill>
                <a:latin typeface="DejaVu Sans"/>
              </a:defRPr>
            </a:pPr>
            <a:r>
              <a:t>05</a:t>
            </a:r>
          </a:p>
        </p:txBody>
      </p:sp>
      <p:sp>
        <p:nvSpPr>
          <p:cNvPr id="46" name="TextBox 45"/>
          <p:cNvSpPr txBox="1"/>
          <p:nvPr/>
        </p:nvSpPr>
        <p:spPr>
          <a:xfrm>
            <a:off x="1234440" y="5815584"/>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Website &amp; sponsors</a:t>
            </a:r>
          </a:p>
        </p:txBody>
      </p:sp>
      <p:sp>
        <p:nvSpPr>
          <p:cNvPr id="47" name="TextBox 46"/>
          <p:cNvSpPr txBox="1"/>
          <p:nvPr/>
        </p:nvSpPr>
        <p:spPr>
          <a:xfrm>
            <a:off x="850392" y="6272784"/>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Public information • participation routes</a:t>
            </a:r>
          </a:p>
          <a:p>
            <a:pPr algn="l">
              <a:spcAft>
                <a:spcPts val="200"/>
              </a:spcAft>
              <a:defRPr sz="1200" b="0">
                <a:solidFill>
                  <a:srgbClr val="BBC8DF"/>
                </a:solidFill>
                <a:latin typeface="DejaVu Sans"/>
              </a:defRPr>
            </a:pPr>
            <a:r>
              <a:t>Approved resources • sponsor recognition</a:t>
            </a:r>
          </a:p>
          <a:p>
            <a:pPr algn="l">
              <a:spcAft>
                <a:spcPts val="200"/>
              </a:spcAft>
              <a:defRPr sz="1200" b="0">
                <a:solidFill>
                  <a:srgbClr val="BBC8DF"/>
                </a:solidFill>
                <a:latin typeface="DejaVu Sans"/>
              </a:defRPr>
            </a:pPr>
            <a:r>
              <a:t>Scheduled app / website placements</a:t>
            </a:r>
          </a:p>
        </p:txBody>
      </p:sp>
      <p:sp>
        <p:nvSpPr>
          <p:cNvPr id="48" name="Rounded Rectangle 47"/>
          <p:cNvSpPr/>
          <p:nvPr/>
        </p:nvSpPr>
        <p:spPr>
          <a:xfrm>
            <a:off x="9601200" y="5669280"/>
            <a:ext cx="4389120" cy="13533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619488" y="5824728"/>
            <a:ext cx="32004" cy="10424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9765792" y="5806440"/>
            <a:ext cx="301752" cy="301752"/>
          </a:xfrm>
          <a:prstGeom prst="ellipse">
            <a:avLst/>
          </a:prstGeom>
          <a:solidFill>
            <a:srgbClr val="111B35"/>
          </a:solidFill>
          <a:ln>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765792" y="5856732"/>
            <a:ext cx="301752" cy="173736"/>
          </a:xfrm>
          <a:prstGeom prst="rect">
            <a:avLst/>
          </a:prstGeom>
          <a:noFill/>
        </p:spPr>
        <p:txBody>
          <a:bodyPr wrap="square" lIns="0" tIns="0" rIns="0" bIns="0">
            <a:spAutoFit/>
          </a:bodyPr>
          <a:lstStyle/>
          <a:p>
            <a:pPr algn="ctr">
              <a:spcAft>
                <a:spcPts val="200"/>
              </a:spcAft>
              <a:defRPr sz="800" b="1">
                <a:solidFill>
                  <a:srgbClr val="62DAE8"/>
                </a:solidFill>
                <a:latin typeface="DejaVu Sans"/>
              </a:defRPr>
            </a:pPr>
            <a:r>
              <a:t>06</a:t>
            </a:r>
          </a:p>
        </p:txBody>
      </p:sp>
      <p:sp>
        <p:nvSpPr>
          <p:cNvPr id="52" name="TextBox 51"/>
          <p:cNvSpPr txBox="1"/>
          <p:nvPr/>
        </p:nvSpPr>
        <p:spPr>
          <a:xfrm>
            <a:off x="10195560" y="5815584"/>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MRM operations</a:t>
            </a:r>
          </a:p>
        </p:txBody>
      </p:sp>
      <p:sp>
        <p:nvSpPr>
          <p:cNvPr id="53" name="TextBox 52"/>
          <p:cNvSpPr txBox="1"/>
          <p:nvPr/>
        </p:nvSpPr>
        <p:spPr>
          <a:xfrm>
            <a:off x="9811512" y="6272784"/>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Accounts • moderation • configurations</a:t>
            </a:r>
          </a:p>
          <a:p>
            <a:pPr algn="l">
              <a:spcAft>
                <a:spcPts val="200"/>
              </a:spcAft>
              <a:defRPr sz="1200" b="0">
                <a:solidFill>
                  <a:srgbClr val="BBC8DF"/>
                </a:solidFill>
                <a:latin typeface="DejaVu Sans"/>
              </a:defRPr>
            </a:pPr>
            <a:r>
              <a:t>Alerts • activity • audit • reports</a:t>
            </a:r>
          </a:p>
          <a:p>
            <a:pPr algn="l">
              <a:spcAft>
                <a:spcPts val="200"/>
              </a:spcAft>
              <a:defRPr sz="1200" b="0">
                <a:solidFill>
                  <a:srgbClr val="BBC8DF"/>
                </a:solidFill>
                <a:latin typeface="DejaVu Sans"/>
              </a:defRPr>
            </a:pPr>
            <a:r>
              <a:t>Privacy • backups • restricted exports</a:t>
            </a:r>
          </a:p>
        </p:txBody>
      </p:sp>
      <p:sp>
        <p:nvSpPr>
          <p:cNvPr id="72" name="Rounded Rectangle 71"/>
          <p:cNvSpPr/>
          <p:nvPr/>
        </p:nvSpPr>
        <p:spPr>
          <a:xfrm>
            <a:off x="640080" y="7132320"/>
            <a:ext cx="13350240" cy="329184"/>
          </a:xfrm>
          <a:prstGeom prst="roundRect">
            <a:avLst>
              <a:gd name="adj" fmla="val 10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22960" y="7187184"/>
            <a:ext cx="12938760" cy="237744"/>
          </a:xfrm>
          <a:prstGeom prst="rect">
            <a:avLst/>
          </a:prstGeom>
          <a:noFill/>
        </p:spPr>
        <p:txBody>
          <a:bodyPr wrap="square" lIns="0" tIns="0" rIns="0" bIns="0">
            <a:spAutoFit/>
          </a:bodyPr>
          <a:lstStyle/>
          <a:p>
            <a:pPr algn="l">
              <a:spcAft>
                <a:spcPts val="200"/>
              </a:spcAft>
              <a:defRPr sz="1050" b="0">
                <a:solidFill>
                  <a:srgbClr val="62DAE8"/>
                </a:solidFill>
                <a:latin typeface="DejaVu Sans"/>
              </a:defRPr>
            </a:pPr>
            <a:r>
              <a:t>Companion to the 58-page deck. Branch colours group features; detailed maps explain approvals and handoffs.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Connector 70"/>
          <p:cNvCxnSpPr/>
          <p:nvPr/>
        </p:nvCxnSpPr>
        <p:spPr>
          <a:xfrm>
            <a:off x="9281160" y="6345936"/>
            <a:ext cx="320040" cy="0"/>
          </a:xfrm>
          <a:prstGeom prst="line">
            <a:avLst/>
          </a:prstGeom>
          <a:ln w="20320">
            <a:solidFill>
              <a:srgbClr val="C2A3FF"/>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281160" y="4640580"/>
            <a:ext cx="0" cy="1705356"/>
          </a:xfrm>
          <a:prstGeom prst="line">
            <a:avLst/>
          </a:prstGeom>
          <a:ln w="20320">
            <a:solidFill>
              <a:srgbClr val="C2A3FF"/>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8961120" y="4640580"/>
            <a:ext cx="320040" cy="0"/>
          </a:xfrm>
          <a:prstGeom prst="line">
            <a:avLst/>
          </a:prstGeom>
          <a:ln w="20320">
            <a:solidFill>
              <a:srgbClr val="C2A3FF"/>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281160" y="4745736"/>
            <a:ext cx="320040" cy="0"/>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281160" y="4640580"/>
            <a:ext cx="0" cy="105156"/>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8961120" y="4640580"/>
            <a:ext cx="320040" cy="0"/>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281160" y="3054096"/>
            <a:ext cx="320040" cy="0"/>
          </a:xfrm>
          <a:prstGeom prst="line">
            <a:avLst/>
          </a:prstGeom>
          <a:ln w="20320">
            <a:solidFill>
              <a:srgbClr val="C2A3FF"/>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9281160" y="3054096"/>
            <a:ext cx="0" cy="1586484"/>
          </a:xfrm>
          <a:prstGeom prst="line">
            <a:avLst/>
          </a:prstGeom>
          <a:ln w="20320">
            <a:solidFill>
              <a:srgbClr val="C2A3FF"/>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8961120" y="4640580"/>
            <a:ext cx="320040" cy="0"/>
          </a:xfrm>
          <a:prstGeom prst="line">
            <a:avLst/>
          </a:prstGeom>
          <a:ln w="20320">
            <a:solidFill>
              <a:srgbClr val="C2A3FF"/>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5029200" y="6345936"/>
            <a:ext cx="320040" cy="0"/>
          </a:xfrm>
          <a:prstGeom prst="line">
            <a:avLst/>
          </a:prstGeom>
          <a:ln w="20320">
            <a:solidFill>
              <a:srgbClr val="62DA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349240" y="4640580"/>
            <a:ext cx="0" cy="1705356"/>
          </a:xfrm>
          <a:prstGeom prst="line">
            <a:avLst/>
          </a:prstGeom>
          <a:ln w="20320">
            <a:solidFill>
              <a:srgbClr val="62DA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5349240" y="4640580"/>
            <a:ext cx="320040" cy="0"/>
          </a:xfrm>
          <a:prstGeom prst="line">
            <a:avLst/>
          </a:prstGeom>
          <a:ln w="20320">
            <a:solidFill>
              <a:srgbClr val="62DA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5029200" y="4745736"/>
            <a:ext cx="320040" cy="0"/>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349240" y="4640580"/>
            <a:ext cx="0" cy="105156"/>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5349240" y="4640580"/>
            <a:ext cx="320040" cy="0"/>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5029200" y="3054096"/>
            <a:ext cx="320040" cy="0"/>
          </a:xfrm>
          <a:prstGeom prst="line">
            <a:avLst/>
          </a:prstGeom>
          <a:ln w="20320">
            <a:solidFill>
              <a:srgbClr val="E8C5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349240" y="3054096"/>
            <a:ext cx="0" cy="1586484"/>
          </a:xfrm>
          <a:prstGeom prst="line">
            <a:avLst/>
          </a:prstGeom>
          <a:ln w="20320">
            <a:solidFill>
              <a:srgbClr val="E8C5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5349240" y="4640580"/>
            <a:ext cx="320040" cy="0"/>
          </a:xfrm>
          <a:prstGeom prst="line">
            <a:avLst/>
          </a:prstGeom>
          <a:ln w="20320">
            <a:solidFill>
              <a:srgbClr val="E8C578"/>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10058400" cy="274320"/>
          </a:xfrm>
          <a:prstGeom prst="rect">
            <a:avLst/>
          </a:prstGeom>
          <a:noFill/>
        </p:spPr>
        <p:txBody>
          <a:bodyPr wrap="square" lIns="0" tIns="0" rIns="0" bIns="0">
            <a:spAutoFit/>
          </a:bodyPr>
          <a:lstStyle/>
          <a:p>
            <a:pPr algn="l">
              <a:spcAft>
                <a:spcPts val="200"/>
              </a:spcAft>
              <a:defRPr sz="1000" b="1">
                <a:solidFill>
                  <a:srgbClr val="62DAE8"/>
                </a:solidFill>
                <a:latin typeface="DejaVu Sans"/>
              </a:defRPr>
            </a:pPr>
            <a:r>
              <a:t>FEATURE CONNECTIVITY  /  MRM DIGITAL COMMUNITY PLATFORM</a:t>
            </a:r>
          </a:p>
        </p:txBody>
      </p:sp>
      <p:pic>
        <p:nvPicPr>
          <p:cNvPr id="6" name="Picture 5" descr="image.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41832"/>
            <a:ext cx="13350240" cy="603504"/>
          </a:xfrm>
          <a:prstGeom prst="rect">
            <a:avLst/>
          </a:prstGeom>
          <a:noFill/>
        </p:spPr>
        <p:txBody>
          <a:bodyPr wrap="square" lIns="0" tIns="0" rIns="0" bIns="0">
            <a:spAutoFit/>
          </a:bodyPr>
          <a:lstStyle/>
          <a:p>
            <a:pPr algn="l">
              <a:spcAft>
                <a:spcPts val="200"/>
              </a:spcAft>
              <a:defRPr sz="3100" b="1">
                <a:solidFill>
                  <a:srgbClr val="F7F9FF"/>
                </a:solidFill>
                <a:latin typeface="DejaVu Sans"/>
              </a:defRPr>
            </a:pPr>
            <a:r>
              <a:t>One Muslim user, many ways to participate</a:t>
            </a:r>
          </a:p>
        </p:txBody>
      </p:sp>
      <p:sp>
        <p:nvSpPr>
          <p:cNvPr id="9" name="TextBox 8"/>
          <p:cNvSpPr txBox="1"/>
          <p:nvPr/>
        </p:nvSpPr>
        <p:spPr>
          <a:xfrm>
            <a:off x="658368" y="1645920"/>
            <a:ext cx="13258800" cy="502920"/>
          </a:xfrm>
          <a:prstGeom prst="rect">
            <a:avLst/>
          </a:prstGeom>
          <a:noFill/>
        </p:spPr>
        <p:txBody>
          <a:bodyPr wrap="square" lIns="0" tIns="0" rIns="0" bIns="0">
            <a:spAutoFit/>
          </a:bodyPr>
          <a:lstStyle/>
          <a:p>
            <a:pPr algn="l">
              <a:spcAft>
                <a:spcPts val="200"/>
              </a:spcAft>
              <a:defRPr sz="1400" b="0">
                <a:solidFill>
                  <a:srgbClr val="BBC8DF"/>
                </a:solidFill>
                <a:latin typeface="DejaVu Sans"/>
              </a:defRPr>
            </a:pPr>
            <a:r>
              <a:t>Daily tools welcome the wider community; personal services and privileged roles use the appropriate access checks.</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3291840" cy="228600"/>
          </a:xfrm>
          <a:prstGeom prst="rect">
            <a:avLst/>
          </a:prstGeom>
          <a:noFill/>
        </p:spPr>
        <p:txBody>
          <a:bodyPr wrap="square" lIns="0" tIns="0" rIns="0" bIns="0">
            <a:spAutoFit/>
          </a:bodyPr>
          <a:lstStyle/>
          <a:p>
            <a:pPr algn="l">
              <a:spcAft>
                <a:spcPts val="200"/>
              </a:spcAft>
              <a:defRPr sz="900" b="0">
                <a:solidFill>
                  <a:srgbClr val="BBC8DF"/>
                </a:solidFill>
                <a:latin typeface="DejaVu Sans"/>
              </a:defRPr>
            </a:pPr>
            <a:r>
              <a:t>MRM  /  ZYLAX TECHNOLOGIES</a:t>
            </a:r>
          </a:p>
        </p:txBody>
      </p:sp>
      <p:sp>
        <p:nvSpPr>
          <p:cNvPr id="12" name="TextBox 11"/>
          <p:cNvSpPr txBox="1"/>
          <p:nvPr/>
        </p:nvSpPr>
        <p:spPr>
          <a:xfrm>
            <a:off x="3794760" y="7754112"/>
            <a:ext cx="7315200" cy="237744"/>
          </a:xfrm>
          <a:prstGeom prst="rect">
            <a:avLst/>
          </a:prstGeom>
          <a:noFill/>
        </p:spPr>
        <p:txBody>
          <a:bodyPr wrap="square" lIns="0" tIns="0" rIns="0" bIns="0">
            <a:spAutoFit/>
          </a:bodyPr>
          <a:lstStyle/>
          <a:p>
            <a:pPr algn="ctr">
              <a:spcAft>
                <a:spcPts val="200"/>
              </a:spcAft>
              <a:defRPr sz="900" b="0">
                <a:solidFill>
                  <a:srgbClr val="BBC8DF"/>
                </a:solidFill>
                <a:latin typeface="DejaVu Sans"/>
              </a:defRPr>
            </a:pPr>
            <a:r>
              <a:t>PROPOSED CONNECTIONS  /  EDITABLE NATIVE DIAGRAM</a:t>
            </a:r>
          </a:p>
        </p:txBody>
      </p:sp>
      <p:sp>
        <p:nvSpPr>
          <p:cNvPr id="13" name="TextBox 12"/>
          <p:cNvSpPr txBox="1"/>
          <p:nvPr/>
        </p:nvSpPr>
        <p:spPr>
          <a:xfrm>
            <a:off x="12801600" y="7708392"/>
            <a:ext cx="1188720" cy="320040"/>
          </a:xfrm>
          <a:prstGeom prst="rect">
            <a:avLst/>
          </a:prstGeom>
          <a:noFill/>
        </p:spPr>
        <p:txBody>
          <a:bodyPr wrap="square" lIns="0" tIns="0" rIns="0" bIns="0">
            <a:spAutoFit/>
          </a:bodyPr>
          <a:lstStyle/>
          <a:p>
            <a:pPr algn="r">
              <a:spcAft>
                <a:spcPts val="200"/>
              </a:spcAft>
              <a:defRPr sz="1200" b="1">
                <a:solidFill>
                  <a:srgbClr val="62DAE8"/>
                </a:solidFill>
                <a:latin typeface="DejaVu Sans"/>
              </a:defRPr>
            </a:pPr>
            <a:r>
              <a:t>02 / 8</a:t>
            </a:r>
          </a:p>
        </p:txBody>
      </p:sp>
      <p:sp>
        <p:nvSpPr>
          <p:cNvPr id="14" name="Rounded Rectangle 13"/>
          <p:cNvSpPr/>
          <p:nvPr/>
        </p:nvSpPr>
        <p:spPr>
          <a:xfrm>
            <a:off x="5669280" y="3886200"/>
            <a:ext cx="3291840" cy="1508760"/>
          </a:xfrm>
          <a:prstGeom prst="roundRect">
            <a:avLst>
              <a:gd name="adj" fmla="val 10000"/>
            </a:avLst>
          </a:prstGeom>
          <a:solidFill>
            <a:srgbClr val="223653"/>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87568" y="4041648"/>
            <a:ext cx="32004" cy="1197863"/>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70448" y="4041648"/>
            <a:ext cx="2889504" cy="438912"/>
          </a:xfrm>
          <a:prstGeom prst="rect">
            <a:avLst/>
          </a:prstGeom>
          <a:noFill/>
        </p:spPr>
        <p:txBody>
          <a:bodyPr wrap="square" lIns="0" tIns="0" rIns="0" bIns="0">
            <a:spAutoFit/>
          </a:bodyPr>
          <a:lstStyle/>
          <a:p>
            <a:pPr algn="l">
              <a:spcAft>
                <a:spcPts val="200"/>
              </a:spcAft>
              <a:defRPr sz="1947" b="1">
                <a:solidFill>
                  <a:srgbClr val="F7F9FF"/>
                </a:solidFill>
                <a:latin typeface="DejaVu Sans"/>
              </a:defRPr>
            </a:pPr>
            <a:r>
              <a:t>ALL MUSLIM USERS</a:t>
            </a:r>
          </a:p>
        </p:txBody>
      </p:sp>
      <p:sp>
        <p:nvSpPr>
          <p:cNvPr id="17" name="TextBox 16"/>
          <p:cNvSpPr txBox="1"/>
          <p:nvPr/>
        </p:nvSpPr>
        <p:spPr>
          <a:xfrm>
            <a:off x="5879592" y="4489704"/>
            <a:ext cx="2871216" cy="841247"/>
          </a:xfrm>
          <a:prstGeom prst="rect">
            <a:avLst/>
          </a:prstGeom>
          <a:noFill/>
        </p:spPr>
        <p:txBody>
          <a:bodyPr wrap="square" lIns="0" tIns="0" rIns="0" bIns="0">
            <a:spAutoFit/>
          </a:bodyPr>
          <a:lstStyle/>
          <a:p>
            <a:pPr algn="l">
              <a:spcAft>
                <a:spcPts val="200"/>
              </a:spcAft>
              <a:defRPr sz="1300" b="0">
                <a:solidFill>
                  <a:srgbClr val="BBC8DF"/>
                </a:solidFill>
                <a:latin typeface="DejaVu Sans"/>
              </a:defRPr>
            </a:pPr>
            <a:r>
              <a:t>Daily value • community care</a:t>
            </a:r>
          </a:p>
          <a:p>
            <a:pPr algn="l">
              <a:spcAft>
                <a:spcPts val="200"/>
              </a:spcAft>
              <a:defRPr sz="1300" b="0">
                <a:solidFill>
                  <a:srgbClr val="BBC8DF"/>
                </a:solidFill>
                <a:latin typeface="DejaVu Sans"/>
              </a:defRPr>
            </a:pPr>
            <a:r>
              <a:t>Account for personal services</a:t>
            </a:r>
          </a:p>
        </p:txBody>
      </p:sp>
      <p:sp>
        <p:nvSpPr>
          <p:cNvPr id="18" name="Rounded Rectangle 17"/>
          <p:cNvSpPr/>
          <p:nvPr/>
        </p:nvSpPr>
        <p:spPr>
          <a:xfrm>
            <a:off x="640080" y="2377440"/>
            <a:ext cx="4389120" cy="1353312"/>
          </a:xfrm>
          <a:prstGeom prst="roundRect">
            <a:avLst>
              <a:gd name="adj" fmla="val 10000"/>
            </a:avLst>
          </a:prstGeom>
          <a:solidFill>
            <a:srgbClr val="1B2846"/>
          </a:solidFill>
          <a:ln w="12700">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2532888"/>
            <a:ext cx="32004" cy="1042415"/>
          </a:xfrm>
          <a:prstGeom prst="rect">
            <a:avLst/>
          </a:prstGeom>
          <a:solidFill>
            <a:srgbClr val="E8C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4671" y="2514600"/>
            <a:ext cx="301752" cy="301752"/>
          </a:xfrm>
          <a:prstGeom prst="ellipse">
            <a:avLst/>
          </a:prstGeom>
          <a:solidFill>
            <a:srgbClr val="111B35"/>
          </a:solidFill>
          <a:ln>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1" y="2564892"/>
            <a:ext cx="301752" cy="173736"/>
          </a:xfrm>
          <a:prstGeom prst="rect">
            <a:avLst/>
          </a:prstGeom>
          <a:noFill/>
        </p:spPr>
        <p:txBody>
          <a:bodyPr wrap="square" lIns="0" tIns="0" rIns="0" bIns="0">
            <a:spAutoFit/>
          </a:bodyPr>
          <a:lstStyle/>
          <a:p>
            <a:pPr algn="ctr">
              <a:spcAft>
                <a:spcPts val="200"/>
              </a:spcAft>
              <a:defRPr sz="800" b="1">
                <a:solidFill>
                  <a:srgbClr val="E8C578"/>
                </a:solidFill>
                <a:latin typeface="DejaVu Sans"/>
              </a:defRPr>
            </a:pPr>
            <a:r>
              <a:t>01</a:t>
            </a:r>
          </a:p>
        </p:txBody>
      </p:sp>
      <p:sp>
        <p:nvSpPr>
          <p:cNvPr id="22" name="TextBox 21"/>
          <p:cNvSpPr txBox="1"/>
          <p:nvPr/>
        </p:nvSpPr>
        <p:spPr>
          <a:xfrm>
            <a:off x="1234440" y="2523744"/>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Practise daily</a:t>
            </a:r>
          </a:p>
        </p:txBody>
      </p:sp>
      <p:sp>
        <p:nvSpPr>
          <p:cNvPr id="23" name="TextBox 22"/>
          <p:cNvSpPr txBox="1"/>
          <p:nvPr/>
        </p:nvSpPr>
        <p:spPr>
          <a:xfrm>
            <a:off x="850392" y="2980944"/>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Prayer, Quran and remembrance</a:t>
            </a:r>
          </a:p>
          <a:p>
            <a:pPr algn="l">
              <a:spcAft>
                <a:spcPts val="200"/>
              </a:spcAft>
              <a:defRPr sz="1200" b="0">
                <a:solidFill>
                  <a:srgbClr val="BBC8DF"/>
                </a:solidFill>
                <a:latin typeface="DejaVu Sans"/>
              </a:defRPr>
            </a:pPr>
            <a:r>
              <a:t>Location choices for relevant tools</a:t>
            </a:r>
          </a:p>
        </p:txBody>
      </p:sp>
      <p:sp>
        <p:nvSpPr>
          <p:cNvPr id="24" name="Rounded Rectangle 23"/>
          <p:cNvSpPr/>
          <p:nvPr/>
        </p:nvSpPr>
        <p:spPr>
          <a:xfrm>
            <a:off x="9601200" y="2377440"/>
            <a:ext cx="4389120" cy="1353312"/>
          </a:xfrm>
          <a:prstGeom prst="roundRect">
            <a:avLst>
              <a:gd name="adj" fmla="val 10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19488" y="2532888"/>
            <a:ext cx="32004" cy="1042415"/>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65792" y="2514600"/>
            <a:ext cx="301752" cy="301752"/>
          </a:xfrm>
          <a:prstGeom prst="ellipse">
            <a:avLst/>
          </a:prstGeom>
          <a:solidFill>
            <a:srgbClr val="111B35"/>
          </a:solidFill>
          <a:ln>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65792" y="2564892"/>
            <a:ext cx="301752" cy="173736"/>
          </a:xfrm>
          <a:prstGeom prst="rect">
            <a:avLst/>
          </a:prstGeom>
          <a:noFill/>
        </p:spPr>
        <p:txBody>
          <a:bodyPr wrap="square" lIns="0" tIns="0" rIns="0" bIns="0">
            <a:spAutoFit/>
          </a:bodyPr>
          <a:lstStyle/>
          <a:p>
            <a:pPr algn="ctr">
              <a:spcAft>
                <a:spcPts val="200"/>
              </a:spcAft>
              <a:defRPr sz="800" b="1">
                <a:solidFill>
                  <a:srgbClr val="C2A3FF"/>
                </a:solidFill>
                <a:latin typeface="DejaVu Sans"/>
              </a:defRPr>
            </a:pPr>
            <a:r>
              <a:t>02</a:t>
            </a:r>
          </a:p>
        </p:txBody>
      </p:sp>
      <p:sp>
        <p:nvSpPr>
          <p:cNvPr id="28" name="TextBox 27"/>
          <p:cNvSpPr txBox="1"/>
          <p:nvPr/>
        </p:nvSpPr>
        <p:spPr>
          <a:xfrm>
            <a:off x="10195560" y="2523744"/>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Discover &amp; learn</a:t>
            </a:r>
          </a:p>
        </p:txBody>
      </p:sp>
      <p:sp>
        <p:nvSpPr>
          <p:cNvPr id="29" name="TextBox 28"/>
          <p:cNvSpPr txBox="1"/>
          <p:nvPr/>
        </p:nvSpPr>
        <p:spPr>
          <a:xfrm>
            <a:off x="9811512" y="2980944"/>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Approved programmes and teachers</a:t>
            </a:r>
          </a:p>
          <a:p>
            <a:pPr algn="l">
              <a:spcAft>
                <a:spcPts val="200"/>
              </a:spcAft>
              <a:defRPr sz="1200" b="0">
                <a:solidFill>
                  <a:srgbClr val="BBC8DF"/>
                </a:solidFill>
                <a:latin typeface="DejaVu Sans"/>
              </a:defRPr>
            </a:pPr>
            <a:r>
              <a:t>Register where required; revisit recordings</a:t>
            </a:r>
          </a:p>
        </p:txBody>
      </p:sp>
      <p:sp>
        <p:nvSpPr>
          <p:cNvPr id="30" name="Rounded Rectangle 29"/>
          <p:cNvSpPr/>
          <p:nvPr/>
        </p:nvSpPr>
        <p:spPr>
          <a:xfrm>
            <a:off x="640080" y="4069080"/>
            <a:ext cx="4389120" cy="1353312"/>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8368" y="4224528"/>
            <a:ext cx="32004" cy="1042415"/>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4671" y="4206240"/>
            <a:ext cx="301752" cy="301752"/>
          </a:xfrm>
          <a:prstGeom prst="ellipse">
            <a:avLst/>
          </a:prstGeom>
          <a:solidFill>
            <a:srgbClr val="111B35"/>
          </a:solidFill>
          <a:ln>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1" y="4256532"/>
            <a:ext cx="301752" cy="173736"/>
          </a:xfrm>
          <a:prstGeom prst="rect">
            <a:avLst/>
          </a:prstGeom>
          <a:noFill/>
        </p:spPr>
        <p:txBody>
          <a:bodyPr wrap="square" lIns="0" tIns="0" rIns="0" bIns="0">
            <a:spAutoFit/>
          </a:bodyPr>
          <a:lstStyle/>
          <a:p>
            <a:pPr algn="ctr">
              <a:spcAft>
                <a:spcPts val="200"/>
              </a:spcAft>
              <a:defRPr sz="800" b="1">
                <a:solidFill>
                  <a:srgbClr val="8DD8B1"/>
                </a:solidFill>
                <a:latin typeface="DejaVu Sans"/>
              </a:defRPr>
            </a:pPr>
            <a:r>
              <a:t>03</a:t>
            </a:r>
          </a:p>
        </p:txBody>
      </p:sp>
      <p:sp>
        <p:nvSpPr>
          <p:cNvPr id="34" name="TextBox 33"/>
          <p:cNvSpPr txBox="1"/>
          <p:nvPr/>
        </p:nvSpPr>
        <p:spPr>
          <a:xfrm>
            <a:off x="1234440" y="4215384"/>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Seek support</a:t>
            </a:r>
          </a:p>
        </p:txBody>
      </p:sp>
      <p:sp>
        <p:nvSpPr>
          <p:cNvPr id="35" name="TextBox 34"/>
          <p:cNvSpPr txBox="1"/>
          <p:nvPr/>
        </p:nvSpPr>
        <p:spPr>
          <a:xfrm>
            <a:off x="850392" y="4672584"/>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Private request, safe contact preference</a:t>
            </a:r>
          </a:p>
          <a:p>
            <a:pPr algn="l">
              <a:spcAft>
                <a:spcPts val="200"/>
              </a:spcAft>
              <a:defRPr sz="1200" b="0">
                <a:solidFill>
                  <a:srgbClr val="BBC8DF"/>
                </a:solidFill>
                <a:latin typeface="DejaVu Sans"/>
              </a:defRPr>
            </a:pPr>
            <a:r>
              <a:t>Track only your authorised case details</a:t>
            </a:r>
          </a:p>
        </p:txBody>
      </p:sp>
      <p:sp>
        <p:nvSpPr>
          <p:cNvPr id="36" name="Rounded Rectangle 35"/>
          <p:cNvSpPr/>
          <p:nvPr/>
        </p:nvSpPr>
        <p:spPr>
          <a:xfrm>
            <a:off x="9601200" y="4069080"/>
            <a:ext cx="4389120" cy="1353312"/>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19488" y="4224528"/>
            <a:ext cx="32004" cy="1042415"/>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765792" y="4206240"/>
            <a:ext cx="301752" cy="301752"/>
          </a:xfrm>
          <a:prstGeom prst="ellipse">
            <a:avLst/>
          </a:prstGeom>
          <a:solidFill>
            <a:srgbClr val="111B35"/>
          </a:solidFill>
          <a:ln>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65792" y="4256532"/>
            <a:ext cx="301752" cy="173736"/>
          </a:xfrm>
          <a:prstGeom prst="rect">
            <a:avLst/>
          </a:prstGeom>
          <a:noFill/>
        </p:spPr>
        <p:txBody>
          <a:bodyPr wrap="square" lIns="0" tIns="0" rIns="0" bIns="0">
            <a:spAutoFit/>
          </a:bodyPr>
          <a:lstStyle/>
          <a:p>
            <a:pPr algn="ctr">
              <a:spcAft>
                <a:spcPts val="200"/>
              </a:spcAft>
              <a:defRPr sz="800" b="1">
                <a:solidFill>
                  <a:srgbClr val="8DD8B1"/>
                </a:solidFill>
                <a:latin typeface="DejaVu Sans"/>
              </a:defRPr>
            </a:pPr>
            <a:r>
              <a:t>04</a:t>
            </a:r>
          </a:p>
        </p:txBody>
      </p:sp>
      <p:sp>
        <p:nvSpPr>
          <p:cNvPr id="40" name="TextBox 39"/>
          <p:cNvSpPr txBox="1"/>
          <p:nvPr/>
        </p:nvSpPr>
        <p:spPr>
          <a:xfrm>
            <a:off x="10195560" y="4215384"/>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Contribute as a volunteer</a:t>
            </a:r>
          </a:p>
        </p:txBody>
      </p:sp>
      <p:sp>
        <p:nvSpPr>
          <p:cNvPr id="41" name="TextBox 40"/>
          <p:cNvSpPr txBox="1"/>
          <p:nvPr/>
        </p:nvSpPr>
        <p:spPr>
          <a:xfrm>
            <a:off x="9811512" y="4672584"/>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Evidence + interview + MRM approval</a:t>
            </a:r>
          </a:p>
          <a:p>
            <a:pPr algn="l">
              <a:spcAft>
                <a:spcPts val="200"/>
              </a:spcAft>
              <a:defRPr sz="1200" b="0">
                <a:solidFill>
                  <a:srgbClr val="BBC8DF"/>
                </a:solidFill>
                <a:latin typeface="DejaVu Sans"/>
              </a:defRPr>
            </a:pPr>
            <a:r>
              <a:t>Eligible offers and assigned service</a:t>
            </a:r>
          </a:p>
        </p:txBody>
      </p:sp>
      <p:sp>
        <p:nvSpPr>
          <p:cNvPr id="42" name="Rounded Rectangle 41"/>
          <p:cNvSpPr/>
          <p:nvPr/>
        </p:nvSpPr>
        <p:spPr>
          <a:xfrm>
            <a:off x="640080" y="5669280"/>
            <a:ext cx="4389120" cy="13533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58368" y="5824728"/>
            <a:ext cx="32004" cy="10424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4671" y="5806440"/>
            <a:ext cx="301752" cy="301752"/>
          </a:xfrm>
          <a:prstGeom prst="ellipse">
            <a:avLst/>
          </a:prstGeom>
          <a:solidFill>
            <a:srgbClr val="111B35"/>
          </a:solidFill>
          <a:ln>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4671" y="5856732"/>
            <a:ext cx="301752" cy="173736"/>
          </a:xfrm>
          <a:prstGeom prst="rect">
            <a:avLst/>
          </a:prstGeom>
          <a:noFill/>
        </p:spPr>
        <p:txBody>
          <a:bodyPr wrap="square" lIns="0" tIns="0" rIns="0" bIns="0">
            <a:spAutoFit/>
          </a:bodyPr>
          <a:lstStyle/>
          <a:p>
            <a:pPr algn="ctr">
              <a:spcAft>
                <a:spcPts val="200"/>
              </a:spcAft>
              <a:defRPr sz="800" b="1">
                <a:solidFill>
                  <a:srgbClr val="62DAE8"/>
                </a:solidFill>
                <a:latin typeface="DejaVu Sans"/>
              </a:defRPr>
            </a:pPr>
            <a:r>
              <a:t>05</a:t>
            </a:r>
          </a:p>
        </p:txBody>
      </p:sp>
      <p:sp>
        <p:nvSpPr>
          <p:cNvPr id="46" name="TextBox 45"/>
          <p:cNvSpPr txBox="1"/>
          <p:nvPr/>
        </p:nvSpPr>
        <p:spPr>
          <a:xfrm>
            <a:off x="1234440" y="5815584"/>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Follow personal updates</a:t>
            </a:r>
          </a:p>
        </p:txBody>
      </p:sp>
      <p:sp>
        <p:nvSpPr>
          <p:cNvPr id="47" name="TextBox 46"/>
          <p:cNvSpPr txBox="1"/>
          <p:nvPr/>
        </p:nvSpPr>
        <p:spPr>
          <a:xfrm>
            <a:off x="850392" y="6272784"/>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Application / request status and reminders</a:t>
            </a:r>
          </a:p>
          <a:p>
            <a:pPr algn="l">
              <a:spcAft>
                <a:spcPts val="200"/>
              </a:spcAft>
              <a:defRPr sz="1200" b="0">
                <a:solidFill>
                  <a:srgbClr val="BBC8DF"/>
                </a:solidFill>
                <a:latin typeface="DejaVu Sans"/>
              </a:defRPr>
            </a:pPr>
            <a:r>
              <a:t>Safe alerts open the authorised detail</a:t>
            </a:r>
          </a:p>
        </p:txBody>
      </p:sp>
      <p:sp>
        <p:nvSpPr>
          <p:cNvPr id="48" name="Rounded Rectangle 47"/>
          <p:cNvSpPr/>
          <p:nvPr/>
        </p:nvSpPr>
        <p:spPr>
          <a:xfrm>
            <a:off x="9601200" y="5669280"/>
            <a:ext cx="4389120" cy="1353312"/>
          </a:xfrm>
          <a:prstGeom prst="roundRect">
            <a:avLst>
              <a:gd name="adj" fmla="val 10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619488" y="5824728"/>
            <a:ext cx="32004" cy="1042415"/>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9765792" y="5806440"/>
            <a:ext cx="301752" cy="301752"/>
          </a:xfrm>
          <a:prstGeom prst="ellipse">
            <a:avLst/>
          </a:prstGeom>
          <a:solidFill>
            <a:srgbClr val="111B35"/>
          </a:solidFill>
          <a:ln>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765792" y="5856732"/>
            <a:ext cx="301752" cy="173736"/>
          </a:xfrm>
          <a:prstGeom prst="rect">
            <a:avLst/>
          </a:prstGeom>
          <a:noFill/>
        </p:spPr>
        <p:txBody>
          <a:bodyPr wrap="square" lIns="0" tIns="0" rIns="0" bIns="0">
            <a:spAutoFit/>
          </a:bodyPr>
          <a:lstStyle/>
          <a:p>
            <a:pPr algn="ctr">
              <a:spcAft>
                <a:spcPts val="200"/>
              </a:spcAft>
              <a:defRPr sz="800" b="1">
                <a:solidFill>
                  <a:srgbClr val="C2A3FF"/>
                </a:solidFill>
                <a:latin typeface="DejaVu Sans"/>
              </a:defRPr>
            </a:pPr>
            <a:r>
              <a:t>06</a:t>
            </a:r>
          </a:p>
        </p:txBody>
      </p:sp>
      <p:sp>
        <p:nvSpPr>
          <p:cNvPr id="52" name="TextBox 51"/>
          <p:cNvSpPr txBox="1"/>
          <p:nvPr/>
        </p:nvSpPr>
        <p:spPr>
          <a:xfrm>
            <a:off x="10195560" y="5815584"/>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Teach through the platform</a:t>
            </a:r>
          </a:p>
        </p:txBody>
      </p:sp>
      <p:sp>
        <p:nvSpPr>
          <p:cNvPr id="53" name="TextBox 52"/>
          <p:cNvSpPr txBox="1"/>
          <p:nvPr/>
        </p:nvSpPr>
        <p:spPr>
          <a:xfrm>
            <a:off x="9811512" y="6272784"/>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Teacher approval + valid plan entitlement</a:t>
            </a:r>
          </a:p>
          <a:p>
            <a:pPr algn="l">
              <a:spcAft>
                <a:spcPts val="200"/>
              </a:spcAft>
              <a:defRPr sz="1200" b="0">
                <a:solidFill>
                  <a:srgbClr val="BBC8DF"/>
                </a:solidFill>
                <a:latin typeface="DejaVu Sans"/>
              </a:defRPr>
            </a:pPr>
            <a:r>
              <a:t>Submit educational content for review</a:t>
            </a:r>
          </a:p>
        </p:txBody>
      </p:sp>
      <p:sp>
        <p:nvSpPr>
          <p:cNvPr id="72" name="Rounded Rectangle 71"/>
          <p:cNvSpPr/>
          <p:nvPr/>
        </p:nvSpPr>
        <p:spPr>
          <a:xfrm>
            <a:off x="640080" y="7132320"/>
            <a:ext cx="13350240" cy="329184"/>
          </a:xfrm>
          <a:prstGeom prst="roundRect">
            <a:avLst>
              <a:gd name="adj" fmla="val 10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22960" y="7187184"/>
            <a:ext cx="12938760" cy="237744"/>
          </a:xfrm>
          <a:prstGeom prst="rect">
            <a:avLst/>
          </a:prstGeom>
          <a:noFill/>
        </p:spPr>
        <p:txBody>
          <a:bodyPr wrap="square" lIns="0" tIns="0" rIns="0" bIns="0">
            <a:spAutoFit/>
          </a:bodyPr>
          <a:lstStyle/>
          <a:p>
            <a:pPr algn="l">
              <a:spcAft>
                <a:spcPts val="200"/>
              </a:spcAft>
              <a:defRPr sz="1050" b="0">
                <a:solidFill>
                  <a:srgbClr val="62DAE8"/>
                </a:solidFill>
                <a:latin typeface="DejaVu Sans"/>
              </a:defRPr>
            </a:pPr>
            <a:r>
              <a:t>Core member assistance and volunteer participation remain free. Teacher subscription privileges stay separate.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2" name="Connector 91"/>
          <p:cNvCxnSpPr/>
          <p:nvPr/>
        </p:nvCxnSpPr>
        <p:spPr>
          <a:xfrm>
            <a:off x="12595860" y="5212079"/>
            <a:ext cx="0" cy="530353"/>
          </a:xfrm>
          <a:prstGeom prst="line">
            <a:avLst/>
          </a:prstGeom>
          <a:ln w="20320">
            <a:solidFill>
              <a:srgbClr val="E8C57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9075420" y="5212079"/>
            <a:ext cx="0" cy="530353"/>
          </a:xfrm>
          <a:prstGeom prst="line">
            <a:avLst/>
          </a:prstGeom>
          <a:ln w="20320">
            <a:solidFill>
              <a:srgbClr val="62DAE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5554979" y="5212079"/>
            <a:ext cx="0" cy="530353"/>
          </a:xfrm>
          <a:prstGeom prst="line">
            <a:avLst/>
          </a:prstGeom>
          <a:ln w="20320">
            <a:solidFill>
              <a:srgbClr val="62DAE8"/>
            </a:solidFill>
            <a:tailEnd type="triangle" w="sm" len="sm"/>
            <a:prstDash val="dash"/>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0469880" y="4649724"/>
            <a:ext cx="731520" cy="0"/>
          </a:xfrm>
          <a:prstGeom prst="line">
            <a:avLst/>
          </a:prstGeom>
          <a:ln w="20320">
            <a:solidFill>
              <a:srgbClr val="8DD8B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6949440" y="4649724"/>
            <a:ext cx="731520" cy="0"/>
          </a:xfrm>
          <a:prstGeom prst="line">
            <a:avLst/>
          </a:prstGeom>
          <a:ln w="20320">
            <a:solidFill>
              <a:srgbClr val="62DAE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3429000" y="4649724"/>
            <a:ext cx="731520" cy="0"/>
          </a:xfrm>
          <a:prstGeom prst="line">
            <a:avLst/>
          </a:prstGeom>
          <a:ln w="20320">
            <a:solidFill>
              <a:srgbClr val="8DD8B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2034539" y="5212079"/>
            <a:ext cx="0" cy="530353"/>
          </a:xfrm>
          <a:prstGeom prst="line">
            <a:avLst/>
          </a:prstGeom>
          <a:ln w="20320">
            <a:solidFill>
              <a:srgbClr val="8DD8B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554979" y="3557016"/>
            <a:ext cx="0" cy="530352"/>
          </a:xfrm>
          <a:prstGeom prst="line">
            <a:avLst/>
          </a:prstGeom>
          <a:ln w="20320">
            <a:solidFill>
              <a:srgbClr val="62DAE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0469880" y="2994660"/>
            <a:ext cx="731520" cy="0"/>
          </a:xfrm>
          <a:prstGeom prst="line">
            <a:avLst/>
          </a:prstGeom>
          <a:ln w="20320">
            <a:solidFill>
              <a:srgbClr val="E8C57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6949440" y="2994660"/>
            <a:ext cx="731520" cy="0"/>
          </a:xfrm>
          <a:prstGeom prst="line">
            <a:avLst/>
          </a:prstGeom>
          <a:ln w="20320">
            <a:solidFill>
              <a:srgbClr val="E8C57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429000" y="2994660"/>
            <a:ext cx="731520" cy="0"/>
          </a:xfrm>
          <a:prstGeom prst="line">
            <a:avLst/>
          </a:prstGeom>
          <a:ln w="20320">
            <a:solidFill>
              <a:srgbClr val="62DAE8"/>
            </a:solidFill>
            <a:tailEnd type="triangle" w="sm" len="sm"/>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10058400" cy="274320"/>
          </a:xfrm>
          <a:prstGeom prst="rect">
            <a:avLst/>
          </a:prstGeom>
          <a:noFill/>
        </p:spPr>
        <p:txBody>
          <a:bodyPr wrap="square" lIns="0" tIns="0" rIns="0" bIns="0">
            <a:spAutoFit/>
          </a:bodyPr>
          <a:lstStyle/>
          <a:p>
            <a:pPr algn="l">
              <a:spcAft>
                <a:spcPts val="200"/>
              </a:spcAft>
              <a:defRPr sz="1000" b="1">
                <a:solidFill>
                  <a:srgbClr val="62DAE8"/>
                </a:solidFill>
                <a:latin typeface="DejaVu Sans"/>
              </a:defRPr>
            </a:pPr>
            <a:r>
              <a:t>FEATURE CONNECTIVITY  /  MRM DIGITAL COMMUNITY PLATFORM</a:t>
            </a:r>
          </a:p>
        </p:txBody>
      </p:sp>
      <p:pic>
        <p:nvPicPr>
          <p:cNvPr id="6" name="Picture 5" descr="image.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41832"/>
            <a:ext cx="13350240" cy="603504"/>
          </a:xfrm>
          <a:prstGeom prst="rect">
            <a:avLst/>
          </a:prstGeom>
          <a:noFill/>
        </p:spPr>
        <p:txBody>
          <a:bodyPr wrap="square" lIns="0" tIns="0" rIns="0" bIns="0">
            <a:spAutoFit/>
          </a:bodyPr>
          <a:lstStyle/>
          <a:p>
            <a:pPr algn="l">
              <a:spcAft>
                <a:spcPts val="200"/>
              </a:spcAft>
              <a:defRPr sz="3100" b="1">
                <a:solidFill>
                  <a:srgbClr val="F7F9FF"/>
                </a:solidFill>
                <a:latin typeface="DejaVu Sans"/>
              </a:defRPr>
            </a:pPr>
            <a:r>
              <a:t>How care, volunteering and recognition connect</a:t>
            </a:r>
          </a:p>
        </p:txBody>
      </p:sp>
      <p:sp>
        <p:nvSpPr>
          <p:cNvPr id="9" name="TextBox 8"/>
          <p:cNvSpPr txBox="1"/>
          <p:nvPr/>
        </p:nvSpPr>
        <p:spPr>
          <a:xfrm>
            <a:off x="658368" y="1645920"/>
            <a:ext cx="13258800" cy="502920"/>
          </a:xfrm>
          <a:prstGeom prst="rect">
            <a:avLst/>
          </a:prstGeom>
          <a:noFill/>
        </p:spPr>
        <p:txBody>
          <a:bodyPr wrap="square" lIns="0" tIns="0" rIns="0" bIns="0">
            <a:spAutoFit/>
          </a:bodyPr>
          <a:lstStyle/>
          <a:p>
            <a:pPr algn="l">
              <a:spcAft>
                <a:spcPts val="200"/>
              </a:spcAft>
              <a:defRPr sz="1400" b="0">
                <a:solidFill>
                  <a:srgbClr val="BBC8DF"/>
                </a:solidFill>
                <a:latin typeface="DejaVu Sans"/>
              </a:defRPr>
            </a:pPr>
            <a:r>
              <a:t>Routine assignments and restricted concerns follow distinct access paths, with MRM coordinating the outcome.</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3291840" cy="228600"/>
          </a:xfrm>
          <a:prstGeom prst="rect">
            <a:avLst/>
          </a:prstGeom>
          <a:noFill/>
        </p:spPr>
        <p:txBody>
          <a:bodyPr wrap="square" lIns="0" tIns="0" rIns="0" bIns="0">
            <a:spAutoFit/>
          </a:bodyPr>
          <a:lstStyle/>
          <a:p>
            <a:pPr algn="l">
              <a:spcAft>
                <a:spcPts val="200"/>
              </a:spcAft>
              <a:defRPr sz="900" b="0">
                <a:solidFill>
                  <a:srgbClr val="BBC8DF"/>
                </a:solidFill>
                <a:latin typeface="DejaVu Sans"/>
              </a:defRPr>
            </a:pPr>
            <a:r>
              <a:t>MRM  /  ZYLAX TECHNOLOGIES</a:t>
            </a:r>
          </a:p>
        </p:txBody>
      </p:sp>
      <p:sp>
        <p:nvSpPr>
          <p:cNvPr id="12" name="TextBox 11"/>
          <p:cNvSpPr txBox="1"/>
          <p:nvPr/>
        </p:nvSpPr>
        <p:spPr>
          <a:xfrm>
            <a:off x="3794760" y="7754112"/>
            <a:ext cx="7315200" cy="237744"/>
          </a:xfrm>
          <a:prstGeom prst="rect">
            <a:avLst/>
          </a:prstGeom>
          <a:noFill/>
        </p:spPr>
        <p:txBody>
          <a:bodyPr wrap="square" lIns="0" tIns="0" rIns="0" bIns="0">
            <a:spAutoFit/>
          </a:bodyPr>
          <a:lstStyle/>
          <a:p>
            <a:pPr algn="ctr">
              <a:spcAft>
                <a:spcPts val="200"/>
              </a:spcAft>
              <a:defRPr sz="900" b="0">
                <a:solidFill>
                  <a:srgbClr val="BBC8DF"/>
                </a:solidFill>
                <a:latin typeface="DejaVu Sans"/>
              </a:defRPr>
            </a:pPr>
            <a:r>
              <a:t>PROPOSED CONNECTIONS  /  EDITABLE NATIVE DIAGRAM</a:t>
            </a:r>
          </a:p>
        </p:txBody>
      </p:sp>
      <p:sp>
        <p:nvSpPr>
          <p:cNvPr id="13" name="TextBox 12"/>
          <p:cNvSpPr txBox="1"/>
          <p:nvPr/>
        </p:nvSpPr>
        <p:spPr>
          <a:xfrm>
            <a:off x="12801600" y="7708392"/>
            <a:ext cx="1188720" cy="320040"/>
          </a:xfrm>
          <a:prstGeom prst="rect">
            <a:avLst/>
          </a:prstGeom>
          <a:noFill/>
        </p:spPr>
        <p:txBody>
          <a:bodyPr wrap="square" lIns="0" tIns="0" rIns="0" bIns="0">
            <a:spAutoFit/>
          </a:bodyPr>
          <a:lstStyle/>
          <a:p>
            <a:pPr algn="r">
              <a:spcAft>
                <a:spcPts val="200"/>
              </a:spcAft>
              <a:defRPr sz="1200" b="1">
                <a:solidFill>
                  <a:srgbClr val="62DAE8"/>
                </a:solidFill>
                <a:latin typeface="DejaVu Sans"/>
              </a:defRPr>
            </a:pPr>
            <a:r>
              <a:t>03 / 8</a:t>
            </a:r>
          </a:p>
        </p:txBody>
      </p:sp>
      <p:sp>
        <p:nvSpPr>
          <p:cNvPr id="14" name="Rounded Rectangle 13"/>
          <p:cNvSpPr/>
          <p:nvPr/>
        </p:nvSpPr>
        <p:spPr>
          <a:xfrm>
            <a:off x="640080" y="2432304"/>
            <a:ext cx="2788920" cy="1124712"/>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2587752"/>
            <a:ext cx="32004" cy="813815"/>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2587752"/>
            <a:ext cx="2386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Member request</a:t>
            </a:r>
          </a:p>
        </p:txBody>
      </p:sp>
      <p:sp>
        <p:nvSpPr>
          <p:cNvPr id="17" name="TextBox 16"/>
          <p:cNvSpPr txBox="1"/>
          <p:nvPr/>
        </p:nvSpPr>
        <p:spPr>
          <a:xfrm>
            <a:off x="850392" y="3035808"/>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Need, urgency and safe contact</a:t>
            </a:r>
          </a:p>
        </p:txBody>
      </p:sp>
      <p:sp>
        <p:nvSpPr>
          <p:cNvPr id="18" name="Rounded Rectangle 17"/>
          <p:cNvSpPr/>
          <p:nvPr/>
        </p:nvSpPr>
        <p:spPr>
          <a:xfrm>
            <a:off x="4160520" y="2432304"/>
            <a:ext cx="2788920" cy="11247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78807" y="2587752"/>
            <a:ext cx="32004" cy="8138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61688" y="2587752"/>
            <a:ext cx="2386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MRM triage</a:t>
            </a:r>
          </a:p>
        </p:txBody>
      </p:sp>
      <p:sp>
        <p:nvSpPr>
          <p:cNvPr id="21" name="TextBox 20"/>
          <p:cNvSpPr txBox="1"/>
          <p:nvPr/>
        </p:nvSpPr>
        <p:spPr>
          <a:xfrm>
            <a:off x="4370832" y="3035808"/>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Review sensitivity and suitability</a:t>
            </a:r>
          </a:p>
        </p:txBody>
      </p:sp>
      <p:sp>
        <p:nvSpPr>
          <p:cNvPr id="22" name="Rounded Rectangle 21"/>
          <p:cNvSpPr/>
          <p:nvPr/>
        </p:nvSpPr>
        <p:spPr>
          <a:xfrm>
            <a:off x="7680960" y="2432304"/>
            <a:ext cx="2788920" cy="1124712"/>
          </a:xfrm>
          <a:prstGeom prst="roundRect">
            <a:avLst>
              <a:gd name="adj" fmla="val 10000"/>
            </a:avLst>
          </a:prstGeom>
          <a:solidFill>
            <a:srgbClr val="1B2846"/>
          </a:solidFill>
          <a:ln w="12700">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99248" y="2587752"/>
            <a:ext cx="32004" cy="813815"/>
          </a:xfrm>
          <a:prstGeom prst="rect">
            <a:avLst/>
          </a:prstGeom>
          <a:solidFill>
            <a:srgbClr val="E8C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82128" y="2587752"/>
            <a:ext cx="2386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Restricted concern</a:t>
            </a:r>
          </a:p>
        </p:txBody>
      </p:sp>
      <p:sp>
        <p:nvSpPr>
          <p:cNvPr id="25" name="TextBox 24"/>
          <p:cNvSpPr txBox="1"/>
          <p:nvPr/>
        </p:nvSpPr>
        <p:spPr>
          <a:xfrm>
            <a:off x="7891272" y="3035808"/>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Private faith / family intake</a:t>
            </a:r>
          </a:p>
        </p:txBody>
      </p:sp>
      <p:sp>
        <p:nvSpPr>
          <p:cNvPr id="26" name="Rounded Rectangle 25"/>
          <p:cNvSpPr/>
          <p:nvPr/>
        </p:nvSpPr>
        <p:spPr>
          <a:xfrm>
            <a:off x="11201400" y="2432304"/>
            <a:ext cx="2788920" cy="1124712"/>
          </a:xfrm>
          <a:prstGeom prst="roundRect">
            <a:avLst>
              <a:gd name="adj" fmla="val 10000"/>
            </a:avLst>
          </a:prstGeom>
          <a:solidFill>
            <a:srgbClr val="1B2846"/>
          </a:solidFill>
          <a:ln w="12700">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219688" y="2587752"/>
            <a:ext cx="32004" cy="813815"/>
          </a:xfrm>
          <a:prstGeom prst="rect">
            <a:avLst/>
          </a:prstGeom>
          <a:solidFill>
            <a:srgbClr val="E8C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402568" y="2587752"/>
            <a:ext cx="2386584" cy="438912"/>
          </a:xfrm>
          <a:prstGeom prst="rect">
            <a:avLst/>
          </a:prstGeom>
          <a:noFill/>
        </p:spPr>
        <p:txBody>
          <a:bodyPr wrap="square" lIns="0" tIns="0" rIns="0" bIns="0">
            <a:spAutoFit/>
          </a:bodyPr>
          <a:lstStyle/>
          <a:p>
            <a:pPr algn="l">
              <a:spcAft>
                <a:spcPts val="200"/>
              </a:spcAft>
              <a:defRPr sz="1426" b="1">
                <a:solidFill>
                  <a:srgbClr val="F7F9FF"/>
                </a:solidFill>
                <a:latin typeface="DejaVu Sans"/>
              </a:defRPr>
            </a:pPr>
            <a:r>
              <a:t>Designated personnel</a:t>
            </a:r>
          </a:p>
        </p:txBody>
      </p:sp>
      <p:sp>
        <p:nvSpPr>
          <p:cNvPr id="29" name="TextBox 28"/>
          <p:cNvSpPr txBox="1"/>
          <p:nvPr/>
        </p:nvSpPr>
        <p:spPr>
          <a:xfrm>
            <a:off x="11411712" y="3035808"/>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Controlled advice and follow-up</a:t>
            </a:r>
          </a:p>
        </p:txBody>
      </p:sp>
      <p:sp>
        <p:nvSpPr>
          <p:cNvPr id="30" name="Rounded Rectangle 29"/>
          <p:cNvSpPr/>
          <p:nvPr/>
        </p:nvSpPr>
        <p:spPr>
          <a:xfrm>
            <a:off x="640080" y="4087368"/>
            <a:ext cx="2788920" cy="1124712"/>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8368" y="4242816"/>
            <a:ext cx="32004" cy="813815"/>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247" y="4242816"/>
            <a:ext cx="2386584" cy="438912"/>
          </a:xfrm>
          <a:prstGeom prst="rect">
            <a:avLst/>
          </a:prstGeom>
          <a:noFill/>
        </p:spPr>
        <p:txBody>
          <a:bodyPr wrap="square" lIns="0" tIns="0" rIns="0" bIns="0">
            <a:spAutoFit/>
          </a:bodyPr>
          <a:lstStyle/>
          <a:p>
            <a:pPr algn="l">
              <a:spcAft>
                <a:spcPts val="200"/>
              </a:spcAft>
              <a:defRPr sz="1575" b="1">
                <a:solidFill>
                  <a:srgbClr val="F7F9FF"/>
                </a:solidFill>
                <a:latin typeface="DejaVu Sans"/>
              </a:defRPr>
            </a:pPr>
            <a:r>
              <a:t>Approved volunteer</a:t>
            </a:r>
          </a:p>
        </p:txBody>
      </p:sp>
      <p:sp>
        <p:nvSpPr>
          <p:cNvPr id="33" name="TextBox 32"/>
          <p:cNvSpPr txBox="1"/>
          <p:nvPr/>
        </p:nvSpPr>
        <p:spPr>
          <a:xfrm>
            <a:off x="850392" y="4690872"/>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Active status and permitted service</a:t>
            </a:r>
          </a:p>
        </p:txBody>
      </p:sp>
      <p:sp>
        <p:nvSpPr>
          <p:cNvPr id="34" name="Rounded Rectangle 33"/>
          <p:cNvSpPr/>
          <p:nvPr/>
        </p:nvSpPr>
        <p:spPr>
          <a:xfrm>
            <a:off x="4160520" y="4087368"/>
            <a:ext cx="2788920" cy="11247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78807" y="4242816"/>
            <a:ext cx="32004" cy="8138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61688" y="4242816"/>
            <a:ext cx="2386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Eligible matching</a:t>
            </a:r>
          </a:p>
        </p:txBody>
      </p:sp>
      <p:sp>
        <p:nvSpPr>
          <p:cNvPr id="37" name="TextBox 36"/>
          <p:cNvSpPr txBox="1"/>
          <p:nvPr/>
        </p:nvSpPr>
        <p:spPr>
          <a:xfrm>
            <a:off x="4370832" y="4690872"/>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Area, category, language, gender</a:t>
            </a:r>
          </a:p>
        </p:txBody>
      </p:sp>
      <p:sp>
        <p:nvSpPr>
          <p:cNvPr id="38" name="Rounded Rectangle 37"/>
          <p:cNvSpPr/>
          <p:nvPr/>
        </p:nvSpPr>
        <p:spPr>
          <a:xfrm>
            <a:off x="7680960" y="4087368"/>
            <a:ext cx="2788920" cy="11247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699248" y="4242816"/>
            <a:ext cx="32004" cy="8138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82128" y="4242816"/>
            <a:ext cx="2386584" cy="438912"/>
          </a:xfrm>
          <a:prstGeom prst="rect">
            <a:avLst/>
          </a:prstGeom>
          <a:noFill/>
        </p:spPr>
        <p:txBody>
          <a:bodyPr wrap="square" lIns="0" tIns="0" rIns="0" bIns="0">
            <a:spAutoFit/>
          </a:bodyPr>
          <a:lstStyle/>
          <a:p>
            <a:pPr algn="l">
              <a:spcAft>
                <a:spcPts val="200"/>
              </a:spcAft>
              <a:defRPr sz="1391" b="1">
                <a:solidFill>
                  <a:srgbClr val="F7F9FF"/>
                </a:solidFill>
                <a:latin typeface="DejaVu Sans"/>
              </a:defRPr>
            </a:pPr>
            <a:r>
              <a:t>Confirmed assignment</a:t>
            </a:r>
          </a:p>
        </p:txBody>
      </p:sp>
      <p:sp>
        <p:nvSpPr>
          <p:cNvPr id="41" name="TextBox 40"/>
          <p:cNvSpPr txBox="1"/>
          <p:nvPr/>
        </p:nvSpPr>
        <p:spPr>
          <a:xfrm>
            <a:off x="7891272" y="4690872"/>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Seeker / coordinator confirmation</a:t>
            </a:r>
          </a:p>
        </p:txBody>
      </p:sp>
      <p:sp>
        <p:nvSpPr>
          <p:cNvPr id="42" name="Rounded Rectangle 41"/>
          <p:cNvSpPr/>
          <p:nvPr/>
        </p:nvSpPr>
        <p:spPr>
          <a:xfrm>
            <a:off x="11201400" y="4087368"/>
            <a:ext cx="2788920" cy="1124712"/>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1219688" y="4242816"/>
            <a:ext cx="32004" cy="813815"/>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402568" y="4242816"/>
            <a:ext cx="2386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Progress &amp; closure</a:t>
            </a:r>
          </a:p>
        </p:txBody>
      </p:sp>
      <p:sp>
        <p:nvSpPr>
          <p:cNvPr id="45" name="TextBox 44"/>
          <p:cNvSpPr txBox="1"/>
          <p:nvPr/>
        </p:nvSpPr>
        <p:spPr>
          <a:xfrm>
            <a:off x="11411712" y="4690872"/>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Verified outcome; escalation if needed</a:t>
            </a:r>
          </a:p>
        </p:txBody>
      </p:sp>
      <p:sp>
        <p:nvSpPr>
          <p:cNvPr id="46" name="Rounded Rectangle 45"/>
          <p:cNvSpPr/>
          <p:nvPr/>
        </p:nvSpPr>
        <p:spPr>
          <a:xfrm>
            <a:off x="640080" y="5742432"/>
            <a:ext cx="2788920" cy="1124712"/>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58368" y="5897880"/>
            <a:ext cx="32004" cy="813815"/>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1247" y="5897880"/>
            <a:ext cx="2386584" cy="438912"/>
          </a:xfrm>
          <a:prstGeom prst="rect">
            <a:avLst/>
          </a:prstGeom>
          <a:noFill/>
        </p:spPr>
        <p:txBody>
          <a:bodyPr wrap="square" lIns="0" tIns="0" rIns="0" bIns="0">
            <a:spAutoFit/>
          </a:bodyPr>
          <a:lstStyle/>
          <a:p>
            <a:pPr algn="l">
              <a:spcAft>
                <a:spcPts val="200"/>
              </a:spcAft>
              <a:defRPr sz="1481" b="1">
                <a:solidFill>
                  <a:srgbClr val="F7F9FF"/>
                </a:solidFill>
                <a:latin typeface="DejaVu Sans"/>
              </a:defRPr>
            </a:pPr>
            <a:r>
              <a:t>Evidence &amp; interview</a:t>
            </a:r>
          </a:p>
        </p:txBody>
      </p:sp>
      <p:sp>
        <p:nvSpPr>
          <p:cNvPr id="49" name="TextBox 48"/>
          <p:cNvSpPr txBox="1"/>
          <p:nvPr/>
        </p:nvSpPr>
        <p:spPr>
          <a:xfrm>
            <a:off x="850392" y="6345936"/>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Evidence and MRM decision</a:t>
            </a:r>
          </a:p>
        </p:txBody>
      </p:sp>
      <p:sp>
        <p:nvSpPr>
          <p:cNvPr id="50" name="Rounded Rectangle 49"/>
          <p:cNvSpPr/>
          <p:nvPr/>
        </p:nvSpPr>
        <p:spPr>
          <a:xfrm>
            <a:off x="4160520" y="5742432"/>
            <a:ext cx="2788920" cy="11247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178807" y="5897880"/>
            <a:ext cx="32004" cy="8138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361688" y="5897880"/>
            <a:ext cx="2386584" cy="438912"/>
          </a:xfrm>
          <a:prstGeom prst="rect">
            <a:avLst/>
          </a:prstGeom>
          <a:noFill/>
        </p:spPr>
        <p:txBody>
          <a:bodyPr wrap="square" lIns="0" tIns="0" rIns="0" bIns="0">
            <a:spAutoFit/>
          </a:bodyPr>
          <a:lstStyle/>
          <a:p>
            <a:pPr algn="l">
              <a:spcAft>
                <a:spcPts val="200"/>
              </a:spcAft>
              <a:defRPr sz="1423" b="1">
                <a:solidFill>
                  <a:srgbClr val="F7F9FF"/>
                </a:solidFill>
                <a:latin typeface="DejaVu Sans"/>
              </a:defRPr>
            </a:pPr>
            <a:r>
              <a:t>Coordinator oversight</a:t>
            </a:r>
          </a:p>
        </p:txBody>
      </p:sp>
      <p:sp>
        <p:nvSpPr>
          <p:cNvPr id="53" name="TextBox 52"/>
          <p:cNvSpPr txBox="1"/>
          <p:nvPr/>
        </p:nvSpPr>
        <p:spPr>
          <a:xfrm>
            <a:off x="4370832" y="6345936"/>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Reassign or follow up unanswered work</a:t>
            </a:r>
          </a:p>
        </p:txBody>
      </p:sp>
      <p:sp>
        <p:nvSpPr>
          <p:cNvPr id="54" name="Rounded Rectangle 53"/>
          <p:cNvSpPr/>
          <p:nvPr/>
        </p:nvSpPr>
        <p:spPr>
          <a:xfrm>
            <a:off x="7680960" y="5742432"/>
            <a:ext cx="2788920" cy="11247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699248" y="5897880"/>
            <a:ext cx="32004" cy="8138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882128" y="5897880"/>
            <a:ext cx="2386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Alerts &amp; activity</a:t>
            </a:r>
          </a:p>
        </p:txBody>
      </p:sp>
      <p:sp>
        <p:nvSpPr>
          <p:cNvPr id="57" name="TextBox 56"/>
          <p:cNvSpPr txBox="1"/>
          <p:nvPr/>
        </p:nvSpPr>
        <p:spPr>
          <a:xfrm>
            <a:off x="7891272" y="6345936"/>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Only authorised status / action</a:t>
            </a:r>
          </a:p>
        </p:txBody>
      </p:sp>
      <p:sp>
        <p:nvSpPr>
          <p:cNvPr id="58" name="Rounded Rectangle 57"/>
          <p:cNvSpPr/>
          <p:nvPr/>
        </p:nvSpPr>
        <p:spPr>
          <a:xfrm>
            <a:off x="11201400" y="5742432"/>
            <a:ext cx="2788920" cy="1124712"/>
          </a:xfrm>
          <a:prstGeom prst="roundRect">
            <a:avLst>
              <a:gd name="adj" fmla="val 10000"/>
            </a:avLst>
          </a:prstGeom>
          <a:solidFill>
            <a:srgbClr val="1B2846"/>
          </a:solidFill>
          <a:ln w="12700">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1219688" y="5897880"/>
            <a:ext cx="32004" cy="813815"/>
          </a:xfrm>
          <a:prstGeom prst="rect">
            <a:avLst/>
          </a:prstGeom>
          <a:solidFill>
            <a:srgbClr val="E8C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1402568" y="5897880"/>
            <a:ext cx="2386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Service recognition</a:t>
            </a:r>
          </a:p>
        </p:txBody>
      </p:sp>
      <p:sp>
        <p:nvSpPr>
          <p:cNvPr id="61" name="TextBox 60"/>
          <p:cNvSpPr txBox="1"/>
          <p:nvPr/>
        </p:nvSpPr>
        <p:spPr>
          <a:xfrm>
            <a:off x="11411712" y="6345936"/>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MRM criteria; correction / appeal</a:t>
            </a:r>
          </a:p>
        </p:txBody>
      </p:sp>
      <p:sp>
        <p:nvSpPr>
          <p:cNvPr id="63" name="Rectangle 62"/>
          <p:cNvSpPr/>
          <p:nvPr/>
        </p:nvSpPr>
        <p:spPr>
          <a:xfrm>
            <a:off x="3547872" y="2743200"/>
            <a:ext cx="658368"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566160" y="2770632"/>
            <a:ext cx="621792" cy="210312"/>
          </a:xfrm>
          <a:prstGeom prst="rect">
            <a:avLst/>
          </a:prstGeom>
          <a:noFill/>
        </p:spPr>
        <p:txBody>
          <a:bodyPr wrap="square" lIns="0" tIns="0" rIns="0" bIns="0">
            <a:spAutoFit/>
          </a:bodyPr>
          <a:lstStyle/>
          <a:p>
            <a:pPr algn="ctr">
              <a:spcAft>
                <a:spcPts val="200"/>
              </a:spcAft>
              <a:defRPr sz="900" b="1">
                <a:solidFill>
                  <a:srgbClr val="62DAE8"/>
                </a:solidFill>
                <a:latin typeface="DejaVu Sans"/>
              </a:defRPr>
            </a:pPr>
            <a:r>
              <a:t>submit</a:t>
            </a:r>
          </a:p>
        </p:txBody>
      </p:sp>
      <p:sp>
        <p:nvSpPr>
          <p:cNvPr id="66" name="Rectangle 65"/>
          <p:cNvSpPr/>
          <p:nvPr/>
        </p:nvSpPr>
        <p:spPr>
          <a:xfrm>
            <a:off x="6986016" y="2743200"/>
            <a:ext cx="658368"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004303" y="2770632"/>
            <a:ext cx="621792" cy="210312"/>
          </a:xfrm>
          <a:prstGeom prst="rect">
            <a:avLst/>
          </a:prstGeom>
          <a:noFill/>
        </p:spPr>
        <p:txBody>
          <a:bodyPr wrap="square" lIns="0" tIns="0" rIns="0" bIns="0">
            <a:spAutoFit/>
          </a:bodyPr>
          <a:lstStyle/>
          <a:p>
            <a:pPr algn="ctr">
              <a:spcAft>
                <a:spcPts val="200"/>
              </a:spcAft>
              <a:defRPr sz="900" b="1">
                <a:solidFill>
                  <a:srgbClr val="E8C578"/>
                </a:solidFill>
                <a:latin typeface="DejaVu Sans"/>
              </a:defRPr>
            </a:pPr>
            <a:r>
              <a:t>private</a:t>
            </a:r>
          </a:p>
        </p:txBody>
      </p:sp>
      <p:sp>
        <p:nvSpPr>
          <p:cNvPr id="69" name="Rectangle 68"/>
          <p:cNvSpPr/>
          <p:nvPr/>
        </p:nvSpPr>
        <p:spPr>
          <a:xfrm>
            <a:off x="10415016" y="2743200"/>
            <a:ext cx="658368"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433304" y="2770632"/>
            <a:ext cx="621792" cy="210312"/>
          </a:xfrm>
          <a:prstGeom prst="rect">
            <a:avLst/>
          </a:prstGeom>
          <a:noFill/>
        </p:spPr>
        <p:txBody>
          <a:bodyPr wrap="square" lIns="0" tIns="0" rIns="0" bIns="0">
            <a:spAutoFit/>
          </a:bodyPr>
          <a:lstStyle/>
          <a:p>
            <a:pPr algn="ctr">
              <a:spcAft>
                <a:spcPts val="200"/>
              </a:spcAft>
              <a:defRPr sz="900" b="1">
                <a:solidFill>
                  <a:srgbClr val="E8C578"/>
                </a:solidFill>
                <a:latin typeface="DejaVu Sans"/>
              </a:defRPr>
            </a:pPr>
            <a:r>
              <a:t>assign</a:t>
            </a:r>
          </a:p>
        </p:txBody>
      </p:sp>
      <p:sp>
        <p:nvSpPr>
          <p:cNvPr id="72" name="Rectangle 71"/>
          <p:cNvSpPr/>
          <p:nvPr/>
        </p:nvSpPr>
        <p:spPr>
          <a:xfrm>
            <a:off x="4965192" y="3675887"/>
            <a:ext cx="914400"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983479" y="3703320"/>
            <a:ext cx="877824" cy="210312"/>
          </a:xfrm>
          <a:prstGeom prst="rect">
            <a:avLst/>
          </a:prstGeom>
          <a:noFill/>
        </p:spPr>
        <p:txBody>
          <a:bodyPr wrap="square" lIns="0" tIns="0" rIns="0" bIns="0">
            <a:spAutoFit/>
          </a:bodyPr>
          <a:lstStyle/>
          <a:p>
            <a:pPr algn="ctr">
              <a:spcAft>
                <a:spcPts val="200"/>
              </a:spcAft>
              <a:defRPr sz="900" b="1">
                <a:solidFill>
                  <a:srgbClr val="62DAE8"/>
                </a:solidFill>
                <a:latin typeface="DejaVu Sans"/>
              </a:defRPr>
            </a:pPr>
            <a:r>
              <a:t>routine</a:t>
            </a:r>
          </a:p>
        </p:txBody>
      </p:sp>
      <p:sp>
        <p:nvSpPr>
          <p:cNvPr id="75" name="Rectangle 74"/>
          <p:cNvSpPr/>
          <p:nvPr/>
        </p:nvSpPr>
        <p:spPr>
          <a:xfrm>
            <a:off x="1700784" y="5431536"/>
            <a:ext cx="914400"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719072" y="5458968"/>
            <a:ext cx="877824" cy="210312"/>
          </a:xfrm>
          <a:prstGeom prst="rect">
            <a:avLst/>
          </a:prstGeom>
          <a:noFill/>
        </p:spPr>
        <p:txBody>
          <a:bodyPr wrap="square" lIns="0" tIns="0" rIns="0" bIns="0">
            <a:spAutoFit/>
          </a:bodyPr>
          <a:lstStyle/>
          <a:p>
            <a:pPr algn="ctr">
              <a:spcAft>
                <a:spcPts val="200"/>
              </a:spcAft>
              <a:defRPr sz="900" b="1">
                <a:solidFill>
                  <a:srgbClr val="8DD8B1"/>
                </a:solidFill>
                <a:latin typeface="DejaVu Sans"/>
              </a:defRPr>
            </a:pPr>
            <a:r>
              <a:t>verify</a:t>
            </a:r>
          </a:p>
        </p:txBody>
      </p:sp>
      <p:sp>
        <p:nvSpPr>
          <p:cNvPr id="78" name="Rectangle 77"/>
          <p:cNvSpPr/>
          <p:nvPr/>
        </p:nvSpPr>
        <p:spPr>
          <a:xfrm>
            <a:off x="3547872" y="4407408"/>
            <a:ext cx="658368"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566160" y="4434840"/>
            <a:ext cx="621792" cy="210312"/>
          </a:xfrm>
          <a:prstGeom prst="rect">
            <a:avLst/>
          </a:prstGeom>
          <a:noFill/>
        </p:spPr>
        <p:txBody>
          <a:bodyPr wrap="square" lIns="0" tIns="0" rIns="0" bIns="0">
            <a:spAutoFit/>
          </a:bodyPr>
          <a:lstStyle/>
          <a:p>
            <a:pPr algn="ctr">
              <a:spcAft>
                <a:spcPts val="200"/>
              </a:spcAft>
              <a:defRPr sz="900" b="1">
                <a:solidFill>
                  <a:srgbClr val="8DD8B1"/>
                </a:solidFill>
                <a:latin typeface="DejaVu Sans"/>
              </a:defRPr>
            </a:pPr>
            <a:r>
              <a:t>eligible</a:t>
            </a:r>
          </a:p>
        </p:txBody>
      </p:sp>
      <p:sp>
        <p:nvSpPr>
          <p:cNvPr id="81" name="Rectangle 80"/>
          <p:cNvSpPr/>
          <p:nvPr/>
        </p:nvSpPr>
        <p:spPr>
          <a:xfrm>
            <a:off x="6986016" y="4407408"/>
            <a:ext cx="658368"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004303" y="4434840"/>
            <a:ext cx="621792" cy="210312"/>
          </a:xfrm>
          <a:prstGeom prst="rect">
            <a:avLst/>
          </a:prstGeom>
          <a:noFill/>
        </p:spPr>
        <p:txBody>
          <a:bodyPr wrap="square" lIns="0" tIns="0" rIns="0" bIns="0">
            <a:spAutoFit/>
          </a:bodyPr>
          <a:lstStyle/>
          <a:p>
            <a:pPr algn="ctr">
              <a:spcAft>
                <a:spcPts val="200"/>
              </a:spcAft>
              <a:defRPr sz="900" b="1">
                <a:solidFill>
                  <a:srgbClr val="62DAE8"/>
                </a:solidFill>
                <a:latin typeface="DejaVu Sans"/>
              </a:defRPr>
            </a:pPr>
            <a:r>
              <a:t>offer</a:t>
            </a:r>
          </a:p>
        </p:txBody>
      </p:sp>
      <p:sp>
        <p:nvSpPr>
          <p:cNvPr id="84" name="Rectangle 83"/>
          <p:cNvSpPr/>
          <p:nvPr/>
        </p:nvSpPr>
        <p:spPr>
          <a:xfrm>
            <a:off x="10415016" y="4407408"/>
            <a:ext cx="658368"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0433304" y="4434840"/>
            <a:ext cx="621792" cy="210312"/>
          </a:xfrm>
          <a:prstGeom prst="rect">
            <a:avLst/>
          </a:prstGeom>
          <a:noFill/>
        </p:spPr>
        <p:txBody>
          <a:bodyPr wrap="square" lIns="0" tIns="0" rIns="0" bIns="0">
            <a:spAutoFit/>
          </a:bodyPr>
          <a:lstStyle/>
          <a:p>
            <a:pPr algn="ctr">
              <a:spcAft>
                <a:spcPts val="200"/>
              </a:spcAft>
              <a:defRPr sz="900" b="1">
                <a:solidFill>
                  <a:srgbClr val="8DD8B1"/>
                </a:solidFill>
                <a:latin typeface="DejaVu Sans"/>
              </a:defRPr>
            </a:pPr>
            <a:r>
              <a:t>serve</a:t>
            </a:r>
          </a:p>
        </p:txBody>
      </p:sp>
      <p:sp>
        <p:nvSpPr>
          <p:cNvPr id="87" name="Rectangle 86"/>
          <p:cNvSpPr/>
          <p:nvPr/>
        </p:nvSpPr>
        <p:spPr>
          <a:xfrm>
            <a:off x="4754880" y="5449824"/>
            <a:ext cx="1280160"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4773168" y="5477256"/>
            <a:ext cx="1243584" cy="210312"/>
          </a:xfrm>
          <a:prstGeom prst="rect">
            <a:avLst/>
          </a:prstGeom>
          <a:noFill/>
        </p:spPr>
        <p:txBody>
          <a:bodyPr wrap="square" lIns="0" tIns="0" rIns="0" bIns="0">
            <a:spAutoFit/>
          </a:bodyPr>
          <a:lstStyle/>
          <a:p>
            <a:pPr algn="ctr">
              <a:spcAft>
                <a:spcPts val="200"/>
              </a:spcAft>
              <a:defRPr sz="900" b="1">
                <a:solidFill>
                  <a:srgbClr val="62DAE8"/>
                </a:solidFill>
                <a:latin typeface="DejaVu Sans"/>
              </a:defRPr>
            </a:pPr>
            <a:r>
              <a:t>no response</a:t>
            </a:r>
          </a:p>
        </p:txBody>
      </p:sp>
      <p:sp>
        <p:nvSpPr>
          <p:cNvPr id="90" name="Rectangle 89"/>
          <p:cNvSpPr/>
          <p:nvPr/>
        </p:nvSpPr>
        <p:spPr>
          <a:xfrm>
            <a:off x="8558784" y="5449824"/>
            <a:ext cx="914400"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577072" y="5477256"/>
            <a:ext cx="877824" cy="210312"/>
          </a:xfrm>
          <a:prstGeom prst="rect">
            <a:avLst/>
          </a:prstGeom>
          <a:noFill/>
        </p:spPr>
        <p:txBody>
          <a:bodyPr wrap="square" lIns="0" tIns="0" rIns="0" bIns="0">
            <a:spAutoFit/>
          </a:bodyPr>
          <a:lstStyle/>
          <a:p>
            <a:pPr algn="ctr">
              <a:spcAft>
                <a:spcPts val="200"/>
              </a:spcAft>
              <a:defRPr sz="900" b="1">
                <a:solidFill>
                  <a:srgbClr val="62DAE8"/>
                </a:solidFill>
                <a:latin typeface="DejaVu Sans"/>
              </a:defRPr>
            </a:pPr>
            <a:r>
              <a:t>updates</a:t>
            </a:r>
          </a:p>
        </p:txBody>
      </p:sp>
      <p:sp>
        <p:nvSpPr>
          <p:cNvPr id="93" name="Rectangle 92"/>
          <p:cNvSpPr/>
          <p:nvPr/>
        </p:nvSpPr>
        <p:spPr>
          <a:xfrm>
            <a:off x="11713464" y="5449824"/>
            <a:ext cx="1508760"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1731752" y="5477256"/>
            <a:ext cx="1472184" cy="210312"/>
          </a:xfrm>
          <a:prstGeom prst="rect">
            <a:avLst/>
          </a:prstGeom>
          <a:noFill/>
        </p:spPr>
        <p:txBody>
          <a:bodyPr wrap="square" lIns="0" tIns="0" rIns="0" bIns="0">
            <a:spAutoFit/>
          </a:bodyPr>
          <a:lstStyle/>
          <a:p>
            <a:pPr algn="ctr">
              <a:spcAft>
                <a:spcPts val="200"/>
              </a:spcAft>
              <a:defRPr sz="900" b="1">
                <a:solidFill>
                  <a:srgbClr val="E8C578"/>
                </a:solidFill>
                <a:latin typeface="DejaVu Sans"/>
              </a:defRPr>
            </a:pPr>
            <a:r>
              <a:t>verify credit</a:t>
            </a:r>
          </a:p>
        </p:txBody>
      </p:sp>
      <p:sp>
        <p:nvSpPr>
          <p:cNvPr id="95" name="Rounded Rectangle 94"/>
          <p:cNvSpPr/>
          <p:nvPr/>
        </p:nvSpPr>
        <p:spPr>
          <a:xfrm>
            <a:off x="640080" y="7132320"/>
            <a:ext cx="13350240" cy="329184"/>
          </a:xfrm>
          <a:prstGeom prst="roundRect">
            <a:avLst>
              <a:gd name="adj" fmla="val 10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22960" y="7187184"/>
            <a:ext cx="12938760" cy="237744"/>
          </a:xfrm>
          <a:prstGeom prst="rect">
            <a:avLst/>
          </a:prstGeom>
          <a:noFill/>
        </p:spPr>
        <p:txBody>
          <a:bodyPr wrap="square" lIns="0" tIns="0" rIns="0" bIns="0">
            <a:spAutoFit/>
          </a:bodyPr>
          <a:lstStyle/>
          <a:p>
            <a:pPr algn="l">
              <a:spcAft>
                <a:spcPts val="200"/>
              </a:spcAft>
              <a:defRPr sz="1050" b="0">
                <a:solidFill>
                  <a:srgbClr val="62DAE8"/>
                </a:solidFill>
                <a:latin typeface="DejaVu Sans"/>
              </a:defRPr>
            </a:pPr>
            <a:r>
              <a:t>Approval gates access; assignment gates case detail. Rank never grants sensitive-case or administrator access.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Connector 78"/>
          <p:cNvCxnSpPr/>
          <p:nvPr/>
        </p:nvCxnSpPr>
        <p:spPr>
          <a:xfrm flipV="1">
            <a:off x="9075420" y="5212079"/>
            <a:ext cx="0" cy="301753"/>
          </a:xfrm>
          <a:prstGeom prst="line">
            <a:avLst/>
          </a:prstGeom>
          <a:ln w="20320">
            <a:solidFill>
              <a:srgbClr val="E8C578"/>
            </a:solidFill>
            <a:tailEnd type="triangle" w="sm" len="sm"/>
            <a:prstDash val="dash"/>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5554980" y="5513832"/>
            <a:ext cx="3520440" cy="0"/>
          </a:xfrm>
          <a:prstGeom prst="line">
            <a:avLst/>
          </a:prstGeom>
          <a:ln w="20320">
            <a:solidFill>
              <a:srgbClr val="E8C578"/>
            </a:solidFill>
            <a:prstDash val="dash"/>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5554979" y="5212079"/>
            <a:ext cx="1" cy="301753"/>
          </a:xfrm>
          <a:prstGeom prst="line">
            <a:avLst/>
          </a:prstGeom>
          <a:ln w="20320">
            <a:solidFill>
              <a:srgbClr val="E8C578"/>
            </a:solidFill>
            <a:prstDash val="dash"/>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0469880" y="6304788"/>
            <a:ext cx="731520" cy="0"/>
          </a:xfrm>
          <a:prstGeom prst="line">
            <a:avLst/>
          </a:prstGeom>
          <a:ln w="20320">
            <a:solidFill>
              <a:srgbClr val="62DAE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949440" y="6304788"/>
            <a:ext cx="731520" cy="0"/>
          </a:xfrm>
          <a:prstGeom prst="line">
            <a:avLst/>
          </a:prstGeom>
          <a:ln w="20320">
            <a:solidFill>
              <a:srgbClr val="62DAE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3429000" y="6304788"/>
            <a:ext cx="731520" cy="0"/>
          </a:xfrm>
          <a:prstGeom prst="line">
            <a:avLst/>
          </a:prstGeom>
          <a:ln w="20320">
            <a:solidFill>
              <a:srgbClr val="62DAE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2034539" y="5212079"/>
            <a:ext cx="0" cy="530353"/>
          </a:xfrm>
          <a:prstGeom prst="line">
            <a:avLst/>
          </a:prstGeom>
          <a:ln w="20320">
            <a:solidFill>
              <a:srgbClr val="8DD8B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3429000" y="4649724"/>
            <a:ext cx="731520" cy="0"/>
          </a:xfrm>
          <a:prstGeom prst="line">
            <a:avLst/>
          </a:prstGeom>
          <a:ln w="20320">
            <a:solidFill>
              <a:srgbClr val="C2A3F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6949440" y="4649724"/>
            <a:ext cx="731520" cy="0"/>
          </a:xfrm>
          <a:prstGeom prst="line">
            <a:avLst/>
          </a:prstGeom>
          <a:ln w="20320">
            <a:solidFill>
              <a:srgbClr val="C2A3F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10469880" y="4649724"/>
            <a:ext cx="731520" cy="0"/>
          </a:xfrm>
          <a:prstGeom prst="line">
            <a:avLst/>
          </a:prstGeom>
          <a:ln w="20320">
            <a:solidFill>
              <a:srgbClr val="C2A3F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12595860" y="3557016"/>
            <a:ext cx="0" cy="530352"/>
          </a:xfrm>
          <a:prstGeom prst="line">
            <a:avLst/>
          </a:prstGeom>
          <a:ln w="20320">
            <a:solidFill>
              <a:srgbClr val="C2A3F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0469880" y="2994660"/>
            <a:ext cx="731520" cy="0"/>
          </a:xfrm>
          <a:prstGeom prst="line">
            <a:avLst/>
          </a:prstGeom>
          <a:ln w="20320">
            <a:solidFill>
              <a:srgbClr val="C2A3F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6949440" y="2994660"/>
            <a:ext cx="731520" cy="0"/>
          </a:xfrm>
          <a:prstGeom prst="line">
            <a:avLst/>
          </a:prstGeom>
          <a:ln w="20320">
            <a:solidFill>
              <a:srgbClr val="C2A3F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429000" y="2994660"/>
            <a:ext cx="731520" cy="0"/>
          </a:xfrm>
          <a:prstGeom prst="line">
            <a:avLst/>
          </a:prstGeom>
          <a:ln w="20320">
            <a:solidFill>
              <a:srgbClr val="C2A3FF"/>
            </a:solidFill>
            <a:tailEnd type="triangle" w="sm" len="sm"/>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10058400" cy="274320"/>
          </a:xfrm>
          <a:prstGeom prst="rect">
            <a:avLst/>
          </a:prstGeom>
          <a:noFill/>
        </p:spPr>
        <p:txBody>
          <a:bodyPr wrap="square" lIns="0" tIns="0" rIns="0" bIns="0">
            <a:spAutoFit/>
          </a:bodyPr>
          <a:lstStyle/>
          <a:p>
            <a:pPr algn="l">
              <a:spcAft>
                <a:spcPts val="200"/>
              </a:spcAft>
              <a:defRPr sz="1000" b="1">
                <a:solidFill>
                  <a:srgbClr val="62DAE8"/>
                </a:solidFill>
                <a:latin typeface="DejaVu Sans"/>
              </a:defRPr>
            </a:pPr>
            <a:r>
              <a:t>FEATURE CONNECTIVITY  /  MRM DIGITAL COMMUNITY PLATFORM</a:t>
            </a:r>
          </a:p>
        </p:txBody>
      </p:sp>
      <p:pic>
        <p:nvPicPr>
          <p:cNvPr id="6" name="Picture 5" descr="image.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41832"/>
            <a:ext cx="13350240" cy="603504"/>
          </a:xfrm>
          <a:prstGeom prst="rect">
            <a:avLst/>
          </a:prstGeom>
          <a:noFill/>
        </p:spPr>
        <p:txBody>
          <a:bodyPr wrap="square" lIns="0" tIns="0" rIns="0" bIns="0">
            <a:spAutoFit/>
          </a:bodyPr>
          <a:lstStyle/>
          <a:p>
            <a:pPr algn="l">
              <a:spcAft>
                <a:spcPts val="200"/>
              </a:spcAft>
              <a:defRPr sz="3100" b="1">
                <a:solidFill>
                  <a:srgbClr val="F7F9FF"/>
                </a:solidFill>
                <a:latin typeface="DejaVu Sans"/>
              </a:defRPr>
            </a:pPr>
            <a:r>
              <a:t>From approved teacher to trusted learning</a:t>
            </a:r>
          </a:p>
        </p:txBody>
      </p:sp>
      <p:sp>
        <p:nvSpPr>
          <p:cNvPr id="9" name="TextBox 8"/>
          <p:cNvSpPr txBox="1"/>
          <p:nvPr/>
        </p:nvSpPr>
        <p:spPr>
          <a:xfrm>
            <a:off x="658368" y="1645920"/>
            <a:ext cx="13258800" cy="502920"/>
          </a:xfrm>
          <a:prstGeom prst="rect">
            <a:avLst/>
          </a:prstGeom>
          <a:noFill/>
        </p:spPr>
        <p:txBody>
          <a:bodyPr wrap="square" lIns="0" tIns="0" rIns="0" bIns="0">
            <a:spAutoFit/>
          </a:bodyPr>
          <a:lstStyle/>
          <a:p>
            <a:pPr algn="l">
              <a:spcAft>
                <a:spcPts val="200"/>
              </a:spcAft>
              <a:defRPr sz="1400" b="0">
                <a:solidFill>
                  <a:srgbClr val="BBC8DF"/>
                </a:solidFill>
                <a:latin typeface="DejaVu Sans"/>
              </a:defRPr>
            </a:pPr>
            <a:r>
              <a:t>Teacher plans enable publishing allowances; MRM moderation controls what learners can actually see.</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3291840" cy="228600"/>
          </a:xfrm>
          <a:prstGeom prst="rect">
            <a:avLst/>
          </a:prstGeom>
          <a:noFill/>
        </p:spPr>
        <p:txBody>
          <a:bodyPr wrap="square" lIns="0" tIns="0" rIns="0" bIns="0">
            <a:spAutoFit/>
          </a:bodyPr>
          <a:lstStyle/>
          <a:p>
            <a:pPr algn="l">
              <a:spcAft>
                <a:spcPts val="200"/>
              </a:spcAft>
              <a:defRPr sz="900" b="0">
                <a:solidFill>
                  <a:srgbClr val="BBC8DF"/>
                </a:solidFill>
                <a:latin typeface="DejaVu Sans"/>
              </a:defRPr>
            </a:pPr>
            <a:r>
              <a:t>MRM  /  ZYLAX TECHNOLOGIES</a:t>
            </a:r>
          </a:p>
        </p:txBody>
      </p:sp>
      <p:sp>
        <p:nvSpPr>
          <p:cNvPr id="12" name="TextBox 11"/>
          <p:cNvSpPr txBox="1"/>
          <p:nvPr/>
        </p:nvSpPr>
        <p:spPr>
          <a:xfrm>
            <a:off x="3794760" y="7754112"/>
            <a:ext cx="7315200" cy="237744"/>
          </a:xfrm>
          <a:prstGeom prst="rect">
            <a:avLst/>
          </a:prstGeom>
          <a:noFill/>
        </p:spPr>
        <p:txBody>
          <a:bodyPr wrap="square" lIns="0" tIns="0" rIns="0" bIns="0">
            <a:spAutoFit/>
          </a:bodyPr>
          <a:lstStyle/>
          <a:p>
            <a:pPr algn="ctr">
              <a:spcAft>
                <a:spcPts val="200"/>
              </a:spcAft>
              <a:defRPr sz="900" b="0">
                <a:solidFill>
                  <a:srgbClr val="BBC8DF"/>
                </a:solidFill>
                <a:latin typeface="DejaVu Sans"/>
              </a:defRPr>
            </a:pPr>
            <a:r>
              <a:t>PROPOSED CONNECTIONS  /  EDITABLE NATIVE DIAGRAM</a:t>
            </a:r>
          </a:p>
        </p:txBody>
      </p:sp>
      <p:sp>
        <p:nvSpPr>
          <p:cNvPr id="13" name="TextBox 12"/>
          <p:cNvSpPr txBox="1"/>
          <p:nvPr/>
        </p:nvSpPr>
        <p:spPr>
          <a:xfrm>
            <a:off x="12801600" y="7708392"/>
            <a:ext cx="1188720" cy="320040"/>
          </a:xfrm>
          <a:prstGeom prst="rect">
            <a:avLst/>
          </a:prstGeom>
          <a:noFill/>
        </p:spPr>
        <p:txBody>
          <a:bodyPr wrap="square" lIns="0" tIns="0" rIns="0" bIns="0">
            <a:spAutoFit/>
          </a:bodyPr>
          <a:lstStyle/>
          <a:p>
            <a:pPr algn="r">
              <a:spcAft>
                <a:spcPts val="200"/>
              </a:spcAft>
              <a:defRPr sz="1200" b="1">
                <a:solidFill>
                  <a:srgbClr val="62DAE8"/>
                </a:solidFill>
                <a:latin typeface="DejaVu Sans"/>
              </a:defRPr>
            </a:pPr>
            <a:r>
              <a:t>04 / 8</a:t>
            </a:r>
          </a:p>
        </p:txBody>
      </p:sp>
      <p:sp>
        <p:nvSpPr>
          <p:cNvPr id="14" name="Rounded Rectangle 13"/>
          <p:cNvSpPr/>
          <p:nvPr/>
        </p:nvSpPr>
        <p:spPr>
          <a:xfrm>
            <a:off x="640080" y="2432304"/>
            <a:ext cx="2788920" cy="1124712"/>
          </a:xfrm>
          <a:prstGeom prst="roundRect">
            <a:avLst>
              <a:gd name="adj" fmla="val 10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2587752"/>
            <a:ext cx="32004" cy="813815"/>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2587752"/>
            <a:ext cx="2386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Teacher application</a:t>
            </a:r>
          </a:p>
        </p:txBody>
      </p:sp>
      <p:sp>
        <p:nvSpPr>
          <p:cNvPr id="17" name="TextBox 16"/>
          <p:cNvSpPr txBox="1"/>
          <p:nvPr/>
        </p:nvSpPr>
        <p:spPr>
          <a:xfrm>
            <a:off x="850392" y="3035808"/>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Credentials, subjects and evidence</a:t>
            </a:r>
          </a:p>
        </p:txBody>
      </p:sp>
      <p:sp>
        <p:nvSpPr>
          <p:cNvPr id="18" name="Rounded Rectangle 17"/>
          <p:cNvSpPr/>
          <p:nvPr/>
        </p:nvSpPr>
        <p:spPr>
          <a:xfrm>
            <a:off x="4160520" y="2432304"/>
            <a:ext cx="2788920" cy="1124712"/>
          </a:xfrm>
          <a:prstGeom prst="roundRect">
            <a:avLst>
              <a:gd name="adj" fmla="val 10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78807" y="2587752"/>
            <a:ext cx="32004" cy="813815"/>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61688" y="2587752"/>
            <a:ext cx="2386584" cy="438912"/>
          </a:xfrm>
          <a:prstGeom prst="rect">
            <a:avLst/>
          </a:prstGeom>
          <a:noFill/>
        </p:spPr>
        <p:txBody>
          <a:bodyPr wrap="square" lIns="0" tIns="0" rIns="0" bIns="0">
            <a:spAutoFit/>
          </a:bodyPr>
          <a:lstStyle/>
          <a:p>
            <a:pPr algn="l">
              <a:spcAft>
                <a:spcPts val="200"/>
              </a:spcAft>
              <a:defRPr sz="1388" b="1">
                <a:solidFill>
                  <a:srgbClr val="F7F9FF"/>
                </a:solidFill>
                <a:latin typeface="DejaVu Sans"/>
              </a:defRPr>
            </a:pPr>
            <a:r>
              <a:t>MRM teacher approval</a:t>
            </a:r>
          </a:p>
        </p:txBody>
      </p:sp>
      <p:sp>
        <p:nvSpPr>
          <p:cNvPr id="21" name="TextBox 20"/>
          <p:cNvSpPr txBox="1"/>
          <p:nvPr/>
        </p:nvSpPr>
        <p:spPr>
          <a:xfrm>
            <a:off x="4370832" y="3035808"/>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Authorised professional role</a:t>
            </a:r>
          </a:p>
        </p:txBody>
      </p:sp>
      <p:sp>
        <p:nvSpPr>
          <p:cNvPr id="22" name="Rounded Rectangle 21"/>
          <p:cNvSpPr/>
          <p:nvPr/>
        </p:nvSpPr>
        <p:spPr>
          <a:xfrm>
            <a:off x="7680960" y="2432304"/>
            <a:ext cx="2788920" cy="1124712"/>
          </a:xfrm>
          <a:prstGeom prst="roundRect">
            <a:avLst>
              <a:gd name="adj" fmla="val 10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99248" y="2587752"/>
            <a:ext cx="32004" cy="813815"/>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82128" y="2587752"/>
            <a:ext cx="2386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Select teacher plan</a:t>
            </a:r>
          </a:p>
        </p:txBody>
      </p:sp>
      <p:sp>
        <p:nvSpPr>
          <p:cNvPr id="25" name="TextBox 24"/>
          <p:cNvSpPr txBox="1"/>
          <p:nvPr/>
        </p:nvSpPr>
        <p:spPr>
          <a:xfrm>
            <a:off x="7891272" y="3035808"/>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MRM terms; applicable store billing</a:t>
            </a:r>
          </a:p>
        </p:txBody>
      </p:sp>
      <p:sp>
        <p:nvSpPr>
          <p:cNvPr id="26" name="Rounded Rectangle 25"/>
          <p:cNvSpPr/>
          <p:nvPr/>
        </p:nvSpPr>
        <p:spPr>
          <a:xfrm>
            <a:off x="11201400" y="2432304"/>
            <a:ext cx="2788920" cy="11247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219688" y="2587752"/>
            <a:ext cx="32004" cy="8138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402568" y="2587752"/>
            <a:ext cx="2386584" cy="438912"/>
          </a:xfrm>
          <a:prstGeom prst="rect">
            <a:avLst/>
          </a:prstGeom>
          <a:noFill/>
        </p:spPr>
        <p:txBody>
          <a:bodyPr wrap="square" lIns="0" tIns="0" rIns="0" bIns="0">
            <a:spAutoFit/>
          </a:bodyPr>
          <a:lstStyle/>
          <a:p>
            <a:pPr algn="l">
              <a:spcAft>
                <a:spcPts val="200"/>
              </a:spcAft>
              <a:defRPr sz="1558" b="1">
                <a:solidFill>
                  <a:srgbClr val="F7F9FF"/>
                </a:solidFill>
                <a:latin typeface="DejaVu Sans"/>
              </a:defRPr>
            </a:pPr>
            <a:r>
              <a:t>Verified entitlement</a:t>
            </a:r>
          </a:p>
        </p:txBody>
      </p:sp>
      <p:sp>
        <p:nvSpPr>
          <p:cNvPr id="29" name="TextBox 28"/>
          <p:cNvSpPr txBox="1"/>
          <p:nvPr/>
        </p:nvSpPr>
        <p:spPr>
          <a:xfrm>
            <a:off x="11411712" y="3035808"/>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Active paid / configured free plan</a:t>
            </a:r>
          </a:p>
        </p:txBody>
      </p:sp>
      <p:sp>
        <p:nvSpPr>
          <p:cNvPr id="30" name="Rounded Rectangle 29"/>
          <p:cNvSpPr/>
          <p:nvPr/>
        </p:nvSpPr>
        <p:spPr>
          <a:xfrm>
            <a:off x="640080" y="4087368"/>
            <a:ext cx="2788920" cy="1124712"/>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8368" y="4242816"/>
            <a:ext cx="32004" cy="813815"/>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247" y="4242816"/>
            <a:ext cx="2386584" cy="438912"/>
          </a:xfrm>
          <a:prstGeom prst="rect">
            <a:avLst/>
          </a:prstGeom>
          <a:noFill/>
        </p:spPr>
        <p:txBody>
          <a:bodyPr wrap="square" lIns="0" tIns="0" rIns="0" bIns="0">
            <a:spAutoFit/>
          </a:bodyPr>
          <a:lstStyle/>
          <a:p>
            <a:pPr algn="l">
              <a:spcAft>
                <a:spcPts val="200"/>
              </a:spcAft>
              <a:defRPr sz="1460" b="1">
                <a:solidFill>
                  <a:srgbClr val="F7F9FF"/>
                </a:solidFill>
                <a:latin typeface="DejaVu Sans"/>
              </a:defRPr>
            </a:pPr>
            <a:r>
              <a:t>Approved publication</a:t>
            </a:r>
          </a:p>
        </p:txBody>
      </p:sp>
      <p:sp>
        <p:nvSpPr>
          <p:cNvPr id="33" name="TextBox 32"/>
          <p:cNvSpPr txBox="1"/>
          <p:nvPr/>
        </p:nvSpPr>
        <p:spPr>
          <a:xfrm>
            <a:off x="850392" y="4690872"/>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Posts, teaching ads and programmes</a:t>
            </a:r>
          </a:p>
        </p:txBody>
      </p:sp>
      <p:sp>
        <p:nvSpPr>
          <p:cNvPr id="34" name="Rounded Rectangle 33"/>
          <p:cNvSpPr/>
          <p:nvPr/>
        </p:nvSpPr>
        <p:spPr>
          <a:xfrm>
            <a:off x="4160520" y="4087368"/>
            <a:ext cx="2788920" cy="1124712"/>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78807" y="4242816"/>
            <a:ext cx="32004" cy="813815"/>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61688" y="4242816"/>
            <a:ext cx="2386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MRM moderation</a:t>
            </a:r>
          </a:p>
        </p:txBody>
      </p:sp>
      <p:sp>
        <p:nvSpPr>
          <p:cNvPr id="37" name="TextBox 36"/>
          <p:cNvSpPr txBox="1"/>
          <p:nvPr/>
        </p:nvSpPr>
        <p:spPr>
          <a:xfrm>
            <a:off x="4370832" y="4690872"/>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Approve, return, schedule or withdraw</a:t>
            </a:r>
          </a:p>
        </p:txBody>
      </p:sp>
      <p:sp>
        <p:nvSpPr>
          <p:cNvPr id="38" name="Rounded Rectangle 37"/>
          <p:cNvSpPr/>
          <p:nvPr/>
        </p:nvSpPr>
        <p:spPr>
          <a:xfrm>
            <a:off x="7680960" y="4087368"/>
            <a:ext cx="2788920" cy="1124712"/>
          </a:xfrm>
          <a:prstGeom prst="roundRect">
            <a:avLst>
              <a:gd name="adj" fmla="val 10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699248" y="4242816"/>
            <a:ext cx="32004" cy="813815"/>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882128" y="4242816"/>
            <a:ext cx="2386584" cy="438912"/>
          </a:xfrm>
          <a:prstGeom prst="rect">
            <a:avLst/>
          </a:prstGeom>
          <a:noFill/>
        </p:spPr>
        <p:txBody>
          <a:bodyPr wrap="square" lIns="0" tIns="0" rIns="0" bIns="0">
            <a:spAutoFit/>
          </a:bodyPr>
          <a:lstStyle/>
          <a:p>
            <a:pPr algn="l">
              <a:spcAft>
                <a:spcPts val="200"/>
              </a:spcAft>
              <a:defRPr sz="1596" b="1">
                <a:solidFill>
                  <a:srgbClr val="F7F9FF"/>
                </a:solidFill>
                <a:latin typeface="DejaVu Sans"/>
              </a:defRPr>
            </a:pPr>
            <a:r>
              <a:t>Teacher submission</a:t>
            </a:r>
          </a:p>
        </p:txBody>
      </p:sp>
      <p:sp>
        <p:nvSpPr>
          <p:cNvPr id="41" name="TextBox 40"/>
          <p:cNvSpPr txBox="1"/>
          <p:nvPr/>
        </p:nvSpPr>
        <p:spPr>
          <a:xfrm>
            <a:off x="7891272" y="4690872"/>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Content, class proposal or recording</a:t>
            </a:r>
          </a:p>
        </p:txBody>
      </p:sp>
      <p:sp>
        <p:nvSpPr>
          <p:cNvPr id="42" name="Rounded Rectangle 41"/>
          <p:cNvSpPr/>
          <p:nvPr/>
        </p:nvSpPr>
        <p:spPr>
          <a:xfrm>
            <a:off x="11201400" y="4087368"/>
            <a:ext cx="2788920" cy="1124712"/>
          </a:xfrm>
          <a:prstGeom prst="roundRect">
            <a:avLst>
              <a:gd name="adj" fmla="val 10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1219688" y="4242816"/>
            <a:ext cx="32004" cy="813815"/>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402568" y="4242816"/>
            <a:ext cx="2386584" cy="438912"/>
          </a:xfrm>
          <a:prstGeom prst="rect">
            <a:avLst/>
          </a:prstGeom>
          <a:noFill/>
        </p:spPr>
        <p:txBody>
          <a:bodyPr wrap="square" lIns="0" tIns="0" rIns="0" bIns="0">
            <a:spAutoFit/>
          </a:bodyPr>
          <a:lstStyle/>
          <a:p>
            <a:pPr algn="l">
              <a:spcAft>
                <a:spcPts val="200"/>
              </a:spcAft>
              <a:defRPr sz="1484" b="1">
                <a:solidFill>
                  <a:srgbClr val="F7F9FF"/>
                </a:solidFill>
                <a:latin typeface="DejaVu Sans"/>
              </a:defRPr>
            </a:pPr>
            <a:r>
              <a:t>Publishing allowance</a:t>
            </a:r>
          </a:p>
        </p:txBody>
      </p:sp>
      <p:sp>
        <p:nvSpPr>
          <p:cNvPr id="45" name="TextBox 44"/>
          <p:cNvSpPr txBox="1"/>
          <p:nvPr/>
        </p:nvSpPr>
        <p:spPr>
          <a:xfrm>
            <a:off x="11411712" y="4690872"/>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Apply active plan limits</a:t>
            </a:r>
          </a:p>
        </p:txBody>
      </p:sp>
      <p:sp>
        <p:nvSpPr>
          <p:cNvPr id="46" name="Rounded Rectangle 45"/>
          <p:cNvSpPr/>
          <p:nvPr/>
        </p:nvSpPr>
        <p:spPr>
          <a:xfrm>
            <a:off x="640080" y="5742432"/>
            <a:ext cx="2788920" cy="11247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58368" y="5897880"/>
            <a:ext cx="32004" cy="8138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1247" y="5897880"/>
            <a:ext cx="2386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Learner discovery</a:t>
            </a:r>
          </a:p>
        </p:txBody>
      </p:sp>
      <p:sp>
        <p:nvSpPr>
          <p:cNvPr id="49" name="TextBox 48"/>
          <p:cNvSpPr txBox="1"/>
          <p:nvPr/>
        </p:nvSpPr>
        <p:spPr>
          <a:xfrm>
            <a:off x="850392" y="6345936"/>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Topic, language and teacher</a:t>
            </a:r>
          </a:p>
        </p:txBody>
      </p:sp>
      <p:sp>
        <p:nvSpPr>
          <p:cNvPr id="50" name="Rounded Rectangle 49"/>
          <p:cNvSpPr/>
          <p:nvPr/>
        </p:nvSpPr>
        <p:spPr>
          <a:xfrm>
            <a:off x="4160520" y="5742432"/>
            <a:ext cx="2788920" cy="11247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178807" y="5897880"/>
            <a:ext cx="32004" cy="8138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361688" y="5897880"/>
            <a:ext cx="2386584" cy="438912"/>
          </a:xfrm>
          <a:prstGeom prst="rect">
            <a:avLst/>
          </a:prstGeom>
          <a:noFill/>
        </p:spPr>
        <p:txBody>
          <a:bodyPr wrap="square" lIns="0" tIns="0" rIns="0" bIns="0">
            <a:spAutoFit/>
          </a:bodyPr>
          <a:lstStyle/>
          <a:p>
            <a:pPr algn="l">
              <a:spcAft>
                <a:spcPts val="200"/>
              </a:spcAft>
              <a:defRPr sz="1489" b="1">
                <a:solidFill>
                  <a:srgbClr val="F7F9FF"/>
                </a:solidFill>
                <a:latin typeface="DejaVu Sans"/>
              </a:defRPr>
            </a:pPr>
            <a:r>
              <a:t>Programme &amp; access</a:t>
            </a:r>
          </a:p>
        </p:txBody>
      </p:sp>
      <p:sp>
        <p:nvSpPr>
          <p:cNvPr id="53" name="TextBox 52"/>
          <p:cNvSpPr txBox="1"/>
          <p:nvPr/>
        </p:nvSpPr>
        <p:spPr>
          <a:xfrm>
            <a:off x="4370832" y="6345936"/>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Details and registration rules</a:t>
            </a:r>
          </a:p>
        </p:txBody>
      </p:sp>
      <p:sp>
        <p:nvSpPr>
          <p:cNvPr id="54" name="Rounded Rectangle 53"/>
          <p:cNvSpPr/>
          <p:nvPr/>
        </p:nvSpPr>
        <p:spPr>
          <a:xfrm>
            <a:off x="7680960" y="5742432"/>
            <a:ext cx="2788920" cy="11247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699248" y="5897880"/>
            <a:ext cx="32004" cy="8138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882128" y="5897880"/>
            <a:ext cx="2386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Live class / event</a:t>
            </a:r>
          </a:p>
        </p:txBody>
      </p:sp>
      <p:sp>
        <p:nvSpPr>
          <p:cNvPr id="57" name="TextBox 56"/>
          <p:cNvSpPr txBox="1"/>
          <p:nvPr/>
        </p:nvSpPr>
        <p:spPr>
          <a:xfrm>
            <a:off x="7891272" y="6345936"/>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Reminder and permitted session access</a:t>
            </a:r>
          </a:p>
        </p:txBody>
      </p:sp>
      <p:sp>
        <p:nvSpPr>
          <p:cNvPr id="58" name="Rounded Rectangle 57"/>
          <p:cNvSpPr/>
          <p:nvPr/>
        </p:nvSpPr>
        <p:spPr>
          <a:xfrm>
            <a:off x="11201400" y="5742432"/>
            <a:ext cx="2788920" cy="11247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1219688" y="5897880"/>
            <a:ext cx="32004" cy="8138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1402568" y="5897880"/>
            <a:ext cx="2386584" cy="438912"/>
          </a:xfrm>
          <a:prstGeom prst="rect">
            <a:avLst/>
          </a:prstGeom>
          <a:noFill/>
        </p:spPr>
        <p:txBody>
          <a:bodyPr wrap="square" lIns="0" tIns="0" rIns="0" bIns="0">
            <a:spAutoFit/>
          </a:bodyPr>
          <a:lstStyle/>
          <a:p>
            <a:pPr algn="l">
              <a:spcAft>
                <a:spcPts val="200"/>
              </a:spcAft>
              <a:defRPr sz="1496" b="1">
                <a:solidFill>
                  <a:srgbClr val="F7F9FF"/>
                </a:solidFill>
                <a:latin typeface="DejaVu Sans"/>
              </a:defRPr>
            </a:pPr>
            <a:r>
              <a:t>Approved recordings</a:t>
            </a:r>
          </a:p>
        </p:txBody>
      </p:sp>
      <p:sp>
        <p:nvSpPr>
          <p:cNvPr id="61" name="TextBox 60"/>
          <p:cNvSpPr txBox="1"/>
          <p:nvPr/>
        </p:nvSpPr>
        <p:spPr>
          <a:xfrm>
            <a:off x="11411712" y="6345936"/>
            <a:ext cx="2368296" cy="4572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Continue learning after the session</a:t>
            </a:r>
          </a:p>
        </p:txBody>
      </p:sp>
      <p:sp>
        <p:nvSpPr>
          <p:cNvPr id="66" name="Rectangle 65"/>
          <p:cNvSpPr/>
          <p:nvPr/>
        </p:nvSpPr>
        <p:spPr>
          <a:xfrm>
            <a:off x="11923776" y="3675887"/>
            <a:ext cx="914400"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1942063" y="3703320"/>
            <a:ext cx="877824" cy="210312"/>
          </a:xfrm>
          <a:prstGeom prst="rect">
            <a:avLst/>
          </a:prstGeom>
          <a:noFill/>
        </p:spPr>
        <p:txBody>
          <a:bodyPr wrap="square" lIns="0" tIns="0" rIns="0" bIns="0">
            <a:spAutoFit/>
          </a:bodyPr>
          <a:lstStyle/>
          <a:p>
            <a:pPr algn="ctr">
              <a:spcAft>
                <a:spcPts val="200"/>
              </a:spcAft>
              <a:defRPr sz="900" b="1">
                <a:solidFill>
                  <a:srgbClr val="C2A3FF"/>
                </a:solidFill>
                <a:latin typeface="DejaVu Sans"/>
              </a:defRPr>
            </a:pPr>
            <a:r>
              <a:t>enables</a:t>
            </a:r>
          </a:p>
        </p:txBody>
      </p:sp>
      <p:sp>
        <p:nvSpPr>
          <p:cNvPr id="72" name="Rectangle 71"/>
          <p:cNvSpPr/>
          <p:nvPr/>
        </p:nvSpPr>
        <p:spPr>
          <a:xfrm>
            <a:off x="1700784" y="5449824"/>
            <a:ext cx="914400"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719072" y="5477256"/>
            <a:ext cx="877824" cy="210312"/>
          </a:xfrm>
          <a:prstGeom prst="rect">
            <a:avLst/>
          </a:prstGeom>
          <a:noFill/>
        </p:spPr>
        <p:txBody>
          <a:bodyPr wrap="square" lIns="0" tIns="0" rIns="0" bIns="0">
            <a:spAutoFit/>
          </a:bodyPr>
          <a:lstStyle/>
          <a:p>
            <a:pPr algn="ctr">
              <a:spcAft>
                <a:spcPts val="200"/>
              </a:spcAft>
              <a:defRPr sz="900" b="1">
                <a:solidFill>
                  <a:srgbClr val="8DD8B1"/>
                </a:solidFill>
                <a:latin typeface="DejaVu Sans"/>
              </a:defRPr>
            </a:pPr>
            <a:r>
              <a:t>publish</a:t>
            </a:r>
          </a:p>
        </p:txBody>
      </p:sp>
      <p:sp>
        <p:nvSpPr>
          <p:cNvPr id="80" name="Rectangle 79"/>
          <p:cNvSpPr/>
          <p:nvPr/>
        </p:nvSpPr>
        <p:spPr>
          <a:xfrm>
            <a:off x="6309360" y="5385816"/>
            <a:ext cx="1920240" cy="256032"/>
          </a:xfrm>
          <a:prstGeom prst="rect">
            <a:avLst/>
          </a:prstGeom>
          <a:solidFill>
            <a:srgbClr val="11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327648" y="5413248"/>
            <a:ext cx="1883664" cy="210312"/>
          </a:xfrm>
          <a:prstGeom prst="rect">
            <a:avLst/>
          </a:prstGeom>
          <a:noFill/>
        </p:spPr>
        <p:txBody>
          <a:bodyPr wrap="square" lIns="0" tIns="0" rIns="0" bIns="0">
            <a:spAutoFit/>
          </a:bodyPr>
          <a:lstStyle/>
          <a:p>
            <a:pPr algn="ctr">
              <a:spcAft>
                <a:spcPts val="200"/>
              </a:spcAft>
              <a:defRPr sz="900" b="1">
                <a:solidFill>
                  <a:srgbClr val="E8C578"/>
                </a:solidFill>
                <a:latin typeface="DejaVu Sans"/>
              </a:defRPr>
            </a:pPr>
            <a:r>
              <a:t>return for revision</a:t>
            </a:r>
          </a:p>
        </p:txBody>
      </p:sp>
      <p:sp>
        <p:nvSpPr>
          <p:cNvPr id="82" name="Rounded Rectangle 81"/>
          <p:cNvSpPr/>
          <p:nvPr/>
        </p:nvSpPr>
        <p:spPr>
          <a:xfrm>
            <a:off x="640080" y="7132320"/>
            <a:ext cx="13350240" cy="329184"/>
          </a:xfrm>
          <a:prstGeom prst="roundRect">
            <a:avLst>
              <a:gd name="adj" fmla="val 10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22960" y="7187184"/>
            <a:ext cx="12938760" cy="237744"/>
          </a:xfrm>
          <a:prstGeom prst="rect">
            <a:avLst/>
          </a:prstGeom>
          <a:noFill/>
        </p:spPr>
        <p:txBody>
          <a:bodyPr wrap="square" lIns="0" tIns="0" rIns="0" bIns="0">
            <a:spAutoFit/>
          </a:bodyPr>
          <a:lstStyle/>
          <a:p>
            <a:pPr algn="l">
              <a:spcAft>
                <a:spcPts val="200"/>
              </a:spcAft>
              <a:defRPr sz="1050" b="0">
                <a:solidFill>
                  <a:srgbClr val="62DAE8"/>
                </a:solidFill>
                <a:latin typeface="DejaVu Sans"/>
              </a:defRPr>
            </a:pPr>
            <a:r>
              <a:t>Payment does not approve content or grant staff access. Learners and volunteers do not need teacher subscriptions.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8595359" y="6318503"/>
            <a:ext cx="731521" cy="0"/>
          </a:xfrm>
          <a:prstGeom prst="line">
            <a:avLst/>
          </a:prstGeom>
          <a:ln w="20320">
            <a:solidFill>
              <a:srgbClr val="8DD8B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4023360" y="6318503"/>
            <a:ext cx="640080" cy="0"/>
          </a:xfrm>
          <a:prstGeom prst="line">
            <a:avLst/>
          </a:prstGeom>
          <a:ln w="20320">
            <a:solidFill>
              <a:srgbClr val="8DD8B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8595359" y="4745736"/>
            <a:ext cx="731521" cy="0"/>
          </a:xfrm>
          <a:prstGeom prst="line">
            <a:avLst/>
          </a:prstGeom>
          <a:ln w="20320">
            <a:solidFill>
              <a:srgbClr val="C2A3F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4023360" y="4745736"/>
            <a:ext cx="640080" cy="0"/>
          </a:xfrm>
          <a:prstGeom prst="line">
            <a:avLst/>
          </a:prstGeom>
          <a:ln w="20320">
            <a:solidFill>
              <a:srgbClr val="C2A3F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8595359" y="3172968"/>
            <a:ext cx="731521" cy="0"/>
          </a:xfrm>
          <a:prstGeom prst="line">
            <a:avLst/>
          </a:prstGeom>
          <a:ln w="20320">
            <a:solidFill>
              <a:srgbClr val="62DAE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4023360" y="3172968"/>
            <a:ext cx="640080" cy="0"/>
          </a:xfrm>
          <a:prstGeom prst="line">
            <a:avLst/>
          </a:prstGeom>
          <a:ln w="20320">
            <a:solidFill>
              <a:srgbClr val="62DAE8"/>
            </a:solidFill>
            <a:tailEnd type="triangle" w="sm" len="sm"/>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10058400" cy="274320"/>
          </a:xfrm>
          <a:prstGeom prst="rect">
            <a:avLst/>
          </a:prstGeom>
          <a:noFill/>
        </p:spPr>
        <p:txBody>
          <a:bodyPr wrap="square" lIns="0" tIns="0" rIns="0" bIns="0">
            <a:spAutoFit/>
          </a:bodyPr>
          <a:lstStyle/>
          <a:p>
            <a:pPr algn="l">
              <a:spcAft>
                <a:spcPts val="200"/>
              </a:spcAft>
              <a:defRPr sz="1000" b="1">
                <a:solidFill>
                  <a:srgbClr val="62DAE8"/>
                </a:solidFill>
                <a:latin typeface="DejaVu Sans"/>
              </a:defRPr>
            </a:pPr>
            <a:r>
              <a:t>FEATURE CONNECTIVITY  /  MRM DIGITAL COMMUNITY PLATFORM</a:t>
            </a:r>
          </a:p>
        </p:txBody>
      </p:sp>
      <p:pic>
        <p:nvPicPr>
          <p:cNvPr id="6" name="Picture 5" descr="image.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41832"/>
            <a:ext cx="13350240" cy="603504"/>
          </a:xfrm>
          <a:prstGeom prst="rect">
            <a:avLst/>
          </a:prstGeom>
          <a:noFill/>
        </p:spPr>
        <p:txBody>
          <a:bodyPr wrap="square" lIns="0" tIns="0" rIns="0" bIns="0">
            <a:spAutoFit/>
          </a:bodyPr>
          <a:lstStyle/>
          <a:p>
            <a:pPr algn="l">
              <a:spcAft>
                <a:spcPts val="200"/>
              </a:spcAft>
              <a:defRPr sz="3100" b="1">
                <a:solidFill>
                  <a:srgbClr val="F7F9FF"/>
                </a:solidFill>
                <a:latin typeface="DejaVu Sans"/>
              </a:defRPr>
            </a:pPr>
            <a:r>
              <a:t>Daily utilities connect through approved inputs</a:t>
            </a:r>
          </a:p>
        </p:txBody>
      </p:sp>
      <p:sp>
        <p:nvSpPr>
          <p:cNvPr id="9" name="TextBox 8"/>
          <p:cNvSpPr txBox="1"/>
          <p:nvPr/>
        </p:nvSpPr>
        <p:spPr>
          <a:xfrm>
            <a:off x="658368" y="1645920"/>
            <a:ext cx="13258800" cy="502920"/>
          </a:xfrm>
          <a:prstGeom prst="rect">
            <a:avLst/>
          </a:prstGeom>
          <a:noFill/>
        </p:spPr>
        <p:txBody>
          <a:bodyPr wrap="square" lIns="0" tIns="0" rIns="0" bIns="0">
            <a:spAutoFit/>
          </a:bodyPr>
          <a:lstStyle/>
          <a:p>
            <a:pPr algn="l">
              <a:spcAft>
                <a:spcPts val="200"/>
              </a:spcAft>
              <a:defRPr sz="1400" b="0">
                <a:solidFill>
                  <a:srgbClr val="BBC8DF"/>
                </a:solidFill>
                <a:latin typeface="DejaVu Sans"/>
              </a:defRPr>
            </a:pPr>
            <a:r>
              <a:t>Location, religious content and local conventions feed the right tools without mixing unrelated permissions.</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3291840" cy="228600"/>
          </a:xfrm>
          <a:prstGeom prst="rect">
            <a:avLst/>
          </a:prstGeom>
          <a:noFill/>
        </p:spPr>
        <p:txBody>
          <a:bodyPr wrap="square" lIns="0" tIns="0" rIns="0" bIns="0">
            <a:spAutoFit/>
          </a:bodyPr>
          <a:lstStyle/>
          <a:p>
            <a:pPr algn="l">
              <a:spcAft>
                <a:spcPts val="200"/>
              </a:spcAft>
              <a:defRPr sz="900" b="0">
                <a:solidFill>
                  <a:srgbClr val="BBC8DF"/>
                </a:solidFill>
                <a:latin typeface="DejaVu Sans"/>
              </a:defRPr>
            </a:pPr>
            <a:r>
              <a:t>MRM  /  ZYLAX TECHNOLOGIES</a:t>
            </a:r>
          </a:p>
        </p:txBody>
      </p:sp>
      <p:sp>
        <p:nvSpPr>
          <p:cNvPr id="12" name="TextBox 11"/>
          <p:cNvSpPr txBox="1"/>
          <p:nvPr/>
        </p:nvSpPr>
        <p:spPr>
          <a:xfrm>
            <a:off x="3794760" y="7754112"/>
            <a:ext cx="7315200" cy="237744"/>
          </a:xfrm>
          <a:prstGeom prst="rect">
            <a:avLst/>
          </a:prstGeom>
          <a:noFill/>
        </p:spPr>
        <p:txBody>
          <a:bodyPr wrap="square" lIns="0" tIns="0" rIns="0" bIns="0">
            <a:spAutoFit/>
          </a:bodyPr>
          <a:lstStyle/>
          <a:p>
            <a:pPr algn="ctr">
              <a:spcAft>
                <a:spcPts val="200"/>
              </a:spcAft>
              <a:defRPr sz="900" b="0">
                <a:solidFill>
                  <a:srgbClr val="BBC8DF"/>
                </a:solidFill>
                <a:latin typeface="DejaVu Sans"/>
              </a:defRPr>
            </a:pPr>
            <a:r>
              <a:t>PROPOSED CONNECTIONS  /  EDITABLE NATIVE DIAGRAM</a:t>
            </a:r>
          </a:p>
        </p:txBody>
      </p:sp>
      <p:sp>
        <p:nvSpPr>
          <p:cNvPr id="13" name="TextBox 12"/>
          <p:cNvSpPr txBox="1"/>
          <p:nvPr/>
        </p:nvSpPr>
        <p:spPr>
          <a:xfrm>
            <a:off x="12801600" y="7708392"/>
            <a:ext cx="1188720" cy="320040"/>
          </a:xfrm>
          <a:prstGeom prst="rect">
            <a:avLst/>
          </a:prstGeom>
          <a:noFill/>
        </p:spPr>
        <p:txBody>
          <a:bodyPr wrap="square" lIns="0" tIns="0" rIns="0" bIns="0">
            <a:spAutoFit/>
          </a:bodyPr>
          <a:lstStyle/>
          <a:p>
            <a:pPr algn="r">
              <a:spcAft>
                <a:spcPts val="200"/>
              </a:spcAft>
              <a:defRPr sz="1200" b="1">
                <a:solidFill>
                  <a:srgbClr val="62DAE8"/>
                </a:solidFill>
                <a:latin typeface="DejaVu Sans"/>
              </a:defRPr>
            </a:pPr>
            <a:r>
              <a:t>05 / 8</a:t>
            </a:r>
          </a:p>
        </p:txBody>
      </p:sp>
      <p:sp>
        <p:nvSpPr>
          <p:cNvPr id="14" name="TextBox 13"/>
          <p:cNvSpPr txBox="1"/>
          <p:nvPr/>
        </p:nvSpPr>
        <p:spPr>
          <a:xfrm>
            <a:off x="640080" y="2148840"/>
            <a:ext cx="4297680" cy="228600"/>
          </a:xfrm>
          <a:prstGeom prst="rect">
            <a:avLst/>
          </a:prstGeom>
          <a:noFill/>
        </p:spPr>
        <p:txBody>
          <a:bodyPr wrap="square" lIns="0" tIns="0" rIns="0" bIns="0">
            <a:spAutoFit/>
          </a:bodyPr>
          <a:lstStyle/>
          <a:p>
            <a:pPr algn="l">
              <a:spcAft>
                <a:spcPts val="200"/>
              </a:spcAft>
              <a:defRPr sz="1000" b="1">
                <a:solidFill>
                  <a:srgbClr val="62DAE8"/>
                </a:solidFill>
                <a:latin typeface="DejaVu Sans"/>
              </a:defRPr>
            </a:pPr>
            <a:r>
              <a:t>INPUT / USER CHOICE</a:t>
            </a:r>
          </a:p>
        </p:txBody>
      </p:sp>
      <p:sp>
        <p:nvSpPr>
          <p:cNvPr id="15" name="TextBox 14"/>
          <p:cNvSpPr txBox="1"/>
          <p:nvPr/>
        </p:nvSpPr>
        <p:spPr>
          <a:xfrm>
            <a:off x="4663440" y="2148840"/>
            <a:ext cx="4297680" cy="228600"/>
          </a:xfrm>
          <a:prstGeom prst="rect">
            <a:avLst/>
          </a:prstGeom>
          <a:noFill/>
        </p:spPr>
        <p:txBody>
          <a:bodyPr wrap="square" lIns="0" tIns="0" rIns="0" bIns="0">
            <a:spAutoFit/>
          </a:bodyPr>
          <a:lstStyle/>
          <a:p>
            <a:pPr algn="l">
              <a:spcAft>
                <a:spcPts val="200"/>
              </a:spcAft>
              <a:defRPr sz="1000" b="1">
                <a:solidFill>
                  <a:srgbClr val="62DAE8"/>
                </a:solidFill>
                <a:latin typeface="DejaVu Sans"/>
              </a:defRPr>
            </a:pPr>
            <a:r>
              <a:t>VALIDATION / CONFIGURATION</a:t>
            </a:r>
          </a:p>
        </p:txBody>
      </p:sp>
      <p:sp>
        <p:nvSpPr>
          <p:cNvPr id="16" name="TextBox 15"/>
          <p:cNvSpPr txBox="1"/>
          <p:nvPr/>
        </p:nvSpPr>
        <p:spPr>
          <a:xfrm>
            <a:off x="9326880" y="2148840"/>
            <a:ext cx="4297680" cy="228600"/>
          </a:xfrm>
          <a:prstGeom prst="rect">
            <a:avLst/>
          </a:prstGeom>
          <a:noFill/>
        </p:spPr>
        <p:txBody>
          <a:bodyPr wrap="square" lIns="0" tIns="0" rIns="0" bIns="0">
            <a:spAutoFit/>
          </a:bodyPr>
          <a:lstStyle/>
          <a:p>
            <a:pPr algn="l">
              <a:spcAft>
                <a:spcPts val="200"/>
              </a:spcAft>
              <a:defRPr sz="1000" b="1">
                <a:solidFill>
                  <a:srgbClr val="62DAE8"/>
                </a:solidFill>
                <a:latin typeface="DejaVu Sans"/>
              </a:defRPr>
            </a:pPr>
            <a:r>
              <a:t>CONNECTED EXPERIENCE</a:t>
            </a:r>
          </a:p>
        </p:txBody>
      </p:sp>
      <p:sp>
        <p:nvSpPr>
          <p:cNvPr id="17" name="Rounded Rectangle 16"/>
          <p:cNvSpPr/>
          <p:nvPr/>
        </p:nvSpPr>
        <p:spPr>
          <a:xfrm>
            <a:off x="640080" y="2624328"/>
            <a:ext cx="3383280" cy="1097280"/>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2779776"/>
            <a:ext cx="32004" cy="786383"/>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7" y="2779776"/>
            <a:ext cx="298094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Location or manual area</a:t>
            </a:r>
          </a:p>
        </p:txBody>
      </p:sp>
      <p:sp>
        <p:nvSpPr>
          <p:cNvPr id="20" name="TextBox 19"/>
          <p:cNvSpPr txBox="1"/>
          <p:nvPr/>
        </p:nvSpPr>
        <p:spPr>
          <a:xfrm>
            <a:off x="850392" y="3227832"/>
            <a:ext cx="2962656" cy="42976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Consent and device capability</a:t>
            </a:r>
          </a:p>
        </p:txBody>
      </p:sp>
      <p:sp>
        <p:nvSpPr>
          <p:cNvPr id="21" name="Rounded Rectangle 20"/>
          <p:cNvSpPr/>
          <p:nvPr/>
        </p:nvSpPr>
        <p:spPr>
          <a:xfrm>
            <a:off x="4663440" y="2624328"/>
            <a:ext cx="3931920" cy="1097280"/>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81727" y="2779776"/>
            <a:ext cx="32004" cy="786383"/>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64607" y="2779776"/>
            <a:ext cx="3529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Local prayer &amp; map settings</a:t>
            </a:r>
          </a:p>
        </p:txBody>
      </p:sp>
      <p:sp>
        <p:nvSpPr>
          <p:cNvPr id="24" name="TextBox 23"/>
          <p:cNvSpPr txBox="1"/>
          <p:nvPr/>
        </p:nvSpPr>
        <p:spPr>
          <a:xfrm>
            <a:off x="4873752" y="3227832"/>
            <a:ext cx="3511296" cy="42976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Local times, direction and place sources</a:t>
            </a:r>
          </a:p>
        </p:txBody>
      </p:sp>
      <p:sp>
        <p:nvSpPr>
          <p:cNvPr id="25" name="Rounded Rectangle 24"/>
          <p:cNvSpPr/>
          <p:nvPr/>
        </p:nvSpPr>
        <p:spPr>
          <a:xfrm>
            <a:off x="9326880" y="2624328"/>
            <a:ext cx="4663440" cy="1097280"/>
          </a:xfrm>
          <a:prstGeom prst="roundRect">
            <a:avLst>
              <a:gd name="adj" fmla="val 10000"/>
            </a:avLst>
          </a:prstGeom>
          <a:solidFill>
            <a:srgbClr val="1B2846"/>
          </a:solidFill>
          <a:ln w="12700">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345167" y="2779776"/>
            <a:ext cx="32004" cy="786383"/>
          </a:xfrm>
          <a:prstGeom prst="rect">
            <a:avLst/>
          </a:prstGeom>
          <a:solidFill>
            <a:srgbClr val="E8C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28048" y="2779776"/>
            <a:ext cx="4261103"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Prayer • Qibla • nearby mosques</a:t>
            </a:r>
          </a:p>
        </p:txBody>
      </p:sp>
      <p:sp>
        <p:nvSpPr>
          <p:cNvPr id="28" name="TextBox 27"/>
          <p:cNvSpPr txBox="1"/>
          <p:nvPr/>
        </p:nvSpPr>
        <p:spPr>
          <a:xfrm>
            <a:off x="9537192" y="3227832"/>
            <a:ext cx="4242816" cy="42976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Useful daily guidance; permission handling</a:t>
            </a:r>
          </a:p>
        </p:txBody>
      </p:sp>
      <p:sp>
        <p:nvSpPr>
          <p:cNvPr id="29" name="Rounded Rectangle 28"/>
          <p:cNvSpPr/>
          <p:nvPr/>
        </p:nvSpPr>
        <p:spPr>
          <a:xfrm>
            <a:off x="640080" y="4197096"/>
            <a:ext cx="3383280" cy="1097280"/>
          </a:xfrm>
          <a:prstGeom prst="roundRect">
            <a:avLst>
              <a:gd name="adj" fmla="val 10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8368" y="4352544"/>
            <a:ext cx="32004" cy="786383"/>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7" y="4352544"/>
            <a:ext cx="2980944" cy="438912"/>
          </a:xfrm>
          <a:prstGeom prst="rect">
            <a:avLst/>
          </a:prstGeom>
          <a:noFill/>
        </p:spPr>
        <p:txBody>
          <a:bodyPr wrap="square" lIns="0" tIns="0" rIns="0" bIns="0">
            <a:spAutoFit/>
          </a:bodyPr>
          <a:lstStyle/>
          <a:p>
            <a:pPr algn="l">
              <a:spcAft>
                <a:spcPts val="200"/>
              </a:spcAft>
              <a:defRPr sz="1491" b="1">
                <a:solidFill>
                  <a:srgbClr val="F7F9FF"/>
                </a:solidFill>
                <a:latin typeface="DejaVu Sans"/>
              </a:defRPr>
            </a:pPr>
            <a:r>
              <a:t>Religious sources &amp; rights</a:t>
            </a:r>
          </a:p>
        </p:txBody>
      </p:sp>
      <p:sp>
        <p:nvSpPr>
          <p:cNvPr id="32" name="TextBox 31"/>
          <p:cNvSpPr txBox="1"/>
          <p:nvPr/>
        </p:nvSpPr>
        <p:spPr>
          <a:xfrm>
            <a:off x="850392" y="4800600"/>
            <a:ext cx="2962656" cy="42976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Approved references and translations</a:t>
            </a:r>
          </a:p>
        </p:txBody>
      </p:sp>
      <p:sp>
        <p:nvSpPr>
          <p:cNvPr id="33" name="Rounded Rectangle 32"/>
          <p:cNvSpPr/>
          <p:nvPr/>
        </p:nvSpPr>
        <p:spPr>
          <a:xfrm>
            <a:off x="4663440" y="4197096"/>
            <a:ext cx="3931920" cy="1097280"/>
          </a:xfrm>
          <a:prstGeom prst="roundRect">
            <a:avLst>
              <a:gd name="adj" fmla="val 10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681727" y="4352544"/>
            <a:ext cx="32004" cy="786383"/>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64607" y="4352544"/>
            <a:ext cx="3529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Reviewed content library</a:t>
            </a:r>
          </a:p>
        </p:txBody>
      </p:sp>
      <p:sp>
        <p:nvSpPr>
          <p:cNvPr id="36" name="TextBox 35"/>
          <p:cNvSpPr txBox="1"/>
          <p:nvPr/>
        </p:nvSpPr>
        <p:spPr>
          <a:xfrm>
            <a:off x="4873752" y="4800600"/>
            <a:ext cx="3511296" cy="42976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Quran text / recitation and utility content</a:t>
            </a:r>
          </a:p>
        </p:txBody>
      </p:sp>
      <p:sp>
        <p:nvSpPr>
          <p:cNvPr id="37" name="Rounded Rectangle 36"/>
          <p:cNvSpPr/>
          <p:nvPr/>
        </p:nvSpPr>
        <p:spPr>
          <a:xfrm>
            <a:off x="9326880" y="4197096"/>
            <a:ext cx="4663440" cy="1097280"/>
          </a:xfrm>
          <a:prstGeom prst="roundRect">
            <a:avLst>
              <a:gd name="adj" fmla="val 10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345167" y="4352544"/>
            <a:ext cx="32004" cy="786383"/>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528048" y="4352544"/>
            <a:ext cx="4261103"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Quran • dua • dhikr • hadith</a:t>
            </a:r>
          </a:p>
        </p:txBody>
      </p:sp>
      <p:sp>
        <p:nvSpPr>
          <p:cNvPr id="40" name="TextBox 39"/>
          <p:cNvSpPr txBox="1"/>
          <p:nvPr/>
        </p:nvSpPr>
        <p:spPr>
          <a:xfrm>
            <a:off x="9537192" y="4800600"/>
            <a:ext cx="4242816" cy="42976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Connect practice to approved learning</a:t>
            </a:r>
          </a:p>
        </p:txBody>
      </p:sp>
      <p:sp>
        <p:nvSpPr>
          <p:cNvPr id="41" name="Rounded Rectangle 40"/>
          <p:cNvSpPr/>
          <p:nvPr/>
        </p:nvSpPr>
        <p:spPr>
          <a:xfrm>
            <a:off x="640080" y="5769864"/>
            <a:ext cx="3383280" cy="1097280"/>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58368" y="5925312"/>
            <a:ext cx="32004" cy="786383"/>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1247" y="5925312"/>
            <a:ext cx="2980944" cy="438912"/>
          </a:xfrm>
          <a:prstGeom prst="rect">
            <a:avLst/>
          </a:prstGeom>
          <a:noFill/>
        </p:spPr>
        <p:txBody>
          <a:bodyPr wrap="square" lIns="0" tIns="0" rIns="0" bIns="0">
            <a:spAutoFit/>
          </a:bodyPr>
          <a:lstStyle/>
          <a:p>
            <a:pPr algn="l">
              <a:spcAft>
                <a:spcPts val="200"/>
              </a:spcAft>
              <a:defRPr sz="1591" b="1">
                <a:solidFill>
                  <a:srgbClr val="F7F9FF"/>
                </a:solidFill>
                <a:latin typeface="DejaVu Sans"/>
              </a:defRPr>
            </a:pPr>
            <a:r>
              <a:t>Calendar / zakat sources</a:t>
            </a:r>
          </a:p>
        </p:txBody>
      </p:sp>
      <p:sp>
        <p:nvSpPr>
          <p:cNvPr id="44" name="TextBox 43"/>
          <p:cNvSpPr txBox="1"/>
          <p:nvPr/>
        </p:nvSpPr>
        <p:spPr>
          <a:xfrm>
            <a:off x="850392" y="6373368"/>
            <a:ext cx="2962656" cy="42976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MRM-approved local conventions</a:t>
            </a:r>
          </a:p>
        </p:txBody>
      </p:sp>
      <p:sp>
        <p:nvSpPr>
          <p:cNvPr id="45" name="Rounded Rectangle 44"/>
          <p:cNvSpPr/>
          <p:nvPr/>
        </p:nvSpPr>
        <p:spPr>
          <a:xfrm>
            <a:off x="4663440" y="5769864"/>
            <a:ext cx="3931920" cy="1097280"/>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681727" y="5925312"/>
            <a:ext cx="32004" cy="786383"/>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864607" y="5925312"/>
            <a:ext cx="3529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Display &amp; calculation rules</a:t>
            </a:r>
          </a:p>
        </p:txBody>
      </p:sp>
      <p:sp>
        <p:nvSpPr>
          <p:cNvPr id="48" name="TextBox 47"/>
          <p:cNvSpPr txBox="1"/>
          <p:nvPr/>
        </p:nvSpPr>
        <p:spPr>
          <a:xfrm>
            <a:off x="4873752" y="6373368"/>
            <a:ext cx="3511296" cy="42976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Source review; local adjustment policy</a:t>
            </a:r>
          </a:p>
        </p:txBody>
      </p:sp>
      <p:sp>
        <p:nvSpPr>
          <p:cNvPr id="49" name="Rounded Rectangle 48"/>
          <p:cNvSpPr/>
          <p:nvPr/>
        </p:nvSpPr>
        <p:spPr>
          <a:xfrm>
            <a:off x="9326880" y="5769864"/>
            <a:ext cx="4663440" cy="1097280"/>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345167" y="5925312"/>
            <a:ext cx="32004" cy="786383"/>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528048" y="5925312"/>
            <a:ext cx="4261103"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Hijri • Ramadan • zakat estimate</a:t>
            </a:r>
          </a:p>
        </p:txBody>
      </p:sp>
      <p:sp>
        <p:nvSpPr>
          <p:cNvPr id="52" name="TextBox 51"/>
          <p:cNvSpPr txBox="1"/>
          <p:nvPr/>
        </p:nvSpPr>
        <p:spPr>
          <a:xfrm>
            <a:off x="9537192" y="6373368"/>
            <a:ext cx="4242816" cy="42976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Guidance only; referral is a separate service</a:t>
            </a:r>
          </a:p>
        </p:txBody>
      </p:sp>
      <p:sp>
        <p:nvSpPr>
          <p:cNvPr id="59" name="Rounded Rectangle 58"/>
          <p:cNvSpPr/>
          <p:nvPr/>
        </p:nvSpPr>
        <p:spPr>
          <a:xfrm>
            <a:off x="640080" y="7132320"/>
            <a:ext cx="13350240" cy="329184"/>
          </a:xfrm>
          <a:prstGeom prst="roundRect">
            <a:avLst>
              <a:gd name="adj" fmla="val 10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22960" y="7187184"/>
            <a:ext cx="12938760" cy="237744"/>
          </a:xfrm>
          <a:prstGeom prst="rect">
            <a:avLst/>
          </a:prstGeom>
          <a:noFill/>
        </p:spPr>
        <p:txBody>
          <a:bodyPr wrap="square" lIns="0" tIns="0" rIns="0" bIns="0">
            <a:spAutoFit/>
          </a:bodyPr>
          <a:lstStyle/>
          <a:p>
            <a:pPr algn="l">
              <a:spcAft>
                <a:spcPts val="200"/>
              </a:spcAft>
              <a:defRPr sz="1050" b="0">
                <a:solidFill>
                  <a:srgbClr val="62DAE8"/>
                </a:solidFill>
                <a:latin typeface="DejaVu Sans"/>
              </a:defRPr>
            </a:pPr>
            <a:r>
              <a:t>Daily content ↔ approved learning. Zakat estimate ↔ referral information; eligibility stays with the authority.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8595359" y="5696712"/>
            <a:ext cx="731521" cy="0"/>
          </a:xfrm>
          <a:prstGeom prst="line">
            <a:avLst/>
          </a:prstGeom>
          <a:ln w="20320">
            <a:solidFill>
              <a:srgbClr val="8DD8B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023360" y="5696712"/>
            <a:ext cx="640080" cy="0"/>
          </a:xfrm>
          <a:prstGeom prst="line">
            <a:avLst/>
          </a:prstGeom>
          <a:ln w="20320">
            <a:solidFill>
              <a:srgbClr val="8DD8B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595359" y="3721608"/>
            <a:ext cx="731521" cy="0"/>
          </a:xfrm>
          <a:prstGeom prst="line">
            <a:avLst/>
          </a:prstGeom>
          <a:ln w="20320">
            <a:solidFill>
              <a:srgbClr val="E8C57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023360" y="3721608"/>
            <a:ext cx="640080" cy="0"/>
          </a:xfrm>
          <a:prstGeom prst="line">
            <a:avLst/>
          </a:prstGeom>
          <a:ln w="20320">
            <a:solidFill>
              <a:srgbClr val="E8C578"/>
            </a:solidFill>
            <a:tailEnd type="triangle" w="sm" len="sm"/>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10058400" cy="274320"/>
          </a:xfrm>
          <a:prstGeom prst="rect">
            <a:avLst/>
          </a:prstGeom>
          <a:noFill/>
        </p:spPr>
        <p:txBody>
          <a:bodyPr wrap="square" lIns="0" tIns="0" rIns="0" bIns="0">
            <a:spAutoFit/>
          </a:bodyPr>
          <a:lstStyle/>
          <a:p>
            <a:pPr algn="l">
              <a:spcAft>
                <a:spcPts val="200"/>
              </a:spcAft>
              <a:defRPr sz="1000" b="1">
                <a:solidFill>
                  <a:srgbClr val="62DAE8"/>
                </a:solidFill>
                <a:latin typeface="DejaVu Sans"/>
              </a:defRPr>
            </a:pPr>
            <a:r>
              <a:t>FEATURE CONNECTIVITY  /  MRM DIGITAL COMMUNITY PLATFORM</a:t>
            </a:r>
          </a:p>
        </p:txBody>
      </p:sp>
      <p:pic>
        <p:nvPicPr>
          <p:cNvPr id="6" name="Picture 5" descr="image.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41832"/>
            <a:ext cx="13350240" cy="603504"/>
          </a:xfrm>
          <a:prstGeom prst="rect">
            <a:avLst/>
          </a:prstGeom>
          <a:noFill/>
        </p:spPr>
        <p:txBody>
          <a:bodyPr wrap="square" lIns="0" tIns="0" rIns="0" bIns="0">
            <a:spAutoFit/>
          </a:bodyPr>
          <a:lstStyle/>
          <a:p>
            <a:pPr algn="l">
              <a:spcAft>
                <a:spcPts val="200"/>
              </a:spcAft>
              <a:defRPr sz="3100" b="1">
                <a:solidFill>
                  <a:srgbClr val="F7F9FF"/>
                </a:solidFill>
                <a:latin typeface="DejaVu Sans"/>
              </a:defRPr>
            </a:pPr>
            <a:r>
              <a:t>Confidential support and zakat: controlled handoffs</a:t>
            </a:r>
          </a:p>
        </p:txBody>
      </p:sp>
      <p:sp>
        <p:nvSpPr>
          <p:cNvPr id="9" name="TextBox 8"/>
          <p:cNvSpPr txBox="1"/>
          <p:nvPr/>
        </p:nvSpPr>
        <p:spPr>
          <a:xfrm>
            <a:off x="658368" y="1645920"/>
            <a:ext cx="13258800" cy="502920"/>
          </a:xfrm>
          <a:prstGeom prst="rect">
            <a:avLst/>
          </a:prstGeom>
          <a:noFill/>
        </p:spPr>
        <p:txBody>
          <a:bodyPr wrap="square" lIns="0" tIns="0" rIns="0" bIns="0">
            <a:spAutoFit/>
          </a:bodyPr>
          <a:lstStyle/>
          <a:p>
            <a:pPr algn="l">
              <a:spcAft>
                <a:spcPts val="200"/>
              </a:spcAft>
              <a:defRPr sz="1400" b="0">
                <a:solidFill>
                  <a:srgbClr val="BBC8DF"/>
                </a:solidFill>
                <a:latin typeface="DejaVu Sans"/>
              </a:defRPr>
            </a:pPr>
            <a:r>
              <a:t>These journeys share access controls and case accountability, not unrestricted volunteer or teacher visibility.</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3291840" cy="228600"/>
          </a:xfrm>
          <a:prstGeom prst="rect">
            <a:avLst/>
          </a:prstGeom>
          <a:noFill/>
        </p:spPr>
        <p:txBody>
          <a:bodyPr wrap="square" lIns="0" tIns="0" rIns="0" bIns="0">
            <a:spAutoFit/>
          </a:bodyPr>
          <a:lstStyle/>
          <a:p>
            <a:pPr algn="l">
              <a:spcAft>
                <a:spcPts val="200"/>
              </a:spcAft>
              <a:defRPr sz="900" b="0">
                <a:solidFill>
                  <a:srgbClr val="BBC8DF"/>
                </a:solidFill>
                <a:latin typeface="DejaVu Sans"/>
              </a:defRPr>
            </a:pPr>
            <a:r>
              <a:t>MRM  /  ZYLAX TECHNOLOGIES</a:t>
            </a:r>
          </a:p>
        </p:txBody>
      </p:sp>
      <p:sp>
        <p:nvSpPr>
          <p:cNvPr id="12" name="TextBox 11"/>
          <p:cNvSpPr txBox="1"/>
          <p:nvPr/>
        </p:nvSpPr>
        <p:spPr>
          <a:xfrm>
            <a:off x="3794760" y="7754112"/>
            <a:ext cx="7315200" cy="237744"/>
          </a:xfrm>
          <a:prstGeom prst="rect">
            <a:avLst/>
          </a:prstGeom>
          <a:noFill/>
        </p:spPr>
        <p:txBody>
          <a:bodyPr wrap="square" lIns="0" tIns="0" rIns="0" bIns="0">
            <a:spAutoFit/>
          </a:bodyPr>
          <a:lstStyle/>
          <a:p>
            <a:pPr algn="ctr">
              <a:spcAft>
                <a:spcPts val="200"/>
              </a:spcAft>
              <a:defRPr sz="900" b="0">
                <a:solidFill>
                  <a:srgbClr val="BBC8DF"/>
                </a:solidFill>
                <a:latin typeface="DejaVu Sans"/>
              </a:defRPr>
            </a:pPr>
            <a:r>
              <a:t>PROPOSED CONNECTIONS  /  EDITABLE NATIVE DIAGRAM</a:t>
            </a:r>
          </a:p>
        </p:txBody>
      </p:sp>
      <p:sp>
        <p:nvSpPr>
          <p:cNvPr id="13" name="TextBox 12"/>
          <p:cNvSpPr txBox="1"/>
          <p:nvPr/>
        </p:nvSpPr>
        <p:spPr>
          <a:xfrm>
            <a:off x="12801600" y="7708392"/>
            <a:ext cx="1188720" cy="320040"/>
          </a:xfrm>
          <a:prstGeom prst="rect">
            <a:avLst/>
          </a:prstGeom>
          <a:noFill/>
        </p:spPr>
        <p:txBody>
          <a:bodyPr wrap="square" lIns="0" tIns="0" rIns="0" bIns="0">
            <a:spAutoFit/>
          </a:bodyPr>
          <a:lstStyle/>
          <a:p>
            <a:pPr algn="r">
              <a:spcAft>
                <a:spcPts val="200"/>
              </a:spcAft>
              <a:defRPr sz="1200" b="1">
                <a:solidFill>
                  <a:srgbClr val="62DAE8"/>
                </a:solidFill>
                <a:latin typeface="DejaVu Sans"/>
              </a:defRPr>
            </a:pPr>
            <a:r>
              <a:t>06 / 8</a:t>
            </a:r>
          </a:p>
        </p:txBody>
      </p:sp>
      <p:sp>
        <p:nvSpPr>
          <p:cNvPr id="14" name="Rounded Rectangle 13"/>
          <p:cNvSpPr/>
          <p:nvPr/>
        </p:nvSpPr>
        <p:spPr>
          <a:xfrm>
            <a:off x="640080" y="2148840"/>
            <a:ext cx="3383280" cy="310896"/>
          </a:xfrm>
          <a:prstGeom prst="roundRect">
            <a:avLst>
              <a:gd name="adj" fmla="val 10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19" y="2194560"/>
            <a:ext cx="3200400" cy="237744"/>
          </a:xfrm>
          <a:prstGeom prst="rect">
            <a:avLst/>
          </a:prstGeom>
          <a:noFill/>
        </p:spPr>
        <p:txBody>
          <a:bodyPr wrap="square" lIns="0" tIns="0" rIns="0" bIns="0">
            <a:spAutoFit/>
          </a:bodyPr>
          <a:lstStyle/>
          <a:p>
            <a:pPr algn="l">
              <a:spcAft>
                <a:spcPts val="200"/>
              </a:spcAft>
              <a:defRPr sz="1000" b="1">
                <a:solidFill>
                  <a:srgbClr val="E8C578"/>
                </a:solidFill>
                <a:latin typeface="DejaVu Sans"/>
              </a:defRPr>
            </a:pPr>
            <a:r>
              <a:t>CONSENT + MINIMUM NECESSARY DATA</a:t>
            </a:r>
          </a:p>
        </p:txBody>
      </p:sp>
      <p:sp>
        <p:nvSpPr>
          <p:cNvPr id="16" name="Rounded Rectangle 15"/>
          <p:cNvSpPr/>
          <p:nvPr/>
        </p:nvSpPr>
        <p:spPr>
          <a:xfrm>
            <a:off x="4224528" y="2148840"/>
            <a:ext cx="3886200" cy="310896"/>
          </a:xfrm>
          <a:prstGeom prst="roundRect">
            <a:avLst>
              <a:gd name="adj" fmla="val 10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15968" y="2194560"/>
            <a:ext cx="3703320" cy="237744"/>
          </a:xfrm>
          <a:prstGeom prst="rect">
            <a:avLst/>
          </a:prstGeom>
          <a:noFill/>
        </p:spPr>
        <p:txBody>
          <a:bodyPr wrap="square" lIns="0" tIns="0" rIns="0" bIns="0">
            <a:spAutoFit/>
          </a:bodyPr>
          <a:lstStyle/>
          <a:p>
            <a:pPr algn="l">
              <a:spcAft>
                <a:spcPts val="200"/>
              </a:spcAft>
              <a:defRPr sz="1000" b="1">
                <a:solidFill>
                  <a:srgbClr val="62DAE8"/>
                </a:solidFill>
                <a:latin typeface="DejaVu Sans"/>
              </a:defRPr>
            </a:pPr>
            <a:r>
              <a:t>ROLE + RECORD-LEVEL AUTHORISATION</a:t>
            </a:r>
          </a:p>
        </p:txBody>
      </p:sp>
      <p:sp>
        <p:nvSpPr>
          <p:cNvPr id="18" name="Rounded Rectangle 17"/>
          <p:cNvSpPr/>
          <p:nvPr/>
        </p:nvSpPr>
        <p:spPr>
          <a:xfrm>
            <a:off x="8321040" y="2148840"/>
            <a:ext cx="5669280" cy="310896"/>
          </a:xfrm>
          <a:prstGeom prst="roundRect">
            <a:avLst>
              <a:gd name="adj" fmla="val 10000"/>
            </a:avLst>
          </a:prstGeom>
          <a:solidFill>
            <a:srgbClr val="1B2846"/>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2194560"/>
            <a:ext cx="5486400" cy="237744"/>
          </a:xfrm>
          <a:prstGeom prst="rect">
            <a:avLst/>
          </a:prstGeom>
          <a:noFill/>
        </p:spPr>
        <p:txBody>
          <a:bodyPr wrap="square" lIns="0" tIns="0" rIns="0" bIns="0">
            <a:spAutoFit/>
          </a:bodyPr>
          <a:lstStyle/>
          <a:p>
            <a:pPr algn="l">
              <a:spcAft>
                <a:spcPts val="200"/>
              </a:spcAft>
              <a:defRPr sz="1000" b="1">
                <a:solidFill>
                  <a:srgbClr val="8DD8B1"/>
                </a:solidFill>
                <a:latin typeface="DejaVu Sans"/>
              </a:defRPr>
            </a:pPr>
            <a:r>
              <a:t>SAFE ALERTS + RESTRICTED EVIDENCE + AUDIT</a:t>
            </a:r>
          </a:p>
        </p:txBody>
      </p:sp>
      <p:sp>
        <p:nvSpPr>
          <p:cNvPr id="20" name="TextBox 19"/>
          <p:cNvSpPr txBox="1"/>
          <p:nvPr/>
        </p:nvSpPr>
        <p:spPr>
          <a:xfrm>
            <a:off x="667512" y="2688336"/>
            <a:ext cx="12801600" cy="274320"/>
          </a:xfrm>
          <a:prstGeom prst="rect">
            <a:avLst/>
          </a:prstGeom>
          <a:noFill/>
        </p:spPr>
        <p:txBody>
          <a:bodyPr wrap="square" lIns="0" tIns="0" rIns="0" bIns="0">
            <a:spAutoFit/>
          </a:bodyPr>
          <a:lstStyle/>
          <a:p>
            <a:pPr algn="l">
              <a:spcAft>
                <a:spcPts val="200"/>
              </a:spcAft>
              <a:defRPr sz="1100" b="1">
                <a:solidFill>
                  <a:srgbClr val="E8C578"/>
                </a:solidFill>
                <a:latin typeface="DejaVu Sans"/>
              </a:defRPr>
            </a:pPr>
            <a:r>
              <a:t>CONFIDENTIAL FAITH / FAMILY SUPPORT</a:t>
            </a:r>
          </a:p>
        </p:txBody>
      </p:sp>
      <p:sp>
        <p:nvSpPr>
          <p:cNvPr id="21" name="TextBox 20"/>
          <p:cNvSpPr txBox="1"/>
          <p:nvPr/>
        </p:nvSpPr>
        <p:spPr>
          <a:xfrm>
            <a:off x="667512" y="4663440"/>
            <a:ext cx="12801600" cy="274320"/>
          </a:xfrm>
          <a:prstGeom prst="rect">
            <a:avLst/>
          </a:prstGeom>
          <a:noFill/>
        </p:spPr>
        <p:txBody>
          <a:bodyPr wrap="square" lIns="0" tIns="0" rIns="0" bIns="0">
            <a:spAutoFit/>
          </a:bodyPr>
          <a:lstStyle/>
          <a:p>
            <a:pPr algn="l">
              <a:spcAft>
                <a:spcPts val="200"/>
              </a:spcAft>
              <a:defRPr sz="1100" b="1">
                <a:solidFill>
                  <a:srgbClr val="8DD8B1"/>
                </a:solidFill>
                <a:latin typeface="DejaVu Sans"/>
              </a:defRPr>
            </a:pPr>
            <a:r>
              <a:t>ZAKAT ENQUIRY / REFERRAL</a:t>
            </a:r>
          </a:p>
        </p:txBody>
      </p:sp>
      <p:sp>
        <p:nvSpPr>
          <p:cNvPr id="22" name="Rounded Rectangle 21"/>
          <p:cNvSpPr/>
          <p:nvPr/>
        </p:nvSpPr>
        <p:spPr>
          <a:xfrm>
            <a:off x="640080" y="3127248"/>
            <a:ext cx="3383280" cy="1188720"/>
          </a:xfrm>
          <a:prstGeom prst="roundRect">
            <a:avLst>
              <a:gd name="adj" fmla="val 10000"/>
            </a:avLst>
          </a:prstGeom>
          <a:solidFill>
            <a:srgbClr val="1B2846"/>
          </a:solidFill>
          <a:ln w="12700">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3282696"/>
            <a:ext cx="32004" cy="877824"/>
          </a:xfrm>
          <a:prstGeom prst="rect">
            <a:avLst/>
          </a:prstGeom>
          <a:solidFill>
            <a:srgbClr val="E8C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7" y="3282696"/>
            <a:ext cx="298094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Private concern</a:t>
            </a:r>
          </a:p>
        </p:txBody>
      </p:sp>
      <p:sp>
        <p:nvSpPr>
          <p:cNvPr id="25" name="TextBox 24"/>
          <p:cNvSpPr txBox="1"/>
          <p:nvPr/>
        </p:nvSpPr>
        <p:spPr>
          <a:xfrm>
            <a:off x="850392" y="3730752"/>
            <a:ext cx="2962656" cy="52120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Safe contact and permitted information</a:t>
            </a:r>
          </a:p>
        </p:txBody>
      </p:sp>
      <p:sp>
        <p:nvSpPr>
          <p:cNvPr id="26" name="Rounded Rectangle 25"/>
          <p:cNvSpPr/>
          <p:nvPr/>
        </p:nvSpPr>
        <p:spPr>
          <a:xfrm>
            <a:off x="4663440" y="3127248"/>
            <a:ext cx="3931920" cy="1188720"/>
          </a:xfrm>
          <a:prstGeom prst="roundRect">
            <a:avLst>
              <a:gd name="adj" fmla="val 10000"/>
            </a:avLst>
          </a:prstGeom>
          <a:solidFill>
            <a:srgbClr val="1B2846"/>
          </a:solidFill>
          <a:ln w="12700">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81727" y="3282696"/>
            <a:ext cx="32004" cy="877824"/>
          </a:xfrm>
          <a:prstGeom prst="rect">
            <a:avLst/>
          </a:prstGeom>
          <a:solidFill>
            <a:srgbClr val="E8C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64607" y="3282696"/>
            <a:ext cx="3529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Designated MRM review</a:t>
            </a:r>
          </a:p>
        </p:txBody>
      </p:sp>
      <p:sp>
        <p:nvSpPr>
          <p:cNvPr id="29" name="TextBox 28"/>
          <p:cNvSpPr txBox="1"/>
          <p:nvPr/>
        </p:nvSpPr>
        <p:spPr>
          <a:xfrm>
            <a:off x="4873752" y="3730752"/>
            <a:ext cx="3511296" cy="52120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Private queue and appropriate assignment</a:t>
            </a:r>
          </a:p>
        </p:txBody>
      </p:sp>
      <p:sp>
        <p:nvSpPr>
          <p:cNvPr id="30" name="Rounded Rectangle 29"/>
          <p:cNvSpPr/>
          <p:nvPr/>
        </p:nvSpPr>
        <p:spPr>
          <a:xfrm>
            <a:off x="9326880" y="3127248"/>
            <a:ext cx="4663440" cy="1188720"/>
          </a:xfrm>
          <a:prstGeom prst="roundRect">
            <a:avLst>
              <a:gd name="adj" fmla="val 10000"/>
            </a:avLst>
          </a:prstGeom>
          <a:solidFill>
            <a:srgbClr val="1B2846"/>
          </a:solidFill>
          <a:ln w="12700">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345167" y="3282696"/>
            <a:ext cx="32004" cy="877824"/>
          </a:xfrm>
          <a:prstGeom prst="rect">
            <a:avLst/>
          </a:prstGeom>
          <a:solidFill>
            <a:srgbClr val="E8C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528048" y="3282696"/>
            <a:ext cx="4261103"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Authorised guidance &amp; follow-up</a:t>
            </a:r>
          </a:p>
        </p:txBody>
      </p:sp>
      <p:sp>
        <p:nvSpPr>
          <p:cNvPr id="33" name="TextBox 32"/>
          <p:cNvSpPr txBox="1"/>
          <p:nvPr/>
        </p:nvSpPr>
        <p:spPr>
          <a:xfrm>
            <a:off x="9537192" y="3730752"/>
            <a:ext cx="4242816" cy="52120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Controlled closure or permitted referral</a:t>
            </a:r>
          </a:p>
        </p:txBody>
      </p:sp>
      <p:sp>
        <p:nvSpPr>
          <p:cNvPr id="34" name="Rounded Rectangle 33"/>
          <p:cNvSpPr/>
          <p:nvPr/>
        </p:nvSpPr>
        <p:spPr>
          <a:xfrm>
            <a:off x="640080" y="5102352"/>
            <a:ext cx="3383280" cy="1188720"/>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5257800"/>
            <a:ext cx="32004" cy="877824"/>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247" y="5257800"/>
            <a:ext cx="2980944" cy="438912"/>
          </a:xfrm>
          <a:prstGeom prst="rect">
            <a:avLst/>
          </a:prstGeom>
          <a:noFill/>
        </p:spPr>
        <p:txBody>
          <a:bodyPr wrap="square" lIns="0" tIns="0" rIns="0" bIns="0">
            <a:spAutoFit/>
          </a:bodyPr>
          <a:lstStyle/>
          <a:p>
            <a:pPr algn="l">
              <a:spcAft>
                <a:spcPts val="200"/>
              </a:spcAft>
              <a:defRPr sz="1477" b="1">
                <a:solidFill>
                  <a:srgbClr val="F7F9FF"/>
                </a:solidFill>
                <a:latin typeface="DejaVu Sans"/>
              </a:defRPr>
            </a:pPr>
            <a:r>
              <a:t>Enquiry + referral consent</a:t>
            </a:r>
          </a:p>
        </p:txBody>
      </p:sp>
      <p:sp>
        <p:nvSpPr>
          <p:cNvPr id="37" name="TextBox 36"/>
          <p:cNvSpPr txBox="1"/>
          <p:nvPr/>
        </p:nvSpPr>
        <p:spPr>
          <a:xfrm>
            <a:off x="850392" y="5705856"/>
            <a:ext cx="2962656" cy="52120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Need, region and safe contact preference</a:t>
            </a:r>
          </a:p>
        </p:txBody>
      </p:sp>
      <p:sp>
        <p:nvSpPr>
          <p:cNvPr id="38" name="Rounded Rectangle 37"/>
          <p:cNvSpPr/>
          <p:nvPr/>
        </p:nvSpPr>
        <p:spPr>
          <a:xfrm>
            <a:off x="4663440" y="5102352"/>
            <a:ext cx="3931920" cy="1188720"/>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681727" y="5257800"/>
            <a:ext cx="32004" cy="877824"/>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64607" y="5257800"/>
            <a:ext cx="3529584"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MRM completeness review</a:t>
            </a:r>
          </a:p>
        </p:txBody>
      </p:sp>
      <p:sp>
        <p:nvSpPr>
          <p:cNvPr id="41" name="TextBox 40"/>
          <p:cNvSpPr txBox="1"/>
          <p:nvPr/>
        </p:nvSpPr>
        <p:spPr>
          <a:xfrm>
            <a:off x="4873752" y="5705856"/>
            <a:ext cx="3511296" cy="52120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Approved forms, sharing method and contact</a:t>
            </a:r>
          </a:p>
        </p:txBody>
      </p:sp>
      <p:sp>
        <p:nvSpPr>
          <p:cNvPr id="42" name="Rounded Rectangle 41"/>
          <p:cNvSpPr/>
          <p:nvPr/>
        </p:nvSpPr>
        <p:spPr>
          <a:xfrm>
            <a:off x="9326880" y="5102352"/>
            <a:ext cx="4663440" cy="1188720"/>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345167" y="5257800"/>
            <a:ext cx="32004" cy="877824"/>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528048" y="5257800"/>
            <a:ext cx="4261103" cy="43891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Zakat authority handoff</a:t>
            </a:r>
          </a:p>
        </p:txBody>
      </p:sp>
      <p:sp>
        <p:nvSpPr>
          <p:cNvPr id="45" name="TextBox 44"/>
          <p:cNvSpPr txBox="1"/>
          <p:nvPr/>
        </p:nvSpPr>
        <p:spPr>
          <a:xfrm>
            <a:off x="9537192" y="5705856"/>
            <a:ext cx="4242816" cy="521208"/>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Authority decides eligibility and disbursement</a:t>
            </a:r>
          </a:p>
        </p:txBody>
      </p:sp>
      <p:sp>
        <p:nvSpPr>
          <p:cNvPr id="50" name="TextBox 49"/>
          <p:cNvSpPr txBox="1"/>
          <p:nvPr/>
        </p:nvSpPr>
        <p:spPr>
          <a:xfrm>
            <a:off x="685800" y="6547104"/>
            <a:ext cx="13258800" cy="384048"/>
          </a:xfrm>
          <a:prstGeom prst="rect">
            <a:avLst/>
          </a:prstGeom>
          <a:noFill/>
        </p:spPr>
        <p:txBody>
          <a:bodyPr wrap="square" lIns="0" tIns="0" rIns="0" bIns="0">
            <a:spAutoFit/>
          </a:bodyPr>
          <a:lstStyle/>
          <a:p>
            <a:pPr algn="l">
              <a:spcAft>
                <a:spcPts val="200"/>
              </a:spcAft>
              <a:defRPr sz="1400" b="0">
                <a:solidFill>
                  <a:srgbClr val="BBC8DF"/>
                </a:solidFill>
                <a:latin typeface="DejaVu Sans"/>
              </a:defRPr>
            </a:pPr>
            <a:r>
              <a:t>Authorised status → case history → permitted user update → aggregate reporting. Partner API access is conditional.</a:t>
            </a:r>
          </a:p>
        </p:txBody>
      </p:sp>
      <p:sp>
        <p:nvSpPr>
          <p:cNvPr id="51" name="Rounded Rectangle 50"/>
          <p:cNvSpPr/>
          <p:nvPr/>
        </p:nvSpPr>
        <p:spPr>
          <a:xfrm>
            <a:off x="640080" y="7132320"/>
            <a:ext cx="13350240" cy="329184"/>
          </a:xfrm>
          <a:prstGeom prst="roundRect">
            <a:avLst>
              <a:gd name="adj" fmla="val 10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2960" y="7187184"/>
            <a:ext cx="12938760" cy="237744"/>
          </a:xfrm>
          <a:prstGeom prst="rect">
            <a:avLst/>
          </a:prstGeom>
          <a:noFill/>
        </p:spPr>
        <p:txBody>
          <a:bodyPr wrap="square" lIns="0" tIns="0" rIns="0" bIns="0">
            <a:spAutoFit/>
          </a:bodyPr>
          <a:lstStyle/>
          <a:p>
            <a:pPr algn="l">
              <a:spcAft>
                <a:spcPts val="200"/>
              </a:spcAft>
              <a:defRPr sz="1050" b="0">
                <a:solidFill>
                  <a:srgbClr val="62DAE8"/>
                </a:solidFill>
                <a:latin typeface="DejaVu Sans"/>
              </a:defRPr>
            </a:pPr>
            <a:r>
              <a:t>No automated religious judgement. No guaranteed partner API. No zakat collection or disbursement in the proposal.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Connector 70"/>
          <p:cNvCxnSpPr/>
          <p:nvPr/>
        </p:nvCxnSpPr>
        <p:spPr>
          <a:xfrm flipH="1">
            <a:off x="8942832" y="4654296"/>
            <a:ext cx="338328" cy="0"/>
          </a:xfrm>
          <a:prstGeom prst="line">
            <a:avLst/>
          </a:prstGeom>
          <a:ln w="20320">
            <a:solidFill>
              <a:srgbClr val="8DD8B1"/>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9281160" y="4654296"/>
            <a:ext cx="0" cy="1691640"/>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9281160" y="6345936"/>
            <a:ext cx="320040" cy="0"/>
          </a:xfrm>
          <a:prstGeom prst="line">
            <a:avLst/>
          </a:prstGeom>
          <a:ln w="20320">
            <a:solidFill>
              <a:srgbClr val="8DD8B1"/>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281160" y="4736592"/>
            <a:ext cx="320040" cy="0"/>
          </a:xfrm>
          <a:prstGeom prst="line">
            <a:avLst/>
          </a:prstGeom>
          <a:ln w="20320">
            <a:solidFill>
              <a:srgbClr val="C2A3F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281160" y="4654296"/>
            <a:ext cx="0" cy="82296"/>
          </a:xfrm>
          <a:prstGeom prst="line">
            <a:avLst/>
          </a:prstGeom>
          <a:ln w="20320">
            <a:solidFill>
              <a:srgbClr val="C2A3FF"/>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8942832" y="4654296"/>
            <a:ext cx="338328" cy="0"/>
          </a:xfrm>
          <a:prstGeom prst="line">
            <a:avLst/>
          </a:prstGeom>
          <a:ln w="20320">
            <a:solidFill>
              <a:srgbClr val="C2A3FF"/>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281160" y="3035808"/>
            <a:ext cx="320040" cy="0"/>
          </a:xfrm>
          <a:prstGeom prst="line">
            <a:avLst/>
          </a:prstGeom>
          <a:ln w="20320">
            <a:solidFill>
              <a:srgbClr val="E8C57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9281160" y="3035808"/>
            <a:ext cx="0" cy="1618488"/>
          </a:xfrm>
          <a:prstGeom prst="line">
            <a:avLst/>
          </a:prstGeom>
          <a:ln w="20320">
            <a:solidFill>
              <a:srgbClr val="E8C5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8942832" y="4654296"/>
            <a:ext cx="338328" cy="0"/>
          </a:xfrm>
          <a:prstGeom prst="line">
            <a:avLst/>
          </a:prstGeom>
          <a:ln w="20320">
            <a:solidFill>
              <a:srgbClr val="E8C5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5029200" y="6345936"/>
            <a:ext cx="320040" cy="0"/>
          </a:xfrm>
          <a:prstGeom prst="line">
            <a:avLst/>
          </a:prstGeom>
          <a:ln w="20320">
            <a:solidFill>
              <a:srgbClr val="62DAE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5349240" y="4654296"/>
            <a:ext cx="0" cy="1691640"/>
          </a:xfrm>
          <a:prstGeom prst="line">
            <a:avLst/>
          </a:prstGeom>
          <a:ln w="20320">
            <a:solidFill>
              <a:srgbClr val="62DA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5349240" y="4654296"/>
            <a:ext cx="338328" cy="0"/>
          </a:xfrm>
          <a:prstGeom prst="line">
            <a:avLst/>
          </a:prstGeom>
          <a:ln w="20320">
            <a:solidFill>
              <a:srgbClr val="62DA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5029200" y="4736592"/>
            <a:ext cx="320040" cy="0"/>
          </a:xfrm>
          <a:prstGeom prst="line">
            <a:avLst/>
          </a:prstGeom>
          <a:ln w="20320">
            <a:solidFill>
              <a:srgbClr val="C2A3F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349240" y="4654296"/>
            <a:ext cx="0" cy="82296"/>
          </a:xfrm>
          <a:prstGeom prst="line">
            <a:avLst/>
          </a:prstGeom>
          <a:ln w="20320">
            <a:solidFill>
              <a:srgbClr val="C2A3FF"/>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5349240" y="4654296"/>
            <a:ext cx="338328" cy="0"/>
          </a:xfrm>
          <a:prstGeom prst="line">
            <a:avLst/>
          </a:prstGeom>
          <a:ln w="20320">
            <a:solidFill>
              <a:srgbClr val="C2A3FF"/>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5029200" y="3035808"/>
            <a:ext cx="320040" cy="0"/>
          </a:xfrm>
          <a:prstGeom prst="line">
            <a:avLst/>
          </a:prstGeom>
          <a:ln w="20320">
            <a:solidFill>
              <a:srgbClr val="62DAE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349240" y="3035808"/>
            <a:ext cx="0" cy="1618488"/>
          </a:xfrm>
          <a:prstGeom prst="line">
            <a:avLst/>
          </a:prstGeom>
          <a:ln w="20320">
            <a:solidFill>
              <a:srgbClr val="62DA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5349240" y="4654296"/>
            <a:ext cx="338328" cy="0"/>
          </a:xfrm>
          <a:prstGeom prst="line">
            <a:avLst/>
          </a:prstGeom>
          <a:ln w="20320">
            <a:solidFill>
              <a:srgbClr val="62DAE8"/>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10058400" cy="274320"/>
          </a:xfrm>
          <a:prstGeom prst="rect">
            <a:avLst/>
          </a:prstGeom>
          <a:noFill/>
        </p:spPr>
        <p:txBody>
          <a:bodyPr wrap="square" lIns="0" tIns="0" rIns="0" bIns="0">
            <a:spAutoFit/>
          </a:bodyPr>
          <a:lstStyle/>
          <a:p>
            <a:pPr algn="l">
              <a:spcAft>
                <a:spcPts val="200"/>
              </a:spcAft>
              <a:defRPr sz="1000" b="1">
                <a:solidFill>
                  <a:srgbClr val="62DAE8"/>
                </a:solidFill>
                <a:latin typeface="DejaVu Sans"/>
              </a:defRPr>
            </a:pPr>
            <a:r>
              <a:t>FEATURE CONNECTIVITY  /  MRM DIGITAL COMMUNITY PLATFORM</a:t>
            </a:r>
          </a:p>
        </p:txBody>
      </p:sp>
      <p:pic>
        <p:nvPicPr>
          <p:cNvPr id="6" name="Picture 5" descr="image.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41832"/>
            <a:ext cx="13350240" cy="603504"/>
          </a:xfrm>
          <a:prstGeom prst="rect">
            <a:avLst/>
          </a:prstGeom>
          <a:noFill/>
        </p:spPr>
        <p:txBody>
          <a:bodyPr wrap="square" lIns="0" tIns="0" rIns="0" bIns="0">
            <a:spAutoFit/>
          </a:bodyPr>
          <a:lstStyle/>
          <a:p>
            <a:pPr algn="l">
              <a:spcAft>
                <a:spcPts val="200"/>
              </a:spcAft>
              <a:defRPr sz="3100" b="1">
                <a:solidFill>
                  <a:srgbClr val="F7F9FF"/>
                </a:solidFill>
                <a:latin typeface="DejaVu Sans"/>
              </a:defRPr>
            </a:pPr>
            <a:r>
              <a:t>MRM operations connect content, revenue and oversight</a:t>
            </a:r>
          </a:p>
        </p:txBody>
      </p:sp>
      <p:sp>
        <p:nvSpPr>
          <p:cNvPr id="9" name="TextBox 8"/>
          <p:cNvSpPr txBox="1"/>
          <p:nvPr/>
        </p:nvSpPr>
        <p:spPr>
          <a:xfrm>
            <a:off x="658368" y="1645920"/>
            <a:ext cx="13258800" cy="502920"/>
          </a:xfrm>
          <a:prstGeom prst="rect">
            <a:avLst/>
          </a:prstGeom>
          <a:noFill/>
        </p:spPr>
        <p:txBody>
          <a:bodyPr wrap="square" lIns="0" tIns="0" rIns="0" bIns="0">
            <a:spAutoFit/>
          </a:bodyPr>
          <a:lstStyle/>
          <a:p>
            <a:pPr algn="l">
              <a:spcAft>
                <a:spcPts val="200"/>
              </a:spcAft>
              <a:defRPr sz="1400" b="0">
                <a:solidFill>
                  <a:srgbClr val="BBC8DF"/>
                </a:solidFill>
                <a:latin typeface="DejaVu Sans"/>
              </a:defRPr>
            </a:pPr>
            <a:r>
              <a:t>Staff actions create controlled outputs across the app and website; service records feed aggregate reporting.</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3291840" cy="228600"/>
          </a:xfrm>
          <a:prstGeom prst="rect">
            <a:avLst/>
          </a:prstGeom>
          <a:noFill/>
        </p:spPr>
        <p:txBody>
          <a:bodyPr wrap="square" lIns="0" tIns="0" rIns="0" bIns="0">
            <a:spAutoFit/>
          </a:bodyPr>
          <a:lstStyle/>
          <a:p>
            <a:pPr algn="l">
              <a:spcAft>
                <a:spcPts val="200"/>
              </a:spcAft>
              <a:defRPr sz="900" b="0">
                <a:solidFill>
                  <a:srgbClr val="BBC8DF"/>
                </a:solidFill>
                <a:latin typeface="DejaVu Sans"/>
              </a:defRPr>
            </a:pPr>
            <a:r>
              <a:t>MRM  /  ZYLAX TECHNOLOGIES</a:t>
            </a:r>
          </a:p>
        </p:txBody>
      </p:sp>
      <p:sp>
        <p:nvSpPr>
          <p:cNvPr id="12" name="TextBox 11"/>
          <p:cNvSpPr txBox="1"/>
          <p:nvPr/>
        </p:nvSpPr>
        <p:spPr>
          <a:xfrm>
            <a:off x="3794760" y="7754112"/>
            <a:ext cx="7315200" cy="237744"/>
          </a:xfrm>
          <a:prstGeom prst="rect">
            <a:avLst/>
          </a:prstGeom>
          <a:noFill/>
        </p:spPr>
        <p:txBody>
          <a:bodyPr wrap="square" lIns="0" tIns="0" rIns="0" bIns="0">
            <a:spAutoFit/>
          </a:bodyPr>
          <a:lstStyle/>
          <a:p>
            <a:pPr algn="ctr">
              <a:spcAft>
                <a:spcPts val="200"/>
              </a:spcAft>
              <a:defRPr sz="900" b="0">
                <a:solidFill>
                  <a:srgbClr val="BBC8DF"/>
                </a:solidFill>
                <a:latin typeface="DejaVu Sans"/>
              </a:defRPr>
            </a:pPr>
            <a:r>
              <a:t>PROPOSED CONNECTIONS  /  EDITABLE NATIVE DIAGRAM</a:t>
            </a:r>
          </a:p>
        </p:txBody>
      </p:sp>
      <p:sp>
        <p:nvSpPr>
          <p:cNvPr id="13" name="TextBox 12"/>
          <p:cNvSpPr txBox="1"/>
          <p:nvPr/>
        </p:nvSpPr>
        <p:spPr>
          <a:xfrm>
            <a:off x="12801600" y="7708392"/>
            <a:ext cx="1188720" cy="320040"/>
          </a:xfrm>
          <a:prstGeom prst="rect">
            <a:avLst/>
          </a:prstGeom>
          <a:noFill/>
        </p:spPr>
        <p:txBody>
          <a:bodyPr wrap="square" lIns="0" tIns="0" rIns="0" bIns="0">
            <a:spAutoFit/>
          </a:bodyPr>
          <a:lstStyle/>
          <a:p>
            <a:pPr algn="r">
              <a:spcAft>
                <a:spcPts val="200"/>
              </a:spcAft>
              <a:defRPr sz="1200" b="1">
                <a:solidFill>
                  <a:srgbClr val="62DAE8"/>
                </a:solidFill>
                <a:latin typeface="DejaVu Sans"/>
              </a:defRPr>
            </a:pPr>
            <a:r>
              <a:t>07 / 8</a:t>
            </a:r>
          </a:p>
        </p:txBody>
      </p:sp>
      <p:sp>
        <p:nvSpPr>
          <p:cNvPr id="14" name="Rounded Rectangle 13"/>
          <p:cNvSpPr/>
          <p:nvPr/>
        </p:nvSpPr>
        <p:spPr>
          <a:xfrm>
            <a:off x="5687568" y="3977639"/>
            <a:ext cx="3255264" cy="1353312"/>
          </a:xfrm>
          <a:prstGeom prst="roundRect">
            <a:avLst>
              <a:gd name="adj" fmla="val 10000"/>
            </a:avLst>
          </a:prstGeom>
          <a:solidFill>
            <a:srgbClr val="223653"/>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05855" y="4133087"/>
            <a:ext cx="32004" cy="10424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88736" y="4133087"/>
            <a:ext cx="2852928" cy="438912"/>
          </a:xfrm>
          <a:prstGeom prst="rect">
            <a:avLst/>
          </a:prstGeom>
          <a:noFill/>
        </p:spPr>
        <p:txBody>
          <a:bodyPr wrap="square" lIns="0" tIns="0" rIns="0" bIns="0">
            <a:spAutoFit/>
          </a:bodyPr>
          <a:lstStyle/>
          <a:p>
            <a:pPr algn="l">
              <a:spcAft>
                <a:spcPts val="200"/>
              </a:spcAft>
              <a:defRPr sz="2000" b="1">
                <a:solidFill>
                  <a:srgbClr val="F7F9FF"/>
                </a:solidFill>
                <a:latin typeface="DejaVu Sans"/>
              </a:defRPr>
            </a:pPr>
            <a:r>
              <a:t>MRM OPERATIONS</a:t>
            </a:r>
          </a:p>
        </p:txBody>
      </p:sp>
      <p:sp>
        <p:nvSpPr>
          <p:cNvPr id="17" name="TextBox 16"/>
          <p:cNvSpPr txBox="1"/>
          <p:nvPr/>
        </p:nvSpPr>
        <p:spPr>
          <a:xfrm>
            <a:off x="5897880" y="4581144"/>
            <a:ext cx="2834640" cy="685800"/>
          </a:xfrm>
          <a:prstGeom prst="rect">
            <a:avLst/>
          </a:prstGeom>
          <a:noFill/>
        </p:spPr>
        <p:txBody>
          <a:bodyPr wrap="square" lIns="0" tIns="0" rIns="0" bIns="0">
            <a:spAutoFit/>
          </a:bodyPr>
          <a:lstStyle/>
          <a:p>
            <a:pPr algn="l">
              <a:spcAft>
                <a:spcPts val="200"/>
              </a:spcAft>
              <a:defRPr sz="1300" b="0">
                <a:solidFill>
                  <a:srgbClr val="BBC8DF"/>
                </a:solidFill>
                <a:latin typeface="DejaVu Sans"/>
              </a:defRPr>
            </a:pPr>
            <a:r>
              <a:t>Duty-based staff access</a:t>
            </a:r>
          </a:p>
          <a:p>
            <a:pPr algn="l">
              <a:spcAft>
                <a:spcPts val="200"/>
              </a:spcAft>
              <a:defRPr sz="1300" b="0">
                <a:solidFill>
                  <a:srgbClr val="BBC8DF"/>
                </a:solidFill>
                <a:latin typeface="DejaVu Sans"/>
              </a:defRPr>
            </a:pPr>
            <a:r>
              <a:t>Configure • review • record</a:t>
            </a:r>
          </a:p>
        </p:txBody>
      </p:sp>
      <p:sp>
        <p:nvSpPr>
          <p:cNvPr id="18" name="Rounded Rectangle 17"/>
          <p:cNvSpPr/>
          <p:nvPr/>
        </p:nvSpPr>
        <p:spPr>
          <a:xfrm>
            <a:off x="640080" y="2359152"/>
            <a:ext cx="4389120" cy="13533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2514600"/>
            <a:ext cx="32004" cy="10424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4671" y="2496312"/>
            <a:ext cx="301752" cy="301752"/>
          </a:xfrm>
          <a:prstGeom prst="ellipse">
            <a:avLst/>
          </a:prstGeom>
          <a:solidFill>
            <a:srgbClr val="111B35"/>
          </a:solidFill>
          <a:ln>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1" y="2546604"/>
            <a:ext cx="301752" cy="173736"/>
          </a:xfrm>
          <a:prstGeom prst="rect">
            <a:avLst/>
          </a:prstGeom>
          <a:noFill/>
        </p:spPr>
        <p:txBody>
          <a:bodyPr wrap="square" lIns="0" tIns="0" rIns="0" bIns="0">
            <a:spAutoFit/>
          </a:bodyPr>
          <a:lstStyle/>
          <a:p>
            <a:pPr algn="ctr">
              <a:spcAft>
                <a:spcPts val="200"/>
              </a:spcAft>
              <a:defRPr sz="800" b="1">
                <a:solidFill>
                  <a:srgbClr val="62DAE8"/>
                </a:solidFill>
                <a:latin typeface="DejaVu Sans"/>
              </a:defRPr>
            </a:pPr>
            <a:r>
              <a:t>01</a:t>
            </a:r>
          </a:p>
        </p:txBody>
      </p:sp>
      <p:sp>
        <p:nvSpPr>
          <p:cNvPr id="22" name="TextBox 21"/>
          <p:cNvSpPr txBox="1"/>
          <p:nvPr/>
        </p:nvSpPr>
        <p:spPr>
          <a:xfrm>
            <a:off x="1234440" y="2505456"/>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Public website &amp; discovery</a:t>
            </a:r>
          </a:p>
        </p:txBody>
      </p:sp>
      <p:sp>
        <p:nvSpPr>
          <p:cNvPr id="23" name="TextBox 22"/>
          <p:cNvSpPr txBox="1"/>
          <p:nvPr/>
        </p:nvSpPr>
        <p:spPr>
          <a:xfrm>
            <a:off x="850392" y="2962656"/>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Approved pages, resources and events</a:t>
            </a:r>
          </a:p>
          <a:p>
            <a:pPr algn="l">
              <a:spcAft>
                <a:spcPts val="200"/>
              </a:spcAft>
              <a:defRPr sz="1200" b="0">
                <a:solidFill>
                  <a:srgbClr val="BBC8DF"/>
                </a:solidFill>
                <a:latin typeface="DejaVu Sans"/>
              </a:defRPr>
            </a:pPr>
            <a:r>
              <a:t>Volunteer / teacher / support entry routes</a:t>
            </a:r>
          </a:p>
        </p:txBody>
      </p:sp>
      <p:sp>
        <p:nvSpPr>
          <p:cNvPr id="24" name="Rounded Rectangle 23"/>
          <p:cNvSpPr/>
          <p:nvPr/>
        </p:nvSpPr>
        <p:spPr>
          <a:xfrm>
            <a:off x="9601200" y="2359152"/>
            <a:ext cx="4389120" cy="1353312"/>
          </a:xfrm>
          <a:prstGeom prst="roundRect">
            <a:avLst>
              <a:gd name="adj" fmla="val 10000"/>
            </a:avLst>
          </a:prstGeom>
          <a:solidFill>
            <a:srgbClr val="1B2846"/>
          </a:solidFill>
          <a:ln w="12700">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619488" y="2514600"/>
            <a:ext cx="32004" cy="1042415"/>
          </a:xfrm>
          <a:prstGeom prst="rect">
            <a:avLst/>
          </a:prstGeom>
          <a:solidFill>
            <a:srgbClr val="E8C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765792" y="2496312"/>
            <a:ext cx="301752" cy="301752"/>
          </a:xfrm>
          <a:prstGeom prst="ellipse">
            <a:avLst/>
          </a:prstGeom>
          <a:solidFill>
            <a:srgbClr val="111B35"/>
          </a:solidFill>
          <a:ln>
            <a:solidFill>
              <a:srgbClr val="E8C5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65792" y="2546604"/>
            <a:ext cx="301752" cy="173736"/>
          </a:xfrm>
          <a:prstGeom prst="rect">
            <a:avLst/>
          </a:prstGeom>
          <a:noFill/>
        </p:spPr>
        <p:txBody>
          <a:bodyPr wrap="square" lIns="0" tIns="0" rIns="0" bIns="0">
            <a:spAutoFit/>
          </a:bodyPr>
          <a:lstStyle/>
          <a:p>
            <a:pPr algn="ctr">
              <a:spcAft>
                <a:spcPts val="200"/>
              </a:spcAft>
              <a:defRPr sz="800" b="1">
                <a:solidFill>
                  <a:srgbClr val="E8C578"/>
                </a:solidFill>
                <a:latin typeface="DejaVu Sans"/>
              </a:defRPr>
            </a:pPr>
            <a:r>
              <a:t>02</a:t>
            </a:r>
          </a:p>
        </p:txBody>
      </p:sp>
      <p:sp>
        <p:nvSpPr>
          <p:cNvPr id="28" name="TextBox 27"/>
          <p:cNvSpPr txBox="1"/>
          <p:nvPr/>
        </p:nvSpPr>
        <p:spPr>
          <a:xfrm>
            <a:off x="10195560" y="2505456"/>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Sponsors &amp; placements</a:t>
            </a:r>
          </a:p>
        </p:txBody>
      </p:sp>
      <p:sp>
        <p:nvSpPr>
          <p:cNvPr id="29" name="TextBox 28"/>
          <p:cNvSpPr txBox="1"/>
          <p:nvPr/>
        </p:nvSpPr>
        <p:spPr>
          <a:xfrm>
            <a:off x="9811512" y="2962656"/>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Approved assets + start / end dates</a:t>
            </a:r>
          </a:p>
          <a:p>
            <a:pPr algn="l">
              <a:spcAft>
                <a:spcPts val="200"/>
              </a:spcAft>
              <a:defRPr sz="1200" b="0">
                <a:solidFill>
                  <a:srgbClr val="BBC8DF"/>
                </a:solidFill>
                <a:latin typeface="DejaVu Sans"/>
              </a:defRPr>
            </a:pPr>
            <a:r>
              <a:t>App / website recognition; aggregate metrics</a:t>
            </a:r>
          </a:p>
        </p:txBody>
      </p:sp>
      <p:sp>
        <p:nvSpPr>
          <p:cNvPr id="30" name="Rounded Rectangle 29"/>
          <p:cNvSpPr/>
          <p:nvPr/>
        </p:nvSpPr>
        <p:spPr>
          <a:xfrm>
            <a:off x="640080" y="4059936"/>
            <a:ext cx="4389120" cy="1353312"/>
          </a:xfrm>
          <a:prstGeom prst="roundRect">
            <a:avLst>
              <a:gd name="adj" fmla="val 10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8368" y="4215384"/>
            <a:ext cx="32004" cy="1042415"/>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4671" y="4197096"/>
            <a:ext cx="301752" cy="301752"/>
          </a:xfrm>
          <a:prstGeom prst="ellipse">
            <a:avLst/>
          </a:prstGeom>
          <a:solidFill>
            <a:srgbClr val="111B35"/>
          </a:solidFill>
          <a:ln>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1" y="4247388"/>
            <a:ext cx="301752" cy="173736"/>
          </a:xfrm>
          <a:prstGeom prst="rect">
            <a:avLst/>
          </a:prstGeom>
          <a:noFill/>
        </p:spPr>
        <p:txBody>
          <a:bodyPr wrap="square" lIns="0" tIns="0" rIns="0" bIns="0">
            <a:spAutoFit/>
          </a:bodyPr>
          <a:lstStyle/>
          <a:p>
            <a:pPr algn="ctr">
              <a:spcAft>
                <a:spcPts val="200"/>
              </a:spcAft>
              <a:defRPr sz="800" b="1">
                <a:solidFill>
                  <a:srgbClr val="C2A3FF"/>
                </a:solidFill>
                <a:latin typeface="DejaVu Sans"/>
              </a:defRPr>
            </a:pPr>
            <a:r>
              <a:t>03</a:t>
            </a:r>
          </a:p>
        </p:txBody>
      </p:sp>
      <p:sp>
        <p:nvSpPr>
          <p:cNvPr id="34" name="TextBox 33"/>
          <p:cNvSpPr txBox="1"/>
          <p:nvPr/>
        </p:nvSpPr>
        <p:spPr>
          <a:xfrm>
            <a:off x="1234440" y="4206240"/>
            <a:ext cx="3611879" cy="393192"/>
          </a:xfrm>
          <a:prstGeom prst="rect">
            <a:avLst/>
          </a:prstGeom>
          <a:noFill/>
        </p:spPr>
        <p:txBody>
          <a:bodyPr wrap="square" lIns="0" tIns="0" rIns="0" bIns="0">
            <a:spAutoFit/>
          </a:bodyPr>
          <a:lstStyle/>
          <a:p>
            <a:pPr algn="l">
              <a:spcAft>
                <a:spcPts val="200"/>
              </a:spcAft>
              <a:defRPr sz="1537" b="1">
                <a:solidFill>
                  <a:srgbClr val="F7F9FF"/>
                </a:solidFill>
                <a:latin typeface="DejaVu Sans"/>
              </a:defRPr>
            </a:pPr>
            <a:r>
              <a:t>Content &amp; learning publication</a:t>
            </a:r>
          </a:p>
        </p:txBody>
      </p:sp>
      <p:sp>
        <p:nvSpPr>
          <p:cNvPr id="35" name="TextBox 34"/>
          <p:cNvSpPr txBox="1"/>
          <p:nvPr/>
        </p:nvSpPr>
        <p:spPr>
          <a:xfrm>
            <a:off x="850392" y="4663440"/>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Teacher proposals and utility references</a:t>
            </a:r>
          </a:p>
          <a:p>
            <a:pPr algn="l">
              <a:spcAft>
                <a:spcPts val="200"/>
              </a:spcAft>
              <a:defRPr sz="1200" b="0">
                <a:solidFill>
                  <a:srgbClr val="BBC8DF"/>
                </a:solidFill>
                <a:latin typeface="DejaVu Sans"/>
              </a:defRPr>
            </a:pPr>
            <a:r>
              <a:t>Moderation controls visible material</a:t>
            </a:r>
          </a:p>
        </p:txBody>
      </p:sp>
      <p:sp>
        <p:nvSpPr>
          <p:cNvPr id="36" name="Rounded Rectangle 35"/>
          <p:cNvSpPr/>
          <p:nvPr/>
        </p:nvSpPr>
        <p:spPr>
          <a:xfrm>
            <a:off x="9601200" y="4059936"/>
            <a:ext cx="4389120" cy="1353312"/>
          </a:xfrm>
          <a:prstGeom prst="roundRect">
            <a:avLst>
              <a:gd name="adj" fmla="val 10000"/>
            </a:avLst>
          </a:prstGeom>
          <a:solidFill>
            <a:srgbClr val="1B2846"/>
          </a:solidFill>
          <a:ln w="12700">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19488" y="4215384"/>
            <a:ext cx="32004" cy="1042415"/>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765792" y="4197096"/>
            <a:ext cx="301752" cy="301752"/>
          </a:xfrm>
          <a:prstGeom prst="ellipse">
            <a:avLst/>
          </a:prstGeom>
          <a:solidFill>
            <a:srgbClr val="111B35"/>
          </a:solidFill>
          <a:ln>
            <a:solidFill>
              <a:srgbClr val="C2A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65792" y="4247388"/>
            <a:ext cx="301752" cy="173736"/>
          </a:xfrm>
          <a:prstGeom prst="rect">
            <a:avLst/>
          </a:prstGeom>
          <a:noFill/>
        </p:spPr>
        <p:txBody>
          <a:bodyPr wrap="square" lIns="0" tIns="0" rIns="0" bIns="0">
            <a:spAutoFit/>
          </a:bodyPr>
          <a:lstStyle/>
          <a:p>
            <a:pPr algn="ctr">
              <a:spcAft>
                <a:spcPts val="200"/>
              </a:spcAft>
              <a:defRPr sz="800" b="1">
                <a:solidFill>
                  <a:srgbClr val="C2A3FF"/>
                </a:solidFill>
                <a:latin typeface="DejaVu Sans"/>
              </a:defRPr>
            </a:pPr>
            <a:r>
              <a:t>04</a:t>
            </a:r>
          </a:p>
        </p:txBody>
      </p:sp>
      <p:sp>
        <p:nvSpPr>
          <p:cNvPr id="40" name="TextBox 39"/>
          <p:cNvSpPr txBox="1"/>
          <p:nvPr/>
        </p:nvSpPr>
        <p:spPr>
          <a:xfrm>
            <a:off x="10195560" y="4206240"/>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Teacher plans &amp; entitlements</a:t>
            </a:r>
          </a:p>
        </p:txBody>
      </p:sp>
      <p:sp>
        <p:nvSpPr>
          <p:cNvPr id="41" name="TextBox 40"/>
          <p:cNvSpPr txBox="1"/>
          <p:nvPr/>
        </p:nvSpPr>
        <p:spPr>
          <a:xfrm>
            <a:off x="9811512" y="4663440"/>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Client-owned store billing configuration</a:t>
            </a:r>
          </a:p>
          <a:p>
            <a:pPr algn="l">
              <a:spcAft>
                <a:spcPts val="200"/>
              </a:spcAft>
              <a:defRPr sz="1200" b="0">
                <a:solidFill>
                  <a:srgbClr val="BBC8DF"/>
                </a:solidFill>
                <a:latin typeface="DejaVu Sans"/>
              </a:defRPr>
            </a:pPr>
            <a:r>
              <a:t>Verified plan state → publishing allowances</a:t>
            </a:r>
          </a:p>
        </p:txBody>
      </p:sp>
      <p:sp>
        <p:nvSpPr>
          <p:cNvPr id="42" name="Rounded Rectangle 41"/>
          <p:cNvSpPr/>
          <p:nvPr/>
        </p:nvSpPr>
        <p:spPr>
          <a:xfrm>
            <a:off x="640080" y="5669280"/>
            <a:ext cx="4389120" cy="1353312"/>
          </a:xfrm>
          <a:prstGeom prst="roundRect">
            <a:avLst>
              <a:gd name="adj" fmla="val 10000"/>
            </a:avLst>
          </a:prstGeom>
          <a:solidFill>
            <a:srgbClr val="1B2846"/>
          </a:solidFill>
          <a:ln w="12700">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58368" y="5824728"/>
            <a:ext cx="32004" cy="1042415"/>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04671" y="5806440"/>
            <a:ext cx="301752" cy="301752"/>
          </a:xfrm>
          <a:prstGeom prst="ellipse">
            <a:avLst/>
          </a:prstGeom>
          <a:solidFill>
            <a:srgbClr val="111B35"/>
          </a:solidFill>
          <a:ln>
            <a:solidFill>
              <a:srgbClr val="62DA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4671" y="5856732"/>
            <a:ext cx="301752" cy="173736"/>
          </a:xfrm>
          <a:prstGeom prst="rect">
            <a:avLst/>
          </a:prstGeom>
          <a:noFill/>
        </p:spPr>
        <p:txBody>
          <a:bodyPr wrap="square" lIns="0" tIns="0" rIns="0" bIns="0">
            <a:spAutoFit/>
          </a:bodyPr>
          <a:lstStyle/>
          <a:p>
            <a:pPr algn="ctr">
              <a:spcAft>
                <a:spcPts val="200"/>
              </a:spcAft>
              <a:defRPr sz="800" b="1">
                <a:solidFill>
                  <a:srgbClr val="62DAE8"/>
                </a:solidFill>
                <a:latin typeface="DejaVu Sans"/>
              </a:defRPr>
            </a:pPr>
            <a:r>
              <a:t>05</a:t>
            </a:r>
          </a:p>
        </p:txBody>
      </p:sp>
      <p:sp>
        <p:nvSpPr>
          <p:cNvPr id="46" name="TextBox 45"/>
          <p:cNvSpPr txBox="1"/>
          <p:nvPr/>
        </p:nvSpPr>
        <p:spPr>
          <a:xfrm>
            <a:off x="1234440" y="5815584"/>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Alerts • activity • audit</a:t>
            </a:r>
          </a:p>
        </p:txBody>
      </p:sp>
      <p:sp>
        <p:nvSpPr>
          <p:cNvPr id="47" name="TextBox 46"/>
          <p:cNvSpPr txBox="1"/>
          <p:nvPr/>
        </p:nvSpPr>
        <p:spPr>
          <a:xfrm>
            <a:off x="850392" y="6272784"/>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Service event → permitted recipient</a:t>
            </a:r>
          </a:p>
          <a:p>
            <a:pPr algn="l">
              <a:spcAft>
                <a:spcPts val="200"/>
              </a:spcAft>
              <a:defRPr sz="1200" b="0">
                <a:solidFill>
                  <a:srgbClr val="BBC8DF"/>
                </a:solidFill>
                <a:latin typeface="DejaVu Sans"/>
              </a:defRPr>
            </a:pPr>
            <a:r>
              <a:t>Safe alert → authorised detail / next action</a:t>
            </a:r>
          </a:p>
        </p:txBody>
      </p:sp>
      <p:sp>
        <p:nvSpPr>
          <p:cNvPr id="48" name="Rounded Rectangle 47"/>
          <p:cNvSpPr/>
          <p:nvPr/>
        </p:nvSpPr>
        <p:spPr>
          <a:xfrm>
            <a:off x="9601200" y="5669280"/>
            <a:ext cx="4389120" cy="1353312"/>
          </a:xfrm>
          <a:prstGeom prst="roundRect">
            <a:avLst>
              <a:gd name="adj" fmla="val 10000"/>
            </a:avLst>
          </a:prstGeom>
          <a:solidFill>
            <a:srgbClr val="1B2846"/>
          </a:solidFill>
          <a:ln w="12700">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619488" y="5824728"/>
            <a:ext cx="32004" cy="1042415"/>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9765792" y="5806440"/>
            <a:ext cx="301752" cy="301752"/>
          </a:xfrm>
          <a:prstGeom prst="ellipse">
            <a:avLst/>
          </a:prstGeom>
          <a:solidFill>
            <a:srgbClr val="111B35"/>
          </a:solidFill>
          <a:ln>
            <a:solidFill>
              <a:srgbClr val="8DD8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765792" y="5856732"/>
            <a:ext cx="301752" cy="173736"/>
          </a:xfrm>
          <a:prstGeom prst="rect">
            <a:avLst/>
          </a:prstGeom>
          <a:noFill/>
        </p:spPr>
        <p:txBody>
          <a:bodyPr wrap="square" lIns="0" tIns="0" rIns="0" bIns="0">
            <a:spAutoFit/>
          </a:bodyPr>
          <a:lstStyle/>
          <a:p>
            <a:pPr algn="ctr">
              <a:spcAft>
                <a:spcPts val="200"/>
              </a:spcAft>
              <a:defRPr sz="800" b="1">
                <a:solidFill>
                  <a:srgbClr val="8DD8B1"/>
                </a:solidFill>
                <a:latin typeface="DejaVu Sans"/>
              </a:defRPr>
            </a:pPr>
            <a:r>
              <a:t>06</a:t>
            </a:r>
          </a:p>
        </p:txBody>
      </p:sp>
      <p:sp>
        <p:nvSpPr>
          <p:cNvPr id="52" name="TextBox 51"/>
          <p:cNvSpPr txBox="1"/>
          <p:nvPr/>
        </p:nvSpPr>
        <p:spPr>
          <a:xfrm>
            <a:off x="10195560" y="5815584"/>
            <a:ext cx="3611879" cy="393192"/>
          </a:xfrm>
          <a:prstGeom prst="rect">
            <a:avLst/>
          </a:prstGeom>
          <a:noFill/>
        </p:spPr>
        <p:txBody>
          <a:bodyPr wrap="square" lIns="0" tIns="0" rIns="0" bIns="0">
            <a:spAutoFit/>
          </a:bodyPr>
          <a:lstStyle/>
          <a:p>
            <a:pPr algn="l">
              <a:spcAft>
                <a:spcPts val="200"/>
              </a:spcAft>
              <a:defRPr sz="1600" b="1">
                <a:solidFill>
                  <a:srgbClr val="F7F9FF"/>
                </a:solidFill>
                <a:latin typeface="DejaVu Sans"/>
              </a:defRPr>
            </a:pPr>
            <a:r>
              <a:t>Reports &amp; service oversight</a:t>
            </a:r>
          </a:p>
        </p:txBody>
      </p:sp>
      <p:sp>
        <p:nvSpPr>
          <p:cNvPr id="53" name="TextBox 52"/>
          <p:cNvSpPr txBox="1"/>
          <p:nvPr/>
        </p:nvSpPr>
        <p:spPr>
          <a:xfrm>
            <a:off x="9811512" y="6272784"/>
            <a:ext cx="3968496" cy="685800"/>
          </a:xfrm>
          <a:prstGeom prst="rect">
            <a:avLst/>
          </a:prstGeom>
          <a:noFill/>
        </p:spPr>
        <p:txBody>
          <a:bodyPr wrap="square" lIns="0" tIns="0" rIns="0" bIns="0">
            <a:spAutoFit/>
          </a:bodyPr>
          <a:lstStyle/>
          <a:p>
            <a:pPr algn="l">
              <a:spcAft>
                <a:spcPts val="200"/>
              </a:spcAft>
              <a:defRPr sz="1200" b="0">
                <a:solidFill>
                  <a:srgbClr val="BBC8DF"/>
                </a:solidFill>
                <a:latin typeface="DejaVu Sans"/>
              </a:defRPr>
            </a:pPr>
            <a:r>
              <a:t>Case / volunteer / referral status</a:t>
            </a:r>
          </a:p>
          <a:p>
            <a:pPr algn="l">
              <a:spcAft>
                <a:spcPts val="200"/>
              </a:spcAft>
              <a:defRPr sz="1200" b="0">
                <a:solidFill>
                  <a:srgbClr val="BBC8DF"/>
                </a:solidFill>
                <a:latin typeface="DejaVu Sans"/>
              </a:defRPr>
            </a:pPr>
            <a:r>
              <a:t>Agreed programme and sponsor summaries</a:t>
            </a:r>
          </a:p>
        </p:txBody>
      </p:sp>
      <p:sp>
        <p:nvSpPr>
          <p:cNvPr id="72" name="Rounded Rectangle 71"/>
          <p:cNvSpPr/>
          <p:nvPr/>
        </p:nvSpPr>
        <p:spPr>
          <a:xfrm>
            <a:off x="640080" y="7132320"/>
            <a:ext cx="13350240" cy="329184"/>
          </a:xfrm>
          <a:prstGeom prst="roundRect">
            <a:avLst>
              <a:gd name="adj" fmla="val 10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22960" y="7187184"/>
            <a:ext cx="12938760" cy="237744"/>
          </a:xfrm>
          <a:prstGeom prst="rect">
            <a:avLst/>
          </a:prstGeom>
          <a:noFill/>
        </p:spPr>
        <p:txBody>
          <a:bodyPr wrap="square" lIns="0" tIns="0" rIns="0" bIns="0">
            <a:spAutoFit/>
          </a:bodyPr>
          <a:lstStyle/>
          <a:p>
            <a:pPr algn="l">
              <a:spcAft>
                <a:spcPts val="200"/>
              </a:spcAft>
              <a:defRPr sz="1050" b="0">
                <a:solidFill>
                  <a:srgbClr val="62DAE8"/>
                </a:solidFill>
                <a:latin typeface="DejaVu Sans"/>
              </a:defRPr>
            </a:pPr>
            <a:r>
              <a:t>Sponsors cannot access private cases. Sponsorship never changes assignment, confidential guidance or zakat decisions.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4630400" cy="8229600"/>
          </a:xfrm>
          <a:prstGeom prst="rect">
            <a:avLst/>
          </a:prstGeom>
        </p:spPr>
      </p:pic>
      <p:sp>
        <p:nvSpPr>
          <p:cNvPr id="3" name="Rectangle 2"/>
          <p:cNvSpPr/>
          <p:nvPr/>
        </p:nvSpPr>
        <p:spPr>
          <a:xfrm>
            <a:off x="0" y="0"/>
            <a:ext cx="14630400" cy="8229600"/>
          </a:xfrm>
          <a:prstGeom prst="rect">
            <a:avLst/>
          </a:prstGeom>
          <a:solidFill>
            <a:srgbClr val="111B35">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438912"/>
            <a:ext cx="41148" cy="27432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48056"/>
            <a:ext cx="10058400" cy="274320"/>
          </a:xfrm>
          <a:prstGeom prst="rect">
            <a:avLst/>
          </a:prstGeom>
          <a:noFill/>
        </p:spPr>
        <p:txBody>
          <a:bodyPr wrap="square" lIns="0" tIns="0" rIns="0" bIns="0">
            <a:spAutoFit/>
          </a:bodyPr>
          <a:lstStyle/>
          <a:p>
            <a:pPr algn="l">
              <a:spcAft>
                <a:spcPts val="200"/>
              </a:spcAft>
              <a:defRPr sz="1000" b="1">
                <a:solidFill>
                  <a:srgbClr val="62DAE8"/>
                </a:solidFill>
                <a:latin typeface="DejaVu Sans"/>
              </a:defRPr>
            </a:pPr>
            <a:r>
              <a:t>FEATURE CONNECTIVITY  /  MRM DIGITAL COMMUNITY PLATFORM</a:t>
            </a:r>
          </a:p>
        </p:txBody>
      </p:sp>
      <p:pic>
        <p:nvPicPr>
          <p:cNvPr id="6" name="Picture 5" descr="image.png"/>
          <p:cNvPicPr>
            <a:picLocks noChangeAspect="1"/>
          </p:cNvPicPr>
          <p:nvPr/>
        </p:nvPicPr>
        <p:blipFill>
          <a:blip r:embed="rId3"/>
          <a:stretch>
            <a:fillRect/>
          </a:stretch>
        </p:blipFill>
        <p:spPr>
          <a:xfrm>
            <a:off x="12344400" y="347472"/>
            <a:ext cx="845618" cy="347472"/>
          </a:xfrm>
          <a:prstGeom prst="rect">
            <a:avLst/>
          </a:prstGeom>
        </p:spPr>
      </p:pic>
      <p:pic>
        <p:nvPicPr>
          <p:cNvPr id="7" name="Picture 6" descr="image.png"/>
          <p:cNvPicPr>
            <a:picLocks noChangeAspect="1"/>
          </p:cNvPicPr>
          <p:nvPr/>
        </p:nvPicPr>
        <p:blipFill>
          <a:blip r:embed="rId4"/>
          <a:stretch>
            <a:fillRect/>
          </a:stretch>
        </p:blipFill>
        <p:spPr>
          <a:xfrm>
            <a:off x="13213080" y="365760"/>
            <a:ext cx="924939" cy="292608"/>
          </a:xfrm>
          <a:prstGeom prst="rect">
            <a:avLst/>
          </a:prstGeom>
        </p:spPr>
      </p:pic>
      <p:sp>
        <p:nvSpPr>
          <p:cNvPr id="8" name="TextBox 7"/>
          <p:cNvSpPr txBox="1"/>
          <p:nvPr/>
        </p:nvSpPr>
        <p:spPr>
          <a:xfrm>
            <a:off x="640080" y="941832"/>
            <a:ext cx="13350240" cy="603504"/>
          </a:xfrm>
          <a:prstGeom prst="rect">
            <a:avLst/>
          </a:prstGeom>
          <a:noFill/>
        </p:spPr>
        <p:txBody>
          <a:bodyPr wrap="square" lIns="0" tIns="0" rIns="0" bIns="0">
            <a:spAutoFit/>
          </a:bodyPr>
          <a:lstStyle/>
          <a:p>
            <a:pPr algn="l">
              <a:spcAft>
                <a:spcPts val="200"/>
              </a:spcAft>
              <a:defRPr sz="3100" b="1">
                <a:solidFill>
                  <a:srgbClr val="F7F9FF"/>
                </a:solidFill>
                <a:latin typeface="DejaVu Sans"/>
              </a:defRPr>
            </a:pPr>
            <a:r>
              <a:t>Connection index: what links to what</a:t>
            </a:r>
          </a:p>
        </p:txBody>
      </p:sp>
      <p:sp>
        <p:nvSpPr>
          <p:cNvPr id="9" name="TextBox 8"/>
          <p:cNvSpPr txBox="1"/>
          <p:nvPr/>
        </p:nvSpPr>
        <p:spPr>
          <a:xfrm>
            <a:off x="658368" y="1645920"/>
            <a:ext cx="13258800" cy="502920"/>
          </a:xfrm>
          <a:prstGeom prst="rect">
            <a:avLst/>
          </a:prstGeom>
          <a:noFill/>
        </p:spPr>
        <p:txBody>
          <a:bodyPr wrap="square" lIns="0" tIns="0" rIns="0" bIns="0">
            <a:spAutoFit/>
          </a:bodyPr>
          <a:lstStyle/>
          <a:p>
            <a:pPr algn="l">
              <a:spcAft>
                <a:spcPts val="200"/>
              </a:spcAft>
              <a:defRPr sz="1400" b="0">
                <a:solidFill>
                  <a:srgbClr val="BBC8DF"/>
                </a:solidFill>
                <a:latin typeface="DejaVu Sans"/>
              </a:defRPr>
            </a:pPr>
            <a:r>
              <a:t>Use this index to trace a feature dependency back to the detailed scope pages in the full presentation.</a:t>
            </a:r>
          </a:p>
        </p:txBody>
      </p:sp>
      <p:sp>
        <p:nvSpPr>
          <p:cNvPr id="10" name="Rectangle 9"/>
          <p:cNvSpPr/>
          <p:nvPr/>
        </p:nvSpPr>
        <p:spPr>
          <a:xfrm>
            <a:off x="640080" y="7589520"/>
            <a:ext cx="13350240" cy="10972"/>
          </a:xfrm>
          <a:prstGeom prst="rect">
            <a:avLst/>
          </a:prstGeom>
          <a:solidFill>
            <a:srgbClr val="344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6"/>
          </p:cNvPr>
          <p:cNvSpPr txBox="1"/>
          <p:nvPr/>
        </p:nvSpPr>
        <p:spPr>
          <a:xfrm>
            <a:off x="640080" y="7754112"/>
            <a:ext cx="3291840" cy="228600"/>
          </a:xfrm>
          <a:prstGeom prst="rect">
            <a:avLst/>
          </a:prstGeom>
          <a:noFill/>
        </p:spPr>
        <p:txBody>
          <a:bodyPr wrap="square" lIns="0" tIns="0" rIns="0" bIns="0">
            <a:spAutoFit/>
          </a:bodyPr>
          <a:lstStyle/>
          <a:p>
            <a:pPr algn="l">
              <a:spcAft>
                <a:spcPts val="200"/>
              </a:spcAft>
              <a:defRPr sz="900" b="0">
                <a:solidFill>
                  <a:srgbClr val="BBC8DF"/>
                </a:solidFill>
                <a:latin typeface="DejaVu Sans"/>
              </a:defRPr>
            </a:pPr>
            <a:r>
              <a:t>MRM  /  ZYLAX TECHNOLOGIES</a:t>
            </a:r>
          </a:p>
        </p:txBody>
      </p:sp>
      <p:sp>
        <p:nvSpPr>
          <p:cNvPr id="12" name="TextBox 11"/>
          <p:cNvSpPr txBox="1"/>
          <p:nvPr/>
        </p:nvSpPr>
        <p:spPr>
          <a:xfrm>
            <a:off x="3794760" y="7754112"/>
            <a:ext cx="7315200" cy="237744"/>
          </a:xfrm>
          <a:prstGeom prst="rect">
            <a:avLst/>
          </a:prstGeom>
          <a:noFill/>
        </p:spPr>
        <p:txBody>
          <a:bodyPr wrap="square" lIns="0" tIns="0" rIns="0" bIns="0">
            <a:spAutoFit/>
          </a:bodyPr>
          <a:lstStyle/>
          <a:p>
            <a:pPr algn="ctr">
              <a:spcAft>
                <a:spcPts val="200"/>
              </a:spcAft>
              <a:defRPr sz="900" b="0">
                <a:solidFill>
                  <a:srgbClr val="BBC8DF"/>
                </a:solidFill>
                <a:latin typeface="DejaVu Sans"/>
              </a:defRPr>
            </a:pPr>
            <a:r>
              <a:t>PROPOSED CONNECTIONS  /  EDITABLE NATIVE DIAGRAM</a:t>
            </a:r>
          </a:p>
        </p:txBody>
      </p:sp>
      <p:sp>
        <p:nvSpPr>
          <p:cNvPr id="13" name="TextBox 12"/>
          <p:cNvSpPr txBox="1"/>
          <p:nvPr/>
        </p:nvSpPr>
        <p:spPr>
          <a:xfrm>
            <a:off x="12801600" y="7708392"/>
            <a:ext cx="1188720" cy="320040"/>
          </a:xfrm>
          <a:prstGeom prst="rect">
            <a:avLst/>
          </a:prstGeom>
          <a:noFill/>
        </p:spPr>
        <p:txBody>
          <a:bodyPr wrap="square" lIns="0" tIns="0" rIns="0" bIns="0">
            <a:spAutoFit/>
          </a:bodyPr>
          <a:lstStyle/>
          <a:p>
            <a:pPr algn="r">
              <a:spcAft>
                <a:spcPts val="200"/>
              </a:spcAft>
              <a:defRPr sz="1200" b="1">
                <a:solidFill>
                  <a:srgbClr val="62DAE8"/>
                </a:solidFill>
                <a:latin typeface="DejaVu Sans"/>
              </a:defRPr>
            </a:pPr>
            <a:r>
              <a:t>08 / 8</a:t>
            </a:r>
          </a:p>
        </p:txBody>
      </p:sp>
      <p:sp>
        <p:nvSpPr>
          <p:cNvPr id="14" name="Rounded Rectangle 13"/>
          <p:cNvSpPr/>
          <p:nvPr/>
        </p:nvSpPr>
        <p:spPr>
          <a:xfrm>
            <a:off x="640080" y="2359152"/>
            <a:ext cx="13350240" cy="457200"/>
          </a:xfrm>
          <a:prstGeom prst="roundRect">
            <a:avLst>
              <a:gd name="adj" fmla="val 10000"/>
            </a:avLst>
          </a:prstGeom>
          <a:solidFill>
            <a:srgbClr val="263B58"/>
          </a:solidFill>
          <a:ln w="12700">
            <a:solidFill>
              <a:srgbClr val="3443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19" y="2487168"/>
            <a:ext cx="2240279" cy="228600"/>
          </a:xfrm>
          <a:prstGeom prst="rect">
            <a:avLst/>
          </a:prstGeom>
          <a:noFill/>
        </p:spPr>
        <p:txBody>
          <a:bodyPr wrap="square" lIns="0" tIns="0" rIns="0" bIns="0">
            <a:spAutoFit/>
          </a:bodyPr>
          <a:lstStyle/>
          <a:p>
            <a:pPr algn="l">
              <a:spcAft>
                <a:spcPts val="200"/>
              </a:spcAft>
              <a:defRPr sz="950" b="1">
                <a:solidFill>
                  <a:srgbClr val="62DAE8"/>
                </a:solidFill>
                <a:latin typeface="DejaVu Sans"/>
              </a:defRPr>
            </a:pPr>
            <a:r>
              <a:t>FEATURE</a:t>
            </a:r>
          </a:p>
        </p:txBody>
      </p:sp>
      <p:sp>
        <p:nvSpPr>
          <p:cNvPr id="16" name="TextBox 15"/>
          <p:cNvSpPr txBox="1"/>
          <p:nvPr/>
        </p:nvSpPr>
        <p:spPr>
          <a:xfrm>
            <a:off x="3154680" y="2487168"/>
            <a:ext cx="2743200" cy="228600"/>
          </a:xfrm>
          <a:prstGeom prst="rect">
            <a:avLst/>
          </a:prstGeom>
          <a:noFill/>
        </p:spPr>
        <p:txBody>
          <a:bodyPr wrap="square" lIns="0" tIns="0" rIns="0" bIns="0">
            <a:spAutoFit/>
          </a:bodyPr>
          <a:lstStyle/>
          <a:p>
            <a:pPr algn="l">
              <a:spcAft>
                <a:spcPts val="200"/>
              </a:spcAft>
              <a:defRPr sz="950" b="1">
                <a:solidFill>
                  <a:srgbClr val="62DAE8"/>
                </a:solidFill>
                <a:latin typeface="DejaVu Sans"/>
              </a:defRPr>
            </a:pPr>
            <a:r>
              <a:t>CONNECTS TO</a:t>
            </a:r>
          </a:p>
        </p:txBody>
      </p:sp>
      <p:sp>
        <p:nvSpPr>
          <p:cNvPr id="17" name="TextBox 16"/>
          <p:cNvSpPr txBox="1"/>
          <p:nvPr/>
        </p:nvSpPr>
        <p:spPr>
          <a:xfrm>
            <a:off x="6080759" y="2487168"/>
            <a:ext cx="3017520" cy="228600"/>
          </a:xfrm>
          <a:prstGeom prst="rect">
            <a:avLst/>
          </a:prstGeom>
          <a:noFill/>
        </p:spPr>
        <p:txBody>
          <a:bodyPr wrap="square" lIns="0" tIns="0" rIns="0" bIns="0">
            <a:spAutoFit/>
          </a:bodyPr>
          <a:lstStyle/>
          <a:p>
            <a:pPr algn="l">
              <a:spcAft>
                <a:spcPts val="200"/>
              </a:spcAft>
              <a:defRPr sz="950" b="1">
                <a:solidFill>
                  <a:srgbClr val="62DAE8"/>
                </a:solidFill>
                <a:latin typeface="DejaVu Sans"/>
              </a:defRPr>
            </a:pPr>
            <a:r>
              <a:t>CONNECTION PURPOSE</a:t>
            </a:r>
          </a:p>
        </p:txBody>
      </p:sp>
      <p:sp>
        <p:nvSpPr>
          <p:cNvPr id="18" name="TextBox 17"/>
          <p:cNvSpPr txBox="1"/>
          <p:nvPr/>
        </p:nvSpPr>
        <p:spPr>
          <a:xfrm>
            <a:off x="9281160" y="2487168"/>
            <a:ext cx="3931920" cy="228600"/>
          </a:xfrm>
          <a:prstGeom prst="rect">
            <a:avLst/>
          </a:prstGeom>
          <a:noFill/>
        </p:spPr>
        <p:txBody>
          <a:bodyPr wrap="square" lIns="0" tIns="0" rIns="0" bIns="0">
            <a:spAutoFit/>
          </a:bodyPr>
          <a:lstStyle/>
          <a:p>
            <a:pPr algn="l">
              <a:spcAft>
                <a:spcPts val="200"/>
              </a:spcAft>
              <a:defRPr sz="950" b="1">
                <a:solidFill>
                  <a:srgbClr val="62DAE8"/>
                </a:solidFill>
                <a:latin typeface="DejaVu Sans"/>
              </a:defRPr>
            </a:pPr>
            <a:r>
              <a:t>ACCESS / POLICY CHECK</a:t>
            </a:r>
          </a:p>
        </p:txBody>
      </p:sp>
      <p:sp>
        <p:nvSpPr>
          <p:cNvPr id="19" name="TextBox 18"/>
          <p:cNvSpPr txBox="1"/>
          <p:nvPr/>
        </p:nvSpPr>
        <p:spPr>
          <a:xfrm>
            <a:off x="13395960" y="2487168"/>
            <a:ext cx="502920" cy="228600"/>
          </a:xfrm>
          <a:prstGeom prst="rect">
            <a:avLst/>
          </a:prstGeom>
          <a:noFill/>
        </p:spPr>
        <p:txBody>
          <a:bodyPr wrap="square" lIns="0" tIns="0" rIns="0" bIns="0">
            <a:spAutoFit/>
          </a:bodyPr>
          <a:lstStyle/>
          <a:p>
            <a:pPr algn="l">
              <a:spcAft>
                <a:spcPts val="200"/>
              </a:spcAft>
              <a:defRPr sz="950" b="1">
                <a:solidFill>
                  <a:srgbClr val="62DAE8"/>
                </a:solidFill>
                <a:latin typeface="DejaVu Sans"/>
              </a:defRPr>
            </a:pPr>
            <a:r>
              <a:t>PAGE</a:t>
            </a:r>
          </a:p>
        </p:txBody>
      </p:sp>
      <p:sp>
        <p:nvSpPr>
          <p:cNvPr id="20" name="Rectangle 19"/>
          <p:cNvSpPr/>
          <p:nvPr/>
        </p:nvSpPr>
        <p:spPr>
          <a:xfrm>
            <a:off x="640080" y="2816352"/>
            <a:ext cx="13350240" cy="411480"/>
          </a:xfrm>
          <a:prstGeom prst="rect">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2816352"/>
            <a:ext cx="32004" cy="41148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19" y="2926080"/>
            <a:ext cx="2240279" cy="301752"/>
          </a:xfrm>
          <a:prstGeom prst="rect">
            <a:avLst/>
          </a:prstGeom>
          <a:noFill/>
        </p:spPr>
        <p:txBody>
          <a:bodyPr wrap="square" lIns="0" tIns="0" rIns="0" bIns="0">
            <a:spAutoFit/>
          </a:bodyPr>
          <a:lstStyle/>
          <a:p>
            <a:pPr algn="l">
              <a:spcAft>
                <a:spcPts val="200"/>
              </a:spcAft>
              <a:defRPr sz="1050" b="1">
                <a:solidFill>
                  <a:srgbClr val="F7F9FF"/>
                </a:solidFill>
                <a:latin typeface="DejaVu Sans"/>
              </a:defRPr>
            </a:pPr>
            <a:r>
              <a:t>Accounts &amp; roles</a:t>
            </a:r>
          </a:p>
        </p:txBody>
      </p:sp>
      <p:sp>
        <p:nvSpPr>
          <p:cNvPr id="23" name="TextBox 22"/>
          <p:cNvSpPr txBox="1"/>
          <p:nvPr/>
        </p:nvSpPr>
        <p:spPr>
          <a:xfrm>
            <a:off x="3154680" y="2926080"/>
            <a:ext cx="274320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Personal records / staff tools</a:t>
            </a:r>
          </a:p>
        </p:txBody>
      </p:sp>
      <p:sp>
        <p:nvSpPr>
          <p:cNvPr id="24" name="TextBox 23"/>
          <p:cNvSpPr txBox="1"/>
          <p:nvPr/>
        </p:nvSpPr>
        <p:spPr>
          <a:xfrm>
            <a:off x="6080759" y="2926080"/>
            <a:ext cx="30175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Authorises appropriate access</a:t>
            </a:r>
          </a:p>
        </p:txBody>
      </p:sp>
      <p:sp>
        <p:nvSpPr>
          <p:cNvPr id="25" name="TextBox 24"/>
          <p:cNvSpPr txBox="1"/>
          <p:nvPr/>
        </p:nvSpPr>
        <p:spPr>
          <a:xfrm>
            <a:off x="9281160" y="2926080"/>
            <a:ext cx="39319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Role + record + gender / sensitivity</a:t>
            </a:r>
          </a:p>
        </p:txBody>
      </p:sp>
      <p:sp>
        <p:nvSpPr>
          <p:cNvPr id="26" name="TextBox 25"/>
          <p:cNvSpPr txBox="1"/>
          <p:nvPr/>
        </p:nvSpPr>
        <p:spPr>
          <a:xfrm>
            <a:off x="13395960" y="2926080"/>
            <a:ext cx="502920" cy="301752"/>
          </a:xfrm>
          <a:prstGeom prst="rect">
            <a:avLst/>
          </a:prstGeom>
          <a:noFill/>
        </p:spPr>
        <p:txBody>
          <a:bodyPr wrap="square" lIns="0" tIns="0" rIns="0" bIns="0">
            <a:spAutoFit/>
          </a:bodyPr>
          <a:lstStyle/>
          <a:p>
            <a:pPr algn="l">
              <a:spcAft>
                <a:spcPts val="200"/>
              </a:spcAft>
              <a:defRPr sz="1050" b="1">
                <a:solidFill>
                  <a:srgbClr val="62DAE8"/>
                </a:solidFill>
                <a:latin typeface="DejaVu Sans"/>
              </a:defRPr>
            </a:pPr>
            <a:r>
              <a:t>43</a:t>
            </a:r>
          </a:p>
        </p:txBody>
      </p:sp>
      <p:sp>
        <p:nvSpPr>
          <p:cNvPr id="27" name="Rectangle 26"/>
          <p:cNvSpPr/>
          <p:nvPr/>
        </p:nvSpPr>
        <p:spPr>
          <a:xfrm>
            <a:off x="640080" y="3227832"/>
            <a:ext cx="13350240" cy="411480"/>
          </a:xfrm>
          <a:prstGeom prst="rect">
            <a:avLst/>
          </a:prstGeom>
          <a:solidFill>
            <a:srgbClr val="17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 y="3227832"/>
            <a:ext cx="32004" cy="411480"/>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19" y="3337560"/>
            <a:ext cx="2240279" cy="301752"/>
          </a:xfrm>
          <a:prstGeom prst="rect">
            <a:avLst/>
          </a:prstGeom>
          <a:noFill/>
        </p:spPr>
        <p:txBody>
          <a:bodyPr wrap="square" lIns="0" tIns="0" rIns="0" bIns="0">
            <a:spAutoFit/>
          </a:bodyPr>
          <a:lstStyle/>
          <a:p>
            <a:pPr algn="l">
              <a:spcAft>
                <a:spcPts val="200"/>
              </a:spcAft>
              <a:defRPr sz="1050" b="1">
                <a:solidFill>
                  <a:srgbClr val="F7F9FF"/>
                </a:solidFill>
                <a:latin typeface="DejaVu Sans"/>
              </a:defRPr>
            </a:pPr>
            <a:r>
              <a:t>Volunteer verification</a:t>
            </a:r>
          </a:p>
        </p:txBody>
      </p:sp>
      <p:sp>
        <p:nvSpPr>
          <p:cNvPr id="30" name="TextBox 29"/>
          <p:cNvSpPr txBox="1"/>
          <p:nvPr/>
        </p:nvSpPr>
        <p:spPr>
          <a:xfrm>
            <a:off x="3154680" y="3337560"/>
            <a:ext cx="274320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Discovery / request matching</a:t>
            </a:r>
          </a:p>
        </p:txBody>
      </p:sp>
      <p:sp>
        <p:nvSpPr>
          <p:cNvPr id="31" name="TextBox 30"/>
          <p:cNvSpPr txBox="1"/>
          <p:nvPr/>
        </p:nvSpPr>
        <p:spPr>
          <a:xfrm>
            <a:off x="6080759" y="3337560"/>
            <a:ext cx="30175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Enables eligible service</a:t>
            </a:r>
          </a:p>
        </p:txBody>
      </p:sp>
      <p:sp>
        <p:nvSpPr>
          <p:cNvPr id="32" name="TextBox 31"/>
          <p:cNvSpPr txBox="1"/>
          <p:nvPr/>
        </p:nvSpPr>
        <p:spPr>
          <a:xfrm>
            <a:off x="9281160" y="3337560"/>
            <a:ext cx="39319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Approved and active only</a:t>
            </a:r>
          </a:p>
        </p:txBody>
      </p:sp>
      <p:sp>
        <p:nvSpPr>
          <p:cNvPr id="33" name="TextBox 32"/>
          <p:cNvSpPr txBox="1"/>
          <p:nvPr/>
        </p:nvSpPr>
        <p:spPr>
          <a:xfrm>
            <a:off x="13395960" y="3337560"/>
            <a:ext cx="502920" cy="301752"/>
          </a:xfrm>
          <a:prstGeom prst="rect">
            <a:avLst/>
          </a:prstGeom>
          <a:noFill/>
        </p:spPr>
        <p:txBody>
          <a:bodyPr wrap="square" lIns="0" tIns="0" rIns="0" bIns="0">
            <a:spAutoFit/>
          </a:bodyPr>
          <a:lstStyle/>
          <a:p>
            <a:pPr algn="l">
              <a:spcAft>
                <a:spcPts val="200"/>
              </a:spcAft>
              <a:defRPr sz="1050" b="1">
                <a:solidFill>
                  <a:srgbClr val="8DD8B1"/>
                </a:solidFill>
                <a:latin typeface="DejaVu Sans"/>
              </a:defRPr>
            </a:pPr>
            <a:r>
              <a:t>15</a:t>
            </a:r>
          </a:p>
        </p:txBody>
      </p:sp>
      <p:sp>
        <p:nvSpPr>
          <p:cNvPr id="34" name="Rectangle 33"/>
          <p:cNvSpPr/>
          <p:nvPr/>
        </p:nvSpPr>
        <p:spPr>
          <a:xfrm>
            <a:off x="640080" y="3639312"/>
            <a:ext cx="13350240" cy="411480"/>
          </a:xfrm>
          <a:prstGeom prst="rect">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0080" y="3639312"/>
            <a:ext cx="32004" cy="411480"/>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19" y="3749039"/>
            <a:ext cx="2240279" cy="301752"/>
          </a:xfrm>
          <a:prstGeom prst="rect">
            <a:avLst/>
          </a:prstGeom>
          <a:noFill/>
        </p:spPr>
        <p:txBody>
          <a:bodyPr wrap="square" lIns="0" tIns="0" rIns="0" bIns="0">
            <a:spAutoFit/>
          </a:bodyPr>
          <a:lstStyle/>
          <a:p>
            <a:pPr algn="l">
              <a:spcAft>
                <a:spcPts val="200"/>
              </a:spcAft>
              <a:defRPr sz="1050" b="1">
                <a:solidFill>
                  <a:srgbClr val="F7F9FF"/>
                </a:solidFill>
                <a:latin typeface="DejaVu Sans"/>
              </a:defRPr>
            </a:pPr>
            <a:r>
              <a:t>Triage &amp; matching</a:t>
            </a:r>
          </a:p>
        </p:txBody>
      </p:sp>
      <p:sp>
        <p:nvSpPr>
          <p:cNvPr id="37" name="TextBox 36"/>
          <p:cNvSpPr txBox="1"/>
          <p:nvPr/>
        </p:nvSpPr>
        <p:spPr>
          <a:xfrm>
            <a:off x="3154680" y="3749039"/>
            <a:ext cx="274320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Assignment / case progress</a:t>
            </a:r>
          </a:p>
        </p:txBody>
      </p:sp>
      <p:sp>
        <p:nvSpPr>
          <p:cNvPr id="38" name="TextBox 37"/>
          <p:cNvSpPr txBox="1"/>
          <p:nvPr/>
        </p:nvSpPr>
        <p:spPr>
          <a:xfrm>
            <a:off x="6080759" y="3749039"/>
            <a:ext cx="30175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Offers, confirms and follows up</a:t>
            </a:r>
          </a:p>
        </p:txBody>
      </p:sp>
      <p:sp>
        <p:nvSpPr>
          <p:cNvPr id="39" name="TextBox 38"/>
          <p:cNvSpPr txBox="1"/>
          <p:nvPr/>
        </p:nvSpPr>
        <p:spPr>
          <a:xfrm>
            <a:off x="9281160" y="3749039"/>
            <a:ext cx="39319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Sensitive route stays restricted</a:t>
            </a:r>
          </a:p>
        </p:txBody>
      </p:sp>
      <p:sp>
        <p:nvSpPr>
          <p:cNvPr id="40" name="TextBox 39"/>
          <p:cNvSpPr txBox="1"/>
          <p:nvPr/>
        </p:nvSpPr>
        <p:spPr>
          <a:xfrm>
            <a:off x="13395960" y="3749039"/>
            <a:ext cx="502920" cy="301752"/>
          </a:xfrm>
          <a:prstGeom prst="rect">
            <a:avLst/>
          </a:prstGeom>
          <a:noFill/>
        </p:spPr>
        <p:txBody>
          <a:bodyPr wrap="square" lIns="0" tIns="0" rIns="0" bIns="0">
            <a:spAutoFit/>
          </a:bodyPr>
          <a:lstStyle/>
          <a:p>
            <a:pPr algn="l">
              <a:spcAft>
                <a:spcPts val="200"/>
              </a:spcAft>
              <a:defRPr sz="1050" b="1">
                <a:solidFill>
                  <a:srgbClr val="8DD8B1"/>
                </a:solidFill>
                <a:latin typeface="DejaVu Sans"/>
              </a:defRPr>
            </a:pPr>
            <a:r>
              <a:t>13</a:t>
            </a:r>
          </a:p>
        </p:txBody>
      </p:sp>
      <p:sp>
        <p:nvSpPr>
          <p:cNvPr id="41" name="Rectangle 40"/>
          <p:cNvSpPr/>
          <p:nvPr/>
        </p:nvSpPr>
        <p:spPr>
          <a:xfrm>
            <a:off x="640080" y="4050791"/>
            <a:ext cx="13350240" cy="411480"/>
          </a:xfrm>
          <a:prstGeom prst="rect">
            <a:avLst/>
          </a:prstGeom>
          <a:solidFill>
            <a:srgbClr val="17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40080" y="4050791"/>
            <a:ext cx="32004" cy="411480"/>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19" y="4160520"/>
            <a:ext cx="2240279" cy="301752"/>
          </a:xfrm>
          <a:prstGeom prst="rect">
            <a:avLst/>
          </a:prstGeom>
          <a:noFill/>
        </p:spPr>
        <p:txBody>
          <a:bodyPr wrap="square" lIns="0" tIns="0" rIns="0" bIns="0">
            <a:spAutoFit/>
          </a:bodyPr>
          <a:lstStyle/>
          <a:p>
            <a:pPr algn="l">
              <a:spcAft>
                <a:spcPts val="200"/>
              </a:spcAft>
              <a:defRPr sz="1050" b="1">
                <a:solidFill>
                  <a:srgbClr val="F7F9FF"/>
                </a:solidFill>
                <a:latin typeface="DejaVu Sans"/>
              </a:defRPr>
            </a:pPr>
            <a:r>
              <a:t>Teacher approval + plan</a:t>
            </a:r>
          </a:p>
        </p:txBody>
      </p:sp>
      <p:sp>
        <p:nvSpPr>
          <p:cNvPr id="44" name="TextBox 43"/>
          <p:cNvSpPr txBox="1"/>
          <p:nvPr/>
        </p:nvSpPr>
        <p:spPr>
          <a:xfrm>
            <a:off x="3154680" y="4160520"/>
            <a:ext cx="274320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Posts / ads / programme proposals</a:t>
            </a:r>
          </a:p>
        </p:txBody>
      </p:sp>
      <p:sp>
        <p:nvSpPr>
          <p:cNvPr id="45" name="TextBox 44"/>
          <p:cNvSpPr txBox="1"/>
          <p:nvPr/>
        </p:nvSpPr>
        <p:spPr>
          <a:xfrm>
            <a:off x="6080759" y="4160520"/>
            <a:ext cx="30175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Enables publishing allowances</a:t>
            </a:r>
          </a:p>
        </p:txBody>
      </p:sp>
      <p:sp>
        <p:nvSpPr>
          <p:cNvPr id="46" name="TextBox 45"/>
          <p:cNvSpPr txBox="1"/>
          <p:nvPr/>
        </p:nvSpPr>
        <p:spPr>
          <a:xfrm>
            <a:off x="9281160" y="4160520"/>
            <a:ext cx="39319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Valid entitlement; no staff access</a:t>
            </a:r>
          </a:p>
        </p:txBody>
      </p:sp>
      <p:sp>
        <p:nvSpPr>
          <p:cNvPr id="47" name="TextBox 46"/>
          <p:cNvSpPr txBox="1"/>
          <p:nvPr/>
        </p:nvSpPr>
        <p:spPr>
          <a:xfrm>
            <a:off x="13395960" y="4160520"/>
            <a:ext cx="502920" cy="301752"/>
          </a:xfrm>
          <a:prstGeom prst="rect">
            <a:avLst/>
          </a:prstGeom>
          <a:noFill/>
        </p:spPr>
        <p:txBody>
          <a:bodyPr wrap="square" lIns="0" tIns="0" rIns="0" bIns="0">
            <a:spAutoFit/>
          </a:bodyPr>
          <a:lstStyle/>
          <a:p>
            <a:pPr algn="l">
              <a:spcAft>
                <a:spcPts val="200"/>
              </a:spcAft>
              <a:defRPr sz="1050" b="1">
                <a:solidFill>
                  <a:srgbClr val="C2A3FF"/>
                </a:solidFill>
                <a:latin typeface="DejaVu Sans"/>
              </a:defRPr>
            </a:pPr>
            <a:r>
              <a:t>27</a:t>
            </a:r>
          </a:p>
        </p:txBody>
      </p:sp>
      <p:sp>
        <p:nvSpPr>
          <p:cNvPr id="48" name="Rectangle 47"/>
          <p:cNvSpPr/>
          <p:nvPr/>
        </p:nvSpPr>
        <p:spPr>
          <a:xfrm>
            <a:off x="640080" y="4462272"/>
            <a:ext cx="13350240" cy="411480"/>
          </a:xfrm>
          <a:prstGeom prst="rect">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40080" y="4462272"/>
            <a:ext cx="32004" cy="411480"/>
          </a:xfrm>
          <a:prstGeom prst="rect">
            <a:avLst/>
          </a:prstGeom>
          <a:solidFill>
            <a:srgbClr val="C2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31519" y="4572000"/>
            <a:ext cx="2240279" cy="301752"/>
          </a:xfrm>
          <a:prstGeom prst="rect">
            <a:avLst/>
          </a:prstGeom>
          <a:noFill/>
        </p:spPr>
        <p:txBody>
          <a:bodyPr wrap="square" lIns="0" tIns="0" rIns="0" bIns="0">
            <a:spAutoFit/>
          </a:bodyPr>
          <a:lstStyle/>
          <a:p>
            <a:pPr algn="l">
              <a:spcAft>
                <a:spcPts val="200"/>
              </a:spcAft>
              <a:defRPr sz="1050" b="1">
                <a:solidFill>
                  <a:srgbClr val="F7F9FF"/>
                </a:solidFill>
                <a:latin typeface="DejaVu Sans"/>
              </a:defRPr>
            </a:pPr>
            <a:r>
              <a:t>MRM moderation</a:t>
            </a:r>
          </a:p>
        </p:txBody>
      </p:sp>
      <p:sp>
        <p:nvSpPr>
          <p:cNvPr id="51" name="TextBox 50"/>
          <p:cNvSpPr txBox="1"/>
          <p:nvPr/>
        </p:nvSpPr>
        <p:spPr>
          <a:xfrm>
            <a:off x="3154680" y="4572000"/>
            <a:ext cx="274320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Learning / website / utility content</a:t>
            </a:r>
          </a:p>
        </p:txBody>
      </p:sp>
      <p:sp>
        <p:nvSpPr>
          <p:cNvPr id="52" name="TextBox 51"/>
          <p:cNvSpPr txBox="1"/>
          <p:nvPr/>
        </p:nvSpPr>
        <p:spPr>
          <a:xfrm>
            <a:off x="6080759" y="4572000"/>
            <a:ext cx="30175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Approves visible material</a:t>
            </a:r>
          </a:p>
        </p:txBody>
      </p:sp>
      <p:sp>
        <p:nvSpPr>
          <p:cNvPr id="53" name="TextBox 52"/>
          <p:cNvSpPr txBox="1"/>
          <p:nvPr/>
        </p:nvSpPr>
        <p:spPr>
          <a:xfrm>
            <a:off x="9281160" y="4572000"/>
            <a:ext cx="39319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Religious review and content rights</a:t>
            </a:r>
          </a:p>
        </p:txBody>
      </p:sp>
      <p:sp>
        <p:nvSpPr>
          <p:cNvPr id="54" name="TextBox 53"/>
          <p:cNvSpPr txBox="1"/>
          <p:nvPr/>
        </p:nvSpPr>
        <p:spPr>
          <a:xfrm>
            <a:off x="13395960" y="4572000"/>
            <a:ext cx="502920" cy="301752"/>
          </a:xfrm>
          <a:prstGeom prst="rect">
            <a:avLst/>
          </a:prstGeom>
          <a:noFill/>
        </p:spPr>
        <p:txBody>
          <a:bodyPr wrap="square" lIns="0" tIns="0" rIns="0" bIns="0">
            <a:spAutoFit/>
          </a:bodyPr>
          <a:lstStyle/>
          <a:p>
            <a:pPr algn="l">
              <a:spcAft>
                <a:spcPts val="200"/>
              </a:spcAft>
              <a:defRPr sz="1050" b="1">
                <a:solidFill>
                  <a:srgbClr val="C2A3FF"/>
                </a:solidFill>
                <a:latin typeface="DejaVu Sans"/>
              </a:defRPr>
            </a:pPr>
            <a:r>
              <a:t>26</a:t>
            </a:r>
          </a:p>
        </p:txBody>
      </p:sp>
      <p:sp>
        <p:nvSpPr>
          <p:cNvPr id="55" name="Rectangle 54"/>
          <p:cNvSpPr/>
          <p:nvPr/>
        </p:nvSpPr>
        <p:spPr>
          <a:xfrm>
            <a:off x="640080" y="4873752"/>
            <a:ext cx="13350240" cy="411480"/>
          </a:xfrm>
          <a:prstGeom prst="rect">
            <a:avLst/>
          </a:prstGeom>
          <a:solidFill>
            <a:srgbClr val="17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40080" y="4873752"/>
            <a:ext cx="32004" cy="41148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31519" y="4983480"/>
            <a:ext cx="2240279" cy="301752"/>
          </a:xfrm>
          <a:prstGeom prst="rect">
            <a:avLst/>
          </a:prstGeom>
          <a:noFill/>
        </p:spPr>
        <p:txBody>
          <a:bodyPr wrap="square" lIns="0" tIns="0" rIns="0" bIns="0">
            <a:spAutoFit/>
          </a:bodyPr>
          <a:lstStyle/>
          <a:p>
            <a:pPr algn="l">
              <a:spcAft>
                <a:spcPts val="200"/>
              </a:spcAft>
              <a:defRPr sz="1050" b="1">
                <a:solidFill>
                  <a:srgbClr val="F7F9FF"/>
                </a:solidFill>
                <a:latin typeface="DejaVu Sans"/>
              </a:defRPr>
            </a:pPr>
            <a:r>
              <a:t>Service events</a:t>
            </a:r>
          </a:p>
        </p:txBody>
      </p:sp>
      <p:sp>
        <p:nvSpPr>
          <p:cNvPr id="58" name="TextBox 57"/>
          <p:cNvSpPr txBox="1"/>
          <p:nvPr/>
        </p:nvSpPr>
        <p:spPr>
          <a:xfrm>
            <a:off x="3154680" y="4983480"/>
            <a:ext cx="274320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Alerts / activity / case detail</a:t>
            </a:r>
          </a:p>
        </p:txBody>
      </p:sp>
      <p:sp>
        <p:nvSpPr>
          <p:cNvPr id="59" name="TextBox 58"/>
          <p:cNvSpPr txBox="1"/>
          <p:nvPr/>
        </p:nvSpPr>
        <p:spPr>
          <a:xfrm>
            <a:off x="6080759" y="4983480"/>
            <a:ext cx="30175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Prompts the permitted next action</a:t>
            </a:r>
          </a:p>
        </p:txBody>
      </p:sp>
      <p:sp>
        <p:nvSpPr>
          <p:cNvPr id="60" name="TextBox 59"/>
          <p:cNvSpPr txBox="1"/>
          <p:nvPr/>
        </p:nvSpPr>
        <p:spPr>
          <a:xfrm>
            <a:off x="9281160" y="4983480"/>
            <a:ext cx="39319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Privacy-safe alert; authorise detail</a:t>
            </a:r>
          </a:p>
        </p:txBody>
      </p:sp>
      <p:sp>
        <p:nvSpPr>
          <p:cNvPr id="61" name="TextBox 60"/>
          <p:cNvSpPr txBox="1"/>
          <p:nvPr/>
        </p:nvSpPr>
        <p:spPr>
          <a:xfrm>
            <a:off x="13395960" y="4983480"/>
            <a:ext cx="502920" cy="301752"/>
          </a:xfrm>
          <a:prstGeom prst="rect">
            <a:avLst/>
          </a:prstGeom>
          <a:noFill/>
        </p:spPr>
        <p:txBody>
          <a:bodyPr wrap="square" lIns="0" tIns="0" rIns="0" bIns="0">
            <a:spAutoFit/>
          </a:bodyPr>
          <a:lstStyle/>
          <a:p>
            <a:pPr algn="l">
              <a:spcAft>
                <a:spcPts val="200"/>
              </a:spcAft>
              <a:defRPr sz="1050" b="1">
                <a:solidFill>
                  <a:srgbClr val="62DAE8"/>
                </a:solidFill>
                <a:latin typeface="DejaVu Sans"/>
              </a:defRPr>
            </a:pPr>
            <a:r>
              <a:t>23</a:t>
            </a:r>
          </a:p>
        </p:txBody>
      </p:sp>
      <p:sp>
        <p:nvSpPr>
          <p:cNvPr id="62" name="Rectangle 61"/>
          <p:cNvSpPr/>
          <p:nvPr/>
        </p:nvSpPr>
        <p:spPr>
          <a:xfrm>
            <a:off x="640080" y="5285232"/>
            <a:ext cx="13350240" cy="411480"/>
          </a:xfrm>
          <a:prstGeom prst="rect">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40080" y="5285232"/>
            <a:ext cx="32004" cy="411480"/>
          </a:xfrm>
          <a:prstGeom prst="rect">
            <a:avLst/>
          </a:prstGeom>
          <a:solidFill>
            <a:srgbClr val="8DD8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31519" y="5394960"/>
            <a:ext cx="2240279" cy="301752"/>
          </a:xfrm>
          <a:prstGeom prst="rect">
            <a:avLst/>
          </a:prstGeom>
          <a:noFill/>
        </p:spPr>
        <p:txBody>
          <a:bodyPr wrap="square" lIns="0" tIns="0" rIns="0" bIns="0">
            <a:spAutoFit/>
          </a:bodyPr>
          <a:lstStyle/>
          <a:p>
            <a:pPr algn="l">
              <a:spcAft>
                <a:spcPts val="200"/>
              </a:spcAft>
              <a:defRPr sz="1050" b="1">
                <a:solidFill>
                  <a:srgbClr val="F7F9FF"/>
                </a:solidFill>
                <a:latin typeface="DejaVu Sans"/>
              </a:defRPr>
            </a:pPr>
            <a:r>
              <a:t>Zakat enquiry</a:t>
            </a:r>
          </a:p>
        </p:txBody>
      </p:sp>
      <p:sp>
        <p:nvSpPr>
          <p:cNvPr id="65" name="TextBox 64"/>
          <p:cNvSpPr txBox="1"/>
          <p:nvPr/>
        </p:nvSpPr>
        <p:spPr>
          <a:xfrm>
            <a:off x="3154680" y="5394960"/>
            <a:ext cx="274320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Authority referral / follow-up</a:t>
            </a:r>
          </a:p>
        </p:txBody>
      </p:sp>
      <p:sp>
        <p:nvSpPr>
          <p:cNvPr id="66" name="TextBox 65"/>
          <p:cNvSpPr txBox="1"/>
          <p:nvPr/>
        </p:nvSpPr>
        <p:spPr>
          <a:xfrm>
            <a:off x="6080759" y="5394960"/>
            <a:ext cx="30175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Coordinates approved handoff</a:t>
            </a:r>
          </a:p>
        </p:txBody>
      </p:sp>
      <p:sp>
        <p:nvSpPr>
          <p:cNvPr id="67" name="TextBox 66"/>
          <p:cNvSpPr txBox="1"/>
          <p:nvPr/>
        </p:nvSpPr>
        <p:spPr>
          <a:xfrm>
            <a:off x="9281160" y="5394960"/>
            <a:ext cx="39319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Consent; authority decides outcome</a:t>
            </a:r>
          </a:p>
        </p:txBody>
      </p:sp>
      <p:sp>
        <p:nvSpPr>
          <p:cNvPr id="68" name="TextBox 67"/>
          <p:cNvSpPr txBox="1"/>
          <p:nvPr/>
        </p:nvSpPr>
        <p:spPr>
          <a:xfrm>
            <a:off x="13395960" y="5394960"/>
            <a:ext cx="502920" cy="301752"/>
          </a:xfrm>
          <a:prstGeom prst="rect">
            <a:avLst/>
          </a:prstGeom>
          <a:noFill/>
        </p:spPr>
        <p:txBody>
          <a:bodyPr wrap="square" lIns="0" tIns="0" rIns="0" bIns="0">
            <a:spAutoFit/>
          </a:bodyPr>
          <a:lstStyle/>
          <a:p>
            <a:pPr algn="l">
              <a:spcAft>
                <a:spcPts val="200"/>
              </a:spcAft>
              <a:defRPr sz="1050" b="1">
                <a:solidFill>
                  <a:srgbClr val="8DD8B1"/>
                </a:solidFill>
                <a:latin typeface="DejaVu Sans"/>
              </a:defRPr>
            </a:pPr>
            <a:r>
              <a:t>20</a:t>
            </a:r>
          </a:p>
        </p:txBody>
      </p:sp>
      <p:sp>
        <p:nvSpPr>
          <p:cNvPr id="69" name="Rectangle 68"/>
          <p:cNvSpPr/>
          <p:nvPr/>
        </p:nvSpPr>
        <p:spPr>
          <a:xfrm>
            <a:off x="640080" y="5696712"/>
            <a:ext cx="13350240" cy="411480"/>
          </a:xfrm>
          <a:prstGeom prst="rect">
            <a:avLst/>
          </a:prstGeom>
          <a:solidFill>
            <a:srgbClr val="17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40080" y="5696712"/>
            <a:ext cx="32004" cy="411480"/>
          </a:xfrm>
          <a:prstGeom prst="rect">
            <a:avLst/>
          </a:prstGeom>
          <a:solidFill>
            <a:srgbClr val="E8C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31519" y="5806440"/>
            <a:ext cx="2240279" cy="301752"/>
          </a:xfrm>
          <a:prstGeom prst="rect">
            <a:avLst/>
          </a:prstGeom>
          <a:noFill/>
        </p:spPr>
        <p:txBody>
          <a:bodyPr wrap="square" lIns="0" tIns="0" rIns="0" bIns="0">
            <a:spAutoFit/>
          </a:bodyPr>
          <a:lstStyle/>
          <a:p>
            <a:pPr algn="l">
              <a:spcAft>
                <a:spcPts val="200"/>
              </a:spcAft>
              <a:defRPr sz="1050" b="1">
                <a:solidFill>
                  <a:srgbClr val="F7F9FF"/>
                </a:solidFill>
                <a:latin typeface="DejaVu Sans"/>
              </a:defRPr>
            </a:pPr>
            <a:r>
              <a:t>Verified service outcome</a:t>
            </a:r>
          </a:p>
        </p:txBody>
      </p:sp>
      <p:sp>
        <p:nvSpPr>
          <p:cNvPr id="72" name="TextBox 71"/>
          <p:cNvSpPr txBox="1"/>
          <p:nvPr/>
        </p:nvSpPr>
        <p:spPr>
          <a:xfrm>
            <a:off x="3154680" y="5806440"/>
            <a:ext cx="274320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Badges / ranks / service history</a:t>
            </a:r>
          </a:p>
        </p:txBody>
      </p:sp>
      <p:sp>
        <p:nvSpPr>
          <p:cNvPr id="73" name="TextBox 72"/>
          <p:cNvSpPr txBox="1"/>
          <p:nvPr/>
        </p:nvSpPr>
        <p:spPr>
          <a:xfrm>
            <a:off x="6080759" y="5806440"/>
            <a:ext cx="30175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Awards evidence-based credit</a:t>
            </a:r>
          </a:p>
        </p:txBody>
      </p:sp>
      <p:sp>
        <p:nvSpPr>
          <p:cNvPr id="74" name="TextBox 73"/>
          <p:cNvSpPr txBox="1"/>
          <p:nvPr/>
        </p:nvSpPr>
        <p:spPr>
          <a:xfrm>
            <a:off x="9281160" y="5806440"/>
            <a:ext cx="39319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MRM criteria; access unchanged</a:t>
            </a:r>
          </a:p>
        </p:txBody>
      </p:sp>
      <p:sp>
        <p:nvSpPr>
          <p:cNvPr id="75" name="TextBox 74"/>
          <p:cNvSpPr txBox="1"/>
          <p:nvPr/>
        </p:nvSpPr>
        <p:spPr>
          <a:xfrm>
            <a:off x="13395960" y="5806440"/>
            <a:ext cx="502920" cy="301752"/>
          </a:xfrm>
          <a:prstGeom prst="rect">
            <a:avLst/>
          </a:prstGeom>
          <a:noFill/>
        </p:spPr>
        <p:txBody>
          <a:bodyPr wrap="square" lIns="0" tIns="0" rIns="0" bIns="0">
            <a:spAutoFit/>
          </a:bodyPr>
          <a:lstStyle/>
          <a:p>
            <a:pPr algn="l">
              <a:spcAft>
                <a:spcPts val="200"/>
              </a:spcAft>
              <a:defRPr sz="1050" b="1">
                <a:solidFill>
                  <a:srgbClr val="E8C578"/>
                </a:solidFill>
                <a:latin typeface="DejaVu Sans"/>
              </a:defRPr>
            </a:pPr>
            <a:r>
              <a:t>21</a:t>
            </a:r>
          </a:p>
        </p:txBody>
      </p:sp>
      <p:sp>
        <p:nvSpPr>
          <p:cNvPr id="76" name="Rectangle 75"/>
          <p:cNvSpPr/>
          <p:nvPr/>
        </p:nvSpPr>
        <p:spPr>
          <a:xfrm>
            <a:off x="640080" y="6108192"/>
            <a:ext cx="13350240" cy="411480"/>
          </a:xfrm>
          <a:prstGeom prst="rect">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640080" y="6108192"/>
            <a:ext cx="32004" cy="411480"/>
          </a:xfrm>
          <a:prstGeom prst="rect">
            <a:avLst/>
          </a:prstGeom>
          <a:solidFill>
            <a:srgbClr val="E8C5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31519" y="6217920"/>
            <a:ext cx="2240279" cy="301752"/>
          </a:xfrm>
          <a:prstGeom prst="rect">
            <a:avLst/>
          </a:prstGeom>
          <a:noFill/>
        </p:spPr>
        <p:txBody>
          <a:bodyPr wrap="square" lIns="0" tIns="0" rIns="0" bIns="0">
            <a:spAutoFit/>
          </a:bodyPr>
          <a:lstStyle/>
          <a:p>
            <a:pPr algn="l">
              <a:spcAft>
                <a:spcPts val="200"/>
              </a:spcAft>
              <a:defRPr sz="1050" b="1">
                <a:solidFill>
                  <a:srgbClr val="F7F9FF"/>
                </a:solidFill>
                <a:latin typeface="DejaVu Sans"/>
              </a:defRPr>
            </a:pPr>
            <a:r>
              <a:t>Sponsor configuration</a:t>
            </a:r>
          </a:p>
        </p:txBody>
      </p:sp>
      <p:sp>
        <p:nvSpPr>
          <p:cNvPr id="79" name="TextBox 78"/>
          <p:cNvSpPr txBox="1"/>
          <p:nvPr/>
        </p:nvSpPr>
        <p:spPr>
          <a:xfrm>
            <a:off x="3154680" y="6217920"/>
            <a:ext cx="274320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App / website placements</a:t>
            </a:r>
          </a:p>
        </p:txBody>
      </p:sp>
      <p:sp>
        <p:nvSpPr>
          <p:cNvPr id="80" name="TextBox 79"/>
          <p:cNvSpPr txBox="1"/>
          <p:nvPr/>
        </p:nvSpPr>
        <p:spPr>
          <a:xfrm>
            <a:off x="6080759" y="6217920"/>
            <a:ext cx="30175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Schedules recognition / expiry</a:t>
            </a:r>
          </a:p>
        </p:txBody>
      </p:sp>
      <p:sp>
        <p:nvSpPr>
          <p:cNvPr id="81" name="TextBox 80"/>
          <p:cNvSpPr txBox="1"/>
          <p:nvPr/>
        </p:nvSpPr>
        <p:spPr>
          <a:xfrm>
            <a:off x="9281160" y="6217920"/>
            <a:ext cx="39319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Approved assets; aggregate metrics</a:t>
            </a:r>
          </a:p>
        </p:txBody>
      </p:sp>
      <p:sp>
        <p:nvSpPr>
          <p:cNvPr id="82" name="TextBox 81"/>
          <p:cNvSpPr txBox="1"/>
          <p:nvPr/>
        </p:nvSpPr>
        <p:spPr>
          <a:xfrm>
            <a:off x="13395960" y="6217920"/>
            <a:ext cx="502920" cy="301752"/>
          </a:xfrm>
          <a:prstGeom prst="rect">
            <a:avLst/>
          </a:prstGeom>
          <a:noFill/>
        </p:spPr>
        <p:txBody>
          <a:bodyPr wrap="square" lIns="0" tIns="0" rIns="0" bIns="0">
            <a:spAutoFit/>
          </a:bodyPr>
          <a:lstStyle/>
          <a:p>
            <a:pPr algn="l">
              <a:spcAft>
                <a:spcPts val="200"/>
              </a:spcAft>
              <a:defRPr sz="1050" b="1">
                <a:solidFill>
                  <a:srgbClr val="E8C578"/>
                </a:solidFill>
                <a:latin typeface="DejaVu Sans"/>
              </a:defRPr>
            </a:pPr>
            <a:r>
              <a:t>30</a:t>
            </a:r>
          </a:p>
        </p:txBody>
      </p:sp>
      <p:sp>
        <p:nvSpPr>
          <p:cNvPr id="83" name="Rectangle 82"/>
          <p:cNvSpPr/>
          <p:nvPr/>
        </p:nvSpPr>
        <p:spPr>
          <a:xfrm>
            <a:off x="640080" y="6519672"/>
            <a:ext cx="13350240" cy="411480"/>
          </a:xfrm>
          <a:prstGeom prst="rect">
            <a:avLst/>
          </a:prstGeom>
          <a:solidFill>
            <a:srgbClr val="17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640080" y="6519672"/>
            <a:ext cx="32004" cy="411480"/>
          </a:xfrm>
          <a:prstGeom prst="rect">
            <a:avLst/>
          </a:prstGeom>
          <a:solidFill>
            <a:srgbClr val="62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31519" y="6629400"/>
            <a:ext cx="2240279" cy="301752"/>
          </a:xfrm>
          <a:prstGeom prst="rect">
            <a:avLst/>
          </a:prstGeom>
          <a:noFill/>
        </p:spPr>
        <p:txBody>
          <a:bodyPr wrap="square" lIns="0" tIns="0" rIns="0" bIns="0">
            <a:spAutoFit/>
          </a:bodyPr>
          <a:lstStyle/>
          <a:p>
            <a:pPr algn="l">
              <a:spcAft>
                <a:spcPts val="200"/>
              </a:spcAft>
              <a:defRPr sz="1050" b="1">
                <a:solidFill>
                  <a:srgbClr val="F7F9FF"/>
                </a:solidFill>
                <a:latin typeface="DejaVu Sans"/>
              </a:defRPr>
            </a:pPr>
            <a:r>
              <a:t>Recorded outcomes</a:t>
            </a:r>
          </a:p>
        </p:txBody>
      </p:sp>
      <p:sp>
        <p:nvSpPr>
          <p:cNvPr id="86" name="TextBox 85"/>
          <p:cNvSpPr txBox="1"/>
          <p:nvPr/>
        </p:nvSpPr>
        <p:spPr>
          <a:xfrm>
            <a:off x="3154680" y="6629400"/>
            <a:ext cx="274320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Operational reports / staff review</a:t>
            </a:r>
          </a:p>
        </p:txBody>
      </p:sp>
      <p:sp>
        <p:nvSpPr>
          <p:cNvPr id="87" name="TextBox 86"/>
          <p:cNvSpPr txBox="1"/>
          <p:nvPr/>
        </p:nvSpPr>
        <p:spPr>
          <a:xfrm>
            <a:off x="6080759" y="6629400"/>
            <a:ext cx="30175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Aggregates service information</a:t>
            </a:r>
          </a:p>
        </p:txBody>
      </p:sp>
      <p:sp>
        <p:nvSpPr>
          <p:cNvPr id="88" name="TextBox 87"/>
          <p:cNvSpPr txBox="1"/>
          <p:nvPr/>
        </p:nvSpPr>
        <p:spPr>
          <a:xfrm>
            <a:off x="9281160" y="6629400"/>
            <a:ext cx="3931920" cy="301752"/>
          </a:xfrm>
          <a:prstGeom prst="rect">
            <a:avLst/>
          </a:prstGeom>
          <a:noFill/>
        </p:spPr>
        <p:txBody>
          <a:bodyPr wrap="square" lIns="0" tIns="0" rIns="0" bIns="0">
            <a:spAutoFit/>
          </a:bodyPr>
          <a:lstStyle/>
          <a:p>
            <a:pPr algn="l">
              <a:spcAft>
                <a:spcPts val="200"/>
              </a:spcAft>
              <a:defRPr sz="1050" b="0">
                <a:solidFill>
                  <a:srgbClr val="BBC8DF"/>
                </a:solidFill>
                <a:latin typeface="DejaVu Sans"/>
              </a:defRPr>
            </a:pPr>
            <a:r>
              <a:t>Restricted identifiable exports</a:t>
            </a:r>
          </a:p>
        </p:txBody>
      </p:sp>
      <p:sp>
        <p:nvSpPr>
          <p:cNvPr id="89" name="TextBox 88"/>
          <p:cNvSpPr txBox="1"/>
          <p:nvPr/>
        </p:nvSpPr>
        <p:spPr>
          <a:xfrm>
            <a:off x="13395960" y="6629400"/>
            <a:ext cx="502920" cy="301752"/>
          </a:xfrm>
          <a:prstGeom prst="rect">
            <a:avLst/>
          </a:prstGeom>
          <a:noFill/>
        </p:spPr>
        <p:txBody>
          <a:bodyPr wrap="square" lIns="0" tIns="0" rIns="0" bIns="0">
            <a:spAutoFit/>
          </a:bodyPr>
          <a:lstStyle/>
          <a:p>
            <a:pPr algn="l">
              <a:spcAft>
                <a:spcPts val="200"/>
              </a:spcAft>
              <a:defRPr sz="1050" b="1">
                <a:solidFill>
                  <a:srgbClr val="62DAE8"/>
                </a:solidFill>
                <a:latin typeface="DejaVu Sans"/>
              </a:defRPr>
            </a:pPr>
            <a:r>
              <a:t>46</a:t>
            </a:r>
          </a:p>
        </p:txBody>
      </p:sp>
      <p:sp>
        <p:nvSpPr>
          <p:cNvPr id="90" name="Rounded Rectangle 89"/>
          <p:cNvSpPr/>
          <p:nvPr/>
        </p:nvSpPr>
        <p:spPr>
          <a:xfrm>
            <a:off x="640080" y="7132320"/>
            <a:ext cx="13350240" cy="329184"/>
          </a:xfrm>
          <a:prstGeom prst="roundRect">
            <a:avLst>
              <a:gd name="adj" fmla="val 10000"/>
            </a:avLst>
          </a:prstGeom>
          <a:solidFill>
            <a:srgbClr val="1B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22960" y="7187184"/>
            <a:ext cx="12938760" cy="237744"/>
          </a:xfrm>
          <a:prstGeom prst="rect">
            <a:avLst/>
          </a:prstGeom>
          <a:noFill/>
        </p:spPr>
        <p:txBody>
          <a:bodyPr wrap="square" lIns="0" tIns="0" rIns="0" bIns="0">
            <a:spAutoFit/>
          </a:bodyPr>
          <a:lstStyle/>
          <a:p>
            <a:pPr algn="l">
              <a:spcAft>
                <a:spcPts val="200"/>
              </a:spcAft>
              <a:defRPr sz="1050" b="0">
                <a:solidFill>
                  <a:srgbClr val="62DAE8"/>
                </a:solidFill>
                <a:latin typeface="DejaVu Sans"/>
              </a:defRPr>
            </a:pPr>
            <a:r>
              <a:t>Solid arrows = directed relationship / handoff. Dashed arrows = conditional path or revision feedback.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